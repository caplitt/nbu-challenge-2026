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slideMasters/slideMaster27.xml" ContentType="application/vnd.openxmlformats-officedocument.presentationml.slideMaster+xml"/>
  <Override PartName="/ppt/slides/slide27.xml" ContentType="application/vnd.openxmlformats-officedocument.presentationml.slide+xml"/>
  <Override PartName="/ppt/slideMasters/slideMaster28.xml" ContentType="application/vnd.openxmlformats-officedocument.presentationml.slideMaster+xml"/>
  <Override PartName="/ppt/slides/slide28.xml" ContentType="application/vnd.openxmlformats-officedocument.presentationml.slide+xml"/>
  <Override PartName="/ppt/slideMasters/slideMaster29.xml" ContentType="application/vnd.openxmlformats-officedocument.presentationml.slideMaster+xml"/>
  <Override PartName="/ppt/slides/slide29.xml" ContentType="application/vnd.openxmlformats-officedocument.presentationml.slide+xml"/>
  <Override PartName="/ppt/slideMasters/slideMaster30.xml" ContentType="application/vnd.openxmlformats-officedocument.presentationml.slideMaster+xml"/>
  <Override PartName="/ppt/slides/slide30.xml" ContentType="application/vnd.openxmlformats-officedocument.presentationml.slide+xml"/>
  <Override PartName="/ppt/slideMasters/slideMaster31.xml" ContentType="application/vnd.openxmlformats-officedocument.presentationml.slideMaster+xml"/>
  <Override PartName="/ppt/slides/slide31.xml" ContentType="application/vnd.openxmlformats-officedocument.presentationml.slide+xml"/>
  <Override PartName="/ppt/slideMasters/slideMaster32.xml" ContentType="application/vnd.openxmlformats-officedocument.presentationml.slideMaster+xml"/>
  <Override PartName="/ppt/slides/slide32.xml" ContentType="application/vnd.openxmlformats-officedocument.presentationml.slide+xml"/>
  <Override PartName="/ppt/slideMasters/slideMaster33.xml" ContentType="application/vnd.openxmlformats-officedocument.presentationml.slideMaster+xml"/>
  <Override PartName="/ppt/slides/slide33.xml" ContentType="application/vnd.openxmlformats-officedocument.presentationml.slide+xml"/>
  <Override PartName="/ppt/slideMasters/slideMaster34.xml" ContentType="application/vnd.openxmlformats-officedocument.presentationml.slideMaster+xml"/>
  <Override PartName="/ppt/slides/slide34.xml" ContentType="application/vnd.openxmlformats-officedocument.presentationml.slide+xml"/>
  <Override PartName="/ppt/slideMasters/slideMaster35.xml" ContentType="application/vnd.openxmlformats-officedocument.presentationml.slideMaster+xml"/>
  <Override PartName="/ppt/slides/slide35.xml" ContentType="application/vnd.openxmlformats-officedocument.presentationml.slide+xml"/>
  <Override PartName="/ppt/slideMasters/slideMaster36.xml" ContentType="application/vnd.openxmlformats-officedocument.presentationml.slideMaster+xml"/>
  <Override PartName="/ppt/slides/slide3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  <p:sldId id="291" r:id="rId37"/>
  </p:sldIdLst>
  <p:notesMasterIdLst>
    <p:notesMasterId r:id="rId38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Вступ" id="{e0831894-b7ee-9038-675c-d8d064abeef8}">
          <p14:sldIdLst>
            <p14:sldId id="256"/>
            <p14:sldId id="257"/>
          </p14:sldIdLst>
        </p14:section>
        <p14:section name="Огляд" id="{3dba9ca3-cd20-40bb-bc23-e090ddbca42a}">
          <p14:sldIdLst>
            <p14:sldId id="258"/>
            <p14:sldId id="259"/>
            <p14:sldId id="260"/>
            <p14:sldId id="261"/>
            <p14:sldId id="262"/>
            <p14:sldId id="263"/>
            <p14:sldId id="264"/>
            <p14:sldId id="265"/>
          </p14:sldIdLst>
        </p14:section>
        <p14:section name="Прогноз" id="{66cfbe85-460e-a078-bcd8-3146f6a59144}">
          <p14:sldIdLst>
            <p14:sldId id="266"/>
            <p14:sldId id="267"/>
            <p14:sldId id="268"/>
            <p14:sldId id="269"/>
            <p14:sldId id="270"/>
            <p14:sldId id="271"/>
            <p14:sldId id="272"/>
            <p14:sldId id="273"/>
            <p14:sldId id="274"/>
            <p14:sldId id="275"/>
          </p14:sldIdLst>
        </p14:section>
        <p14:section name="Рекомендації" id="{83c03f1c-2b84-b6c6-d491-96ea77c1554c}">
          <p14:sldIdLst>
            <p14:sldId id="276"/>
            <p14:sldId id="277"/>
            <p14:sldId id="278"/>
            <p14:sldId id="279"/>
            <p14:sldId id="280"/>
            <p14:sldId id="281"/>
            <p14:sldId id="282"/>
            <p14:sldId id="283"/>
          </p14:sldIdLst>
        </p14:section>
        <p14:section name="Додатки" id="{1a1fb58d-2bc9-40d0-20ba-a65a5c9a91e8}">
          <p14:sldIdLst>
            <p14:sldId id="284"/>
            <p14:sldId id="285"/>
            <p14:sldId id="286"/>
            <p14:sldId id="287"/>
            <p14:sldId id="288"/>
            <p14:sldId id="289"/>
            <p14:sldId id="290"/>
            <p14:sldId id="291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slide" Target="slides/slide29.xml"/><Relationship Id="rId31" Type="http://schemas.openxmlformats.org/officeDocument/2006/relationships/slide" Target="slides/slide30.xml"/><Relationship Id="rId32" Type="http://schemas.openxmlformats.org/officeDocument/2006/relationships/slide" Target="slides/slide31.xml"/><Relationship Id="rId33" Type="http://schemas.openxmlformats.org/officeDocument/2006/relationships/slide" Target="slides/slide32.xml"/><Relationship Id="rId34" Type="http://schemas.openxmlformats.org/officeDocument/2006/relationships/slide" Target="slides/slide33.xml"/><Relationship Id="rId35" Type="http://schemas.openxmlformats.org/officeDocument/2006/relationships/slide" Target="slides/slide34.xml"/><Relationship Id="rId36" Type="http://schemas.openxmlformats.org/officeDocument/2006/relationships/slide" Target="slides/slide35.xml"/><Relationship Id="rId37" Type="http://schemas.openxmlformats.org/officeDocument/2006/relationships/slide" Target="slides/slide36.xml"/><Relationship Id="rId38" Type="http://schemas.openxmlformats.org/officeDocument/2006/relationships/notesMaster" Target="notesMasters/notesMaster1.xml"/><Relationship Id="rId39" Type="http://schemas.openxmlformats.org/officeDocument/2006/relationships/presProps" Target="presProps.xml"/><Relationship Id="rId40" Type="http://schemas.openxmlformats.org/officeDocument/2006/relationships/viewProps" Target="viewProps.xml"/><Relationship Id="rId41" Type="http://schemas.openxmlformats.org/officeDocument/2006/relationships/theme" Target="theme/theme1.xml"/><Relationship Id="rId4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_rels/notesSlide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.xml"/>
		</Relationships>
</file>

<file path=ppt/notesSlides/_rels/notesSlide2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8.xml"/>
		</Relationships>
</file>

<file path=ppt/notesSlides/_rels/notesSlide2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9.xml"/>
		</Relationships>
</file>

<file path=ppt/notesSlides/_rels/notesSlide3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0.xml"/>
		</Relationships>
</file>

<file path=ppt/notesSlides/_rels/notesSlide3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1.xml"/>
		</Relationships>
</file>

<file path=ppt/notesSlides/_rels/notesSlide3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2.xml"/>
		</Relationships>
</file>

<file path=ppt/notesSlides/_rels/notesSlide3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3.xml"/>
		</Relationships>
</file>

<file path=ppt/notesSlides/_rels/notesSlide3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4.xml"/>
		</Relationships>
</file>

<file path=ppt/notesSlides/_rels/notesSlide3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5.xml"/>
		</Relationships>
</file>

<file path=ppt/notesSlides/_rels/notesSlide3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Добрий день, шановні члени журі. Ми — Команда [назва]. Сьогодні представимо наші рекомендації для засідання Правління НБУ 29 жовтня 2026 року. Усі дані — станом на 7 жовтня.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Почнемо з головного. Ми пропонуємо три рішення, які працюють як єдиний пакет. Перше — підвищити облікову ставку на 0,5 пункта, до 16,5%, і утримувати її щонайменше до середини 2027 року: інфляція знову прискорюється, у грудні вона сягне майже 10%, а ризики зміщені вгору. Друге — керована гнучкість курсу: допускати поступове послаблення гривні замість того, щоб витрачати близько 5 мільярдів доларів резервів щомісяця. Третє — поставити на паузу наступні кроки валютної лібералізації, доки не відновляться резерви. За такої політики інфляція знизиться до 6,5% наприкінці 2027 року і повернеться до цілі 5% у другому кварталі 2029 року — у межах трирічного горизонту НБУ.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Зовнішнє середовище стало помітно проінфляційним. Через війну на Близькому Сході нафта Brent у квітні сягала 117 доларів за барель і у вересні знову перевищила 100 — тоді як НБУ в липні закладав 80–85. Ринок очікує здешевлення: ф'ючерси вказують на 83 долари наприкінці 2027 року, і саме цю криву ми беремо в прогноз. Водночас ЄЦБ підвищує ставку, тож простору для пом'якшення в Україні менше.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Інфляція в серпні прискорилася до 8,1%. Головні рушії — пальне, яке подорожчало майже на 39% за рік, і адмінрегульовані ціни. Але більше нас турбує базова інфляція: вона тримається на рівні 8,1% три місяці поспіль, а послуги дорожчають на 13% через зарплати, оренду й логістику. Стримує лише продовольство: через блокаду Чорного моря зерно й овочі залишаються на внутрішньому ринку.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Інфляційні очікування підвищені: домогосподарства чекають 10–14% — більше, ніж фактична інфляція, а фінансові аналітики підвищили свої очікування до 7,9%. Реальна облікова ставка — близько 7%, тому гривневі депозити й ОВДП поки привабливі. Але депозитні ставки реагують із запізненням, і ризик розбалансування очікувань реальний.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Економіка тим часом сповільнюється. ВВП у другому кварталі зріс лише на 0,4% за рік, а у третьому, за оцінкою КМП, — суттєво гірше прогнозу НБУ. Атаки на енергетику, логістику й порти забирають близько 0,9 пункта зростання. Водночас ринок праці перегрітий: через дефіцит кадрів номінальні зарплати зростають на 25%, реальні — на 17%. Тож навіть за слабкого ВВП тиск на ціни послуг зберігається.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Найгостріша проблема — валютний ринок. НБУ продає в середньому близько 5,0 мільярда доларів на місяць, у вересні — рекордні 5,5 мільярда. Резерви за два місяці скоротилися з 51,2 до 47,1 мільярда, тоді як НБУ очікував 53,8. Курс стабільний — близько 51,5 гривні за євро, — але ця стабільність купується резервами.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Звідки тиск на резерви — видно з платіжного балансу. Імпорт цього року в 2,6 раза більший за експорт, дефіцит — близько 89 мільярдів доларів. Поточний рахунок фінансують позики партнерів. Але офіційне фінансування скорочується з 87 мільярдів у 2026 році до 33 у 2028-му, і, за прогнозом НБУ, поточний рахунок тоді погіршиться до мінус 45 мільярдів. Тому резерви потрібні як буфер, а лібералізацію варто проводити поступово.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Причина — залежність бюджету від допомоги. Дефіцит без грантів — близько 35% ВВП, потреба у зовнішньому фінансуванні — 87 мільярдів доларів, а влітку надходження затрималися. Оборонний кредит USL — водночас бюджетний імпульс для попиту і додатковий попит на валюту. Уряд у Бюджетній декларації закладає інфляцію 8,9% наприкінці 2027 року — вище, ніж НБУ і ми.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Тепер — прогноз. Ми взяли квартальну прогнозну модель НБУ, переписали її на Python і розширили. Дані завантажуються автоматично, фільтр Калмана оцінює розриви й тренди, далі — прогноз із судженнями й аналіз політики. Той самий файл моделі ми проганяємо в MATLAB з IRIS: розбіжність — у п'ятому знаку, а графіки сценаріїв у презентації побудовані в MATLAB. На історії модель прогнозує інфляцію значно точніше за наївний прогноз.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Що ми змінили в моделі. У шаблоні одна крива Філіпса для всієї інфляції, тож нафтовий шок дає хибні коливання через курс. Ми розділили інфляцію на базову і небазову: небазові ціни реагують на нафту та курс. Нафта на 20% дорожча — це плюс 0,3 пункта до інфляції впродовж року, ставка зростає лише на 0,2 пункта, а базова інфляція не прискорюється. Без цього каналу модель точно збігається з шаблоном НБУ.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Модель не описує все — енергетику, бюджет, допомогу, тарифи. Тому ці чинники входять через явні судження, і кожне має кількісне обґрунтування та джерело. Наприклад, вторинні ефекти атак в опалювальний сезон ми калібруємо за оцінкою НБУ. Окремо закладаємо адмінціни й акцизи: у 2016–2026 роках загальна інфляція в середньому перевищувала базову на 1,7 пункта на рік, і НБУ закладає таку саму різницю на 2027–2028 роки.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Для найближчих місяців ми будуємо короткостроковий прогноз: трендовий темп цін, сезонність і поправка на дешевше продовольство. Тренд — 0,65% на місяць, тобто близько 8% у річному вимірі. До того ж діє ефект бази: у вересні–грудні 2025 року ціни зросли лише на 1,8%. Тому річна інфляція механічно підніметься до 9,9% у грудні — близько до прогнозу НБУ.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Базовий прогноз. Нагадаю: ціль НБУ — 5% без діапазону відхилень, і повернути інфляцію до неї треба на горизонті до трьох років. Інфляція досягне піку — близько 9,3% — на початку 2027 року, знизиться до 6,5% наприкінці 2027-го, у 2028-му тимчасово опуститься до 4,2% через дешевшу нафту і з другому кварталі 2029 року стабілізується на 5%. Ставка — 16,5% до середини 2027 року, далі поступово знижується до 10,4% наприкінці 2028-го. Віяло показує, наскільки велика невизначеність: з імовірністю 70% інфляція наприкінці 2027 року буде між 3 і 10%.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Важлива відмінність від НБУ — базова інфляція. Ми вважаємо, що вона буде стійкішою: 5,7% наприкінці 2027 року проти 5,1% у НБУ. Причина — перегрітий ринок праці, дорожчі послуги й наслідки атак. Загальна інфляція при цьому близька до НБУ: тарифи й акцизи додають близько 1,7 пункта на рік, а дешевша нафта частково це компенсує. У 2028 році базова інфляція опускається нижче цілі — як і в НБУ. Висновок: підвищити ставку зараз, щоб швидше пом'якшити її пізніше.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Попит ми бачимо слабшим, ніж НБУ: фактично нульове зростання цього року, 0,6% у 2027-му і 1,0% у 2028-му проти 1,8, 2,8 і 3,0% у НБУ. Причини — слабкий третій квартал, атаки, блокада портів і дефіцит кадрів. Реальна ставка вже вища за нейтральну, тобто політика стримувальна, — тому ми не пропонуємо різкого посилення.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Ми розглянули чотири ризикові сценарії, розраховані в MATLAB. Найнебезпечніший — дефіцит фінансування: якщо допомога затримається, гривня буде приблизно на 6% слабшою, інфляція зросте до 11,2%, а ставку доведеться підняти до 19,0%. Важка зима з ударами по енергетиці підніме інфляцію до 10,6% і майже зупинить зростання ВВП. Натомість нафта по 120 доларів додає лише 0,5 пункта до піку інфляції, і ставка майже не реагує — це шок першого раунду. Висновок: головний ризик для інфляції — курс і резерви.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Матриця ризиків підсумовує: більшість імовірних і сильних ризиків — проінфляційні. Це атаки на енергетику, затримки допомоги, розбалансування очікувань і зарплатна спіраль. Дезінфляційних менше — блокада портів, охолодження попиту, можливе перемир'я. Баланс зміщений угору.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Переходимо до рекомендацій. Спершу — рамка. Головна мета НБУ — цінова стабільність: ціль 5% без діапазону, і повернути до неї інфляцію треба на горизонті до трьох років. Інструменти — облікова ставка, депозитні сертифікати, які з серпня розміщуються на тендерах, валютні інтервенції та обмеження. У вересні КМП підвищив ставку до 16%, але думки розділилися: семеро вважають, що цього достатньо, двоє чекають ще одного підвищення, один — зниження. Ми — за підвищення, і ось чому.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Ми порівняли чотири варіанти рішення — від зниження до 15,5% до підвищення до 17%. У кожному ставка утримується до середини 2027 року, а далі знижується так, щоб інфляція повернулася саме до 5%. Механічне правило Тейлора для цього не годиться: з ним інфляція наприкінці 2029 року була б лише 4,4%. Критерій — втрати: відхилення інфляції від цілі та розрив ВВП. Кожні 0,5 пункта підвищення зменшують втрати, а оптимум моделі — 16,5%, якщо не реагувати на перший раунд підвищення адмінцін.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Тому перша рекомендація — підвищити облікову ставку до 16,5%. Чому підвищити: інфляція в грудні сягне майже 10%, базова інфляція стійкіша, ніж очікує НБУ, резерви знижуються, а гнучкіший курс потребує сильного якоря для очікувань. Чому не більше: економіка слабка, а шоки здебільшого з боку пропозиції. Орієнтир: утримувати 16,5% щонайменше до середини 2027 року, далі знижувати — до близько 15,0% наприкінці 2027-го і 10,5% наприкінці 2028-го. Якщо резерви впадуть нижче 43 мільярдів — готові підвищувати далі; якщо базова інфляція опуститься нижче 7% — знижувати швидше.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Друга рекомендація — щодо курсу. НБУ продає близько 5,0 мільярда доларів на місяць, а надходить близько 3,7. Щоб вийти на липневий прогноз НБУ — 69,7 мільярда на кінець року, — потрібно близько 13 мільярдів щомісяця. Якщо ж усе залишиться як влітку, резерви становитимуть 43 мільярди. Тому ми пропонуємо керовану гнучкість: допускати послаблення гривні до 4% на рік, а інтервенції використовувати лише для згладжування. За ставки 16,5% модель показує фактичне послаблення лише близько 1% на рік, хоча ринок чекає більшого. Захищати певний рівень курсу — прямий шлях до втрати резервів.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Третя рекомендація — валютні обмеження. Серпневий пакет варто зберегти: купівля валюти населенням зросла з 0,39 до 0,58 мільярда доларів на місяць — помітно, але керовано. За Стратегією НБУ кроки робляться за передумовами, а не за календарем. Тому третій етап — операції населення й капітальні операції — пропонуємо відкласти, доки резерви не повернуться до 50 мільярдів, а допомога — до ритмічності. Нових обмежень не запроваджувати.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Усе це має пояснити комунікація. Ключова формула — «ставка — якір, курс — амортизатор»: НБУ підвищує ставку превентивно, гнучкий курс захищає резерви, а гривневі заощадження залишаються вигіднішими за валютні. Чого уникати — обіцянок конкретного курсу і сигналів про швидке зниження ставки. На слайді — наш проєкт пресрелізу.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Підсумуємо. Перше — підвищити облікову ставку до 16,5% і утримувати щонайменше до середини 2027 року. Друге — керована гнучкість курсу замість витрачання резервів. Третє — пауза в лібералізації валютних обмежень. За такої політики інфляція повернеться до цілі 5% у другому кварталі 2029 року. Дякуємо за увагу! Будемо раді відповісти на ваші запитання.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ŷ — розрив ВВП, z̃ — розрив реального курсу (за базовими цінами), r̃ — розрив реальної ставки, prem — премія за ризик, oil — реальна ціна Brent у євро, rnc — відносна ціна небазових товарів. З вагою нафти 0 модель збігається з шаблоном НБУ.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Чим сильніше НБУ контролює курс (β → 1), тим слабше ставка впливає на курс і інфляцію — валютний канал головний. Функції відгуку розраховано в MATLAB/IRIS.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Графік показує, на скільки ставка має бути вищою за нейтральну за правилом Тейлора і чому.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Лінії — розрахунок у Python, кружки — у MATLAB R2026b з IRIS. Це підтверджує, що наш Python-порт і розширення моделі коректні, а графіки MATLAB у презентації відповідають тим самим цифрам.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Бектест квазіреальний: зовнішні змінні — фактичні, судження не використовувалися.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Значення базового сценарію в II і IV кварталах (рішення 16,5% у жовтні з утриманням до середини 2027, далі — траєкторія повернення до цілі). Усі квартали — results/tables/baseline_quarterly.csv.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Усі дані завантажуються скриптами; дата відсічення — 07.10.2026.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_intro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11277295" cy="91440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26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defRPr>
            </a:lvl1pPr>
          </a:lstStyle>
          <a:p>
            <a:pPr algn="l" indent="0" marL="0">
              <a:buNone/>
            </a:pPr>
            <a:endParaRPr lang="en-US" sz="2600" dirty="0"/>
          </a:p>
        </p:txBody>
      </p:sp>
      <p:sp>
        <p:nvSpPr>
          <p:cNvPr id="3" name="Text 0"/>
          <p:cNvSpPr/>
          <p:nvPr/>
        </p:nvSpPr>
        <p:spPr>
          <a:xfrm>
            <a:off x="457200" y="647395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F6B6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NBU University Challenge 2026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85855" y="6473952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1002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_Огляд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11277295" cy="91440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26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defRPr>
            </a:lvl1pPr>
          </a:lstStyle>
          <a:p>
            <a:pPr algn="l" indent="0" marL="0">
              <a:buNone/>
            </a:pPr>
            <a:endParaRPr lang="en-US" sz="2600" dirty="0"/>
          </a:p>
        </p:txBody>
      </p:sp>
      <p:sp>
        <p:nvSpPr>
          <p:cNvPr id="3" name="Text 0"/>
          <p:cNvSpPr/>
          <p:nvPr/>
        </p:nvSpPr>
        <p:spPr>
          <a:xfrm>
            <a:off x="457200" y="6473952"/>
            <a:ext cx="74066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E3B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Огляд</a:t>
            </a:r>
            <a:endParaRPr lang="en-US" sz="1000" dirty="0"/>
          </a:p>
        </p:txBody>
      </p:sp>
      <p:sp>
        <p:nvSpPr>
          <p:cNvPr id="4" name="Text 1"/>
          <p:cNvSpPr/>
          <p:nvPr/>
        </p:nvSpPr>
        <p:spPr>
          <a:xfrm>
            <a:off x="1380744" y="6473952"/>
            <a:ext cx="8869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F6B6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Прогноз</a:t>
            </a:r>
            <a:endParaRPr lang="en-US" sz="1000" dirty="0"/>
          </a:p>
        </p:txBody>
      </p:sp>
      <p:sp>
        <p:nvSpPr>
          <p:cNvPr id="5" name="Text 2"/>
          <p:cNvSpPr/>
          <p:nvPr/>
        </p:nvSpPr>
        <p:spPr>
          <a:xfrm>
            <a:off x="2450592" y="6473952"/>
            <a:ext cx="125272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F6B6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Рекомендації</a:t>
            </a:r>
            <a:endParaRPr lang="en-US" sz="1000" dirty="0"/>
          </a:p>
        </p:txBody>
      </p:sp>
      <p:sp>
        <p:nvSpPr>
          <p:cNvPr id="6" name="Text 3"/>
          <p:cNvSpPr/>
          <p:nvPr/>
        </p:nvSpPr>
        <p:spPr>
          <a:xfrm>
            <a:off x="3886200" y="6473952"/>
            <a:ext cx="74066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F6B6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Додатки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85855" y="6473952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1003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_Прогноз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11277295" cy="91440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26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defRPr>
            </a:lvl1pPr>
          </a:lstStyle>
          <a:p>
            <a:pPr algn="l" indent="0" marL="0">
              <a:buNone/>
            </a:pPr>
            <a:endParaRPr lang="en-US" sz="2600" dirty="0"/>
          </a:p>
        </p:txBody>
      </p:sp>
      <p:sp>
        <p:nvSpPr>
          <p:cNvPr id="3" name="Text 0"/>
          <p:cNvSpPr/>
          <p:nvPr/>
        </p:nvSpPr>
        <p:spPr>
          <a:xfrm>
            <a:off x="457200" y="6473952"/>
            <a:ext cx="74066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F6B6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Огляд</a:t>
            </a:r>
            <a:endParaRPr lang="en-US" sz="1000" dirty="0"/>
          </a:p>
        </p:txBody>
      </p:sp>
      <p:sp>
        <p:nvSpPr>
          <p:cNvPr id="4" name="Text 1"/>
          <p:cNvSpPr/>
          <p:nvPr/>
        </p:nvSpPr>
        <p:spPr>
          <a:xfrm>
            <a:off x="1380744" y="6473952"/>
            <a:ext cx="8869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E3B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Прогноз</a:t>
            </a:r>
            <a:endParaRPr lang="en-US" sz="1000" dirty="0"/>
          </a:p>
        </p:txBody>
      </p:sp>
      <p:sp>
        <p:nvSpPr>
          <p:cNvPr id="5" name="Text 2"/>
          <p:cNvSpPr/>
          <p:nvPr/>
        </p:nvSpPr>
        <p:spPr>
          <a:xfrm>
            <a:off x="2450592" y="6473952"/>
            <a:ext cx="125272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F6B6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Рекомендації</a:t>
            </a:r>
            <a:endParaRPr lang="en-US" sz="1000" dirty="0"/>
          </a:p>
        </p:txBody>
      </p:sp>
      <p:sp>
        <p:nvSpPr>
          <p:cNvPr id="6" name="Text 3"/>
          <p:cNvSpPr/>
          <p:nvPr/>
        </p:nvSpPr>
        <p:spPr>
          <a:xfrm>
            <a:off x="3886200" y="6473952"/>
            <a:ext cx="74066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F6B6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Додатки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85855" y="6473952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1004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_Рекомендації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11277295" cy="91440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26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defRPr>
            </a:lvl1pPr>
          </a:lstStyle>
          <a:p>
            <a:pPr algn="l" indent="0" marL="0">
              <a:buNone/>
            </a:pPr>
            <a:endParaRPr lang="en-US" sz="2600" dirty="0"/>
          </a:p>
        </p:txBody>
      </p:sp>
      <p:sp>
        <p:nvSpPr>
          <p:cNvPr id="3" name="Text 0"/>
          <p:cNvSpPr/>
          <p:nvPr/>
        </p:nvSpPr>
        <p:spPr>
          <a:xfrm>
            <a:off x="457200" y="6473952"/>
            <a:ext cx="74066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F6B6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Огляд</a:t>
            </a:r>
            <a:endParaRPr lang="en-US" sz="1000" dirty="0"/>
          </a:p>
        </p:txBody>
      </p:sp>
      <p:sp>
        <p:nvSpPr>
          <p:cNvPr id="4" name="Text 1"/>
          <p:cNvSpPr/>
          <p:nvPr/>
        </p:nvSpPr>
        <p:spPr>
          <a:xfrm>
            <a:off x="1380744" y="6473952"/>
            <a:ext cx="8869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F6B6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Прогноз</a:t>
            </a:r>
            <a:endParaRPr lang="en-US" sz="1000" dirty="0"/>
          </a:p>
        </p:txBody>
      </p:sp>
      <p:sp>
        <p:nvSpPr>
          <p:cNvPr id="5" name="Text 2"/>
          <p:cNvSpPr/>
          <p:nvPr/>
        </p:nvSpPr>
        <p:spPr>
          <a:xfrm>
            <a:off x="2450592" y="6473952"/>
            <a:ext cx="125272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E3B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Рекомендації</a:t>
            </a:r>
            <a:endParaRPr lang="en-US" sz="1000" dirty="0"/>
          </a:p>
        </p:txBody>
      </p:sp>
      <p:sp>
        <p:nvSpPr>
          <p:cNvPr id="6" name="Text 3"/>
          <p:cNvSpPr/>
          <p:nvPr/>
        </p:nvSpPr>
        <p:spPr>
          <a:xfrm>
            <a:off x="3886200" y="6473952"/>
            <a:ext cx="74066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F6B6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Додатки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85855" y="6473952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1005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_Додатки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11277295" cy="91440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26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defRPr>
            </a:lvl1pPr>
          </a:lstStyle>
          <a:p>
            <a:pPr algn="l" indent="0" marL="0">
              <a:buNone/>
            </a:pPr>
            <a:endParaRPr lang="en-US" sz="2600" dirty="0"/>
          </a:p>
        </p:txBody>
      </p:sp>
      <p:sp>
        <p:nvSpPr>
          <p:cNvPr id="3" name="Text 0"/>
          <p:cNvSpPr/>
          <p:nvPr/>
        </p:nvSpPr>
        <p:spPr>
          <a:xfrm>
            <a:off x="457200" y="6473952"/>
            <a:ext cx="74066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F6B6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Огляд</a:t>
            </a:r>
            <a:endParaRPr lang="en-US" sz="1000" dirty="0"/>
          </a:p>
        </p:txBody>
      </p:sp>
      <p:sp>
        <p:nvSpPr>
          <p:cNvPr id="4" name="Text 1"/>
          <p:cNvSpPr/>
          <p:nvPr/>
        </p:nvSpPr>
        <p:spPr>
          <a:xfrm>
            <a:off x="1380744" y="6473952"/>
            <a:ext cx="8869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F6B6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Прогноз</a:t>
            </a:r>
            <a:endParaRPr lang="en-US" sz="1000" dirty="0"/>
          </a:p>
        </p:txBody>
      </p:sp>
      <p:sp>
        <p:nvSpPr>
          <p:cNvPr id="5" name="Text 2"/>
          <p:cNvSpPr/>
          <p:nvPr/>
        </p:nvSpPr>
        <p:spPr>
          <a:xfrm>
            <a:off x="2450592" y="6473952"/>
            <a:ext cx="125272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F6B6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Рекомендації</a:t>
            </a:r>
            <a:endParaRPr lang="en-US" sz="1000" dirty="0"/>
          </a:p>
        </p:txBody>
      </p:sp>
      <p:sp>
        <p:nvSpPr>
          <p:cNvPr id="6" name="Text 3"/>
          <p:cNvSpPr/>
          <p:nvPr/>
        </p:nvSpPr>
        <p:spPr>
          <a:xfrm>
            <a:off x="3886200" y="6473952"/>
            <a:ext cx="74066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E3B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Додатки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85855" y="6473952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1006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ARK">
    <p:bg>
      <p:bgPr>
        <a:solidFill>
          <a:srgbClr val="0E3B4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731520" y="2377440"/>
            <a:ext cx="10698480" cy="128016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4000" b="1" dirty="0">
                <a:solidFill>
                  <a:schemeClr val="bg1"/>
                </a:solidFill>
                <a:latin typeface="Cambria" pitchFamily="34" charset="0"/>
                <a:ea typeface="Cambria" pitchFamily="34" charset="-122"/>
                <a:cs typeface="Cambria" pitchFamily="34" charset="-120"/>
              </a:defRPr>
            </a:lvl1pPr>
          </a:lstStyle>
          <a:p>
            <a:pPr algn="l" indent="0" marL="0">
              <a:buNone/>
            </a:pPr>
            <a:endParaRPr lang="en-US" sz="4000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85855" y="6473952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hyperlink" Target="https://p4.bank.gov.ua/admin_uploads/article/MPG_2024-mt_eng.pdf" TargetMode="External"/><Relationship Id="rId2" Type="http://schemas.openxmlformats.org/officeDocument/2006/relationships/hyperlink" Target="https://bank.gov.ua/ua/news/all/inflyatsiya-prishvidshitsya-u-drugomu-pivrichchi-ale-povernetsya-do-znijennya-nastupnogo-roku--inflyatsiyniy-zvit" TargetMode="External"/><Relationship Id="rId3" Type="http://schemas.openxmlformats.org/officeDocument/2006/relationships/slideLayout" Target="../slideLayouts/slideLayout2.xml"/><Relationship Id="rId4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hyperlink" Target="https://www.ecb.europa.eu/press/projections/html/index.en.html" TargetMode="External"/><Relationship Id="rId2" Type="http://schemas.openxmlformats.org/officeDocument/2006/relationships/hyperlink" Target="https://ec.europa.eu/eurostat/databrowser/view/prc_hicp_minr/default/table" TargetMode="External"/><Relationship Id="rId3" Type="http://schemas.openxmlformats.org/officeDocument/2006/relationships/hyperlink" Target="https://db.nomics.world/EIA/PET/RBRTE.M" TargetMode="External"/><Relationship Id="rId4" Type="http://schemas.openxmlformats.org/officeDocument/2006/relationships/hyperlink" Target="https://finance.yahoo.com/quote/BZ%3DF/" TargetMode="External"/><Relationship Id="rId5" Type="http://schemas.openxmlformats.org/officeDocument/2006/relationships/image" Target="../media/image-4-1.png"/><Relationship Id="rId6" Type="http://schemas.openxmlformats.org/officeDocument/2006/relationships/slideLayout" Target="../slideLayouts/slideLayout3.xml"/><Relationship Id="rId7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hyperlink" Target="https://bank.gov.ua/ua/news/all/komentar-natsionalnogo-banku-schodo-rivnya-inflyatsiyi-v-serpni-2026-roku" TargetMode="External"/><Relationship Id="rId2" Type="http://schemas.openxmlformats.org/officeDocument/2006/relationships/hyperlink" Target="https://bank.gov.ua/admin_uploads/article/Tables_Charts_2026-Q3.xlsx?v=19" TargetMode="External"/><Relationship Id="rId3" Type="http://schemas.openxmlformats.org/officeDocument/2006/relationships/hyperlink" Target="https://bank.gov.ua/ua/open-data/api-dev" TargetMode="External"/><Relationship Id="rId4" Type="http://schemas.openxmlformats.org/officeDocument/2006/relationships/image" Target="../media/image-5-1.png"/><Relationship Id="rId5" Type="http://schemas.openxmlformats.org/officeDocument/2006/relationships/slideLayout" Target="../slideLayouts/slideLayout3.xml"/><Relationship Id="rId6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hyperlink" Target="https://bank.gov.ua/admin_uploads/article/Tables_Charts_2026-Q3.xlsx?v=19" TargetMode="External"/><Relationship Id="rId2" Type="http://schemas.openxmlformats.org/officeDocument/2006/relationships/hyperlink" Target="https://minfin.com.ua/ua/2026/10/07/183076902/" TargetMode="External"/><Relationship Id="rId3" Type="http://schemas.openxmlformats.org/officeDocument/2006/relationships/hyperlink" Target="https://bank.gov.ua/ua/news/all/pidsumki-diskusiyi-chleniv-komitetu-z-monetarnoyi-politiki-natsionalnogo-banku-schodo-rivnya-oblikovoyi-stavki-16-veresnya-2026-roku" TargetMode="External"/><Relationship Id="rId4" Type="http://schemas.openxmlformats.org/officeDocument/2006/relationships/image" Target="../media/image-6-1.png"/><Relationship Id="rId5" Type="http://schemas.openxmlformats.org/officeDocument/2006/relationships/slideLayout" Target="../slideLayouts/slideLayout3.xml"/><Relationship Id="rId6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hyperlink" Target="https://bank.gov.ua/ua/news/all/komentar-natsionalnogo-banku-schodo-zmini-realnogo-vvp-u-ii-kvartali-2026-roku" TargetMode="External"/><Relationship Id="rId2" Type="http://schemas.openxmlformats.org/officeDocument/2006/relationships/hyperlink" Target="https://bank.gov.ua/admin_uploads/article/Tables_Charts_2026-Q3.xlsx?v=19" TargetMode="External"/><Relationship Id="rId3" Type="http://schemas.openxmlformats.org/officeDocument/2006/relationships/hyperlink" Target="https://bank.gov.ua/ua/news/all/pidsumki-diskusiyi-chleniv-komitetu-z-monetarnoyi-politiki-natsionalnogo-banku-schodo-rivnya-oblikovoyi-stavki-16-veresnya-2026-roku" TargetMode="External"/><Relationship Id="rId4" Type="http://schemas.openxmlformats.org/officeDocument/2006/relationships/image" Target="../media/image-7-1.png"/><Relationship Id="rId5" Type="http://schemas.openxmlformats.org/officeDocument/2006/relationships/slideLayout" Target="../slideLayouts/slideLayout3.xml"/><Relationship Id="rId6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hyperlink" Target="https://bank.gov.ua/ua/open-data/api-dev" TargetMode="External"/><Relationship Id="rId2" Type="http://schemas.openxmlformats.org/officeDocument/2006/relationships/hyperlink" Target="https://bank.gov.ua/ua/news/all/natsionalniy-bank-ukrayini-pidvischiv-oblikovu-stavku-do-16" TargetMode="External"/><Relationship Id="rId3" Type="http://schemas.openxmlformats.org/officeDocument/2006/relationships/image" Target="../media/image-8-1.png"/><Relationship Id="rId4" Type="http://schemas.openxmlformats.org/officeDocument/2006/relationships/slideLayout" Target="../slideLayouts/slideLayout3.xml"/><Relationship Id="rId5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hyperlink" Target="https://bank.gov.ua/admin_uploads/article/Macroeconomic_Forecast_table_2026_07.xlsx?v=19" TargetMode="External"/><Relationship Id="rId2" Type="http://schemas.openxmlformats.org/officeDocument/2006/relationships/hyperlink" Target="https://bank.gov.ua/admin_uploads/article/Tables_Charts_2026-Q3.xlsx?v=19" TargetMode="External"/><Relationship Id="rId3" Type="http://schemas.openxmlformats.org/officeDocument/2006/relationships/image" Target="../media/image-9-1.png"/><Relationship Id="rId4" Type="http://schemas.openxmlformats.org/officeDocument/2006/relationships/slideLayout" Target="../slideLayouts/slideLayout3.xml"/><Relationship Id="rId5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hyperlink" Target="https://bank.gov.ua/admin_uploads/article/Macroeconomic_Forecast_table_2026_07.xlsx?v=19" TargetMode="External"/><Relationship Id="rId2" Type="http://schemas.openxmlformats.org/officeDocument/2006/relationships/hyperlink" Target="https://bank.gov.ua/admin_uploads/article/Tables_Charts_2026-Q3.xlsx?v=19" TargetMode="External"/><Relationship Id="rId3" Type="http://schemas.openxmlformats.org/officeDocument/2006/relationships/hyperlink" Target="https://bank.gov.ua/ua/news/all/rada-mvf-shvalila-pershiy-pereglyad-programi-rozshirenogo-finansuvannya-ta-zatverdila-vidilennya-transhu-obsyagom-690-mln-dol-ssha" TargetMode="External"/><Relationship Id="rId4" Type="http://schemas.openxmlformats.org/officeDocument/2006/relationships/image" Target="../media/image-10-1.png"/><Relationship Id="rId5" Type="http://schemas.openxmlformats.org/officeDocument/2006/relationships/slideLayout" Target="../slideLayouts/slideLayout3.xml"/><Relationship Id="rId6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hyperlink" Target="https://events.bank.gov.ua/uchallenge2026/files/nbu_challenge_model_2026.zip" TargetMode="External"/><Relationship Id="rId2" Type="http://schemas.openxmlformats.org/officeDocument/2006/relationships/hyperlink" Target="https://bank.gov.ua/ua/open-data/api-dev" TargetMode="External"/><Relationship Id="rId3" Type="http://schemas.openxmlformats.org/officeDocument/2006/relationships/hyperlink" Target="https://data.ecb.europa.eu/" TargetMode="External"/><Relationship Id="rId4" Type="http://schemas.openxmlformats.org/officeDocument/2006/relationships/hyperlink" Target="https://ec.europa.eu/eurostat/databrowser/view/prc_hicp_minr/default/table" TargetMode="External"/><Relationship Id="rId5" Type="http://schemas.openxmlformats.org/officeDocument/2006/relationships/slideLayout" Target="../slideLayouts/slideLayout4.xml"/><Relationship Id="rId6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hyperlink" Target="https://bank.gov.ua/files/macro/CCPI_m.xlsx" TargetMode="External"/><Relationship Id="rId2" Type="http://schemas.openxmlformats.org/officeDocument/2006/relationships/hyperlink" Target="https://db.nomics.world/EIA/PET/RBRTE.M" TargetMode="External"/><Relationship Id="rId3" Type="http://schemas.openxmlformats.org/officeDocument/2006/relationships/hyperlink" Target="https://finance.yahoo.com/quote/BZ%3DF/" TargetMode="External"/><Relationship Id="rId4" Type="http://schemas.openxmlformats.org/officeDocument/2006/relationships/image" Target="../media/image-13-1.png"/><Relationship Id="rId5" Type="http://schemas.openxmlformats.org/officeDocument/2006/relationships/slideLayout" Target="../slideLayouts/slideLayout4.xml"/><Relationship Id="rId6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hyperlink" Target="https://bank.gov.ua/ua/news/all/inflyatsiya-prishvidshitsya-u-drugomu-pivrichchi-ale-povernetsya-do-znijennya-nastupnogo-roku--inflyatsiyniy-zvit" TargetMode="External"/><Relationship Id="rId2" Type="http://schemas.openxmlformats.org/officeDocument/2006/relationships/hyperlink" Target="https://bank.gov.ua/admin_uploads/article/Macroeconomic_Forecast_table_2026_07.xlsx?v=19" TargetMode="External"/><Relationship Id="rId3" Type="http://schemas.openxmlformats.org/officeDocument/2006/relationships/hyperlink" Target="https://bank.gov.ua/ua/news/all/pidsumki-diskusiyi-chleniv-komitetu-z-monetarnoyi-politiki-natsionalnogo-banku-schodo-rivnya-oblikovoyi-stavki-16-veresnya-2026-roku" TargetMode="External"/><Relationship Id="rId4" Type="http://schemas.openxmlformats.org/officeDocument/2006/relationships/hyperlink" Target="https://bank.gov.ua/ua/open-data/api-dev" TargetMode="External"/><Relationship Id="rId5" Type="http://schemas.openxmlformats.org/officeDocument/2006/relationships/hyperlink" Target="https://bank.gov.ua/ua/news/all/pidsumki-diskusiyi-chleniv-komitetu-z-monetarnoyi-politiki-natsionalnogo-banku-schodo-rivnya-oblikovoyi-stavki-16-veresnya-2026-roku" TargetMode="External"/><Relationship Id="rId6" Type="http://schemas.openxmlformats.org/officeDocument/2006/relationships/hyperlink" Target="https://bank.gov.ua/ua/news/all/pidsumki-diskusiyi-chleniv-komitetu-z-monetarnoyi-politiki-natsionalnogo-banku-schodo-rivnya-oblikovoyi-stavki-16-veresnya-2026-roku" TargetMode="External"/><Relationship Id="rId7" Type="http://schemas.openxmlformats.org/officeDocument/2006/relationships/hyperlink" Target="https://bank.gov.ua/admin_uploads/article/Macroeconomic_Forecast_table_2026_07.xlsx?v=19" TargetMode="External"/><Relationship Id="rId8" Type="http://schemas.openxmlformats.org/officeDocument/2006/relationships/hyperlink" Target="https://bank.gov.ua/ua/news/all/inflyatsiya-prishvidshitsya-u-drugomu-pivrichchi-ale-povernetsya-do-znijennya-nastupnogo-roku--inflyatsiyniy-zvit" TargetMode="External"/><Relationship Id="rId9" Type="http://schemas.openxmlformats.org/officeDocument/2006/relationships/hyperlink" Target="https://bank.gov.ua/ua/news/all/natsionalniy-bank-ukrayini-pidvischiv-oblikovu-stavku-do-16" TargetMode="External"/><Relationship Id="rId10" Type="http://schemas.openxmlformats.org/officeDocument/2006/relationships/hyperlink" Target="https://bank.gov.ua/admin_uploads/article/Macroeconomic_Forecast_table_2026_07.xlsx?v=19" TargetMode="External"/><Relationship Id="rId11" Type="http://schemas.openxmlformats.org/officeDocument/2006/relationships/hyperlink" Target="https://bank.gov.ua/admin_uploads/article/Macroeconomic_Forecast_table_2026_07.xlsx?v=19" TargetMode="External"/><Relationship Id="rId12" Type="http://schemas.openxmlformats.org/officeDocument/2006/relationships/hyperlink" Target="https://db.nomics.world/EIA/PET/RBRTE.M" TargetMode="External"/><Relationship Id="rId13" Type="http://schemas.openxmlformats.org/officeDocument/2006/relationships/hyperlink" Target="https://finance.yahoo.com/quote/BZ%3DF/" TargetMode="External"/><Relationship Id="rId14" Type="http://schemas.openxmlformats.org/officeDocument/2006/relationships/hyperlink" Target="https://www.ecb.europa.eu/press/projections/html/index.en.html" TargetMode="External"/><Relationship Id="rId15" Type="http://schemas.openxmlformats.org/officeDocument/2006/relationships/slideLayout" Target="../slideLayouts/slideLayout4.xml"/><Relationship Id="rId16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hyperlink" Target="https://bank.gov.ua/ua/open-data/api-dev" TargetMode="External"/><Relationship Id="rId2" Type="http://schemas.openxmlformats.org/officeDocument/2006/relationships/hyperlink" Target="https://bank.gov.ua/ua/news/all/komentar-natsionalnogo-banku-schodo-rivnya-inflyatsiyi-v-serpni-2026-roku" TargetMode="External"/><Relationship Id="rId3" Type="http://schemas.openxmlformats.org/officeDocument/2006/relationships/image" Target="../media/image-15-1.png"/><Relationship Id="rId4" Type="http://schemas.openxmlformats.org/officeDocument/2006/relationships/slideLayout" Target="../slideLayouts/slideLayout4.xml"/><Relationship Id="rId5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hyperlink" Target="https://p4.bank.gov.ua/admin_uploads/article/MPG_2024-mt_eng.pdf" TargetMode="External"/><Relationship Id="rId2" Type="http://schemas.openxmlformats.org/officeDocument/2006/relationships/hyperlink" Target="https://bank.gov.ua/admin_uploads/article/Macroeconomic_Forecast_table_2026_07.xlsx?v=19" TargetMode="External"/><Relationship Id="rId3" Type="http://schemas.openxmlformats.org/officeDocument/2006/relationships/image" Target="../media/image-16-1.png"/><Relationship Id="rId4" Type="http://schemas.openxmlformats.org/officeDocument/2006/relationships/slideLayout" Target="../slideLayouts/slideLayout4.xml"/><Relationship Id="rId5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hyperlink" Target="https://bank.gov.ua/files/macro/CCPI_m.xlsx" TargetMode="External"/><Relationship Id="rId2" Type="http://schemas.openxmlformats.org/officeDocument/2006/relationships/hyperlink" Target="https://bank.gov.ua/admin_uploads/article/Macroeconomic_Forecast_table_2026_07.xlsx?v=19" TargetMode="External"/><Relationship Id="rId3" Type="http://schemas.openxmlformats.org/officeDocument/2006/relationships/image" Target="../media/image-17-1.png"/><Relationship Id="rId4" Type="http://schemas.openxmlformats.org/officeDocument/2006/relationships/slideLayout" Target="../slideLayouts/slideLayout4.xml"/><Relationship Id="rId5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hyperlink" Target="https://bank.gov.ua/admin_uploads/article/Tables_Charts_2026-Q3.xlsx?v=19" TargetMode="External"/><Relationship Id="rId2" Type="http://schemas.openxmlformats.org/officeDocument/2006/relationships/hyperlink" Target="https://bank.gov.ua/admin_uploads/article/Macroeconomic_Forecast_table_2026_07.xlsx?v=19" TargetMode="External"/><Relationship Id="rId3" Type="http://schemas.openxmlformats.org/officeDocument/2006/relationships/hyperlink" Target="https://bank.gov.ua/ua/news/all/komentar-natsionalnogo-banku-schodo-zmini-realnogo-vvp-u-ii-kvartali-2026-roku" TargetMode="External"/><Relationship Id="rId4" Type="http://schemas.openxmlformats.org/officeDocument/2006/relationships/image" Target="../media/image-18-1.png"/><Relationship Id="rId5" Type="http://schemas.openxmlformats.org/officeDocument/2006/relationships/image" Target="../media/image-18-2.png"/><Relationship Id="rId6" Type="http://schemas.openxmlformats.org/officeDocument/2006/relationships/slideLayout" Target="../slideLayouts/slideLayout4.xml"/><Relationship Id="rId7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hyperlink" Target="https://bank.gov.ua/ua/news/all/pidsumki-diskusiyi-chleniv-komitetu-z-monetarnoyi-politiki-natsionalnogo-banku-schodo-rivnya-oblikovoyi-stavki-16-veresnya-2026-roku" TargetMode="External"/><Relationship Id="rId2" Type="http://schemas.openxmlformats.org/officeDocument/2006/relationships/hyperlink" Target="https://finance.yahoo.com/quote/BZ%3DF/" TargetMode="External"/><Relationship Id="rId3" Type="http://schemas.openxmlformats.org/officeDocument/2006/relationships/hyperlink" Target="https://bank.gov.ua/admin_uploads/article/Macroeconomic_Forecast_table_2026_07.xlsx?v=19" TargetMode="External"/><Relationship Id="rId4" Type="http://schemas.openxmlformats.org/officeDocument/2006/relationships/image" Target="../media/image-19-1.png"/><Relationship Id="rId5" Type="http://schemas.openxmlformats.org/officeDocument/2006/relationships/slideLayout" Target="../slideLayouts/slideLayout4.xml"/><Relationship Id="rId6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hyperlink" Target="https://bank.gov.ua/ua/news/all/pidsumki-diskusiyi-chleniv-komitetu-z-monetarnoyi-politiki-natsionalnogo-banku-schodo-rivnya-oblikovoyi-stavki-16-veresnya-2026-roku" TargetMode="External"/><Relationship Id="rId2" Type="http://schemas.openxmlformats.org/officeDocument/2006/relationships/hyperlink" Target="https://bank.gov.ua/ua/news/all/inflyatsiya-prishvidshitsya-u-drugomu-pivrichchi-ale-povernetsya-do-znijennya-nastupnogo-roku--inflyatsiyniy-zvit" TargetMode="External"/><Relationship Id="rId3" Type="http://schemas.openxmlformats.org/officeDocument/2006/relationships/slideLayout" Target="../slideLayouts/slideLayout4.xml"/><Relationship Id="rId4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hyperlink" Target="https://zakon.rada.gov.ua/laws/show/679-14" TargetMode="External"/><Relationship Id="rId2" Type="http://schemas.openxmlformats.org/officeDocument/2006/relationships/hyperlink" Target="https://p4.bank.gov.ua/admin_uploads/article/MPG_2024-mt_eng.pdf" TargetMode="External"/><Relationship Id="rId3" Type="http://schemas.openxmlformats.org/officeDocument/2006/relationships/hyperlink" Target="https://bank.gov.ua/ua/news/all/pidsumki-diskusiyi-chleniv-komitetu-z-monetarnoyi-politiki-natsionalnogo-banku-schodo-rivnya-oblikovoyi-stavki-16-veresnya-2026-roku" TargetMode="External"/><Relationship Id="rId4" Type="http://schemas.openxmlformats.org/officeDocument/2006/relationships/hyperlink" Target="https://bank.gov.ua/ua/news/all/nbu-informuye-pro-golovniy-printsip-viznachennya-obsyagiv-rozmischennya-trimisyachnih-depozitnih-sertifikativ" TargetMode="External"/><Relationship Id="rId5" Type="http://schemas.openxmlformats.org/officeDocument/2006/relationships/slideLayout" Target="../slideLayouts/slideLayout5.xml"/><Relationship Id="rId6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hyperlink" Target="https://p4.bank.gov.ua/admin_uploads/article/MPG_2024-mt_eng.pdf" TargetMode="External"/><Relationship Id="rId2" Type="http://schemas.openxmlformats.org/officeDocument/2006/relationships/image" Target="../media/image-23-1.png"/><Relationship Id="rId3" Type="http://schemas.openxmlformats.org/officeDocument/2006/relationships/slideLayout" Target="../slideLayouts/slideLayout5.xml"/><Relationship Id="rId4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hyperlink" Target="https://bank.gov.ua/ua/news/all/natsionalniy-bank-ukrayini-pidvischiv-oblikovu-stavku-do-16" TargetMode="External"/><Relationship Id="rId2" Type="http://schemas.openxmlformats.org/officeDocument/2006/relationships/hyperlink" Target="https://bank.gov.ua/ua/news/all/pidsumki-diskusiyi-chleniv-komitetu-z-monetarnoyi-politiki-natsionalnogo-banku-schodo-rivnya-oblikovoyi-stavki-16-veresnya-2026-roku" TargetMode="External"/><Relationship Id="rId3" Type="http://schemas.openxmlformats.org/officeDocument/2006/relationships/slideLayout" Target="../slideLayouts/slideLayout5.xml"/><Relationship Id="rId4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hyperlink" Target="https://bank.gov.ua/ua/open-data/api-dev" TargetMode="External"/><Relationship Id="rId2" Type="http://schemas.openxmlformats.org/officeDocument/2006/relationships/hyperlink" Target="https://bank.gov.ua/admin_uploads/article/Tables_Charts_2026-Q3.xlsx?v=19" TargetMode="External"/><Relationship Id="rId3" Type="http://schemas.openxmlformats.org/officeDocument/2006/relationships/hyperlink" Target="https://bank.gov.ua/admin_uploads/article/Macroeconomic_Forecast_table_2026_07.xlsx?v=19" TargetMode="External"/><Relationship Id="rId4" Type="http://schemas.openxmlformats.org/officeDocument/2006/relationships/image" Target="../media/image-25-1.png"/><Relationship Id="rId5" Type="http://schemas.openxmlformats.org/officeDocument/2006/relationships/slideLayout" Target="../slideLayouts/slideLayout5.xml"/><Relationship Id="rId6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hyperlink" Target="https://bank.gov.ua/ua/news/all/nbu-vprovadjuye-paket-pomyakshennya-valyutnih-obmejen-z-osnovnim-fokusom-na-pidtrimtsi-naselennya" TargetMode="External"/><Relationship Id="rId2" Type="http://schemas.openxmlformats.org/officeDocument/2006/relationships/hyperlink" Target="https://bank.gov.ua/admin_uploads/article/Strategy_for_easing_FX_restrictions_07-07-2023.pdf?v=19" TargetMode="External"/><Relationship Id="rId3" Type="http://schemas.openxmlformats.org/officeDocument/2006/relationships/hyperlink" Target="https://bank.gov.ua/ua/open-data/api-dev" TargetMode="External"/><Relationship Id="rId4" Type="http://schemas.openxmlformats.org/officeDocument/2006/relationships/image" Target="../media/image-26-1.png"/><Relationship Id="rId5" Type="http://schemas.openxmlformats.org/officeDocument/2006/relationships/slideLayout" Target="../slideLayouts/slideLayout5.xml"/><Relationship Id="rId6" Type="http://schemas.openxmlformats.org/officeDocument/2006/relationships/notesSlide" Target="../notesSlides/notesSlide26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hyperlink" Target="https://bank.gov.ua/ua/news/all/natsionalniy-bank-ukrayini-pidvischiv-oblikovu-stavku-do-16" TargetMode="External"/><Relationship Id="rId2" Type="http://schemas.openxmlformats.org/officeDocument/2006/relationships/slideLayout" Target="../slideLayouts/slideLayout5.xml"/><Relationship Id="rId3" Type="http://schemas.openxmlformats.org/officeDocument/2006/relationships/notesSlide" Target="../notesSlides/notesSlide2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8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9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hyperlink" Target="https://events.bank.gov.ua/uchallenge2026/files/nbu_challenge_model_2026.zip" TargetMode="External"/><Relationship Id="rId2" Type="http://schemas.openxmlformats.org/officeDocument/2006/relationships/hyperlink" Target="https://bank.gov.ua/ua/open-data/api-dev" TargetMode="External"/><Relationship Id="rId3" Type="http://schemas.openxmlformats.org/officeDocument/2006/relationships/hyperlink" Target="https://data.ecb.europa.eu/" TargetMode="External"/><Relationship Id="rId4" Type="http://schemas.openxmlformats.org/officeDocument/2006/relationships/hyperlink" Target="https://ec.europa.eu/eurostat/databrowser/view/prc_hicp_minr/default/table" TargetMode="External"/><Relationship Id="rId5" Type="http://schemas.openxmlformats.org/officeDocument/2006/relationships/slideLayout" Target="../slideLayouts/slideLayout6.xml"/><Relationship Id="rId6" Type="http://schemas.openxmlformats.org/officeDocument/2006/relationships/notesSlide" Target="../notesSlides/notesSlide30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hyperlink" Target="https://events.bank.gov.ua/uchallenge2026/files/nbu_challenge_model_2026.zip" TargetMode="External"/><Relationship Id="rId2" Type="http://schemas.openxmlformats.org/officeDocument/2006/relationships/image" Target="../media/image-31-1.png"/><Relationship Id="rId3" Type="http://schemas.openxmlformats.org/officeDocument/2006/relationships/slideLayout" Target="../slideLayouts/slideLayout6.xml"/><Relationship Id="rId4" Type="http://schemas.openxmlformats.org/officeDocument/2006/relationships/notesSlide" Target="../notesSlides/notesSlide31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hyperlink" Target="https://events.bank.gov.ua/uchallenge2026/files/nbu_challenge_model_2026.zip" TargetMode="External"/><Relationship Id="rId2" Type="http://schemas.openxmlformats.org/officeDocument/2006/relationships/image" Target="../media/image-32-1.png"/><Relationship Id="rId3" Type="http://schemas.openxmlformats.org/officeDocument/2006/relationships/slideLayout" Target="../slideLayouts/slideLayout6.xml"/><Relationship Id="rId4" Type="http://schemas.openxmlformats.org/officeDocument/2006/relationships/notesSlide" Target="../notesSlides/notesSlide3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3-1.png"/><Relationship Id="rId2" Type="http://schemas.openxmlformats.org/officeDocument/2006/relationships/slideLayout" Target="../slideLayouts/slideLayout6.xml"/><Relationship Id="rId3" Type="http://schemas.openxmlformats.org/officeDocument/2006/relationships/notesSlide" Target="../notesSlides/notesSlide33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hyperlink" Target="https://bank.gov.ua/ua/open-data/api-dev" TargetMode="External"/><Relationship Id="rId2" Type="http://schemas.openxmlformats.org/officeDocument/2006/relationships/image" Target="../media/image-34-1.png"/><Relationship Id="rId3" Type="http://schemas.openxmlformats.org/officeDocument/2006/relationships/slideLayout" Target="../slideLayouts/slideLayout6.xml"/><Relationship Id="rId4" Type="http://schemas.openxmlformats.org/officeDocument/2006/relationships/notesSlide" Target="../notesSlides/notesSlide34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35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hyperlink" Target="https://bank.gov.ua/ua/open-data/api-dev" TargetMode="External"/><Relationship Id="rId2" Type="http://schemas.openxmlformats.org/officeDocument/2006/relationships/hyperlink" Target="https://bank.gov.ua/files/macro/CCPI_m.xlsx" TargetMode="External"/><Relationship Id="rId3" Type="http://schemas.openxmlformats.org/officeDocument/2006/relationships/hyperlink" Target="https://bank.gov.ua/admin_uploads/article/Tables_Charts_2026-Q3.xlsx?v=19" TargetMode="External"/><Relationship Id="rId4" Type="http://schemas.openxmlformats.org/officeDocument/2006/relationships/hyperlink" Target="https://bank.gov.ua/ua/news/all/komentar-natsionalnogo-banku-schodo-rivnya-inflyatsiyi-v-serpni-2026-roku" TargetMode="External"/><Relationship Id="rId5" Type="http://schemas.openxmlformats.org/officeDocument/2006/relationships/hyperlink" Target="https://bank.gov.ua/ua/open-data/api-dev" TargetMode="External"/><Relationship Id="rId6" Type="http://schemas.openxmlformats.org/officeDocument/2006/relationships/hyperlink" Target="https://stat.gov.ua/" TargetMode="External"/><Relationship Id="rId7" Type="http://schemas.openxmlformats.org/officeDocument/2006/relationships/hyperlink" Target="https://bank.gov.ua/ua/news/all/komentar-natsionalnogo-banku-schodo-zmini-realnogo-vvp-u-ii-kvartali-2026-roku" TargetMode="External"/><Relationship Id="rId8" Type="http://schemas.openxmlformats.org/officeDocument/2006/relationships/hyperlink" Target="https://bank.gov.ua/files/macro/Wages_m.xlsx" TargetMode="External"/><Relationship Id="rId9" Type="http://schemas.openxmlformats.org/officeDocument/2006/relationships/hyperlink" Target="https://bank.gov.ua/files/macro/S_budget_m.xlsx" TargetMode="External"/><Relationship Id="rId10" Type="http://schemas.openxmlformats.org/officeDocument/2006/relationships/hyperlink" Target="https://bank.gov.ua/ua/news/all/inflyatsiya-prishvidshitsya-u-drugomu-pivrichchi-ale-povernetsya-do-znijennya-nastupnogo-roku--inflyatsiyniy-zvit" TargetMode="External"/><Relationship Id="rId11" Type="http://schemas.openxmlformats.org/officeDocument/2006/relationships/hyperlink" Target="https://bank.gov.ua/admin_uploads/article/Macroeconomic_Forecast_table_2026_07.xlsx?v=19" TargetMode="External"/><Relationship Id="rId12" Type="http://schemas.openxmlformats.org/officeDocument/2006/relationships/hyperlink" Target="https://bank.gov.ua/admin_uploads/article/Tables_Charts_2026-Q3.xlsx?v=19" TargetMode="External"/><Relationship Id="rId13" Type="http://schemas.openxmlformats.org/officeDocument/2006/relationships/hyperlink" Target="https://p4.bank.gov.ua/admin_uploads/article/MPG_2024-mt_eng.pdf" TargetMode="External"/><Relationship Id="rId14" Type="http://schemas.openxmlformats.org/officeDocument/2006/relationships/hyperlink" Target="https://ec.europa.eu/eurostat/databrowser/view/prc_hicp_minr/default/table" TargetMode="External"/><Relationship Id="rId15" Type="http://schemas.openxmlformats.org/officeDocument/2006/relationships/hyperlink" Target="https://data.ecb.europa.eu/" TargetMode="External"/><Relationship Id="rId16" Type="http://schemas.openxmlformats.org/officeDocument/2006/relationships/hyperlink" Target="https://www.ecb.europa.eu/press/projections/html/index.en.html" TargetMode="External"/><Relationship Id="rId17" Type="http://schemas.openxmlformats.org/officeDocument/2006/relationships/hyperlink" Target="https://db.nomics.world/EIA/PET/RBRTE.M" TargetMode="External"/><Relationship Id="rId18" Type="http://schemas.openxmlformats.org/officeDocument/2006/relationships/hyperlink" Target="https://finance.yahoo.com/quote/BZ%3DF/" TargetMode="External"/><Relationship Id="rId19" Type="http://schemas.openxmlformats.org/officeDocument/2006/relationships/hyperlink" Target="https://bank.gov.ua/ua/news/all/natsionalniy-bank-ukrayini-pidvischiv-oblikovu-stavku-do-16" TargetMode="External"/><Relationship Id="rId20" Type="http://schemas.openxmlformats.org/officeDocument/2006/relationships/hyperlink" Target="https://bank.gov.ua/ua/news/all/pidsumki-diskusiyi-chleniv-komitetu-z-monetarnoyi-politiki-natsionalnogo-banku-schodo-rivnya-oblikovoyi-stavki-16-veresnya-2026-roku" TargetMode="External"/><Relationship Id="rId21" Type="http://schemas.openxmlformats.org/officeDocument/2006/relationships/hyperlink" Target="https://bank.gov.ua/admin_uploads/article/Strategy_for_easing_FX_restrictions_07-07-2023.pdf?v=19" TargetMode="External"/><Relationship Id="rId22" Type="http://schemas.openxmlformats.org/officeDocument/2006/relationships/hyperlink" Target="https://bank.gov.ua/ua/news/all/nbu-vprovadjuye-paket-pomyakshennya-valyutnih-obmejen-z-osnovnim-fokusom-na-pidtrimtsi-naselennya" TargetMode="External"/><Relationship Id="rId23" Type="http://schemas.openxmlformats.org/officeDocument/2006/relationships/hyperlink" Target="https://bank.gov.ua/ua/news/all/rada-mvf-shvalila-pershiy-pereglyad-programi-rozshirenogo-finansuvannya-ta-zatverdila-vidilennya-transhu-obsyagom-690-mln-dol-ssha" TargetMode="External"/><Relationship Id="rId24" Type="http://schemas.openxmlformats.org/officeDocument/2006/relationships/hyperlink" Target="https://events.bank.gov.ua/uchallenge2026/files/nbu_challenge_model_2026.zip" TargetMode="External"/><Relationship Id="rId25" Type="http://schemas.openxmlformats.org/officeDocument/2006/relationships/slideLayout" Target="../slideLayouts/slideLayout6.xml"/><Relationship Id="rId26" Type="http://schemas.openxmlformats.org/officeDocument/2006/relationships/notesSlide" Target="../notesSlides/notesSlide3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731520" y="2377440"/>
            <a:ext cx="1069848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4000" b="1" dirty="0">
                <a:solidFill>
                  <a:schemeClr val="bg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Рекомендації щодо монетарної політики</a:t>
            </a:r>
            <a:endParaRPr lang="en-US" sz="4000" dirty="0"/>
          </a:p>
        </p:txBody>
      </p:sp>
      <p:sp>
        <p:nvSpPr>
          <p:cNvPr id="3" name="Text 1"/>
          <p:cNvSpPr txBox="1"/>
          <p:nvPr/>
        </p:nvSpPr>
        <p:spPr>
          <a:xfrm>
            <a:off x="731520" y="3703320"/>
            <a:ext cx="10698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C98A0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Рішення Правління НБУ 29 жовтня 2026 року</a:t>
            </a:r>
            <a:endParaRPr lang="en-US" sz="2200" dirty="0"/>
          </a:p>
        </p:txBody>
      </p:sp>
      <p:sp>
        <p:nvSpPr>
          <p:cNvPr id="4" name="Text 2"/>
          <p:cNvSpPr txBox="1"/>
          <p:nvPr/>
        </p:nvSpPr>
        <p:spPr>
          <a:xfrm>
            <a:off x="731520" y="4846320"/>
            <a:ext cx="106984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400"/>
              </a:spcAft>
              <a:buNone/>
            </a:pPr>
            <a:r>
              <a:rPr lang="en-US" sz="1600" dirty="0">
                <a:solidFill>
                  <a:schemeClr val="bg1"/>
                </a:solidFill>
              </a:rPr>
              <a:t>Команда [назва]</a:t>
            </a:r>
            <a:endParaRPr lang="en-US" sz="16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600" dirty="0">
                <a:solidFill>
                  <a:schemeClr val="bg1"/>
                </a:solidFill>
              </a:rPr>
              <a:t>[Університет, факультет]</a:t>
            </a:r>
            <a:endParaRPr lang="en-US" sz="16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600" dirty="0">
                <a:solidFill>
                  <a:schemeClr val="bg1"/>
                </a:solidFill>
              </a:rPr>
              <a:t>NBU University Challenge 2026</a:t>
            </a:r>
            <a:endParaRPr lang="en-US" sz="16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11277295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6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Головне: помірне посилення ставки, гнучкіший курс, пауза в лібералізації</a:t>
            </a:r>
            <a:endParaRPr lang="en-US" sz="2600" dirty="0"/>
          </a:p>
        </p:txBody>
      </p:sp>
      <p:sp>
        <p:nvSpPr>
          <p:cNvPr id="4" name="sources"/>
          <p:cNvSpPr txBox="1"/>
          <p:nvPr/>
        </p:nvSpPr>
        <p:spPr>
          <a:xfrm>
            <a:off x="4937760" y="6455664"/>
            <a:ext cx="611093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F6B6D"/>
                </a:solidFill>
              </a:rPr>
              <a:t>Джерела: </a:t>
            </a:r>
            <a:pPr indent="0" marL="0">
              <a:buNone/>
            </a:pPr>
            <a:r>
              <a:rPr lang="en-US" sz="900" u="sng" dirty="0">
                <a:solidFill>
                  <a:srgbClr val="5F6B6D"/>
                </a:solidFill>
                <a:hlinkClick r:id="rId1" invalidUrl="" action="" tgtFrame="" tooltip="https://p4.bank.gov.ua/admin_uploads/article/MPG_2024-mt_eng.pdf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Основні засади ГКП (2024)</a:t>
            </a:r>
            <a:pPr indent="0" marL="0">
              <a:buNone/>
            </a:pPr>
            <a:r>
              <a:rPr lang="en-US" sz="900" dirty="0">
                <a:solidFill>
                  <a:srgbClr val="5F6B6D"/>
                </a:solidFill>
              </a:rPr>
              <a:t> · </a:t>
            </a:r>
            <a:pPr indent="0" marL="0">
              <a:buNone/>
            </a:pPr>
            <a:r>
              <a:rPr lang="en-US" sz="900" u="sng" dirty="0">
                <a:solidFill>
                  <a:srgbClr val="5F6B6D"/>
                </a:solidFill>
                <a:hlinkClick r:id="rId2" invalidUrl="" action="" tgtFrame="" tooltip="https://bank.gov.ua/ua/news/all/inflyatsiya-prishvidshitsya-u-drugomu-pivrichchi-ale-povernetsya-do-znijennya-nastupnogo-roku--inflyatsiyniy-zvit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НБУ, Інфляційний звіт (липень 2026)</a:t>
            </a:r>
            <a:endParaRPr lang="en-US" sz="900" dirty="0"/>
          </a:p>
        </p:txBody>
      </p:sp>
      <p:sp>
        <p:nvSpPr>
          <p:cNvPr id="5" name="card1"/>
          <p:cNvSpPr/>
          <p:nvPr/>
        </p:nvSpPr>
        <p:spPr>
          <a:xfrm>
            <a:off x="457200" y="1325880"/>
            <a:ext cx="3576218" cy="2148840"/>
          </a:xfrm>
          <a:prstGeom prst="roundRect">
            <a:avLst>
              <a:gd name="adj" fmla="val 3404"/>
            </a:avLst>
          </a:prstGeom>
          <a:solidFill>
            <a:srgbClr val="EAF1EF"/>
          </a:solidFill>
          <a:ln/>
        </p:spPr>
      </p:sp>
      <p:sp>
        <p:nvSpPr>
          <p:cNvPr id="6" name="Text 3"/>
          <p:cNvSpPr txBox="1"/>
          <p:nvPr/>
        </p:nvSpPr>
        <p:spPr>
          <a:xfrm>
            <a:off x="685800" y="1490472"/>
            <a:ext cx="311901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chemeClr val="accent6"/>
                </a:solidFill>
              </a:rPr>
              <a:t>ОБЛІКОВА СТАВКА</a:t>
            </a:r>
            <a:endParaRPr lang="en-US" sz="1100" dirty="0"/>
          </a:p>
        </p:txBody>
      </p:sp>
      <p:sp>
        <p:nvSpPr>
          <p:cNvPr id="7" name="Text 4"/>
          <p:cNvSpPr txBox="1"/>
          <p:nvPr/>
        </p:nvSpPr>
        <p:spPr>
          <a:xfrm>
            <a:off x="685800" y="1783080"/>
            <a:ext cx="3119018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16,5%</a:t>
            </a:r>
            <a:pPr indent="0" marL="0">
              <a:buNone/>
            </a:pPr>
            <a:r>
              <a:rPr lang="en-US" sz="1500" b="1" dirty="0">
                <a:solidFill>
                  <a:srgbClr val="C98A00"/>
                </a:solidFill>
              </a:rPr>
              <a:t>  +0,5 в. п.</a:t>
            </a:r>
            <a:endParaRPr lang="en-US" sz="4000" dirty="0"/>
          </a:p>
        </p:txBody>
      </p:sp>
      <p:sp>
        <p:nvSpPr>
          <p:cNvPr id="8" name="Text 5"/>
          <p:cNvSpPr txBox="1"/>
          <p:nvPr/>
        </p:nvSpPr>
        <p:spPr>
          <a:xfrm>
            <a:off x="685800" y="2560320"/>
            <a:ext cx="3119018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утримувати щонайменше до середини 2027; далі — зниження, що повертає інфляцію до 5% у 2029</a:t>
            </a:r>
            <a:endParaRPr lang="en-US" sz="1300" dirty="0"/>
          </a:p>
        </p:txBody>
      </p:sp>
      <p:sp>
        <p:nvSpPr>
          <p:cNvPr id="9" name="card2"/>
          <p:cNvSpPr/>
          <p:nvPr/>
        </p:nvSpPr>
        <p:spPr>
          <a:xfrm>
            <a:off x="4307738" y="1325880"/>
            <a:ext cx="3576218" cy="2148840"/>
          </a:xfrm>
          <a:prstGeom prst="roundRect">
            <a:avLst>
              <a:gd name="adj" fmla="val 3404"/>
            </a:avLst>
          </a:prstGeom>
          <a:solidFill>
            <a:srgbClr val="EAF1EF"/>
          </a:solidFill>
          <a:ln/>
        </p:spPr>
      </p:sp>
      <p:sp>
        <p:nvSpPr>
          <p:cNvPr id="10" name="Text 7"/>
          <p:cNvSpPr txBox="1"/>
          <p:nvPr/>
        </p:nvSpPr>
        <p:spPr>
          <a:xfrm>
            <a:off x="4536338" y="1490472"/>
            <a:ext cx="311901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chemeClr val="accent6"/>
                </a:solidFill>
              </a:rPr>
              <a:t>КУРС ГРИВНІ ДО ЄВРО</a:t>
            </a:r>
            <a:endParaRPr lang="en-US" sz="1100" dirty="0"/>
          </a:p>
        </p:txBody>
      </p:sp>
      <p:sp>
        <p:nvSpPr>
          <p:cNvPr id="11" name="Text 8"/>
          <p:cNvSpPr txBox="1"/>
          <p:nvPr/>
        </p:nvSpPr>
        <p:spPr>
          <a:xfrm>
            <a:off x="4536338" y="1783080"/>
            <a:ext cx="3119018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до 4%</a:t>
            </a:r>
            <a:pPr indent="0" marL="0">
              <a:buNone/>
            </a:pPr>
            <a:r>
              <a:rPr lang="en-US" sz="1500" b="1" dirty="0">
                <a:solidFill>
                  <a:srgbClr val="C98A00"/>
                </a:solidFill>
              </a:rPr>
              <a:t>  на рік</a:t>
            </a:r>
            <a:endParaRPr lang="en-US" sz="4000" dirty="0"/>
          </a:p>
        </p:txBody>
      </p:sp>
      <p:sp>
        <p:nvSpPr>
          <p:cNvPr id="12" name="Text 9"/>
          <p:cNvSpPr txBox="1"/>
          <p:nvPr/>
        </p:nvSpPr>
        <p:spPr>
          <a:xfrm>
            <a:off x="4536338" y="2560320"/>
            <a:ext cx="3119018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допускати поступове послаблення; за ставки 16,5% фактичне — ≈1% на рік; інтервенції лише згладжують коливання</a:t>
            </a:r>
            <a:endParaRPr lang="en-US" sz="1300" dirty="0"/>
          </a:p>
        </p:txBody>
      </p:sp>
      <p:sp>
        <p:nvSpPr>
          <p:cNvPr id="13" name="card3"/>
          <p:cNvSpPr/>
          <p:nvPr/>
        </p:nvSpPr>
        <p:spPr>
          <a:xfrm>
            <a:off x="8158277" y="1325880"/>
            <a:ext cx="3576218" cy="2148840"/>
          </a:xfrm>
          <a:prstGeom prst="roundRect">
            <a:avLst>
              <a:gd name="adj" fmla="val 3404"/>
            </a:avLst>
          </a:prstGeom>
          <a:solidFill>
            <a:srgbClr val="EAF1EF"/>
          </a:solidFill>
          <a:ln/>
        </p:spPr>
      </p:sp>
      <p:sp>
        <p:nvSpPr>
          <p:cNvPr id="14" name="Text 11"/>
          <p:cNvSpPr txBox="1"/>
          <p:nvPr/>
        </p:nvSpPr>
        <p:spPr>
          <a:xfrm>
            <a:off x="8386877" y="1490472"/>
            <a:ext cx="311901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chemeClr val="accent6"/>
                </a:solidFill>
              </a:rPr>
              <a:t>ВАЛЮТНІ ОБМЕЖЕННЯ</a:t>
            </a:r>
            <a:endParaRPr lang="en-US" sz="1100" dirty="0"/>
          </a:p>
        </p:txBody>
      </p:sp>
      <p:sp>
        <p:nvSpPr>
          <p:cNvPr id="15" name="Text 12"/>
          <p:cNvSpPr txBox="1"/>
          <p:nvPr/>
        </p:nvSpPr>
        <p:spPr>
          <a:xfrm>
            <a:off x="8386877" y="1783080"/>
            <a:ext cx="3119018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Пауза</a:t>
            </a:r>
            <a:pPr indent="0" marL="0">
              <a:buNone/>
            </a:pPr>
            <a:r>
              <a:rPr lang="en-US" sz="1500" b="1" dirty="0">
                <a:solidFill>
                  <a:srgbClr val="C98A00"/>
                </a:solidFill>
              </a:rPr>
              <a:t>  етап III</a:t>
            </a:r>
            <a:endParaRPr lang="en-US" sz="4000" dirty="0"/>
          </a:p>
        </p:txBody>
      </p:sp>
      <p:sp>
        <p:nvSpPr>
          <p:cNvPr id="16" name="Text 13"/>
          <p:cNvSpPr txBox="1"/>
          <p:nvPr/>
        </p:nvSpPr>
        <p:spPr>
          <a:xfrm>
            <a:off x="8386877" y="2560320"/>
            <a:ext cx="3119018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серпневий пакет зберегти; нові кроки — після відновлення резервів і допомоги</a:t>
            </a:r>
            <a:endParaRPr lang="en-US" sz="1300" dirty="0"/>
          </a:p>
        </p:txBody>
      </p:sp>
      <p:graphicFrame>
        <p:nvGraphicFramePr>
          <p:cNvPr id="3" name="table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3794760"/>
          <a:ext cx="11277295" cy="914400"/>
        </p:xfrm>
        <a:graphic>
          <a:graphicData uri="http://schemas.openxmlformats.org/drawingml/2006/table">
            <a:tbl>
              <a:tblPr/>
              <a:tblGrid>
                <a:gridCol w="3291840"/>
                <a:gridCol w="1996364"/>
                <a:gridCol w="1996364"/>
                <a:gridCol w="1996364"/>
                <a:gridCol w="1996364"/>
              </a:tblGrid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500" dirty="0"/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C9D6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3B4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chemeClr val="bg1"/>
                          </a:solidFill>
                        </a:rPr>
                        <a:t>IV кв. 2026</a:t>
                      </a:r>
                      <a:endParaRPr lang="en-US" sz="1500" dirty="0"/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C9D6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3B4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chemeClr val="bg1"/>
                          </a:solidFill>
                        </a:rPr>
                        <a:t>IV кв. 2027</a:t>
                      </a:r>
                      <a:endParaRPr lang="en-US" sz="1500" dirty="0"/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C9D6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3B4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chemeClr val="bg1"/>
                          </a:solidFill>
                        </a:rPr>
                        <a:t>IV кв. 2028</a:t>
                      </a:r>
                      <a:endParaRPr lang="en-US" sz="1500" dirty="0"/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C9D6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3B4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chemeClr val="bg1"/>
                          </a:solidFill>
                        </a:rPr>
                        <a:t>IV кв. 2029</a:t>
                      </a:r>
                      <a:endParaRPr lang="en-US" sz="1500" dirty="0"/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C9D6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3B43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b="1" dirty="0">
                          <a:solidFill>
                            <a:schemeClr val="tx1"/>
                          </a:solidFill>
                        </a:rPr>
                        <a:t>ІСЦ, % р/р*</a:t>
                      </a:r>
                      <a:endParaRPr lang="en-US" sz="1500" dirty="0"/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C9D6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dirty="0">
                          <a:solidFill>
                            <a:schemeClr val="tx1"/>
                          </a:solidFill>
                        </a:rPr>
                        <a:t>8,8</a:t>
                      </a:r>
                      <a:endParaRPr lang="en-US" sz="1500" dirty="0"/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C9D6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dirty="0">
                          <a:solidFill>
                            <a:schemeClr val="tx1"/>
                          </a:solidFill>
                        </a:rPr>
                        <a:t>6,5</a:t>
                      </a:r>
                      <a:endParaRPr lang="en-US" sz="1500" dirty="0"/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C9D6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dirty="0">
                          <a:solidFill>
                            <a:schemeClr val="tx1"/>
                          </a:solidFill>
                        </a:rPr>
                        <a:t>4,4</a:t>
                      </a:r>
                      <a:endParaRPr lang="en-US" sz="1500" dirty="0"/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C9D6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dirty="0">
                          <a:solidFill>
                            <a:schemeClr val="tx1"/>
                          </a:solidFill>
                        </a:rPr>
                        <a:t>5,0</a:t>
                      </a:r>
                      <a:endParaRPr lang="en-US" sz="1500" dirty="0"/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C9D6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b="1" dirty="0">
                          <a:solidFill>
                            <a:schemeClr val="tx1"/>
                          </a:solidFill>
                        </a:rPr>
                        <a:t>Базова інфляція, % р/р*</a:t>
                      </a:r>
                      <a:endParaRPr lang="en-US" sz="1500" dirty="0"/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C9D6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1E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dirty="0">
                          <a:solidFill>
                            <a:schemeClr val="tx1"/>
                          </a:solidFill>
                        </a:rPr>
                        <a:t>8,9</a:t>
                      </a:r>
                      <a:endParaRPr lang="en-US" sz="1500" dirty="0"/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C9D6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1E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dirty="0">
                          <a:solidFill>
                            <a:schemeClr val="tx1"/>
                          </a:solidFill>
                        </a:rPr>
                        <a:t>5,7</a:t>
                      </a:r>
                      <a:endParaRPr lang="en-US" sz="1500" dirty="0"/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C9D6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1E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dirty="0">
                          <a:solidFill>
                            <a:schemeClr val="tx1"/>
                          </a:solidFill>
                        </a:rPr>
                        <a:t>3,1</a:t>
                      </a:r>
                      <a:endParaRPr lang="en-US" sz="1500" dirty="0"/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C9D6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1E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dirty="0">
                          <a:solidFill>
                            <a:schemeClr val="tx1"/>
                          </a:solidFill>
                        </a:rPr>
                        <a:t>4,9</a:t>
                      </a:r>
                      <a:endParaRPr lang="en-US" sz="1500" dirty="0"/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C9D6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1E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b="1" dirty="0">
                          <a:solidFill>
                            <a:schemeClr val="tx1"/>
                          </a:solidFill>
                        </a:rPr>
                        <a:t>Реальний ВВП, % (рік)</a:t>
                      </a:r>
                      <a:endParaRPr lang="en-US" sz="1500" dirty="0"/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C9D6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dirty="0">
                          <a:solidFill>
                            <a:schemeClr val="tx1"/>
                          </a:solidFill>
                        </a:rPr>
                        <a:t>0,0</a:t>
                      </a:r>
                      <a:endParaRPr lang="en-US" sz="1500" dirty="0"/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C9D6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dirty="0">
                          <a:solidFill>
                            <a:schemeClr val="tx1"/>
                          </a:solidFill>
                        </a:rPr>
                        <a:t>0,6</a:t>
                      </a:r>
                      <a:endParaRPr lang="en-US" sz="1500" dirty="0"/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C9D6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dirty="0">
                          <a:solidFill>
                            <a:schemeClr val="tx1"/>
                          </a:solidFill>
                        </a:rPr>
                        <a:t>1,0</a:t>
                      </a:r>
                      <a:endParaRPr lang="en-US" sz="1500" dirty="0"/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C9D6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dirty="0">
                          <a:solidFill>
                            <a:schemeClr val="tx1"/>
                          </a:solidFill>
                        </a:rPr>
                        <a:t>3,0</a:t>
                      </a:r>
                      <a:endParaRPr lang="en-US" sz="1500" dirty="0"/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C9D6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b="1" dirty="0">
                          <a:solidFill>
                            <a:schemeClr val="tx1"/>
                          </a:solidFill>
                        </a:rPr>
                        <a:t>Облікова ставка, %</a:t>
                      </a:r>
                      <a:endParaRPr lang="en-US" sz="1500" dirty="0"/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C9D6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1E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dirty="0">
                          <a:solidFill>
                            <a:schemeClr val="tx1"/>
                          </a:solidFill>
                        </a:rPr>
                        <a:t>16,5</a:t>
                      </a:r>
                      <a:endParaRPr lang="en-US" sz="1500" dirty="0"/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C9D6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1E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dirty="0">
                          <a:solidFill>
                            <a:schemeClr val="tx1"/>
                          </a:solidFill>
                        </a:rPr>
                        <a:t>15,1</a:t>
                      </a:r>
                      <a:endParaRPr lang="en-US" sz="1500" dirty="0"/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C9D6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1E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dirty="0">
                          <a:solidFill>
                            <a:schemeClr val="tx1"/>
                          </a:solidFill>
                        </a:rPr>
                        <a:t>10,4</a:t>
                      </a:r>
                      <a:endParaRPr lang="en-US" sz="1500" dirty="0"/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C9D6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1E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dirty="0">
                          <a:solidFill>
                            <a:schemeClr val="tx1"/>
                          </a:solidFill>
                        </a:rPr>
                        <a:t>9,0</a:t>
                      </a:r>
                      <a:endParaRPr lang="en-US" sz="1500" dirty="0"/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C9D6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1E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b="1" dirty="0">
                          <a:solidFill>
                            <a:schemeClr val="tx1"/>
                          </a:solidFill>
                        </a:rPr>
                        <a:t>Курс, грн/€</a:t>
                      </a:r>
                      <a:endParaRPr lang="en-US" sz="1500" dirty="0"/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C9D6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dirty="0">
                          <a:solidFill>
                            <a:schemeClr val="tx1"/>
                          </a:solidFill>
                        </a:rPr>
                        <a:t>51,6</a:t>
                      </a:r>
                      <a:endParaRPr lang="en-US" sz="1500" dirty="0"/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C9D6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dirty="0">
                          <a:solidFill>
                            <a:schemeClr val="tx1"/>
                          </a:solidFill>
                        </a:rPr>
                        <a:t>51,9</a:t>
                      </a:r>
                      <a:endParaRPr lang="en-US" sz="1500" dirty="0"/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C9D6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dirty="0">
                          <a:solidFill>
                            <a:schemeClr val="tx1"/>
                          </a:solidFill>
                        </a:rPr>
                        <a:t>52,8</a:t>
                      </a:r>
                      <a:endParaRPr lang="en-US" sz="1500" dirty="0"/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C9D6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dirty="0">
                          <a:solidFill>
                            <a:schemeClr val="tx1"/>
                          </a:solidFill>
                        </a:rPr>
                        <a:t>53,7</a:t>
                      </a:r>
                      <a:endParaRPr lang="en-US" sz="1500" dirty="0"/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C9D6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8" name="Text 14"/>
          <p:cNvSpPr txBox="1"/>
          <p:nvPr/>
        </p:nvSpPr>
        <p:spPr>
          <a:xfrm>
            <a:off x="457200" y="6281928"/>
            <a:ext cx="11277295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i="1" dirty="0">
                <a:solidFill>
                  <a:schemeClr val="accent6"/>
                </a:solidFill>
              </a:rPr>
              <a:t>* Середнє за квартал (SA); грудень 2026 — 9,9% (наукаст). Ціль НБУ — 5% на горизонті до 3 років; повернення до цілі — II кв. 2029. Дані на 07.10.2026.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85855" y="6473952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731520" y="2377440"/>
            <a:ext cx="1069848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4000" b="1" dirty="0">
                <a:solidFill>
                  <a:schemeClr val="bg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Огляд економіки</a:t>
            </a:r>
            <a:endParaRPr lang="en-US" sz="4000" dirty="0"/>
          </a:p>
        </p:txBody>
      </p:sp>
      <p:sp>
        <p:nvSpPr>
          <p:cNvPr id="3" name="Text 1"/>
          <p:cNvSpPr txBox="1"/>
          <p:nvPr/>
        </p:nvSpPr>
        <p:spPr>
          <a:xfrm>
            <a:off x="731520" y="1280160"/>
            <a:ext cx="27432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000" b="1" dirty="0">
                <a:solidFill>
                  <a:srgbClr val="C98A0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01</a:t>
            </a:r>
            <a:endParaRPr lang="en-US" sz="6000" dirty="0"/>
          </a:p>
        </p:txBody>
      </p:sp>
      <p:sp>
        <p:nvSpPr>
          <p:cNvPr id="4" name="Text 2"/>
          <p:cNvSpPr txBox="1"/>
          <p:nvPr/>
        </p:nvSpPr>
        <p:spPr>
          <a:xfrm>
            <a:off x="731520" y="3749040"/>
            <a:ext cx="106984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CFE3DE"/>
                </a:solidFill>
              </a:rPr>
              <a:t>Інфляція прискорюється, резерви тануть, економіка сповільнюється</a:t>
            </a:r>
            <a:endParaRPr lang="en-US" sz="1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11277295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6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Зовнішнє середовище стало проінфляційним: нафта ≈$100, ЄЦБ підвищує ставку</a:t>
            </a:r>
            <a:endParaRPr lang="en-US" sz="2600" dirty="0"/>
          </a:p>
        </p:txBody>
      </p:sp>
      <p:sp>
        <p:nvSpPr>
          <p:cNvPr id="4" name="sources"/>
          <p:cNvSpPr txBox="1"/>
          <p:nvPr/>
        </p:nvSpPr>
        <p:spPr>
          <a:xfrm>
            <a:off x="4937760" y="6455664"/>
            <a:ext cx="611093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F6B6D"/>
                </a:solidFill>
              </a:rPr>
              <a:t>Джерела: </a:t>
            </a:r>
            <a:pPr indent="0" marL="0">
              <a:buNone/>
            </a:pPr>
            <a:r>
              <a:rPr lang="en-US" sz="900" u="sng" dirty="0">
                <a:solidFill>
                  <a:srgbClr val="5F6B6D"/>
                </a:solidFill>
                <a:hlinkClick r:id="rId1" invalidUrl="" action="" tgtFrame="" tooltip="https://www.ecb.europa.eu/press/projections/html/index.en.html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прогноз ЄЦБ (вересень 2026)</a:t>
            </a:r>
            <a:pPr indent="0" marL="0">
              <a:buNone/>
            </a:pPr>
            <a:r>
              <a:rPr lang="en-US" sz="900" dirty="0">
                <a:solidFill>
                  <a:srgbClr val="5F6B6D"/>
                </a:solidFill>
              </a:rPr>
              <a:t> · </a:t>
            </a:r>
            <a:pPr indent="0" marL="0">
              <a:buNone/>
            </a:pPr>
            <a:r>
              <a:rPr lang="en-US" sz="900" u="sng" dirty="0">
                <a:solidFill>
                  <a:srgbClr val="5F6B6D"/>
                </a:solidFill>
                <a:hlinkClick r:id="rId2" invalidUrl="" action="" tgtFrame="" tooltip="https://ec.europa.eu/eurostat/databrowser/view/prc_hicp_minr/default/table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Eurostat HICP</a:t>
            </a:r>
            <a:pPr indent="0" marL="0">
              <a:buNone/>
            </a:pPr>
            <a:r>
              <a:rPr lang="en-US" sz="900" dirty="0">
                <a:solidFill>
                  <a:srgbClr val="5F6B6D"/>
                </a:solidFill>
              </a:rPr>
              <a:t> · </a:t>
            </a:r>
            <a:pPr indent="0" marL="0">
              <a:buNone/>
            </a:pPr>
            <a:r>
              <a:rPr lang="en-US" sz="900" u="sng" dirty="0">
                <a:solidFill>
                  <a:srgbClr val="5F6B6D"/>
                </a:solidFill>
                <a:hlinkClick r:id="rId3" invalidUrl="" action="" tgtFrame="" tooltip="https://db.nomics.world/EIA/PET/RBRTE.M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EIA Brent</a:t>
            </a:r>
            <a:pPr indent="0" marL="0">
              <a:buNone/>
            </a:pPr>
            <a:r>
              <a:rPr lang="en-US" sz="900" dirty="0">
                <a:solidFill>
                  <a:srgbClr val="5F6B6D"/>
                </a:solidFill>
              </a:rPr>
              <a:t> · </a:t>
            </a:r>
            <a:pPr indent="0" marL="0">
              <a:buNone/>
            </a:pPr>
            <a:r>
              <a:rPr lang="en-US" sz="900" u="sng" dirty="0">
                <a:solidFill>
                  <a:srgbClr val="5F6B6D"/>
                </a:solidFill>
                <a:hlinkClick r:id="rId4" invalidUrl="" action="" tgtFrame="" tooltip="https://finance.yahoo.com/quote/BZ%3DF/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ф'ючерси Brent</a:t>
            </a:r>
            <a:endParaRPr lang="en-US" sz="900" dirty="0"/>
          </a:p>
        </p:txBody>
      </p:sp>
      <p:pic>
        <p:nvPicPr>
          <p:cNvPr id="5" name="chart" descr="C:\Users\Lenovo\Documents\GitHub\nbu-challenge-2026\results\figures\ov_external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92449" y="1325880"/>
            <a:ext cx="10406798" cy="3703320"/>
          </a:xfrm>
          <a:prstGeom prst="rect">
            <a:avLst/>
          </a:prstGeom>
        </p:spPr>
      </p:pic>
      <p:sp>
        <p:nvSpPr>
          <p:cNvPr id="6" name="num1"/>
          <p:cNvSpPr/>
          <p:nvPr/>
        </p:nvSpPr>
        <p:spPr>
          <a:xfrm>
            <a:off x="457200" y="5276088"/>
            <a:ext cx="310896" cy="310896"/>
          </a:xfrm>
          <a:prstGeom prst="ellipse">
            <a:avLst/>
          </a:prstGeom>
          <a:solidFill>
            <a:srgbClr val="C98A00"/>
          </a:solidFill>
          <a:ln/>
        </p:spPr>
      </p:sp>
      <p:sp>
        <p:nvSpPr>
          <p:cNvPr id="7" name="Text 3"/>
          <p:cNvSpPr txBox="1"/>
          <p:nvPr/>
        </p:nvSpPr>
        <p:spPr>
          <a:xfrm>
            <a:off x="457200" y="5276088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bg1"/>
                </a:solidFill>
              </a:rPr>
              <a:t>1</a:t>
            </a:r>
            <a:endParaRPr lang="en-US" sz="1200" dirty="0"/>
          </a:p>
        </p:txBody>
      </p:sp>
      <p:sp>
        <p:nvSpPr>
          <p:cNvPr id="8" name="point1"/>
          <p:cNvSpPr txBox="1"/>
          <p:nvPr/>
        </p:nvSpPr>
        <p:spPr>
          <a:xfrm>
            <a:off x="868680" y="5257800"/>
            <a:ext cx="3164738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Війна на Близькому Сході (з 28.02.2026): Brent — пік $117 у квітні, $102 у вересні (НБУ закладав $80–85); ф'ючерси — $83 наприкінці 2027</a:t>
            </a:r>
            <a:endParaRPr lang="en-US" sz="1300" dirty="0"/>
          </a:p>
        </p:txBody>
      </p:sp>
      <p:sp>
        <p:nvSpPr>
          <p:cNvPr id="9" name="num2"/>
          <p:cNvSpPr/>
          <p:nvPr/>
        </p:nvSpPr>
        <p:spPr>
          <a:xfrm>
            <a:off x="4307738" y="5276088"/>
            <a:ext cx="310896" cy="310896"/>
          </a:xfrm>
          <a:prstGeom prst="ellipse">
            <a:avLst/>
          </a:prstGeom>
          <a:solidFill>
            <a:srgbClr val="C98A00"/>
          </a:solidFill>
          <a:ln/>
        </p:spPr>
      </p:sp>
      <p:sp>
        <p:nvSpPr>
          <p:cNvPr id="10" name="Text 6"/>
          <p:cNvSpPr txBox="1"/>
          <p:nvPr/>
        </p:nvSpPr>
        <p:spPr>
          <a:xfrm>
            <a:off x="4307738" y="5276088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bg1"/>
                </a:solidFill>
              </a:rPr>
              <a:t>2</a:t>
            </a:r>
            <a:endParaRPr lang="en-US" sz="1200" dirty="0"/>
          </a:p>
        </p:txBody>
      </p:sp>
      <p:sp>
        <p:nvSpPr>
          <p:cNvPr id="11" name="point2"/>
          <p:cNvSpPr txBox="1"/>
          <p:nvPr/>
        </p:nvSpPr>
        <p:spPr>
          <a:xfrm>
            <a:off x="4719218" y="5257800"/>
            <a:ext cx="3164738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ЄЦБ підвищив ставку до 2,5% (червень, вересень); ринок закладає ще ≈+0,5 в. п. до кінця 2027</a:t>
            </a:r>
            <a:endParaRPr lang="en-US" sz="1300" dirty="0"/>
          </a:p>
        </p:txBody>
      </p:sp>
      <p:sp>
        <p:nvSpPr>
          <p:cNvPr id="12" name="num3"/>
          <p:cNvSpPr/>
          <p:nvPr/>
        </p:nvSpPr>
        <p:spPr>
          <a:xfrm>
            <a:off x="8158277" y="5276088"/>
            <a:ext cx="310896" cy="310896"/>
          </a:xfrm>
          <a:prstGeom prst="ellipse">
            <a:avLst/>
          </a:prstGeom>
          <a:solidFill>
            <a:srgbClr val="C98A00"/>
          </a:solidFill>
          <a:ln/>
        </p:spPr>
      </p:sp>
      <p:sp>
        <p:nvSpPr>
          <p:cNvPr id="13" name="Text 9"/>
          <p:cNvSpPr txBox="1"/>
          <p:nvPr/>
        </p:nvSpPr>
        <p:spPr>
          <a:xfrm>
            <a:off x="8158277" y="5276088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bg1"/>
                </a:solidFill>
              </a:rPr>
              <a:t>3</a:t>
            </a:r>
            <a:endParaRPr lang="en-US" sz="1200" dirty="0"/>
          </a:p>
        </p:txBody>
      </p:sp>
      <p:sp>
        <p:nvSpPr>
          <p:cNvPr id="14" name="point3"/>
          <p:cNvSpPr txBox="1"/>
          <p:nvPr/>
        </p:nvSpPr>
        <p:spPr>
          <a:xfrm>
            <a:off x="8569757" y="5257800"/>
            <a:ext cx="3164738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Інфляція в єврозоні — пік ≈3,7% наприкінці 2026 (прогноз ЄЦБ: 3,0% / 2,5% / 2,1% у 2026–2028)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85855" y="6473952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11277295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6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Інфляція прискорилася до 8,1%: пальне й тарифи, базова — стабільно висока</a:t>
            </a:r>
            <a:endParaRPr lang="en-US" sz="2600" dirty="0"/>
          </a:p>
        </p:txBody>
      </p:sp>
      <p:sp>
        <p:nvSpPr>
          <p:cNvPr id="4" name="sources"/>
          <p:cNvSpPr txBox="1"/>
          <p:nvPr/>
        </p:nvSpPr>
        <p:spPr>
          <a:xfrm>
            <a:off x="4937760" y="6455664"/>
            <a:ext cx="611093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F6B6D"/>
                </a:solidFill>
              </a:rPr>
              <a:t>Джерела: </a:t>
            </a:r>
            <a:pPr indent="0" marL="0">
              <a:buNone/>
            </a:pPr>
            <a:r>
              <a:rPr lang="en-US" sz="900" u="sng" dirty="0">
                <a:solidFill>
                  <a:srgbClr val="5F6B6D"/>
                </a:solidFill>
                <a:hlinkClick r:id="rId1" invalidUrl="" action="" tgtFrame="" tooltip="https://bank.gov.ua/ua/news/all/komentar-natsionalnogo-banku-schodo-rivnya-inflyatsiyi-v-serpni-2026-roku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коментар НБУ: інфляція в серпні</a:t>
            </a:r>
            <a:pPr indent="0" marL="0">
              <a:buNone/>
            </a:pPr>
            <a:r>
              <a:rPr lang="en-US" sz="900" dirty="0">
                <a:solidFill>
                  <a:srgbClr val="5F6B6D"/>
                </a:solidFill>
              </a:rPr>
              <a:t> · </a:t>
            </a:r>
            <a:pPr indent="0" marL="0">
              <a:buNone/>
            </a:pPr>
            <a:r>
              <a:rPr lang="en-US" sz="900" u="sng" dirty="0">
                <a:solidFill>
                  <a:srgbClr val="5F6B6D"/>
                </a:solidFill>
                <a:hlinkClick r:id="rId2" invalidUrl="" action="" tgtFrame="" tooltip="https://bank.gov.ua/admin_uploads/article/Tables_Charts_2026-Q3.xlsx?v=19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дані графіків ІЗ</a:t>
            </a:r>
            <a:pPr indent="0" marL="0">
              <a:buNone/>
            </a:pPr>
            <a:r>
              <a:rPr lang="en-US" sz="900" dirty="0">
                <a:solidFill>
                  <a:srgbClr val="5F6B6D"/>
                </a:solidFill>
              </a:rPr>
              <a:t> · </a:t>
            </a:r>
            <a:pPr indent="0" marL="0">
              <a:buNone/>
            </a:pPr>
            <a:r>
              <a:rPr lang="en-US" sz="900" u="sng" dirty="0">
                <a:solidFill>
                  <a:srgbClr val="5F6B6D"/>
                </a:solidFill>
                <a:hlinkClick r:id="rId3" invalidUrl="" action="" tgtFrame="" tooltip="https://bank.gov.ua/ua/open-data/api-dev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API НБУ</a:t>
            </a:r>
            <a:endParaRPr lang="en-US" sz="900" dirty="0"/>
          </a:p>
        </p:txBody>
      </p:sp>
      <p:pic>
        <p:nvPicPr>
          <p:cNvPr id="5" name="chart" descr="C:\Users\Lenovo\Documents\GitHub\nbu-challenge-2026\results\figures\ov_inflation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77770" y="1325880"/>
            <a:ext cx="10436154" cy="3703320"/>
          </a:xfrm>
          <a:prstGeom prst="rect">
            <a:avLst/>
          </a:prstGeom>
        </p:spPr>
      </p:pic>
      <p:sp>
        <p:nvSpPr>
          <p:cNvPr id="6" name="num1"/>
          <p:cNvSpPr/>
          <p:nvPr/>
        </p:nvSpPr>
        <p:spPr>
          <a:xfrm>
            <a:off x="457200" y="5276088"/>
            <a:ext cx="310896" cy="310896"/>
          </a:xfrm>
          <a:prstGeom prst="ellipse">
            <a:avLst/>
          </a:prstGeom>
          <a:solidFill>
            <a:srgbClr val="C98A00"/>
          </a:solidFill>
          <a:ln/>
        </p:spPr>
      </p:sp>
      <p:sp>
        <p:nvSpPr>
          <p:cNvPr id="7" name="Text 3"/>
          <p:cNvSpPr txBox="1"/>
          <p:nvPr/>
        </p:nvSpPr>
        <p:spPr>
          <a:xfrm>
            <a:off x="457200" y="5276088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bg1"/>
                </a:solidFill>
              </a:rPr>
              <a:t>1</a:t>
            </a:r>
            <a:endParaRPr lang="en-US" sz="1200" dirty="0"/>
          </a:p>
        </p:txBody>
      </p:sp>
      <p:sp>
        <p:nvSpPr>
          <p:cNvPr id="8" name="point1"/>
          <p:cNvSpPr txBox="1"/>
          <p:nvPr/>
        </p:nvSpPr>
        <p:spPr>
          <a:xfrm>
            <a:off x="868680" y="5257800"/>
            <a:ext cx="3164738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Пальне +38,7% р/р, адмінрегульовані ціни +13,0% (вода, проїзд) — головні рушії серпня</a:t>
            </a:r>
            <a:endParaRPr lang="en-US" sz="1300" dirty="0"/>
          </a:p>
        </p:txBody>
      </p:sp>
      <p:sp>
        <p:nvSpPr>
          <p:cNvPr id="9" name="num2"/>
          <p:cNvSpPr/>
          <p:nvPr/>
        </p:nvSpPr>
        <p:spPr>
          <a:xfrm>
            <a:off x="4307738" y="5276088"/>
            <a:ext cx="310896" cy="310896"/>
          </a:xfrm>
          <a:prstGeom prst="ellipse">
            <a:avLst/>
          </a:prstGeom>
          <a:solidFill>
            <a:srgbClr val="C98A00"/>
          </a:solidFill>
          <a:ln/>
        </p:spPr>
      </p:sp>
      <p:sp>
        <p:nvSpPr>
          <p:cNvPr id="10" name="Text 6"/>
          <p:cNvSpPr txBox="1"/>
          <p:nvPr/>
        </p:nvSpPr>
        <p:spPr>
          <a:xfrm>
            <a:off x="4307738" y="5276088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bg1"/>
                </a:solidFill>
              </a:rPr>
              <a:t>2</a:t>
            </a:r>
            <a:endParaRPr lang="en-US" sz="1200" dirty="0"/>
          </a:p>
        </p:txBody>
      </p:sp>
      <p:sp>
        <p:nvSpPr>
          <p:cNvPr id="11" name="point2"/>
          <p:cNvSpPr txBox="1"/>
          <p:nvPr/>
        </p:nvSpPr>
        <p:spPr>
          <a:xfrm>
            <a:off x="4719218" y="5257800"/>
            <a:ext cx="3164738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Базова інфляція 8,1% три місяці поспіль: послуги +13,4% (зарплати, оренда, логістика)</a:t>
            </a:r>
            <a:endParaRPr lang="en-US" sz="1300" dirty="0"/>
          </a:p>
        </p:txBody>
      </p:sp>
      <p:sp>
        <p:nvSpPr>
          <p:cNvPr id="12" name="num3"/>
          <p:cNvSpPr/>
          <p:nvPr/>
        </p:nvSpPr>
        <p:spPr>
          <a:xfrm>
            <a:off x="8158277" y="5276088"/>
            <a:ext cx="310896" cy="310896"/>
          </a:xfrm>
          <a:prstGeom prst="ellipse">
            <a:avLst/>
          </a:prstGeom>
          <a:solidFill>
            <a:srgbClr val="C98A00"/>
          </a:solidFill>
          <a:ln/>
        </p:spPr>
      </p:sp>
      <p:sp>
        <p:nvSpPr>
          <p:cNvPr id="13" name="Text 9"/>
          <p:cNvSpPr txBox="1"/>
          <p:nvPr/>
        </p:nvSpPr>
        <p:spPr>
          <a:xfrm>
            <a:off x="8158277" y="5276088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bg1"/>
                </a:solidFill>
              </a:rPr>
              <a:t>3</a:t>
            </a:r>
            <a:endParaRPr lang="en-US" sz="1200" dirty="0"/>
          </a:p>
        </p:txBody>
      </p:sp>
      <p:sp>
        <p:nvSpPr>
          <p:cNvPr id="14" name="point3"/>
          <p:cNvSpPr txBox="1"/>
          <p:nvPr/>
        </p:nvSpPr>
        <p:spPr>
          <a:xfrm>
            <a:off x="8569757" y="5257800"/>
            <a:ext cx="3164738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Стримує: сирі продукти +1,0% — блокада Чорного моря тримає зерно й овочі на внутрішньому ринку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85855" y="6473952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11277295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6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Очікування підвищені, реальна ставка ≈7% — гривневі активи поки привабливі</a:t>
            </a:r>
            <a:endParaRPr lang="en-US" sz="2600" dirty="0"/>
          </a:p>
        </p:txBody>
      </p:sp>
      <p:sp>
        <p:nvSpPr>
          <p:cNvPr id="4" name="sources"/>
          <p:cNvSpPr txBox="1"/>
          <p:nvPr/>
        </p:nvSpPr>
        <p:spPr>
          <a:xfrm>
            <a:off x="4937760" y="6455664"/>
            <a:ext cx="611093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F6B6D"/>
                </a:solidFill>
              </a:rPr>
              <a:t>Джерела: </a:t>
            </a:r>
            <a:pPr indent="0" marL="0">
              <a:buNone/>
            </a:pPr>
            <a:r>
              <a:rPr lang="en-US" sz="900" u="sng" dirty="0">
                <a:solidFill>
                  <a:srgbClr val="5F6B6D"/>
                </a:solidFill>
                <a:hlinkClick r:id="rId1" invalidUrl="" action="" tgtFrame="" tooltip="https://bank.gov.ua/admin_uploads/article/Tables_Charts_2026-Q3.xlsx?v=19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дані графіків ІЗ</a:t>
            </a:r>
            <a:pPr indent="0" marL="0">
              <a:buNone/>
            </a:pPr>
            <a:r>
              <a:rPr lang="en-US" sz="900" dirty="0">
                <a:solidFill>
                  <a:srgbClr val="5F6B6D"/>
                </a:solidFill>
              </a:rPr>
              <a:t> · </a:t>
            </a:r>
            <a:pPr indent="0" marL="0">
              <a:buNone/>
            </a:pPr>
            <a:r>
              <a:rPr lang="en-US" sz="900" u="sng" dirty="0">
                <a:solidFill>
                  <a:srgbClr val="5F6B6D"/>
                </a:solidFill>
                <a:hlinkClick r:id="rId2" invalidUrl="" action="" tgtFrame="" tooltip="https://minfin.com.ua/ua/2026/10/07/183076902/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аукціон ОВДП 06.10.2026</a:t>
            </a:r>
            <a:pPr indent="0" marL="0">
              <a:buNone/>
            </a:pPr>
            <a:r>
              <a:rPr lang="en-US" sz="900" dirty="0">
                <a:solidFill>
                  <a:srgbClr val="5F6B6D"/>
                </a:solidFill>
              </a:rPr>
              <a:t> · </a:t>
            </a:r>
            <a:pPr indent="0" marL="0">
              <a:buNone/>
            </a:pPr>
            <a:r>
              <a:rPr lang="en-US" sz="900" u="sng" dirty="0">
                <a:solidFill>
                  <a:srgbClr val="5F6B6D"/>
                </a:solidFill>
                <a:hlinkClick r:id="rId3" invalidUrl="" action="" tgtFrame="" tooltip="https://bank.gov.ua/ua/news/all/pidsumki-diskusiyi-chleniv-komitetu-z-monetarnoyi-politiki-natsionalnogo-banku-schodo-rivnya-oblikovoyi-stavki-16-veresnya-2026-roku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підсумки дискусії КМП</a:t>
            </a:r>
            <a:endParaRPr lang="en-US" sz="900" dirty="0"/>
          </a:p>
        </p:txBody>
      </p:sp>
      <p:pic>
        <p:nvPicPr>
          <p:cNvPr id="5" name="chart" descr="C:\Users\Lenovo\Documents\GitHub\nbu-challenge-2026\results\figures\ov_rates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200" y="1325880"/>
            <a:ext cx="11277295" cy="3152840"/>
          </a:xfrm>
          <a:prstGeom prst="rect">
            <a:avLst/>
          </a:prstGeom>
        </p:spPr>
      </p:pic>
      <p:sp>
        <p:nvSpPr>
          <p:cNvPr id="6" name="num1"/>
          <p:cNvSpPr/>
          <p:nvPr/>
        </p:nvSpPr>
        <p:spPr>
          <a:xfrm>
            <a:off x="457200" y="5276088"/>
            <a:ext cx="310896" cy="310896"/>
          </a:xfrm>
          <a:prstGeom prst="ellipse">
            <a:avLst/>
          </a:prstGeom>
          <a:solidFill>
            <a:srgbClr val="C98A00"/>
          </a:solidFill>
          <a:ln/>
        </p:spPr>
      </p:sp>
      <p:sp>
        <p:nvSpPr>
          <p:cNvPr id="7" name="Text 3"/>
          <p:cNvSpPr txBox="1"/>
          <p:nvPr/>
        </p:nvSpPr>
        <p:spPr>
          <a:xfrm>
            <a:off x="457200" y="5276088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bg1"/>
                </a:solidFill>
              </a:rPr>
              <a:t>1</a:t>
            </a:r>
            <a:endParaRPr lang="en-US" sz="1200" dirty="0"/>
          </a:p>
        </p:txBody>
      </p:sp>
      <p:sp>
        <p:nvSpPr>
          <p:cNvPr id="8" name="point1"/>
          <p:cNvSpPr txBox="1"/>
          <p:nvPr/>
        </p:nvSpPr>
        <p:spPr>
          <a:xfrm>
            <a:off x="868680" y="5257800"/>
            <a:ext cx="3164738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Очікування домогосподарств 10–14% — вище фактичної інфляції; аналітики підвищили до 7,9%</a:t>
            </a:r>
            <a:endParaRPr lang="en-US" sz="1300" dirty="0"/>
          </a:p>
        </p:txBody>
      </p:sp>
      <p:sp>
        <p:nvSpPr>
          <p:cNvPr id="9" name="num2"/>
          <p:cNvSpPr/>
          <p:nvPr/>
        </p:nvSpPr>
        <p:spPr>
          <a:xfrm>
            <a:off x="4307738" y="5276088"/>
            <a:ext cx="310896" cy="310896"/>
          </a:xfrm>
          <a:prstGeom prst="ellipse">
            <a:avLst/>
          </a:prstGeom>
          <a:solidFill>
            <a:srgbClr val="C98A00"/>
          </a:solidFill>
          <a:ln/>
        </p:spPr>
      </p:sp>
      <p:sp>
        <p:nvSpPr>
          <p:cNvPr id="10" name="Text 6"/>
          <p:cNvSpPr txBox="1"/>
          <p:nvPr/>
        </p:nvSpPr>
        <p:spPr>
          <a:xfrm>
            <a:off x="4307738" y="5276088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bg1"/>
                </a:solidFill>
              </a:rPr>
              <a:t>2</a:t>
            </a:r>
            <a:endParaRPr lang="en-US" sz="1200" dirty="0"/>
          </a:p>
        </p:txBody>
      </p:sp>
      <p:sp>
        <p:nvSpPr>
          <p:cNvPr id="11" name="point2"/>
          <p:cNvSpPr txBox="1"/>
          <p:nvPr/>
        </p:nvSpPr>
        <p:spPr>
          <a:xfrm>
            <a:off x="4719218" y="5257800"/>
            <a:ext cx="3164738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Реальна облікова ставка ≈7 в. п. (ex post); депозитні ставки реагують із лагом</a:t>
            </a:r>
            <a:endParaRPr lang="en-US" sz="1300" dirty="0"/>
          </a:p>
        </p:txBody>
      </p:sp>
      <p:sp>
        <p:nvSpPr>
          <p:cNvPr id="12" name="num3"/>
          <p:cNvSpPr/>
          <p:nvPr/>
        </p:nvSpPr>
        <p:spPr>
          <a:xfrm>
            <a:off x="8158277" y="5276088"/>
            <a:ext cx="310896" cy="310896"/>
          </a:xfrm>
          <a:prstGeom prst="ellipse">
            <a:avLst/>
          </a:prstGeom>
          <a:solidFill>
            <a:srgbClr val="C98A00"/>
          </a:solidFill>
          <a:ln/>
        </p:spPr>
      </p:sp>
      <p:sp>
        <p:nvSpPr>
          <p:cNvPr id="13" name="Text 9"/>
          <p:cNvSpPr txBox="1"/>
          <p:nvPr/>
        </p:nvSpPr>
        <p:spPr>
          <a:xfrm>
            <a:off x="8158277" y="5276088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bg1"/>
                </a:solidFill>
              </a:rPr>
              <a:t>3</a:t>
            </a:r>
            <a:endParaRPr lang="en-US" sz="1200" dirty="0"/>
          </a:p>
        </p:txBody>
      </p:sp>
      <p:sp>
        <p:nvSpPr>
          <p:cNvPr id="14" name="point3"/>
          <p:cNvSpPr txBox="1"/>
          <p:nvPr/>
        </p:nvSpPr>
        <p:spPr>
          <a:xfrm>
            <a:off x="8569757" y="5257800"/>
            <a:ext cx="3164738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ОВДП: 1 рік — 15,1%, 2,5 року — 16,5% (06.10): ринок не закладає швидкого зниження; гривневі кредити бізнесу +30% р/р — умови не надто жорсткі (КМП)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85855" y="6473952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11277295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6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Економіка сповільнюється: ВВП III кв. гірший за прогноз, зарплати +25%</a:t>
            </a:r>
            <a:endParaRPr lang="en-US" sz="2600" dirty="0"/>
          </a:p>
        </p:txBody>
      </p:sp>
      <p:sp>
        <p:nvSpPr>
          <p:cNvPr id="4" name="sources"/>
          <p:cNvSpPr txBox="1"/>
          <p:nvPr/>
        </p:nvSpPr>
        <p:spPr>
          <a:xfrm>
            <a:off x="4937760" y="6455664"/>
            <a:ext cx="611093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F6B6D"/>
                </a:solidFill>
              </a:rPr>
              <a:t>Джерела: </a:t>
            </a:r>
            <a:pPr indent="0" marL="0">
              <a:buNone/>
            </a:pPr>
            <a:r>
              <a:rPr lang="en-US" sz="900" u="sng" dirty="0">
                <a:solidFill>
                  <a:srgbClr val="5F6B6D"/>
                </a:solidFill>
                <a:hlinkClick r:id="rId1" invalidUrl="" action="" tgtFrame="" tooltip="https://bank.gov.ua/ua/news/all/komentar-natsionalnogo-banku-schodo-zmini-realnogo-vvp-u-ii-kvartali-2026-roku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коментар НБУ: ВВП II кв.</a:t>
            </a:r>
            <a:pPr indent="0" marL="0">
              <a:buNone/>
            </a:pPr>
            <a:r>
              <a:rPr lang="en-US" sz="900" dirty="0">
                <a:solidFill>
                  <a:srgbClr val="5F6B6D"/>
                </a:solidFill>
              </a:rPr>
              <a:t> · </a:t>
            </a:r>
            <a:pPr indent="0" marL="0">
              <a:buNone/>
            </a:pPr>
            <a:r>
              <a:rPr lang="en-US" sz="900" u="sng" dirty="0">
                <a:solidFill>
                  <a:srgbClr val="5F6B6D"/>
                </a:solidFill>
                <a:hlinkClick r:id="rId2" invalidUrl="" action="" tgtFrame="" tooltip="https://bank.gov.ua/admin_uploads/article/Tables_Charts_2026-Q3.xlsx?v=19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дані графіків ІЗ</a:t>
            </a:r>
            <a:pPr indent="0" marL="0">
              <a:buNone/>
            </a:pPr>
            <a:r>
              <a:rPr lang="en-US" sz="900" dirty="0">
                <a:solidFill>
                  <a:srgbClr val="5F6B6D"/>
                </a:solidFill>
              </a:rPr>
              <a:t> · </a:t>
            </a:r>
            <a:pPr indent="0" marL="0">
              <a:buNone/>
            </a:pPr>
            <a:r>
              <a:rPr lang="en-US" sz="900" u="sng" dirty="0">
                <a:solidFill>
                  <a:srgbClr val="5F6B6D"/>
                </a:solidFill>
                <a:hlinkClick r:id="rId3" invalidUrl="" action="" tgtFrame="" tooltip="https://bank.gov.ua/ua/news/all/pidsumki-diskusiyi-chleniv-komitetu-z-monetarnoyi-politiki-natsionalnogo-banku-schodo-rivnya-oblikovoyi-stavki-16-veresnya-2026-roku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підсумки дискусії КМП</a:t>
            </a:r>
            <a:endParaRPr lang="en-US" sz="900" dirty="0"/>
          </a:p>
        </p:txBody>
      </p:sp>
      <p:pic>
        <p:nvPicPr>
          <p:cNvPr id="5" name="chart" descr="C:\Users\Lenovo\Documents\GitHub\nbu-challenge-2026\results\figures\ov_activity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200" y="1325880"/>
            <a:ext cx="11277295" cy="3362322"/>
          </a:xfrm>
          <a:prstGeom prst="rect">
            <a:avLst/>
          </a:prstGeom>
        </p:spPr>
      </p:pic>
      <p:sp>
        <p:nvSpPr>
          <p:cNvPr id="6" name="num1"/>
          <p:cNvSpPr/>
          <p:nvPr/>
        </p:nvSpPr>
        <p:spPr>
          <a:xfrm>
            <a:off x="457200" y="5276088"/>
            <a:ext cx="310896" cy="310896"/>
          </a:xfrm>
          <a:prstGeom prst="ellipse">
            <a:avLst/>
          </a:prstGeom>
          <a:solidFill>
            <a:srgbClr val="C98A00"/>
          </a:solidFill>
          <a:ln/>
        </p:spPr>
      </p:sp>
      <p:sp>
        <p:nvSpPr>
          <p:cNvPr id="7" name="Text 3"/>
          <p:cNvSpPr txBox="1"/>
          <p:nvPr/>
        </p:nvSpPr>
        <p:spPr>
          <a:xfrm>
            <a:off x="457200" y="5276088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bg1"/>
                </a:solidFill>
              </a:rPr>
              <a:t>1</a:t>
            </a:r>
            <a:endParaRPr lang="en-US" sz="1200" dirty="0"/>
          </a:p>
        </p:txBody>
      </p:sp>
      <p:sp>
        <p:nvSpPr>
          <p:cNvPr id="8" name="point1"/>
          <p:cNvSpPr txBox="1"/>
          <p:nvPr/>
        </p:nvSpPr>
        <p:spPr>
          <a:xfrm>
            <a:off x="868680" y="5257800"/>
            <a:ext cx="3164738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ВВП II кв.: +0,3% кв/кв, +0,4% р/р; у III кв. — «суттєво гірше прогнозу НБУ» (КМП)</a:t>
            </a:r>
            <a:endParaRPr lang="en-US" sz="1300" dirty="0"/>
          </a:p>
        </p:txBody>
      </p:sp>
      <p:sp>
        <p:nvSpPr>
          <p:cNvPr id="9" name="num2"/>
          <p:cNvSpPr/>
          <p:nvPr/>
        </p:nvSpPr>
        <p:spPr>
          <a:xfrm>
            <a:off x="4307738" y="5276088"/>
            <a:ext cx="310896" cy="310896"/>
          </a:xfrm>
          <a:prstGeom prst="ellipse">
            <a:avLst/>
          </a:prstGeom>
          <a:solidFill>
            <a:srgbClr val="C98A00"/>
          </a:solidFill>
          <a:ln/>
        </p:spPr>
      </p:sp>
      <p:sp>
        <p:nvSpPr>
          <p:cNvPr id="10" name="Text 6"/>
          <p:cNvSpPr txBox="1"/>
          <p:nvPr/>
        </p:nvSpPr>
        <p:spPr>
          <a:xfrm>
            <a:off x="4307738" y="5276088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bg1"/>
                </a:solidFill>
              </a:rPr>
              <a:t>2</a:t>
            </a:r>
            <a:endParaRPr lang="en-US" sz="1200" dirty="0"/>
          </a:p>
        </p:txBody>
      </p:sp>
      <p:sp>
        <p:nvSpPr>
          <p:cNvPr id="11" name="point2"/>
          <p:cNvSpPr txBox="1"/>
          <p:nvPr/>
        </p:nvSpPr>
        <p:spPr>
          <a:xfrm>
            <a:off x="4719218" y="5257800"/>
            <a:ext cx="3164738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Атаки на енергетику, логістику та порти; внесок обстрілів у ВВП-2026 — −0,9 в. п. (НБУ)</a:t>
            </a:r>
            <a:endParaRPr lang="en-US" sz="1300" dirty="0"/>
          </a:p>
        </p:txBody>
      </p:sp>
      <p:sp>
        <p:nvSpPr>
          <p:cNvPr id="12" name="num3"/>
          <p:cNvSpPr/>
          <p:nvPr/>
        </p:nvSpPr>
        <p:spPr>
          <a:xfrm>
            <a:off x="8158277" y="5276088"/>
            <a:ext cx="310896" cy="310896"/>
          </a:xfrm>
          <a:prstGeom prst="ellipse">
            <a:avLst/>
          </a:prstGeom>
          <a:solidFill>
            <a:srgbClr val="C98A00"/>
          </a:solidFill>
          <a:ln/>
        </p:spPr>
      </p:sp>
      <p:sp>
        <p:nvSpPr>
          <p:cNvPr id="13" name="Text 9"/>
          <p:cNvSpPr txBox="1"/>
          <p:nvPr/>
        </p:nvSpPr>
        <p:spPr>
          <a:xfrm>
            <a:off x="8158277" y="5276088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bg1"/>
                </a:solidFill>
              </a:rPr>
              <a:t>3</a:t>
            </a:r>
            <a:endParaRPr lang="en-US" sz="1200" dirty="0"/>
          </a:p>
        </p:txBody>
      </p:sp>
      <p:sp>
        <p:nvSpPr>
          <p:cNvPr id="14" name="point3"/>
          <p:cNvSpPr txBox="1"/>
          <p:nvPr/>
        </p:nvSpPr>
        <p:spPr>
          <a:xfrm>
            <a:off x="8569757" y="5257800"/>
            <a:ext cx="3164738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Дефіцит кадрів: номінальні зарплати +25% р/р у червні, реальні +17% — тиск на ціни послуг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85855" y="6473952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11277295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6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НБУ продає ≈$5,0 млрд на місяць — резерви впали до $47,1 млрд</a:t>
            </a:r>
            <a:endParaRPr lang="en-US" sz="2600" dirty="0"/>
          </a:p>
        </p:txBody>
      </p:sp>
      <p:sp>
        <p:nvSpPr>
          <p:cNvPr id="4" name="sources"/>
          <p:cNvSpPr txBox="1"/>
          <p:nvPr/>
        </p:nvSpPr>
        <p:spPr>
          <a:xfrm>
            <a:off x="4937760" y="6455664"/>
            <a:ext cx="611093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F6B6D"/>
                </a:solidFill>
              </a:rPr>
              <a:t>Джерела: </a:t>
            </a:r>
            <a:pPr indent="0" marL="0">
              <a:buNone/>
            </a:pPr>
            <a:r>
              <a:rPr lang="en-US" sz="900" u="sng" dirty="0">
                <a:solidFill>
                  <a:srgbClr val="5F6B6D"/>
                </a:solidFill>
                <a:hlinkClick r:id="rId1" invalidUrl="" action="" tgtFrame="" tooltip="https://bank.gov.ua/ua/open-data/api-dev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API НБУ</a:t>
            </a:r>
            <a:pPr indent="0" marL="0">
              <a:buNone/>
            </a:pPr>
            <a:r>
              <a:rPr lang="en-US" sz="900" dirty="0">
                <a:solidFill>
                  <a:srgbClr val="5F6B6D"/>
                </a:solidFill>
              </a:rPr>
              <a:t> · </a:t>
            </a:r>
            <a:pPr indent="0" marL="0">
              <a:buNone/>
            </a:pPr>
            <a:r>
              <a:rPr lang="en-US" sz="900" u="sng" dirty="0">
                <a:solidFill>
                  <a:srgbClr val="5F6B6D"/>
                </a:solidFill>
                <a:hlinkClick r:id="rId2" invalidUrl="" action="" tgtFrame="" tooltip="https://bank.gov.ua/ua/news/all/natsionalniy-bank-ukrayini-pidvischiv-oblikovu-stavku-do-16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рішення НБУ 17.09.2026</a:t>
            </a:r>
            <a:endParaRPr lang="en-US" sz="900" dirty="0"/>
          </a:p>
        </p:txBody>
      </p:sp>
      <p:pic>
        <p:nvPicPr>
          <p:cNvPr id="5" name="chart" descr="C:\Users\Lenovo\Documents\GitHub\nbu-challenge-2026\results\figures\ov_fx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1325880"/>
            <a:ext cx="11277295" cy="3327036"/>
          </a:xfrm>
          <a:prstGeom prst="rect">
            <a:avLst/>
          </a:prstGeom>
        </p:spPr>
      </p:pic>
      <p:sp>
        <p:nvSpPr>
          <p:cNvPr id="6" name="num1"/>
          <p:cNvSpPr/>
          <p:nvPr/>
        </p:nvSpPr>
        <p:spPr>
          <a:xfrm>
            <a:off x="457200" y="5276088"/>
            <a:ext cx="310896" cy="310896"/>
          </a:xfrm>
          <a:prstGeom prst="ellipse">
            <a:avLst/>
          </a:prstGeom>
          <a:solidFill>
            <a:srgbClr val="C98A00"/>
          </a:solidFill>
          <a:ln/>
        </p:spPr>
      </p:sp>
      <p:sp>
        <p:nvSpPr>
          <p:cNvPr id="7" name="Text 3"/>
          <p:cNvSpPr txBox="1"/>
          <p:nvPr/>
        </p:nvSpPr>
        <p:spPr>
          <a:xfrm>
            <a:off x="457200" y="5276088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bg1"/>
                </a:solidFill>
              </a:rPr>
              <a:t>1</a:t>
            </a:r>
            <a:endParaRPr lang="en-US" sz="1200" dirty="0"/>
          </a:p>
        </p:txBody>
      </p:sp>
      <p:sp>
        <p:nvSpPr>
          <p:cNvPr id="8" name="point1"/>
          <p:cNvSpPr txBox="1"/>
          <p:nvPr/>
        </p:nvSpPr>
        <p:spPr>
          <a:xfrm>
            <a:off x="868680" y="5257800"/>
            <a:ext cx="3164738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Чистий продаж валюти НБУ: $4,8 млрд у серпні, $5,5 млрд у вересні — рекорд року</a:t>
            </a:r>
            <a:endParaRPr lang="en-US" sz="1300" dirty="0"/>
          </a:p>
        </p:txBody>
      </p:sp>
      <p:sp>
        <p:nvSpPr>
          <p:cNvPr id="9" name="num2"/>
          <p:cNvSpPr/>
          <p:nvPr/>
        </p:nvSpPr>
        <p:spPr>
          <a:xfrm>
            <a:off x="4307738" y="5276088"/>
            <a:ext cx="310896" cy="310896"/>
          </a:xfrm>
          <a:prstGeom prst="ellipse">
            <a:avLst/>
          </a:prstGeom>
          <a:solidFill>
            <a:srgbClr val="C98A00"/>
          </a:solidFill>
          <a:ln/>
        </p:spPr>
      </p:sp>
      <p:sp>
        <p:nvSpPr>
          <p:cNvPr id="10" name="Text 6"/>
          <p:cNvSpPr txBox="1"/>
          <p:nvPr/>
        </p:nvSpPr>
        <p:spPr>
          <a:xfrm>
            <a:off x="4307738" y="5276088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bg1"/>
                </a:solidFill>
              </a:rPr>
              <a:t>2</a:t>
            </a:r>
            <a:endParaRPr lang="en-US" sz="1200" dirty="0"/>
          </a:p>
        </p:txBody>
      </p:sp>
      <p:sp>
        <p:nvSpPr>
          <p:cNvPr id="11" name="point2"/>
          <p:cNvSpPr txBox="1"/>
          <p:nvPr/>
        </p:nvSpPr>
        <p:spPr>
          <a:xfrm>
            <a:off x="4719218" y="5257800"/>
            <a:ext cx="3164738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Резерви: $51,2 млрд (липень) → $47,1 млрд (вересень) проти $53,8 млрд у прогнозі НБУ на кінець III кв.</a:t>
            </a:r>
            <a:endParaRPr lang="en-US" sz="1300" dirty="0"/>
          </a:p>
        </p:txBody>
      </p:sp>
      <p:sp>
        <p:nvSpPr>
          <p:cNvPr id="12" name="num3"/>
          <p:cNvSpPr/>
          <p:nvPr/>
        </p:nvSpPr>
        <p:spPr>
          <a:xfrm>
            <a:off x="8158277" y="5276088"/>
            <a:ext cx="310896" cy="310896"/>
          </a:xfrm>
          <a:prstGeom prst="ellipse">
            <a:avLst/>
          </a:prstGeom>
          <a:solidFill>
            <a:srgbClr val="C98A00"/>
          </a:solidFill>
          <a:ln/>
        </p:spPr>
      </p:sp>
      <p:sp>
        <p:nvSpPr>
          <p:cNvPr id="13" name="Text 9"/>
          <p:cNvSpPr txBox="1"/>
          <p:nvPr/>
        </p:nvSpPr>
        <p:spPr>
          <a:xfrm>
            <a:off x="8158277" y="5276088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bg1"/>
                </a:solidFill>
              </a:rPr>
              <a:t>3</a:t>
            </a:r>
            <a:endParaRPr lang="en-US" sz="1200" dirty="0"/>
          </a:p>
        </p:txBody>
      </p:sp>
      <p:sp>
        <p:nvSpPr>
          <p:cNvPr id="14" name="point3"/>
          <p:cNvSpPr txBox="1"/>
          <p:nvPr/>
        </p:nvSpPr>
        <p:spPr>
          <a:xfrm>
            <a:off x="8569757" y="5257800"/>
            <a:ext cx="3164738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Курс стабільний (≈51,5 грн/€, ≈44,7 грн/$) — ціною резервів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85855" y="6473952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11277295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6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Платіжний баланс: імпорт у 2,6 раза більший за експорт — розрив покривають позики партнерів</a:t>
            </a:r>
            <a:endParaRPr lang="en-US" sz="2600" dirty="0"/>
          </a:p>
        </p:txBody>
      </p:sp>
      <p:sp>
        <p:nvSpPr>
          <p:cNvPr id="4" name="sources"/>
          <p:cNvSpPr txBox="1"/>
          <p:nvPr/>
        </p:nvSpPr>
        <p:spPr>
          <a:xfrm>
            <a:off x="4937760" y="6455664"/>
            <a:ext cx="611093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F6B6D"/>
                </a:solidFill>
              </a:rPr>
              <a:t>Джерела: </a:t>
            </a:r>
            <a:pPr indent="0" marL="0">
              <a:buNone/>
            </a:pPr>
            <a:r>
              <a:rPr lang="en-US" sz="900" u="sng" dirty="0">
                <a:solidFill>
                  <a:srgbClr val="5F6B6D"/>
                </a:solidFill>
                <a:hlinkClick r:id="rId1" invalidUrl="" action="" tgtFrame="" tooltip="https://bank.gov.ua/admin_uploads/article/Macroeconomic_Forecast_table_2026_07.xlsx?v=19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макропрогноз НБУ</a:t>
            </a:r>
            <a:pPr indent="0" marL="0">
              <a:buNone/>
            </a:pPr>
            <a:r>
              <a:rPr lang="en-US" sz="900" dirty="0">
                <a:solidFill>
                  <a:srgbClr val="5F6B6D"/>
                </a:solidFill>
              </a:rPr>
              <a:t> · </a:t>
            </a:r>
            <a:pPr indent="0" marL="0">
              <a:buNone/>
            </a:pPr>
            <a:r>
              <a:rPr lang="en-US" sz="900" u="sng" dirty="0">
                <a:solidFill>
                  <a:srgbClr val="5F6B6D"/>
                </a:solidFill>
                <a:hlinkClick r:id="rId2" invalidUrl="" action="" tgtFrame="" tooltip="https://bank.gov.ua/admin_uploads/article/Tables_Charts_2026-Q3.xlsx?v=19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дані графіків ІЗ</a:t>
            </a:r>
            <a:endParaRPr lang="en-US" sz="900" dirty="0"/>
          </a:p>
        </p:txBody>
      </p:sp>
      <p:pic>
        <p:nvPicPr>
          <p:cNvPr id="5" name="chart" descr="C:\Users\Lenovo\Documents\GitHub\nbu-challenge-2026\results\figures\ov_bop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1325880"/>
            <a:ext cx="11277295" cy="3384581"/>
          </a:xfrm>
          <a:prstGeom prst="rect">
            <a:avLst/>
          </a:prstGeom>
        </p:spPr>
      </p:pic>
      <p:sp>
        <p:nvSpPr>
          <p:cNvPr id="6" name="num1"/>
          <p:cNvSpPr/>
          <p:nvPr/>
        </p:nvSpPr>
        <p:spPr>
          <a:xfrm>
            <a:off x="457200" y="5276088"/>
            <a:ext cx="310896" cy="310896"/>
          </a:xfrm>
          <a:prstGeom prst="ellipse">
            <a:avLst/>
          </a:prstGeom>
          <a:solidFill>
            <a:srgbClr val="C98A00"/>
          </a:solidFill>
          <a:ln/>
        </p:spPr>
      </p:sp>
      <p:sp>
        <p:nvSpPr>
          <p:cNvPr id="7" name="Text 3"/>
          <p:cNvSpPr txBox="1"/>
          <p:nvPr/>
        </p:nvSpPr>
        <p:spPr>
          <a:xfrm>
            <a:off x="457200" y="5276088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bg1"/>
                </a:solidFill>
              </a:rPr>
              <a:t>1</a:t>
            </a:r>
            <a:endParaRPr lang="en-US" sz="1200" dirty="0"/>
          </a:p>
        </p:txBody>
      </p:sp>
      <p:sp>
        <p:nvSpPr>
          <p:cNvPr id="8" name="point1"/>
          <p:cNvSpPr txBox="1"/>
          <p:nvPr/>
        </p:nvSpPr>
        <p:spPr>
          <a:xfrm>
            <a:off x="868680" y="5257800"/>
            <a:ext cx="3164738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2026: експорт $56 млрд, імпорт $145 млрд — дефіцит $89 млрд; приватні перекази — лише $7,6 млрд</a:t>
            </a:r>
            <a:endParaRPr lang="en-US" sz="1300" dirty="0"/>
          </a:p>
        </p:txBody>
      </p:sp>
      <p:sp>
        <p:nvSpPr>
          <p:cNvPr id="9" name="num2"/>
          <p:cNvSpPr/>
          <p:nvPr/>
        </p:nvSpPr>
        <p:spPr>
          <a:xfrm>
            <a:off x="4307738" y="5276088"/>
            <a:ext cx="310896" cy="310896"/>
          </a:xfrm>
          <a:prstGeom prst="ellipse">
            <a:avLst/>
          </a:prstGeom>
          <a:solidFill>
            <a:srgbClr val="C98A00"/>
          </a:solidFill>
          <a:ln/>
        </p:spPr>
      </p:sp>
      <p:sp>
        <p:nvSpPr>
          <p:cNvPr id="10" name="Text 6"/>
          <p:cNvSpPr txBox="1"/>
          <p:nvPr/>
        </p:nvSpPr>
        <p:spPr>
          <a:xfrm>
            <a:off x="4307738" y="5276088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bg1"/>
                </a:solidFill>
              </a:rPr>
              <a:t>2</a:t>
            </a:r>
            <a:endParaRPr lang="en-US" sz="1200" dirty="0"/>
          </a:p>
        </p:txBody>
      </p:sp>
      <p:sp>
        <p:nvSpPr>
          <p:cNvPr id="11" name="point2"/>
          <p:cNvSpPr txBox="1"/>
          <p:nvPr/>
        </p:nvSpPr>
        <p:spPr>
          <a:xfrm>
            <a:off x="4719218" y="5257800"/>
            <a:ext cx="3164738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Поточний рахунок −$16 млрд фінансують партнери: ERA ($25,9 млрд у 2025), Ukraine Facility; у 2026 НБУ чекає ще $9,8 млрд позик</a:t>
            </a:r>
            <a:endParaRPr lang="en-US" sz="1300" dirty="0"/>
          </a:p>
        </p:txBody>
      </p:sp>
      <p:sp>
        <p:nvSpPr>
          <p:cNvPr id="12" name="num3"/>
          <p:cNvSpPr/>
          <p:nvPr/>
        </p:nvSpPr>
        <p:spPr>
          <a:xfrm>
            <a:off x="8158277" y="5276088"/>
            <a:ext cx="310896" cy="310896"/>
          </a:xfrm>
          <a:prstGeom prst="ellipse">
            <a:avLst/>
          </a:prstGeom>
          <a:solidFill>
            <a:srgbClr val="C98A00"/>
          </a:solidFill>
          <a:ln/>
        </p:spPr>
      </p:sp>
      <p:sp>
        <p:nvSpPr>
          <p:cNvPr id="13" name="Text 9"/>
          <p:cNvSpPr txBox="1"/>
          <p:nvPr/>
        </p:nvSpPr>
        <p:spPr>
          <a:xfrm>
            <a:off x="8158277" y="5276088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bg1"/>
                </a:solidFill>
              </a:rPr>
              <a:t>3</a:t>
            </a:r>
            <a:endParaRPr lang="en-US" sz="1200" dirty="0"/>
          </a:p>
        </p:txBody>
      </p:sp>
      <p:sp>
        <p:nvSpPr>
          <p:cNvPr id="14" name="point3"/>
          <p:cNvSpPr txBox="1"/>
          <p:nvPr/>
        </p:nvSpPr>
        <p:spPr>
          <a:xfrm>
            <a:off x="8569757" y="5257800"/>
            <a:ext cx="3164738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2028: офіційне фінансування $87 → $33 млрд, поточний рахунок −$45 млрд, широкий баланс −$24 млрд → резерви — буфер, лібералізація — поступово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85855" y="6473952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11277295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6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Бюджет залежить від допомоги: $87 млрд у 2026, але надходження затримуються</a:t>
            </a:r>
            <a:endParaRPr lang="en-US" sz="2600" dirty="0"/>
          </a:p>
        </p:txBody>
      </p:sp>
      <p:sp>
        <p:nvSpPr>
          <p:cNvPr id="4" name="sources"/>
          <p:cNvSpPr txBox="1"/>
          <p:nvPr/>
        </p:nvSpPr>
        <p:spPr>
          <a:xfrm>
            <a:off x="4937760" y="6455664"/>
            <a:ext cx="611093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F6B6D"/>
                </a:solidFill>
              </a:rPr>
              <a:t>Джерела: </a:t>
            </a:r>
            <a:pPr indent="0" marL="0">
              <a:buNone/>
            </a:pPr>
            <a:r>
              <a:rPr lang="en-US" sz="900" u="sng" dirty="0">
                <a:solidFill>
                  <a:srgbClr val="5F6B6D"/>
                </a:solidFill>
                <a:hlinkClick r:id="rId1" invalidUrl="" action="" tgtFrame="" tooltip="https://bank.gov.ua/admin_uploads/article/Macroeconomic_Forecast_table_2026_07.xlsx?v=19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макропрогноз НБУ</a:t>
            </a:r>
            <a:pPr indent="0" marL="0">
              <a:buNone/>
            </a:pPr>
            <a:r>
              <a:rPr lang="en-US" sz="900" dirty="0">
                <a:solidFill>
                  <a:srgbClr val="5F6B6D"/>
                </a:solidFill>
              </a:rPr>
              <a:t> · </a:t>
            </a:r>
            <a:pPr indent="0" marL="0">
              <a:buNone/>
            </a:pPr>
            <a:r>
              <a:rPr lang="en-US" sz="900" u="sng" dirty="0">
                <a:solidFill>
                  <a:srgbClr val="5F6B6D"/>
                </a:solidFill>
                <a:hlinkClick r:id="rId2" invalidUrl="" action="" tgtFrame="" tooltip="https://bank.gov.ua/admin_uploads/article/Tables_Charts_2026-Q3.xlsx?v=19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дані графіків ІЗ</a:t>
            </a:r>
            <a:pPr indent="0" marL="0">
              <a:buNone/>
            </a:pPr>
            <a:r>
              <a:rPr lang="en-US" sz="900" dirty="0">
                <a:solidFill>
                  <a:srgbClr val="5F6B6D"/>
                </a:solidFill>
              </a:rPr>
              <a:t> · </a:t>
            </a:r>
            <a:pPr indent="0" marL="0">
              <a:buNone/>
            </a:pPr>
            <a:r>
              <a:rPr lang="en-US" sz="900" u="sng" dirty="0">
                <a:solidFill>
                  <a:srgbClr val="5F6B6D"/>
                </a:solidFill>
                <a:hlinkClick r:id="rId3" invalidUrl="" action="" tgtFrame="" tooltip="https://bank.gov.ua/ua/news/all/rada-mvf-shvalila-pershiy-pereglyad-programi-rozshirenogo-finansuvannya-ta-zatverdila-vidilennya-transhu-obsyagom-690-mln-dol-ssha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Рада МВФ: перегляд програми</a:t>
            </a:r>
            <a:endParaRPr lang="en-US" sz="900" dirty="0"/>
          </a:p>
        </p:txBody>
      </p:sp>
      <p:pic>
        <p:nvPicPr>
          <p:cNvPr id="5" name="chart" descr="C:\Users\Lenovo\Documents\GitHub\nbu-challenge-2026\results\figures\ov_fiscal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3042" y="1325880"/>
            <a:ext cx="10945611" cy="3703320"/>
          </a:xfrm>
          <a:prstGeom prst="rect">
            <a:avLst/>
          </a:prstGeom>
        </p:spPr>
      </p:pic>
      <p:sp>
        <p:nvSpPr>
          <p:cNvPr id="6" name="num1"/>
          <p:cNvSpPr/>
          <p:nvPr/>
        </p:nvSpPr>
        <p:spPr>
          <a:xfrm>
            <a:off x="457200" y="5276088"/>
            <a:ext cx="310896" cy="310896"/>
          </a:xfrm>
          <a:prstGeom prst="ellipse">
            <a:avLst/>
          </a:prstGeom>
          <a:solidFill>
            <a:srgbClr val="C98A00"/>
          </a:solidFill>
          <a:ln/>
        </p:spPr>
      </p:sp>
      <p:sp>
        <p:nvSpPr>
          <p:cNvPr id="7" name="Text 3"/>
          <p:cNvSpPr txBox="1"/>
          <p:nvPr/>
        </p:nvSpPr>
        <p:spPr>
          <a:xfrm>
            <a:off x="457200" y="5276088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bg1"/>
                </a:solidFill>
              </a:rPr>
              <a:t>1</a:t>
            </a:r>
            <a:endParaRPr lang="en-US" sz="1200" dirty="0"/>
          </a:p>
        </p:txBody>
      </p:sp>
      <p:sp>
        <p:nvSpPr>
          <p:cNvPr id="8" name="point1"/>
          <p:cNvSpPr txBox="1"/>
          <p:nvPr/>
        </p:nvSpPr>
        <p:spPr>
          <a:xfrm>
            <a:off x="868680" y="5257800"/>
            <a:ext cx="3164738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Дефіцит без грантів ≈35% ВВП у 2026; оборонна складова USL — $33,2 млрд (2026) і $16,7 млрд (2027)</a:t>
            </a:r>
            <a:endParaRPr lang="en-US" sz="1300" dirty="0"/>
          </a:p>
        </p:txBody>
      </p:sp>
      <p:sp>
        <p:nvSpPr>
          <p:cNvPr id="9" name="num2"/>
          <p:cNvSpPr/>
          <p:nvPr/>
        </p:nvSpPr>
        <p:spPr>
          <a:xfrm>
            <a:off x="4307738" y="5276088"/>
            <a:ext cx="310896" cy="310896"/>
          </a:xfrm>
          <a:prstGeom prst="ellipse">
            <a:avLst/>
          </a:prstGeom>
          <a:solidFill>
            <a:srgbClr val="C98A00"/>
          </a:solidFill>
          <a:ln/>
        </p:spPr>
      </p:sp>
      <p:sp>
        <p:nvSpPr>
          <p:cNvPr id="10" name="Text 6"/>
          <p:cNvSpPr txBox="1"/>
          <p:nvPr/>
        </p:nvSpPr>
        <p:spPr>
          <a:xfrm>
            <a:off x="4307738" y="5276088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bg1"/>
                </a:solidFill>
              </a:rPr>
              <a:t>2</a:t>
            </a:r>
            <a:endParaRPr lang="en-US" sz="1200" dirty="0"/>
          </a:p>
        </p:txBody>
      </p:sp>
      <p:sp>
        <p:nvSpPr>
          <p:cNvPr id="11" name="point2"/>
          <p:cNvSpPr txBox="1"/>
          <p:nvPr/>
        </p:nvSpPr>
        <p:spPr>
          <a:xfrm>
            <a:off x="4719218" y="5257800"/>
            <a:ext cx="3164738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Бюджетна декларація 2027–2029: дефіцит держбюджету 17,7% ВВП у 2027 і 11,1% у 2028; уряд закладає інфляцію 8,9% на грудень 2027 (НБУ — 6,9%, ми — 6,5%)</a:t>
            </a:r>
            <a:endParaRPr lang="en-US" sz="1300" dirty="0"/>
          </a:p>
        </p:txBody>
      </p:sp>
      <p:sp>
        <p:nvSpPr>
          <p:cNvPr id="12" name="num3"/>
          <p:cNvSpPr/>
          <p:nvPr/>
        </p:nvSpPr>
        <p:spPr>
          <a:xfrm>
            <a:off x="8158277" y="5276088"/>
            <a:ext cx="310896" cy="310896"/>
          </a:xfrm>
          <a:prstGeom prst="ellipse">
            <a:avLst/>
          </a:prstGeom>
          <a:solidFill>
            <a:srgbClr val="C98A00"/>
          </a:solidFill>
          <a:ln/>
        </p:spPr>
      </p:sp>
      <p:sp>
        <p:nvSpPr>
          <p:cNvPr id="13" name="Text 9"/>
          <p:cNvSpPr txBox="1"/>
          <p:nvPr/>
        </p:nvSpPr>
        <p:spPr>
          <a:xfrm>
            <a:off x="8158277" y="5276088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bg1"/>
                </a:solidFill>
              </a:rPr>
              <a:t>3</a:t>
            </a:r>
            <a:endParaRPr lang="en-US" sz="1200" dirty="0"/>
          </a:p>
        </p:txBody>
      </p:sp>
      <p:sp>
        <p:nvSpPr>
          <p:cNvPr id="14" name="point3"/>
          <p:cNvSpPr txBox="1"/>
          <p:nvPr/>
        </p:nvSpPr>
        <p:spPr>
          <a:xfrm>
            <a:off x="8569757" y="5257800"/>
            <a:ext cx="3164738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Частина допомоги прив'язана до ухвалення законів — ризик подальших затримок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85855" y="6473952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10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731520" y="2377440"/>
            <a:ext cx="1069848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4000" b="1" dirty="0">
                <a:solidFill>
                  <a:schemeClr val="bg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Макроекономічний прогноз</a:t>
            </a:r>
            <a:endParaRPr lang="en-US" sz="4000" dirty="0"/>
          </a:p>
        </p:txBody>
      </p:sp>
      <p:sp>
        <p:nvSpPr>
          <p:cNvPr id="3" name="Text 1"/>
          <p:cNvSpPr txBox="1"/>
          <p:nvPr/>
        </p:nvSpPr>
        <p:spPr>
          <a:xfrm>
            <a:off x="731520" y="1280160"/>
            <a:ext cx="27432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000" b="1" dirty="0">
                <a:solidFill>
                  <a:srgbClr val="C98A0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02</a:t>
            </a:r>
            <a:endParaRPr lang="en-US" sz="6000" dirty="0"/>
          </a:p>
        </p:txBody>
      </p:sp>
      <p:sp>
        <p:nvSpPr>
          <p:cNvPr id="4" name="Text 2"/>
          <p:cNvSpPr txBox="1"/>
          <p:nvPr/>
        </p:nvSpPr>
        <p:spPr>
          <a:xfrm>
            <a:off x="731520" y="3749040"/>
            <a:ext cx="106984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CFE3DE"/>
                </a:solidFill>
              </a:rPr>
              <a:t>QPM НБУ на Python + короткостроковий прогноз + судження + сценарії</a:t>
            </a:r>
            <a:endParaRPr lang="en-US" sz="18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11277295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6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Модель: QPM НБУ з нашим розширенням — у Python і MATLAB/IRIS</a:t>
            </a:r>
            <a:endParaRPr lang="en-US" sz="2600" dirty="0"/>
          </a:p>
        </p:txBody>
      </p:sp>
      <p:sp>
        <p:nvSpPr>
          <p:cNvPr id="4" name="sources"/>
          <p:cNvSpPr txBox="1"/>
          <p:nvPr/>
        </p:nvSpPr>
        <p:spPr>
          <a:xfrm>
            <a:off x="4937760" y="6455664"/>
            <a:ext cx="611093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F6B6D"/>
                </a:solidFill>
              </a:rPr>
              <a:t>Джерела: </a:t>
            </a:r>
            <a:pPr indent="0" marL="0">
              <a:buNone/>
            </a:pPr>
            <a:r>
              <a:rPr lang="en-US" sz="900" u="sng" dirty="0">
                <a:solidFill>
                  <a:srgbClr val="5F6B6D"/>
                </a:solidFill>
                <a:hlinkClick r:id="rId1" invalidUrl="" action="" tgtFrame="" tooltip="https://events.bank.gov.ua/uchallenge2026/files/nbu_challenge_model_2026.zip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модель-шаблон НБУ</a:t>
            </a:r>
            <a:pPr indent="0" marL="0">
              <a:buNone/>
            </a:pPr>
            <a:r>
              <a:rPr lang="en-US" sz="900" dirty="0">
                <a:solidFill>
                  <a:srgbClr val="5F6B6D"/>
                </a:solidFill>
              </a:rPr>
              <a:t> · </a:t>
            </a:r>
            <a:pPr indent="0" marL="0">
              <a:buNone/>
            </a:pPr>
            <a:r>
              <a:rPr lang="en-US" sz="900" u="sng" dirty="0">
                <a:solidFill>
                  <a:srgbClr val="5F6B6D"/>
                </a:solidFill>
                <a:hlinkClick r:id="rId2" invalidUrl="" action="" tgtFrame="" tooltip="https://bank.gov.ua/ua/open-data/api-dev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API НБУ</a:t>
            </a:r>
            <a:pPr indent="0" marL="0">
              <a:buNone/>
            </a:pPr>
            <a:r>
              <a:rPr lang="en-US" sz="900" dirty="0">
                <a:solidFill>
                  <a:srgbClr val="5F6B6D"/>
                </a:solidFill>
              </a:rPr>
              <a:t> · </a:t>
            </a:r>
            <a:pPr indent="0" marL="0">
              <a:buNone/>
            </a:pPr>
            <a:r>
              <a:rPr lang="en-US" sz="900" u="sng" dirty="0">
                <a:solidFill>
                  <a:srgbClr val="5F6B6D"/>
                </a:solidFill>
                <a:hlinkClick r:id="rId3" invalidUrl="" action="" tgtFrame="" tooltip="https://data.ecb.europa.eu/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ЄЦБ Data Portal</a:t>
            </a:r>
            <a:pPr indent="0" marL="0">
              <a:buNone/>
            </a:pPr>
            <a:r>
              <a:rPr lang="en-US" sz="900" dirty="0">
                <a:solidFill>
                  <a:srgbClr val="5F6B6D"/>
                </a:solidFill>
              </a:rPr>
              <a:t> · </a:t>
            </a:r>
            <a:pPr indent="0" marL="0">
              <a:buNone/>
            </a:pPr>
            <a:r>
              <a:rPr lang="en-US" sz="900" u="sng" dirty="0">
                <a:solidFill>
                  <a:srgbClr val="5F6B6D"/>
                </a:solidFill>
                <a:hlinkClick r:id="rId4" invalidUrl="" action="" tgtFrame="" tooltip="https://ec.europa.eu/eurostat/databrowser/view/prc_hicp_minr/default/table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Eurostat HICP</a:t>
            </a:r>
            <a:endParaRPr lang="en-US" sz="900" dirty="0"/>
          </a:p>
        </p:txBody>
      </p:sp>
      <p:sp>
        <p:nvSpPr>
          <p:cNvPr id="5" name="step1"/>
          <p:cNvSpPr/>
          <p:nvPr/>
        </p:nvSpPr>
        <p:spPr>
          <a:xfrm>
            <a:off x="457200" y="1417320"/>
            <a:ext cx="2510714" cy="1600200"/>
          </a:xfrm>
          <a:prstGeom prst="roundRect">
            <a:avLst>
              <a:gd name="adj" fmla="val 4571"/>
            </a:avLst>
          </a:prstGeom>
          <a:solidFill>
            <a:srgbClr val="EAF1EF"/>
          </a:solidFill>
          <a:ln/>
        </p:spPr>
      </p:sp>
      <p:sp>
        <p:nvSpPr>
          <p:cNvPr id="6" name="Text 3"/>
          <p:cNvSpPr txBox="1"/>
          <p:nvPr/>
        </p:nvSpPr>
        <p:spPr>
          <a:xfrm>
            <a:off x="640080" y="1581912"/>
            <a:ext cx="214495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1. Дані</a:t>
            </a:r>
            <a:endParaRPr lang="en-US" sz="1700" dirty="0"/>
          </a:p>
        </p:txBody>
      </p:sp>
      <p:sp>
        <p:nvSpPr>
          <p:cNvPr id="7" name="Text 4"/>
          <p:cNvSpPr txBox="1"/>
          <p:nvPr/>
        </p:nvSpPr>
        <p:spPr>
          <a:xfrm>
            <a:off x="640080" y="2057400"/>
            <a:ext cx="2144954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API НБУ, Держстат, ЄЦБ, Eurostat, Brent; оновлення одним скриптом</a:t>
            </a:r>
            <a:endParaRPr lang="en-US" sz="1300" dirty="0"/>
          </a:p>
        </p:txBody>
      </p:sp>
      <p:sp>
        <p:nvSpPr>
          <p:cNvPr id="8" name="arrow1"/>
          <p:cNvSpPr/>
          <p:nvPr/>
        </p:nvSpPr>
        <p:spPr>
          <a:xfrm>
            <a:off x="3041066" y="2080260"/>
            <a:ext cx="265176" cy="274320"/>
          </a:xfrm>
          <a:prstGeom prst="rightArrow">
            <a:avLst/>
          </a:prstGeom>
          <a:solidFill>
            <a:srgbClr val="C98A00"/>
          </a:solidFill>
          <a:ln/>
        </p:spPr>
      </p:sp>
      <p:sp>
        <p:nvSpPr>
          <p:cNvPr id="9" name="step2"/>
          <p:cNvSpPr/>
          <p:nvPr/>
        </p:nvSpPr>
        <p:spPr>
          <a:xfrm>
            <a:off x="3379394" y="1417320"/>
            <a:ext cx="2510714" cy="1600200"/>
          </a:xfrm>
          <a:prstGeom prst="roundRect">
            <a:avLst>
              <a:gd name="adj" fmla="val 4571"/>
            </a:avLst>
          </a:prstGeom>
          <a:solidFill>
            <a:srgbClr val="EAF1EF"/>
          </a:solidFill>
          <a:ln/>
        </p:spPr>
      </p:sp>
      <p:sp>
        <p:nvSpPr>
          <p:cNvPr id="10" name="Text 7"/>
          <p:cNvSpPr txBox="1"/>
          <p:nvPr/>
        </p:nvSpPr>
        <p:spPr>
          <a:xfrm>
            <a:off x="3562274" y="1581912"/>
            <a:ext cx="214495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2. Фільтр Калмана</a:t>
            </a:r>
            <a:endParaRPr lang="en-US" sz="1700" dirty="0"/>
          </a:p>
        </p:txBody>
      </p:sp>
      <p:sp>
        <p:nvSpPr>
          <p:cNvPr id="11" name="Text 8"/>
          <p:cNvSpPr txBox="1"/>
          <p:nvPr/>
        </p:nvSpPr>
        <p:spPr>
          <a:xfrm>
            <a:off x="3562274" y="2057400"/>
            <a:ext cx="2144954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розриви й тренди: ВВП, реальний курс, нейтральна ставка</a:t>
            </a:r>
            <a:endParaRPr lang="en-US" sz="1300" dirty="0"/>
          </a:p>
        </p:txBody>
      </p:sp>
      <p:sp>
        <p:nvSpPr>
          <p:cNvPr id="12" name="arrow2"/>
          <p:cNvSpPr/>
          <p:nvPr/>
        </p:nvSpPr>
        <p:spPr>
          <a:xfrm>
            <a:off x="5963260" y="2080260"/>
            <a:ext cx="265176" cy="274320"/>
          </a:xfrm>
          <a:prstGeom prst="rightArrow">
            <a:avLst/>
          </a:prstGeom>
          <a:solidFill>
            <a:srgbClr val="C98A00"/>
          </a:solidFill>
          <a:ln/>
        </p:spPr>
      </p:sp>
      <p:sp>
        <p:nvSpPr>
          <p:cNvPr id="13" name="step3"/>
          <p:cNvSpPr/>
          <p:nvPr/>
        </p:nvSpPr>
        <p:spPr>
          <a:xfrm>
            <a:off x="6301588" y="1417320"/>
            <a:ext cx="2510714" cy="1600200"/>
          </a:xfrm>
          <a:prstGeom prst="roundRect">
            <a:avLst>
              <a:gd name="adj" fmla="val 4571"/>
            </a:avLst>
          </a:prstGeom>
          <a:solidFill>
            <a:srgbClr val="EAF1EF"/>
          </a:solidFill>
          <a:ln/>
        </p:spPr>
      </p:sp>
      <p:sp>
        <p:nvSpPr>
          <p:cNvPr id="14" name="Text 11"/>
          <p:cNvSpPr txBox="1"/>
          <p:nvPr/>
        </p:nvSpPr>
        <p:spPr>
          <a:xfrm>
            <a:off x="6484468" y="1581912"/>
            <a:ext cx="214495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3. Прогноз із планом</a:t>
            </a:r>
            <a:endParaRPr lang="en-US" sz="1700" dirty="0"/>
          </a:p>
        </p:txBody>
      </p:sp>
      <p:sp>
        <p:nvSpPr>
          <p:cNvPr id="15" name="Text 12"/>
          <p:cNvSpPr txBox="1"/>
          <p:nvPr/>
        </p:nvSpPr>
        <p:spPr>
          <a:xfrm>
            <a:off x="6484468" y="2057400"/>
            <a:ext cx="2144954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наукаст ІСЦ, судження з джерелами, ф'ючерси на нафту, прогноз ЄЦБ</a:t>
            </a:r>
            <a:endParaRPr lang="en-US" sz="1300" dirty="0"/>
          </a:p>
        </p:txBody>
      </p:sp>
      <p:sp>
        <p:nvSpPr>
          <p:cNvPr id="16" name="arrow3"/>
          <p:cNvSpPr/>
          <p:nvPr/>
        </p:nvSpPr>
        <p:spPr>
          <a:xfrm>
            <a:off x="8885453" y="2080260"/>
            <a:ext cx="265176" cy="274320"/>
          </a:xfrm>
          <a:prstGeom prst="rightArrow">
            <a:avLst/>
          </a:prstGeom>
          <a:solidFill>
            <a:srgbClr val="C98A00"/>
          </a:solidFill>
          <a:ln/>
        </p:spPr>
      </p:sp>
      <p:sp>
        <p:nvSpPr>
          <p:cNvPr id="17" name="step4"/>
          <p:cNvSpPr/>
          <p:nvPr/>
        </p:nvSpPr>
        <p:spPr>
          <a:xfrm>
            <a:off x="9223781" y="1417320"/>
            <a:ext cx="2510714" cy="1600200"/>
          </a:xfrm>
          <a:prstGeom prst="roundRect">
            <a:avLst>
              <a:gd name="adj" fmla="val 4571"/>
            </a:avLst>
          </a:prstGeom>
          <a:solidFill>
            <a:srgbClr val="EAF1EF"/>
          </a:solidFill>
          <a:ln/>
        </p:spPr>
      </p:sp>
      <p:sp>
        <p:nvSpPr>
          <p:cNvPr id="18" name="Text 15"/>
          <p:cNvSpPr txBox="1"/>
          <p:nvPr/>
        </p:nvSpPr>
        <p:spPr>
          <a:xfrm>
            <a:off x="9406661" y="1581912"/>
            <a:ext cx="214495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4. Політика й ризики</a:t>
            </a:r>
            <a:endParaRPr lang="en-US" sz="1700" dirty="0"/>
          </a:p>
        </p:txBody>
      </p:sp>
      <p:sp>
        <p:nvSpPr>
          <p:cNvPr id="19" name="Text 16"/>
          <p:cNvSpPr txBox="1"/>
          <p:nvPr/>
        </p:nvSpPr>
        <p:spPr>
          <a:xfrm>
            <a:off x="9406661" y="2057400"/>
            <a:ext cx="2144954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сценарії, віяло, оптимальна ставка; перевірка в MATLAB/IRIS</a:t>
            </a:r>
            <a:endParaRPr lang="en-US" sz="1300" dirty="0"/>
          </a:p>
        </p:txBody>
      </p:sp>
      <p:sp>
        <p:nvSpPr>
          <p:cNvPr id="20" name="Text 17"/>
          <p:cNvSpPr txBox="1"/>
          <p:nvPr/>
        </p:nvSpPr>
        <p:spPr>
          <a:xfrm>
            <a:off x="457200" y="3429000"/>
            <a:ext cx="3576218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C98A0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1e−13</a:t>
            </a:r>
            <a:endParaRPr lang="en-US" sz="3400" dirty="0"/>
          </a:p>
        </p:txBody>
      </p:sp>
      <p:sp>
        <p:nvSpPr>
          <p:cNvPr id="21" name="Text 18"/>
          <p:cNvSpPr txBox="1"/>
          <p:nvPr/>
        </p:nvSpPr>
        <p:spPr>
          <a:xfrm>
            <a:off x="457200" y="4251960"/>
            <a:ext cx="357621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похибка розв'язку рівнянь моделі</a:t>
            </a:r>
            <a:endParaRPr lang="en-US" sz="1400" dirty="0"/>
          </a:p>
        </p:txBody>
      </p:sp>
      <p:sp>
        <p:nvSpPr>
          <p:cNvPr id="22" name="Text 19"/>
          <p:cNvSpPr txBox="1"/>
          <p:nvPr/>
        </p:nvSpPr>
        <p:spPr>
          <a:xfrm>
            <a:off x="4307738" y="3429000"/>
            <a:ext cx="3576218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C98A0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~1e−5</a:t>
            </a:r>
            <a:endParaRPr lang="en-US" sz="3400" dirty="0"/>
          </a:p>
        </p:txBody>
      </p:sp>
      <p:sp>
        <p:nvSpPr>
          <p:cNvPr id="23" name="Text 20"/>
          <p:cNvSpPr txBox="1"/>
          <p:nvPr/>
        </p:nvSpPr>
        <p:spPr>
          <a:xfrm>
            <a:off x="4307738" y="4251960"/>
            <a:ext cx="357621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розбіжність Python і MATLAB/IRIS: фільтр і всі 5 сценаріїв</a:t>
            </a:r>
            <a:endParaRPr lang="en-US" sz="1400" dirty="0"/>
          </a:p>
        </p:txBody>
      </p:sp>
      <p:sp>
        <p:nvSpPr>
          <p:cNvPr id="24" name="Text 21"/>
          <p:cNvSpPr txBox="1"/>
          <p:nvPr/>
        </p:nvSpPr>
        <p:spPr>
          <a:xfrm>
            <a:off x="8158277" y="3429000"/>
            <a:ext cx="3576218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C98A0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0,8–1,2 в. п.</a:t>
            </a:r>
            <a:endParaRPr lang="en-US" sz="3400" dirty="0"/>
          </a:p>
        </p:txBody>
      </p:sp>
      <p:sp>
        <p:nvSpPr>
          <p:cNvPr id="25" name="Text 22"/>
          <p:cNvSpPr txBox="1"/>
          <p:nvPr/>
        </p:nvSpPr>
        <p:spPr>
          <a:xfrm>
            <a:off x="8158277" y="4251960"/>
            <a:ext cx="357621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помилка прогнозу ІСЦ на рік уперед (наївний: 1,2–5,5)</a:t>
            </a:r>
            <a:endParaRPr lang="en-US" sz="1400" dirty="0"/>
          </a:p>
        </p:txBody>
      </p:sp>
      <p:sp>
        <p:nvSpPr>
          <p:cNvPr id="26" name="Text 23"/>
          <p:cNvSpPr txBox="1"/>
          <p:nvPr/>
        </p:nvSpPr>
        <p:spPr>
          <a:xfrm>
            <a:off x="457200" y="4983480"/>
            <a:ext cx="5486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chemeClr val="accent1"/>
                </a:solidFill>
              </a:rPr>
              <a:t>Що ми додали до шаблону НБУ</a:t>
            </a:r>
            <a:endParaRPr lang="en-US" sz="1300" dirty="0"/>
          </a:p>
        </p:txBody>
      </p:sp>
      <p:sp>
        <p:nvSpPr>
          <p:cNvPr id="27" name="chip1"/>
          <p:cNvSpPr/>
          <p:nvPr/>
        </p:nvSpPr>
        <p:spPr>
          <a:xfrm>
            <a:off x="457200" y="5349240"/>
            <a:ext cx="2386584" cy="365760"/>
          </a:xfrm>
          <a:prstGeom prst="roundRect">
            <a:avLst>
              <a:gd name="adj" fmla="val 50000"/>
            </a:avLst>
          </a:prstGeom>
          <a:solidFill>
            <a:srgbClr val="EAF1EF"/>
          </a:solidFill>
          <a:ln w="9525">
            <a:solidFill>
              <a:srgbClr val="0E3B43"/>
            </a:solidFill>
            <a:prstDash val="solid"/>
          </a:ln>
        </p:spPr>
      </p:sp>
      <p:sp>
        <p:nvSpPr>
          <p:cNvPr id="28" name="Text 25"/>
          <p:cNvSpPr txBox="1"/>
          <p:nvPr/>
        </p:nvSpPr>
        <p:spPr>
          <a:xfrm>
            <a:off x="457200" y="5349240"/>
            <a:ext cx="238658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chemeClr val="accent1"/>
                </a:solidFill>
              </a:rPr>
              <a:t>Базова + небазова інфляція</a:t>
            </a:r>
            <a:endParaRPr lang="en-US" sz="1200" dirty="0"/>
          </a:p>
        </p:txBody>
      </p:sp>
      <p:sp>
        <p:nvSpPr>
          <p:cNvPr id="29" name="chip2"/>
          <p:cNvSpPr/>
          <p:nvPr/>
        </p:nvSpPr>
        <p:spPr>
          <a:xfrm>
            <a:off x="2980944" y="5349240"/>
            <a:ext cx="1687068" cy="365760"/>
          </a:xfrm>
          <a:prstGeom prst="roundRect">
            <a:avLst>
              <a:gd name="adj" fmla="val 50000"/>
            </a:avLst>
          </a:prstGeom>
          <a:solidFill>
            <a:srgbClr val="EAF1EF"/>
          </a:solidFill>
          <a:ln w="9525">
            <a:solidFill>
              <a:srgbClr val="0E3B43"/>
            </a:solidFill>
            <a:prstDash val="solid"/>
          </a:ln>
        </p:spPr>
      </p:sp>
      <p:sp>
        <p:nvSpPr>
          <p:cNvPr id="30" name="Text 27"/>
          <p:cNvSpPr txBox="1"/>
          <p:nvPr/>
        </p:nvSpPr>
        <p:spPr>
          <a:xfrm>
            <a:off x="2980944" y="5349240"/>
            <a:ext cx="168706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chemeClr val="accent1"/>
                </a:solidFill>
              </a:rPr>
              <a:t>Канал нафти Brent</a:t>
            </a:r>
            <a:endParaRPr lang="en-US" sz="1200" dirty="0"/>
          </a:p>
        </p:txBody>
      </p:sp>
      <p:sp>
        <p:nvSpPr>
          <p:cNvPr id="31" name="chip3"/>
          <p:cNvSpPr/>
          <p:nvPr/>
        </p:nvSpPr>
        <p:spPr>
          <a:xfrm>
            <a:off x="4805172" y="5349240"/>
            <a:ext cx="1220724" cy="365760"/>
          </a:xfrm>
          <a:prstGeom prst="roundRect">
            <a:avLst>
              <a:gd name="adj" fmla="val 50000"/>
            </a:avLst>
          </a:prstGeom>
          <a:solidFill>
            <a:srgbClr val="EAF1EF"/>
          </a:solidFill>
          <a:ln w="9525">
            <a:solidFill>
              <a:srgbClr val="0E3B43"/>
            </a:solidFill>
            <a:prstDash val="solid"/>
          </a:ln>
        </p:spPr>
      </p:sp>
      <p:sp>
        <p:nvSpPr>
          <p:cNvPr id="32" name="Text 29"/>
          <p:cNvSpPr txBox="1"/>
          <p:nvPr/>
        </p:nvSpPr>
        <p:spPr>
          <a:xfrm>
            <a:off x="4805172" y="5349240"/>
            <a:ext cx="122072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chemeClr val="accent1"/>
                </a:solidFill>
              </a:rPr>
              <a:t>Наукаст ІСЦ</a:t>
            </a:r>
            <a:endParaRPr lang="en-US" sz="1200" dirty="0"/>
          </a:p>
        </p:txBody>
      </p:sp>
      <p:sp>
        <p:nvSpPr>
          <p:cNvPr id="33" name="chip4"/>
          <p:cNvSpPr/>
          <p:nvPr/>
        </p:nvSpPr>
        <p:spPr>
          <a:xfrm>
            <a:off x="6163056" y="5349240"/>
            <a:ext cx="1920240" cy="365760"/>
          </a:xfrm>
          <a:prstGeom prst="roundRect">
            <a:avLst>
              <a:gd name="adj" fmla="val 50000"/>
            </a:avLst>
          </a:prstGeom>
          <a:solidFill>
            <a:srgbClr val="EAF1EF"/>
          </a:solidFill>
          <a:ln w="9525">
            <a:solidFill>
              <a:srgbClr val="0E3B43"/>
            </a:solidFill>
            <a:prstDash val="solid"/>
          </a:ln>
        </p:spPr>
      </p:sp>
      <p:sp>
        <p:nvSpPr>
          <p:cNvPr id="34" name="Text 31"/>
          <p:cNvSpPr txBox="1"/>
          <p:nvPr/>
        </p:nvSpPr>
        <p:spPr>
          <a:xfrm>
            <a:off x="6163056" y="5349240"/>
            <a:ext cx="1920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chemeClr val="accent1"/>
                </a:solidFill>
              </a:rPr>
              <a:t>Судження з джерелами</a:t>
            </a:r>
            <a:endParaRPr lang="en-US" sz="1200" dirty="0"/>
          </a:p>
        </p:txBody>
      </p:sp>
      <p:sp>
        <p:nvSpPr>
          <p:cNvPr id="35" name="chip5"/>
          <p:cNvSpPr/>
          <p:nvPr/>
        </p:nvSpPr>
        <p:spPr>
          <a:xfrm>
            <a:off x="8220456" y="5349240"/>
            <a:ext cx="1531620" cy="365760"/>
          </a:xfrm>
          <a:prstGeom prst="roundRect">
            <a:avLst>
              <a:gd name="adj" fmla="val 50000"/>
            </a:avLst>
          </a:prstGeom>
          <a:solidFill>
            <a:srgbClr val="EAF1EF"/>
          </a:solidFill>
          <a:ln w="9525">
            <a:solidFill>
              <a:srgbClr val="0E3B43"/>
            </a:solidFill>
            <a:prstDash val="solid"/>
          </a:ln>
        </p:spPr>
      </p:sp>
      <p:sp>
        <p:nvSpPr>
          <p:cNvPr id="36" name="Text 33"/>
          <p:cNvSpPr txBox="1"/>
          <p:nvPr/>
        </p:nvSpPr>
        <p:spPr>
          <a:xfrm>
            <a:off x="8220456" y="5349240"/>
            <a:ext cx="15316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chemeClr val="accent1"/>
                </a:solidFill>
              </a:rPr>
              <a:t>Віялові графіки</a:t>
            </a:r>
            <a:endParaRPr lang="en-US" sz="1200" dirty="0"/>
          </a:p>
        </p:txBody>
      </p:sp>
      <p:sp>
        <p:nvSpPr>
          <p:cNvPr id="37" name="chip6"/>
          <p:cNvSpPr/>
          <p:nvPr/>
        </p:nvSpPr>
        <p:spPr>
          <a:xfrm>
            <a:off x="9889236" y="5349240"/>
            <a:ext cx="1687068" cy="365760"/>
          </a:xfrm>
          <a:prstGeom prst="roundRect">
            <a:avLst>
              <a:gd name="adj" fmla="val 50000"/>
            </a:avLst>
          </a:prstGeom>
          <a:solidFill>
            <a:srgbClr val="EAF1EF"/>
          </a:solidFill>
          <a:ln w="9525">
            <a:solidFill>
              <a:srgbClr val="0E3B43"/>
            </a:solidFill>
            <a:prstDash val="solid"/>
          </a:ln>
        </p:spPr>
      </p:sp>
      <p:sp>
        <p:nvSpPr>
          <p:cNvPr id="38" name="Text 35"/>
          <p:cNvSpPr txBox="1"/>
          <p:nvPr/>
        </p:nvSpPr>
        <p:spPr>
          <a:xfrm>
            <a:off x="9889236" y="5349240"/>
            <a:ext cx="168706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chemeClr val="accent1"/>
                </a:solidFill>
              </a:rPr>
              <a:t>Оптимальна ставка</a:t>
            </a:r>
            <a:endParaRPr lang="en-US" sz="1200" dirty="0"/>
          </a:p>
        </p:txBody>
      </p:sp>
      <p:sp>
        <p:nvSpPr>
          <p:cNvPr id="39" name="chip7"/>
          <p:cNvSpPr/>
          <p:nvPr/>
        </p:nvSpPr>
        <p:spPr>
          <a:xfrm>
            <a:off x="457200" y="5806440"/>
            <a:ext cx="909828" cy="365760"/>
          </a:xfrm>
          <a:prstGeom prst="roundRect">
            <a:avLst>
              <a:gd name="adj" fmla="val 50000"/>
            </a:avLst>
          </a:prstGeom>
          <a:solidFill>
            <a:srgbClr val="EAF1EF"/>
          </a:solidFill>
          <a:ln w="9525">
            <a:solidFill>
              <a:srgbClr val="0E3B43"/>
            </a:solidFill>
            <a:prstDash val="solid"/>
          </a:ln>
        </p:spPr>
      </p:sp>
      <p:sp>
        <p:nvSpPr>
          <p:cNvPr id="40" name="Text 37"/>
          <p:cNvSpPr txBox="1"/>
          <p:nvPr/>
        </p:nvSpPr>
        <p:spPr>
          <a:xfrm>
            <a:off x="457200" y="5806440"/>
            <a:ext cx="90982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chemeClr val="accent1"/>
                </a:solidFill>
              </a:rPr>
              <a:t>Бектест</a:t>
            </a:r>
            <a:endParaRPr lang="en-US" sz="1200" dirty="0"/>
          </a:p>
        </p:txBody>
      </p:sp>
      <p:sp>
        <p:nvSpPr>
          <p:cNvPr id="41" name="chip8"/>
          <p:cNvSpPr/>
          <p:nvPr/>
        </p:nvSpPr>
        <p:spPr>
          <a:xfrm>
            <a:off x="1504188" y="5806440"/>
            <a:ext cx="909828" cy="365760"/>
          </a:xfrm>
          <a:prstGeom prst="roundRect">
            <a:avLst>
              <a:gd name="adj" fmla="val 50000"/>
            </a:avLst>
          </a:prstGeom>
          <a:solidFill>
            <a:srgbClr val="EAF1EF"/>
          </a:solidFill>
          <a:ln w="9525">
            <a:solidFill>
              <a:srgbClr val="0E3B43"/>
            </a:solidFill>
            <a:prstDash val="solid"/>
          </a:ln>
        </p:spPr>
      </p:sp>
      <p:sp>
        <p:nvSpPr>
          <p:cNvPr id="42" name="Text 39"/>
          <p:cNvSpPr txBox="1"/>
          <p:nvPr/>
        </p:nvSpPr>
        <p:spPr>
          <a:xfrm>
            <a:off x="1504188" y="5806440"/>
            <a:ext cx="90982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chemeClr val="accent1"/>
                </a:solidFill>
              </a:rPr>
              <a:t>Резерви</a:t>
            </a:r>
            <a:endParaRPr lang="en-US" sz="1200" dirty="0"/>
          </a:p>
        </p:txBody>
      </p:sp>
      <p:sp>
        <p:nvSpPr>
          <p:cNvPr id="43" name="chip9"/>
          <p:cNvSpPr/>
          <p:nvPr/>
        </p:nvSpPr>
        <p:spPr>
          <a:xfrm>
            <a:off x="2551176" y="5806440"/>
            <a:ext cx="1220724" cy="365760"/>
          </a:xfrm>
          <a:prstGeom prst="roundRect">
            <a:avLst>
              <a:gd name="adj" fmla="val 50000"/>
            </a:avLst>
          </a:prstGeom>
          <a:solidFill>
            <a:srgbClr val="EAF1EF"/>
          </a:solidFill>
          <a:ln w="9525">
            <a:solidFill>
              <a:srgbClr val="0E3B43"/>
            </a:solidFill>
            <a:prstDash val="solid"/>
          </a:ln>
        </p:spPr>
      </p:sp>
      <p:sp>
        <p:nvSpPr>
          <p:cNvPr id="44" name="Text 41"/>
          <p:cNvSpPr txBox="1"/>
          <p:nvPr/>
        </p:nvSpPr>
        <p:spPr>
          <a:xfrm>
            <a:off x="2551176" y="5806440"/>
            <a:ext cx="122072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chemeClr val="accent1"/>
                </a:solidFill>
              </a:rPr>
              <a:t>MATLAB/IRIS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85855" y="6473952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12</a:t>
            </a:fld>
            <a:endParaRPr lang="en-US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11277295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6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Наше розширення QPM: нафта змінює небазові ціни, ставка реагує лише на вторинні ефекти</a:t>
            </a:r>
            <a:endParaRPr lang="en-US" sz="2600" dirty="0"/>
          </a:p>
        </p:txBody>
      </p:sp>
      <p:sp>
        <p:nvSpPr>
          <p:cNvPr id="4" name="sources"/>
          <p:cNvSpPr txBox="1"/>
          <p:nvPr/>
        </p:nvSpPr>
        <p:spPr>
          <a:xfrm>
            <a:off x="4937760" y="6455664"/>
            <a:ext cx="611093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F6B6D"/>
                </a:solidFill>
              </a:rPr>
              <a:t>Джерела: </a:t>
            </a:r>
            <a:pPr indent="0" marL="0">
              <a:buNone/>
            </a:pPr>
            <a:r>
              <a:rPr lang="en-US" sz="900" u="sng" dirty="0">
                <a:solidFill>
                  <a:srgbClr val="5F6B6D"/>
                </a:solidFill>
                <a:hlinkClick r:id="rId1" invalidUrl="" action="" tgtFrame="" tooltip="https://bank.gov.ua/files/macro/CCPI_m.xlsx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базовий ІСЦ (НБУ)</a:t>
            </a:r>
            <a:pPr indent="0" marL="0">
              <a:buNone/>
            </a:pPr>
            <a:r>
              <a:rPr lang="en-US" sz="900" dirty="0">
                <a:solidFill>
                  <a:srgbClr val="5F6B6D"/>
                </a:solidFill>
              </a:rPr>
              <a:t> · </a:t>
            </a:r>
            <a:pPr indent="0" marL="0">
              <a:buNone/>
            </a:pPr>
            <a:r>
              <a:rPr lang="en-US" sz="900" u="sng" dirty="0">
                <a:solidFill>
                  <a:srgbClr val="5F6B6D"/>
                </a:solidFill>
                <a:hlinkClick r:id="rId2" invalidUrl="" action="" tgtFrame="" tooltip="https://db.nomics.world/EIA/PET/RBRTE.M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EIA Brent</a:t>
            </a:r>
            <a:pPr indent="0" marL="0">
              <a:buNone/>
            </a:pPr>
            <a:r>
              <a:rPr lang="en-US" sz="900" dirty="0">
                <a:solidFill>
                  <a:srgbClr val="5F6B6D"/>
                </a:solidFill>
              </a:rPr>
              <a:t> · </a:t>
            </a:r>
            <a:pPr indent="0" marL="0">
              <a:buNone/>
            </a:pPr>
            <a:r>
              <a:rPr lang="en-US" sz="900" u="sng" dirty="0">
                <a:solidFill>
                  <a:srgbClr val="5F6B6D"/>
                </a:solidFill>
                <a:hlinkClick r:id="rId3" invalidUrl="" action="" tgtFrame="" tooltip="https://finance.yahoo.com/quote/BZ%3DF/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ф'ючерси Brent</a:t>
            </a:r>
            <a:endParaRPr lang="en-US" sz="900" dirty="0"/>
          </a:p>
        </p:txBody>
      </p:sp>
      <p:pic>
        <p:nvPicPr>
          <p:cNvPr id="5" name="chart" descr="C:\Users\Lenovo\Documents\GitHub\nbu-challenge-2026\results\figures\ml_irf_oil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200" y="1325880"/>
            <a:ext cx="11277295" cy="3158013"/>
          </a:xfrm>
          <a:prstGeom prst="rect">
            <a:avLst/>
          </a:prstGeom>
        </p:spPr>
      </p:pic>
      <p:sp>
        <p:nvSpPr>
          <p:cNvPr id="6" name="num1"/>
          <p:cNvSpPr/>
          <p:nvPr/>
        </p:nvSpPr>
        <p:spPr>
          <a:xfrm>
            <a:off x="457200" y="5276088"/>
            <a:ext cx="310896" cy="310896"/>
          </a:xfrm>
          <a:prstGeom prst="ellipse">
            <a:avLst/>
          </a:prstGeom>
          <a:solidFill>
            <a:srgbClr val="C98A00"/>
          </a:solidFill>
          <a:ln/>
        </p:spPr>
      </p:sp>
      <p:sp>
        <p:nvSpPr>
          <p:cNvPr id="7" name="Text 3"/>
          <p:cNvSpPr txBox="1"/>
          <p:nvPr/>
        </p:nvSpPr>
        <p:spPr>
          <a:xfrm>
            <a:off x="457200" y="5276088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bg1"/>
                </a:solidFill>
              </a:rPr>
              <a:t>1</a:t>
            </a:r>
            <a:endParaRPr lang="en-US" sz="1200" dirty="0"/>
          </a:p>
        </p:txBody>
      </p:sp>
      <p:sp>
        <p:nvSpPr>
          <p:cNvPr id="8" name="point1"/>
          <p:cNvSpPr txBox="1"/>
          <p:nvPr/>
        </p:nvSpPr>
        <p:spPr>
          <a:xfrm>
            <a:off x="868680" y="5257800"/>
            <a:ext cx="3164738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ІСЦ = базова інфляція + зміна відносних цін небазових товарів; крива Філіпса НБУ описує базову</a:t>
            </a:r>
            <a:endParaRPr lang="en-US" sz="1300" dirty="0"/>
          </a:p>
        </p:txBody>
      </p:sp>
      <p:sp>
        <p:nvSpPr>
          <p:cNvPr id="9" name="num2"/>
          <p:cNvSpPr/>
          <p:nvPr/>
        </p:nvSpPr>
        <p:spPr>
          <a:xfrm>
            <a:off x="4307738" y="5276088"/>
            <a:ext cx="310896" cy="310896"/>
          </a:xfrm>
          <a:prstGeom prst="ellipse">
            <a:avLst/>
          </a:prstGeom>
          <a:solidFill>
            <a:srgbClr val="C98A00"/>
          </a:solidFill>
          <a:ln/>
        </p:spPr>
      </p:sp>
      <p:sp>
        <p:nvSpPr>
          <p:cNvPr id="10" name="Text 6"/>
          <p:cNvSpPr txBox="1"/>
          <p:nvPr/>
        </p:nvSpPr>
        <p:spPr>
          <a:xfrm>
            <a:off x="4307738" y="5276088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bg1"/>
                </a:solidFill>
              </a:rPr>
              <a:t>2</a:t>
            </a:r>
            <a:endParaRPr lang="en-US" sz="1200" dirty="0"/>
          </a:p>
        </p:txBody>
      </p:sp>
      <p:sp>
        <p:nvSpPr>
          <p:cNvPr id="11" name="point2"/>
          <p:cNvSpPr txBox="1"/>
          <p:nvPr/>
        </p:nvSpPr>
        <p:spPr>
          <a:xfrm>
            <a:off x="4719218" y="5257800"/>
            <a:ext cx="3164738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Brent +20% → ІСЦ +0,3 в. п. упродовж року, ставка +0,2 в. п.; базова інфляція не прискорюється</a:t>
            </a:r>
            <a:endParaRPr lang="en-US" sz="1300" dirty="0"/>
          </a:p>
        </p:txBody>
      </p:sp>
      <p:sp>
        <p:nvSpPr>
          <p:cNvPr id="12" name="num3"/>
          <p:cNvSpPr/>
          <p:nvPr/>
        </p:nvSpPr>
        <p:spPr>
          <a:xfrm>
            <a:off x="8158277" y="5276088"/>
            <a:ext cx="310896" cy="310896"/>
          </a:xfrm>
          <a:prstGeom prst="ellipse">
            <a:avLst/>
          </a:prstGeom>
          <a:solidFill>
            <a:srgbClr val="C98A00"/>
          </a:solidFill>
          <a:ln/>
        </p:spPr>
      </p:sp>
      <p:sp>
        <p:nvSpPr>
          <p:cNvPr id="13" name="Text 9"/>
          <p:cNvSpPr txBox="1"/>
          <p:nvPr/>
        </p:nvSpPr>
        <p:spPr>
          <a:xfrm>
            <a:off x="8158277" y="5276088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bg1"/>
                </a:solidFill>
              </a:rPr>
              <a:t>3</a:t>
            </a:r>
            <a:endParaRPr lang="en-US" sz="1200" dirty="0"/>
          </a:p>
        </p:txBody>
      </p:sp>
      <p:sp>
        <p:nvSpPr>
          <p:cNvPr id="14" name="point3"/>
          <p:cNvSpPr txBox="1"/>
          <p:nvPr/>
        </p:nvSpPr>
        <p:spPr>
          <a:xfrm>
            <a:off x="8569757" y="5257800"/>
            <a:ext cx="3164738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З вагою нафти 0 модель точно збігається з шаблоном НБУ — перевірено тестами і в MATLAB/IRIS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85855" y="6473952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13</a:t>
            </a:fld>
            <a:endParaRPr lang="en-US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11277295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6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Припущення та судження базового сценарію — кожне з джерелом</a:t>
            </a:r>
            <a:endParaRPr lang="en-US" sz="2600" dirty="0"/>
          </a:p>
        </p:txBody>
      </p:sp>
      <p:sp>
        <p:nvSpPr>
          <p:cNvPr id="4" name="sources"/>
          <p:cNvSpPr txBox="1"/>
          <p:nvPr/>
        </p:nvSpPr>
        <p:spPr>
          <a:xfrm>
            <a:off x="4937760" y="6455664"/>
            <a:ext cx="611093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F6B6D"/>
                </a:solidFill>
              </a:rPr>
              <a:t>Джерела: </a:t>
            </a:r>
            <a:pPr indent="0" marL="0">
              <a:buNone/>
            </a:pPr>
            <a:r>
              <a:rPr lang="en-US" sz="900" u="sng" dirty="0">
                <a:solidFill>
                  <a:srgbClr val="5F6B6D"/>
                </a:solidFill>
                <a:hlinkClick r:id="rId1" invalidUrl="" action="" tgtFrame="" tooltip="https://bank.gov.ua/ua/news/all/inflyatsiya-prishvidshitsya-u-drugomu-pivrichchi-ale-povernetsya-do-znijennya-nastupnogo-roku--inflyatsiyniy-zvit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НБУ, Інфляційний звіт (липень 2026)</a:t>
            </a:r>
            <a:pPr indent="0" marL="0">
              <a:buNone/>
            </a:pPr>
            <a:r>
              <a:rPr lang="en-US" sz="900" dirty="0">
                <a:solidFill>
                  <a:srgbClr val="5F6B6D"/>
                </a:solidFill>
              </a:rPr>
              <a:t> · </a:t>
            </a:r>
            <a:pPr indent="0" marL="0">
              <a:buNone/>
            </a:pPr>
            <a:r>
              <a:rPr lang="en-US" sz="900" u="sng" dirty="0">
                <a:solidFill>
                  <a:srgbClr val="5F6B6D"/>
                </a:solidFill>
                <a:hlinkClick r:id="rId2" invalidUrl="" action="" tgtFrame="" tooltip="https://bank.gov.ua/admin_uploads/article/Macroeconomic_Forecast_table_2026_07.xlsx?v=19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макропрогноз НБУ</a:t>
            </a:r>
            <a:pPr indent="0" marL="0">
              <a:buNone/>
            </a:pPr>
            <a:r>
              <a:rPr lang="en-US" sz="900" dirty="0">
                <a:solidFill>
                  <a:srgbClr val="5F6B6D"/>
                </a:solidFill>
              </a:rPr>
              <a:t> · </a:t>
            </a:r>
            <a:pPr indent="0" marL="0">
              <a:buNone/>
            </a:pPr>
            <a:r>
              <a:rPr lang="en-US" sz="900" u="sng" dirty="0">
                <a:solidFill>
                  <a:srgbClr val="5F6B6D"/>
                </a:solidFill>
                <a:hlinkClick r:id="rId3" invalidUrl="" action="" tgtFrame="" tooltip="https://bank.gov.ua/ua/news/all/pidsumki-diskusiyi-chleniv-komitetu-z-monetarnoyi-politiki-natsionalnogo-banku-schodo-rivnya-oblikovoyi-stavki-16-veresnya-2026-roku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підсумки дискусії КМП</a:t>
            </a:r>
            <a:endParaRPr lang="en-US" sz="900" dirty="0"/>
          </a:p>
        </p:txBody>
      </p:sp>
      <p:graphicFrame>
        <p:nvGraphicFramePr>
          <p:cNvPr id="15" name="table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325880"/>
          <a:ext cx="11277295" cy="914400"/>
        </p:xfrm>
        <a:graphic>
          <a:graphicData uri="http://schemas.openxmlformats.org/drawingml/2006/table">
            <a:tbl>
              <a:tblPr/>
              <a:tblGrid>
                <a:gridCol w="2194560"/>
                <a:gridCol w="6858000"/>
                <a:gridCol w="2221992"/>
              </a:tblGrid>
              <a:tr h="40233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chemeClr val="bg1"/>
                          </a:solidFill>
                        </a:rPr>
                        <a:t>Чинник</a:t>
                      </a:r>
                      <a:endParaRPr lang="en-US" sz="1200" dirty="0"/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C9D6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3B4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chemeClr val="bg1"/>
                          </a:solidFill>
                        </a:rPr>
                        <a:t>Що закладено</a:t>
                      </a:r>
                      <a:endParaRPr lang="en-US" sz="1200" dirty="0"/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C9D6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3B4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chemeClr val="bg1"/>
                          </a:solidFill>
                        </a:rPr>
                        <a:t>Джерело</a:t>
                      </a:r>
                      <a:endParaRPr lang="en-US" sz="1200" dirty="0"/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C9D6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3B43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chemeClr val="tx1"/>
                          </a:solidFill>
                        </a:rPr>
                        <a:t>Інфляція IV кв. 2026</a:t>
                      </a:r>
                      <a:endParaRPr lang="en-US" sz="1200" dirty="0"/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C9D6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Наукаст: тренд 0,65%/міс + сезонність − 0,1 в. п. (продовольство) → грудень 9,9% р/р</a:t>
                      </a:r>
                      <a:endParaRPr lang="en-US" sz="1200" dirty="0"/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C9D6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u="sng" dirty="0">
                          <a:hlinkClick r:id="rId4" invalidUrl="" action="" tgtFrame="" tooltip="https://bank.gov.ua/ua/open-data/api-dev" history="1" highlightClick="0" endSnd="0"/>
                        </a:rPr>
                        <a:t>Держстат, API НБУ</a:t>
                      </a:r>
                      <a:endParaRPr lang="en-US" sz="1200" dirty="0"/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C9D6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chemeClr val="tx1"/>
                          </a:solidFill>
                        </a:rPr>
                        <a:t>ВВП III кв. 2026</a:t>
                      </a:r>
                      <a:endParaRPr lang="en-US" sz="1200" dirty="0"/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C9D6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1E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−0,3% кв/кв SA (КМП: «суттєво гірше прогнозу»)</a:t>
                      </a:r>
                      <a:endParaRPr lang="en-US" sz="1200" dirty="0"/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C9D6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1E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u="sng" dirty="0">
                          <a:hlinkClick r:id="rId5" invalidUrl="" action="" tgtFrame="" tooltip="https://bank.gov.ua/ua/news/all/pidsumki-diskusiyi-chleniv-komitetu-z-monetarnoyi-politiki-natsionalnogo-banku-schodo-rivnya-oblikovoyi-stavki-16-veresnya-2026-roku" history="1" highlightClick="0" endSnd="0"/>
                        </a:rPr>
                        <a:t>Підсумки КМП 28.09</a:t>
                      </a:r>
                      <a:endParaRPr lang="en-US" sz="1200" dirty="0"/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C9D6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1EF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chemeClr val="tx1"/>
                          </a:solidFill>
                        </a:rPr>
                        <a:t>Шок витрат 2027</a:t>
                      </a:r>
                      <a:endParaRPr lang="en-US" sz="1200" dirty="0"/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C9D6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Вторинні ефекти атак на енергетику, логістику й виробництво в опалювальний сезон</a:t>
                      </a:r>
                      <a:endParaRPr lang="en-US" sz="1200" dirty="0"/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C9D6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u="sng" dirty="0">
                          <a:hlinkClick r:id="rId6" invalidUrl="" action="" tgtFrame="" tooltip="https://bank.gov.ua/ua/news/all/pidsumki-diskusiyi-chleniv-komitetu-z-monetarnoyi-politiki-natsionalnogo-banku-schodo-rivnya-oblikovoyi-stavki-16-veresnya-2026-roku" history="1" highlightClick="0" endSnd="0"/>
                        </a:rPr>
                        <a:t>Підсумки дискусії КМП, 28.09.2026</a:t>
                      </a:r>
                      <a:endParaRPr lang="en-US" sz="1200" dirty="0"/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C9D6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chemeClr val="tx1"/>
                          </a:solidFill>
                        </a:rPr>
                        <a:t>Адмінціни та акцизи</a:t>
                      </a:r>
                      <a:endParaRPr lang="en-US" sz="1200" dirty="0"/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C9D6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1E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Тарифи після мораторію, наближення акцизів до мінімумів ЄС — загальна інфляція вища за базову на ≈1,7 в. п. на рік</a:t>
                      </a:r>
                      <a:endParaRPr lang="en-US" sz="1200" dirty="0"/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C9D6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1E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u="sng" dirty="0">
                          <a:hlinkClick r:id="rId7" invalidUrl="" action="" tgtFrame="" tooltip="https://bank.gov.ua/admin_uploads/article/Macroeconomic_Forecast_table_2026_07.xlsx?v=19" history="1" highlightClick="0" endSnd="0"/>
                        </a:rPr>
                        <a:t>НБУ, макропрогноз липень 2026</a:t>
                      </a:r>
                      <a:endParaRPr lang="en-US" sz="1200" dirty="0"/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C9D6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1EF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chemeClr val="tx1"/>
                          </a:solidFill>
                        </a:rPr>
                        <a:t>Бюджетний імпульс</a:t>
                      </a:r>
                      <a:endParaRPr lang="en-US" sz="1200" dirty="0"/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C9D6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Локалізація оборонного виробництва коштом Ukraine Support Loan</a:t>
                      </a:r>
                      <a:endParaRPr lang="en-US" sz="1200" dirty="0"/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C9D6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u="sng" dirty="0">
                          <a:hlinkClick r:id="rId8" invalidUrl="" action="" tgtFrame="" tooltip="https://bank.gov.ua/ua/news/all/inflyatsiya-prishvidshitsya-u-drugomu-pivrichchi-ale-povernetsya-do-znijennya-nastupnogo-roku--inflyatsiyniy-zvit" history="1" highlightClick="0" endSnd="0"/>
                        </a:rPr>
                        <a:t>НБУ, Інфляційний звіт і макропрогноз, липень 2026</a:t>
                      </a:r>
                      <a:endParaRPr lang="en-US" sz="1200" dirty="0"/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C9D6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chemeClr val="tx1"/>
                          </a:solidFill>
                        </a:rPr>
                        <a:t>Премія за ризик</a:t>
                      </a:r>
                      <a:endParaRPr lang="en-US" sz="1200" dirty="0"/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C9D6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1E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Затримки офіційного фінансування в липні–вересні; резерви знизилися до $47,1 млрд</a:t>
                      </a:r>
                      <a:endParaRPr lang="en-US" sz="1200" dirty="0"/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C9D6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1E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u="sng" dirty="0">
                          <a:hlinkClick r:id="rId9" invalidUrl="" action="" tgtFrame="" tooltip="https://bank.gov.ua/ua/news/all/natsionalniy-bank-ukrayini-pidvischiv-oblikovu-stavku-do-16" history="1" highlightClick="0" endSnd="0"/>
                        </a:rPr>
                        <a:t>Рішення НБУ 17.09.2026</a:t>
                      </a:r>
                      <a:endParaRPr lang="en-US" sz="1200" dirty="0"/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C9D6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1EF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chemeClr val="tx1"/>
                          </a:solidFill>
                        </a:rPr>
                        <a:t>Потенційний ВВП</a:t>
                      </a:r>
                      <a:endParaRPr lang="en-US" sz="1200" dirty="0"/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C9D6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Вищий потенціал: інвестиції в потужності ОПК і, за припущенням НБУ, чисте повернення мігрантів</a:t>
                      </a:r>
                      <a:endParaRPr lang="en-US" sz="1200" dirty="0"/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C9D6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u="sng" dirty="0">
                          <a:hlinkClick r:id="rId10" invalidUrl="" action="" tgtFrame="" tooltip="https://bank.gov.ua/admin_uploads/article/Macroeconomic_Forecast_table_2026_07.xlsx?v=19" history="1" highlightClick="0" endSnd="0"/>
                        </a:rPr>
                        <a:t>НБУ, припущення макропрогнозу, липень 2026</a:t>
                      </a:r>
                      <a:endParaRPr lang="en-US" sz="1200" dirty="0"/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C9D6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chemeClr val="tx1"/>
                          </a:solidFill>
                        </a:rPr>
                        <a:t>Курс гривні до €</a:t>
                      </a:r>
                      <a:endParaRPr lang="en-US" sz="1200" dirty="0"/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C9D6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1E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Допустиме послаблення (цільовий темп): 4% у 2027, 3% у 2028; фактичний курс — з моделі (≈1% на рік)</a:t>
                      </a:r>
                      <a:endParaRPr lang="en-US" sz="1200" dirty="0"/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C9D6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1E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u="sng" dirty="0">
                          <a:hlinkClick r:id="rId11" invalidUrl="" action="" tgtFrame="" tooltip="https://bank.gov.ua/admin_uploads/article/Macroeconomic_Forecast_table_2026_07.xlsx?v=19" history="1" highlightClick="0" endSnd="0"/>
                        </a:rPr>
                        <a:t>Макропрогноз НБУ (EUR/USD)</a:t>
                      </a:r>
                      <a:endParaRPr lang="en-US" sz="1200" dirty="0"/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C9D6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1EF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chemeClr val="tx1"/>
                          </a:solidFill>
                        </a:rPr>
                        <a:t>Нафта Brent</a:t>
                      </a:r>
                      <a:endParaRPr lang="en-US" sz="1200" dirty="0"/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C9D6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Ф'ючерсна крива: $101 (IV кв. 2026) → $83 (кінець 2027) → $76 (кінець 2028)</a:t>
                      </a:r>
                      <a:endParaRPr lang="en-US" sz="1200" dirty="0"/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C9D6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u="sng" dirty="0">
                          <a:hlinkClick r:id="rId12" invalidUrl="" action="" tgtFrame="" tooltip="https://db.nomics.world/EIA/PET/RBRTE.M" history="1" highlightClick="0" endSnd="0"/>
                        </a:rPr>
                        <a:t>EIA Brent</a:t>
                      </a:r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, </a:t>
                      </a:r>
                      <a:pPr algn="l" indent="0" marL="0">
                        <a:buNone/>
                      </a:pPr>
                      <a:r>
                        <a:rPr lang="en-US" sz="1200" u="sng" dirty="0">
                          <a:hlinkClick r:id="rId13" invalidUrl="" action="" tgtFrame="" tooltip="https://finance.yahoo.com/quote/BZ%3DF/" history="1" highlightClick="0" endSnd="0"/>
                        </a:rPr>
                        <a:t>NYMEX</a:t>
                      </a:r>
                      <a:endParaRPr lang="en-US" sz="1200" dirty="0"/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C9D6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chemeClr val="tx1"/>
                          </a:solidFill>
                        </a:rPr>
                        <a:t>Єврозона</a:t>
                      </a:r>
                      <a:endParaRPr lang="en-US" sz="1200" dirty="0"/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C9D6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1E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HICP 3,0 / 2,5 / 2,1%, ВВП 0,9 / 1,4 / 1,5%, ставка ЄЦБ до 3%</a:t>
                      </a:r>
                      <a:endParaRPr lang="en-US" sz="1200" dirty="0"/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C9D6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1E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u="sng" dirty="0">
                          <a:hlinkClick r:id="rId14" invalidUrl="" action="" tgtFrame="" tooltip="https://www.ecb.europa.eu/press/projections/html/index.en.html" history="1" highlightClick="0" endSnd="0"/>
                        </a:rPr>
                        <a:t>ЄЦБ, вер. 2026</a:t>
                      </a:r>
                      <a:endParaRPr lang="en-US" sz="1200" dirty="0"/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C9D6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1EF"/>
                    </a:solidFill>
                  </a:tcPr>
                </a:tc>
              </a:tr>
            </a:tbl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85855" y="6473952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14</a:t>
            </a:fld>
            <a:endParaRPr lang="en-US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11277295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6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Короткостроковий прогноз: інфляція зросте до ≈9,9% у грудні</a:t>
            </a:r>
            <a:endParaRPr lang="en-US" sz="2600" dirty="0"/>
          </a:p>
        </p:txBody>
      </p:sp>
      <p:sp>
        <p:nvSpPr>
          <p:cNvPr id="4" name="sources"/>
          <p:cNvSpPr txBox="1"/>
          <p:nvPr/>
        </p:nvSpPr>
        <p:spPr>
          <a:xfrm>
            <a:off x="4937760" y="6455664"/>
            <a:ext cx="611093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F6B6D"/>
                </a:solidFill>
              </a:rPr>
              <a:t>Джерела: </a:t>
            </a:r>
            <a:pPr indent="0" marL="0">
              <a:buNone/>
            </a:pPr>
            <a:r>
              <a:rPr lang="en-US" sz="900" u="sng" dirty="0">
                <a:solidFill>
                  <a:srgbClr val="5F6B6D"/>
                </a:solidFill>
                <a:hlinkClick r:id="rId1" invalidUrl="" action="" tgtFrame="" tooltip="https://bank.gov.ua/ua/open-data/api-dev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API НБУ</a:t>
            </a:r>
            <a:pPr indent="0" marL="0">
              <a:buNone/>
            </a:pPr>
            <a:r>
              <a:rPr lang="en-US" sz="900" dirty="0">
                <a:solidFill>
                  <a:srgbClr val="5F6B6D"/>
                </a:solidFill>
              </a:rPr>
              <a:t> · </a:t>
            </a:r>
            <a:pPr indent="0" marL="0">
              <a:buNone/>
            </a:pPr>
            <a:r>
              <a:rPr lang="en-US" sz="900" u="sng" dirty="0">
                <a:solidFill>
                  <a:srgbClr val="5F6B6D"/>
                </a:solidFill>
                <a:hlinkClick r:id="rId2" invalidUrl="" action="" tgtFrame="" tooltip="https://bank.gov.ua/ua/news/all/komentar-natsionalnogo-banku-schodo-rivnya-inflyatsiyi-v-serpni-2026-roku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коментар НБУ: інфляція в серпні</a:t>
            </a:r>
            <a:endParaRPr lang="en-US" sz="900" dirty="0"/>
          </a:p>
        </p:txBody>
      </p:sp>
      <p:pic>
        <p:nvPicPr>
          <p:cNvPr id="5" name="chart" descr="C:\Users\Lenovo\Documents\GitHub\nbu-challenge-2026\results\figures\fc_nowcast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1325880"/>
            <a:ext cx="6309360" cy="3406958"/>
          </a:xfrm>
          <a:prstGeom prst="rect">
            <a:avLst/>
          </a:prstGeom>
        </p:spPr>
      </p:pic>
      <p:graphicFrame>
        <p:nvGraphicFramePr>
          <p:cNvPr id="16" name="table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086600" y="1325880"/>
          <a:ext cx="4647895" cy="914400"/>
        </p:xfrm>
        <a:graphic>
          <a:graphicData uri="http://schemas.openxmlformats.org/drawingml/2006/table">
            <a:tbl>
              <a:tblPr/>
              <a:tblGrid>
                <a:gridCol w="1024128"/>
                <a:gridCol w="685800"/>
                <a:gridCol w="731520"/>
                <a:gridCol w="960120"/>
                <a:gridCol w="640080"/>
                <a:gridCol w="603504"/>
              </a:tblGrid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chemeClr val="bg1"/>
                          </a:solidFill>
                        </a:rPr>
                        <a:t>Місяць</a:t>
                      </a:r>
                      <a:endParaRPr lang="en-US" sz="1200" dirty="0"/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C9D6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3B4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chemeClr val="bg1"/>
                          </a:solidFill>
                        </a:rPr>
                        <a:t>Тренд</a:t>
                      </a:r>
                      <a:endParaRPr lang="en-US" sz="1200" dirty="0"/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C9D6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3B4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chemeClr val="bg1"/>
                          </a:solidFill>
                        </a:rPr>
                        <a:t>Сезон</a:t>
                      </a:r>
                      <a:endParaRPr lang="en-US" sz="1200" dirty="0"/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C9D6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3B4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chemeClr val="bg1"/>
                          </a:solidFill>
                        </a:rPr>
                        <a:t>Поправка</a:t>
                      </a:r>
                      <a:endParaRPr lang="en-US" sz="1200" dirty="0"/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C9D6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3B4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chemeClr val="bg1"/>
                          </a:solidFill>
                        </a:rPr>
                        <a:t>м/м</a:t>
                      </a:r>
                      <a:endParaRPr lang="en-US" sz="1200" dirty="0"/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C9D6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3B4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chemeClr val="bg1"/>
                          </a:solidFill>
                        </a:rPr>
                        <a:t>р/р</a:t>
                      </a:r>
                      <a:endParaRPr lang="en-US" sz="1200" dirty="0"/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C9D6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3B43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chemeClr val="tx1"/>
                          </a:solidFill>
                        </a:rPr>
                        <a:t>2026-09</a:t>
                      </a:r>
                      <a:endParaRPr lang="en-US" sz="1200" dirty="0"/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C9D6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0,65</a:t>
                      </a:r>
                      <a:endParaRPr lang="en-US" sz="1200" dirty="0"/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C9D6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−0,01</a:t>
                      </a:r>
                      <a:endParaRPr lang="en-US" sz="1200" dirty="0"/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C9D6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−0,1</a:t>
                      </a:r>
                      <a:endParaRPr lang="en-US" sz="1200" dirty="0"/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C9D6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0,55</a:t>
                      </a:r>
                      <a:endParaRPr lang="en-US" sz="1200" dirty="0"/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C9D6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8,3</a:t>
                      </a:r>
                      <a:endParaRPr lang="en-US" sz="1200" dirty="0"/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C9D6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chemeClr val="tx1"/>
                          </a:solidFill>
                        </a:rPr>
                        <a:t>2026-10</a:t>
                      </a:r>
                      <a:endParaRPr lang="en-US" sz="1200" dirty="0"/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C9D6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1E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0,65</a:t>
                      </a:r>
                      <a:endParaRPr lang="en-US" sz="1200" dirty="0"/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C9D6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1E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0,31</a:t>
                      </a:r>
                      <a:endParaRPr lang="en-US" sz="1200" dirty="0"/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C9D6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1E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−0,1</a:t>
                      </a:r>
                      <a:endParaRPr lang="en-US" sz="1200" dirty="0"/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C9D6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1E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0,86</a:t>
                      </a:r>
                      <a:endParaRPr lang="en-US" sz="1200" dirty="0"/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C9D6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1E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8,3</a:t>
                      </a:r>
                      <a:endParaRPr lang="en-US" sz="1200" dirty="0"/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C9D6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1EF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chemeClr val="tx1"/>
                          </a:solidFill>
                        </a:rPr>
                        <a:t>2026-11</a:t>
                      </a:r>
                      <a:endParaRPr lang="en-US" sz="1200" dirty="0"/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C9D6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0,65</a:t>
                      </a:r>
                      <a:endParaRPr lang="en-US" sz="1200" dirty="0"/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C9D6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0,31</a:t>
                      </a:r>
                      <a:endParaRPr lang="en-US" sz="1200" dirty="0"/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C9D6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−0,1</a:t>
                      </a:r>
                      <a:endParaRPr lang="en-US" sz="1200" dirty="0"/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C9D6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0,86</a:t>
                      </a:r>
                      <a:endParaRPr lang="en-US" sz="1200" dirty="0"/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C9D6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8,8</a:t>
                      </a:r>
                      <a:endParaRPr lang="en-US" sz="1200" dirty="0"/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C9D6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chemeClr val="tx1"/>
                          </a:solidFill>
                        </a:rPr>
                        <a:t>2026-12</a:t>
                      </a:r>
                      <a:endParaRPr lang="en-US" sz="1200" dirty="0"/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C9D6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1E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0,65</a:t>
                      </a:r>
                      <a:endParaRPr lang="en-US" sz="1200" dirty="0"/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C9D6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1E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0,65</a:t>
                      </a:r>
                      <a:endParaRPr lang="en-US" sz="1200" dirty="0"/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C9D6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1E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−0,1</a:t>
                      </a:r>
                      <a:endParaRPr lang="en-US" sz="1200" dirty="0"/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C9D6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1E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1,20</a:t>
                      </a:r>
                      <a:endParaRPr lang="en-US" sz="1200" dirty="0"/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C9D6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1E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9,9</a:t>
                      </a:r>
                      <a:endParaRPr lang="en-US" sz="1200" dirty="0"/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C9D6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1EF"/>
                    </a:solidFill>
                  </a:tcPr>
                </a:tc>
              </a:tr>
            </a:tbl>
          </a:graphicData>
        </a:graphic>
      </p:graphicFrame>
      <p:sp>
        <p:nvSpPr>
          <p:cNvPr id="7" name="bullets"/>
          <p:cNvSpPr txBox="1"/>
          <p:nvPr/>
        </p:nvSpPr>
        <p:spPr>
          <a:xfrm>
            <a:off x="7086600" y="3383280"/>
            <a:ext cx="4647895" cy="2926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chemeClr val="tx1"/>
                </a:solidFill>
              </a:rPr>
              <a:t>Ефект бази: у вересні–грудні 2025 ціни зросли лише на 1,8% → річна інфляція механічно зростає</a:t>
            </a:r>
            <a:endParaRPr lang="en-US" sz="130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chemeClr val="tx1"/>
                </a:solidFill>
              </a:rPr>
              <a:t>Тренд 0,65% на місяць (з урахуванням сезонності) — це ≈8% у річному вимірі</a:t>
            </a:r>
            <a:endParaRPr lang="en-US" sz="130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chemeClr val="tx1"/>
                </a:solidFill>
              </a:rPr>
              <a:t>Наш прогноз грудня близький до НБУ (10%): тиск пального компенсує дешевше продовольство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85855" y="6473952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15</a:t>
            </a:fld>
            <a:endParaRPr lang="en-US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11277295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6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Інфляція досягне піку на початку 2027 і повернеться до цілі 5% у 2029 — у межах горизонту політики</a:t>
            </a:r>
            <a:endParaRPr lang="en-US" sz="2600" dirty="0"/>
          </a:p>
        </p:txBody>
      </p:sp>
      <p:sp>
        <p:nvSpPr>
          <p:cNvPr id="4" name="sources"/>
          <p:cNvSpPr txBox="1"/>
          <p:nvPr/>
        </p:nvSpPr>
        <p:spPr>
          <a:xfrm>
            <a:off x="4937760" y="6455664"/>
            <a:ext cx="611093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F6B6D"/>
                </a:solidFill>
              </a:rPr>
              <a:t>Джерела: </a:t>
            </a:r>
            <a:pPr indent="0" marL="0">
              <a:buNone/>
            </a:pPr>
            <a:r>
              <a:rPr lang="en-US" sz="900" u="sng" dirty="0">
                <a:solidFill>
                  <a:srgbClr val="5F6B6D"/>
                </a:solidFill>
                <a:hlinkClick r:id="rId1" invalidUrl="" action="" tgtFrame="" tooltip="https://p4.bank.gov.ua/admin_uploads/article/MPG_2024-mt_eng.pdf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Основні засади ГКП (2024)</a:t>
            </a:r>
            <a:pPr indent="0" marL="0">
              <a:buNone/>
            </a:pPr>
            <a:r>
              <a:rPr lang="en-US" sz="900" dirty="0">
                <a:solidFill>
                  <a:srgbClr val="5F6B6D"/>
                </a:solidFill>
              </a:rPr>
              <a:t> · </a:t>
            </a:r>
            <a:pPr indent="0" marL="0">
              <a:buNone/>
            </a:pPr>
            <a:r>
              <a:rPr lang="en-US" sz="900" u="sng" dirty="0">
                <a:solidFill>
                  <a:srgbClr val="5F6B6D"/>
                </a:solidFill>
                <a:hlinkClick r:id="rId2" invalidUrl="" action="" tgtFrame="" tooltip="https://bank.gov.ua/admin_uploads/article/Macroeconomic_Forecast_table_2026_07.xlsx?v=19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макропрогноз НБУ</a:t>
            </a:r>
            <a:endParaRPr lang="en-US" sz="900" dirty="0"/>
          </a:p>
        </p:txBody>
      </p:sp>
      <p:pic>
        <p:nvPicPr>
          <p:cNvPr id="5" name="chart" descr="C:\Users\Lenovo\Documents\GitHub\nbu-challenge-2026\results\figures\fc_fan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23245" y="1325880"/>
            <a:ext cx="9945206" cy="3703320"/>
          </a:xfrm>
          <a:prstGeom prst="rect">
            <a:avLst/>
          </a:prstGeom>
        </p:spPr>
      </p:pic>
      <p:sp>
        <p:nvSpPr>
          <p:cNvPr id="6" name="num1"/>
          <p:cNvSpPr/>
          <p:nvPr/>
        </p:nvSpPr>
        <p:spPr>
          <a:xfrm>
            <a:off x="457200" y="5276088"/>
            <a:ext cx="310896" cy="310896"/>
          </a:xfrm>
          <a:prstGeom prst="ellipse">
            <a:avLst/>
          </a:prstGeom>
          <a:solidFill>
            <a:srgbClr val="C98A00"/>
          </a:solidFill>
          <a:ln/>
        </p:spPr>
      </p:sp>
      <p:sp>
        <p:nvSpPr>
          <p:cNvPr id="7" name="Text 3"/>
          <p:cNvSpPr txBox="1"/>
          <p:nvPr/>
        </p:nvSpPr>
        <p:spPr>
          <a:xfrm>
            <a:off x="457200" y="5276088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bg1"/>
                </a:solidFill>
              </a:rPr>
              <a:t>1</a:t>
            </a:r>
            <a:endParaRPr lang="en-US" sz="1200" dirty="0"/>
          </a:p>
        </p:txBody>
      </p:sp>
      <p:sp>
        <p:nvSpPr>
          <p:cNvPr id="8" name="point1"/>
          <p:cNvSpPr txBox="1"/>
          <p:nvPr/>
        </p:nvSpPr>
        <p:spPr>
          <a:xfrm>
            <a:off x="868680" y="5257800"/>
            <a:ext cx="3164738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Пік ≈9,3% у I кв. 2027; 6,5% наприкінці 2027 (НБУ: 6,9%); у 2028 — тимчасово ≈4,2% (дешевша нафта); 5% — з II кв. 2029</a:t>
            </a:r>
            <a:endParaRPr lang="en-US" sz="1300" dirty="0"/>
          </a:p>
        </p:txBody>
      </p:sp>
      <p:sp>
        <p:nvSpPr>
          <p:cNvPr id="9" name="num2"/>
          <p:cNvSpPr/>
          <p:nvPr/>
        </p:nvSpPr>
        <p:spPr>
          <a:xfrm>
            <a:off x="4307738" y="5276088"/>
            <a:ext cx="310896" cy="310896"/>
          </a:xfrm>
          <a:prstGeom prst="ellipse">
            <a:avLst/>
          </a:prstGeom>
          <a:solidFill>
            <a:srgbClr val="C98A00"/>
          </a:solidFill>
          <a:ln/>
        </p:spPr>
      </p:sp>
      <p:sp>
        <p:nvSpPr>
          <p:cNvPr id="10" name="Text 6"/>
          <p:cNvSpPr txBox="1"/>
          <p:nvPr/>
        </p:nvSpPr>
        <p:spPr>
          <a:xfrm>
            <a:off x="4307738" y="5276088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bg1"/>
                </a:solidFill>
              </a:rPr>
              <a:t>2</a:t>
            </a:r>
            <a:endParaRPr lang="en-US" sz="1200" dirty="0"/>
          </a:p>
        </p:txBody>
      </p:sp>
      <p:sp>
        <p:nvSpPr>
          <p:cNvPr id="11" name="point2"/>
          <p:cNvSpPr txBox="1"/>
          <p:nvPr/>
        </p:nvSpPr>
        <p:spPr>
          <a:xfrm>
            <a:off x="4719218" y="5257800"/>
            <a:ext cx="3164738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Ставка: 16,5% до середини 2027 → 15,1% наприкінці 2027 → 10,4% — 2028 → 9,0% — 2029</a:t>
            </a:r>
            <a:endParaRPr lang="en-US" sz="1300" dirty="0"/>
          </a:p>
        </p:txBody>
      </p:sp>
      <p:sp>
        <p:nvSpPr>
          <p:cNvPr id="12" name="num3"/>
          <p:cNvSpPr/>
          <p:nvPr/>
        </p:nvSpPr>
        <p:spPr>
          <a:xfrm>
            <a:off x="8158277" y="5276088"/>
            <a:ext cx="310896" cy="310896"/>
          </a:xfrm>
          <a:prstGeom prst="ellipse">
            <a:avLst/>
          </a:prstGeom>
          <a:solidFill>
            <a:srgbClr val="C98A00"/>
          </a:solidFill>
          <a:ln/>
        </p:spPr>
      </p:sp>
      <p:sp>
        <p:nvSpPr>
          <p:cNvPr id="13" name="Text 9"/>
          <p:cNvSpPr txBox="1"/>
          <p:nvPr/>
        </p:nvSpPr>
        <p:spPr>
          <a:xfrm>
            <a:off x="8158277" y="5276088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bg1"/>
                </a:solidFill>
              </a:rPr>
              <a:t>3</a:t>
            </a:r>
            <a:endParaRPr lang="en-US" sz="1200" dirty="0"/>
          </a:p>
        </p:txBody>
      </p:sp>
      <p:sp>
        <p:nvSpPr>
          <p:cNvPr id="14" name="point3"/>
          <p:cNvSpPr txBox="1"/>
          <p:nvPr/>
        </p:nvSpPr>
        <p:spPr>
          <a:xfrm>
            <a:off x="8569757" y="5257800"/>
            <a:ext cx="3164738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Невизначеність велика: з імовірністю 70% інфляція наприкінці 2027 — від 3,2 до 9,9%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85855" y="6473952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16</a:t>
            </a:fld>
            <a:endParaRPr lang="en-US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11277295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6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Базова інфляція в 2027 стійкіша, ніж у НБУ: 5,7% наприкінці року проти 5,1%</a:t>
            </a:r>
            <a:endParaRPr lang="en-US" sz="2600" dirty="0"/>
          </a:p>
        </p:txBody>
      </p:sp>
      <p:sp>
        <p:nvSpPr>
          <p:cNvPr id="4" name="sources"/>
          <p:cNvSpPr txBox="1"/>
          <p:nvPr/>
        </p:nvSpPr>
        <p:spPr>
          <a:xfrm>
            <a:off x="4937760" y="6455664"/>
            <a:ext cx="611093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F6B6D"/>
                </a:solidFill>
              </a:rPr>
              <a:t>Джерела: </a:t>
            </a:r>
            <a:pPr indent="0" marL="0">
              <a:buNone/>
            </a:pPr>
            <a:r>
              <a:rPr lang="en-US" sz="900" u="sng" dirty="0">
                <a:solidFill>
                  <a:srgbClr val="5F6B6D"/>
                </a:solidFill>
                <a:hlinkClick r:id="rId1" invalidUrl="" action="" tgtFrame="" tooltip="https://bank.gov.ua/files/macro/CCPI_m.xlsx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базовий ІСЦ (НБУ)</a:t>
            </a:r>
            <a:pPr indent="0" marL="0">
              <a:buNone/>
            </a:pPr>
            <a:r>
              <a:rPr lang="en-US" sz="900" dirty="0">
                <a:solidFill>
                  <a:srgbClr val="5F6B6D"/>
                </a:solidFill>
              </a:rPr>
              <a:t> · </a:t>
            </a:r>
            <a:pPr indent="0" marL="0">
              <a:buNone/>
            </a:pPr>
            <a:r>
              <a:rPr lang="en-US" sz="900" u="sng" dirty="0">
                <a:solidFill>
                  <a:srgbClr val="5F6B6D"/>
                </a:solidFill>
                <a:hlinkClick r:id="rId2" invalidUrl="" action="" tgtFrame="" tooltip="https://bank.gov.ua/admin_uploads/article/Macroeconomic_Forecast_table_2026_07.xlsx?v=19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макропрогноз НБУ</a:t>
            </a:r>
            <a:endParaRPr lang="en-US" sz="900" dirty="0"/>
          </a:p>
        </p:txBody>
      </p:sp>
      <p:pic>
        <p:nvPicPr>
          <p:cNvPr id="5" name="chart" descr="C:\Users\Lenovo\Documents\GitHub\nbu-challenge-2026\results\figures\fc_core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1325880"/>
            <a:ext cx="7040880" cy="3881792"/>
          </a:xfrm>
          <a:prstGeom prst="rect">
            <a:avLst/>
          </a:prstGeom>
        </p:spPr>
      </p:pic>
      <p:sp>
        <p:nvSpPr>
          <p:cNvPr id="6" name="bullets"/>
          <p:cNvSpPr txBox="1"/>
          <p:nvPr/>
        </p:nvSpPr>
        <p:spPr>
          <a:xfrm>
            <a:off x="7818120" y="1417320"/>
            <a:ext cx="3916375" cy="4892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Зарплати +25%, дорожчі послуги, наслідки атак — базова інфляція знижується повільніше, ніж очікує НБУ</a:t>
            </a:r>
            <a:endParaRPr lang="en-US" sz="140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Загальна: 6,5% наприкінці 2027 (НБУ 6,9%) — тарифи й акцизи додають ≈1,7 в. п. на рік, дешевша нафта (ф'ючерси) — віднімає</a:t>
            </a:r>
            <a:endParaRPr lang="en-US" sz="140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2028: базова 3,1% (НБУ 3,3%) — слабкий попит → простір для зниження ставки з II пів. 2027</a:t>
            </a:r>
            <a:endParaRPr lang="en-US" sz="140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Висновок: превентивне підвищення зараз, швидше пом'якшення пізніше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85855" y="6473952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17</a:t>
            </a:fld>
            <a:endParaRPr lang="en-US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11277295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6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Ми бачимо слабший попит, ніж НБУ: розрив ВВП у 2027 ≈0,2% проти 1,4%</a:t>
            </a:r>
            <a:endParaRPr lang="en-US" sz="2600" dirty="0"/>
          </a:p>
        </p:txBody>
      </p:sp>
      <p:sp>
        <p:nvSpPr>
          <p:cNvPr id="4" name="sources"/>
          <p:cNvSpPr txBox="1"/>
          <p:nvPr/>
        </p:nvSpPr>
        <p:spPr>
          <a:xfrm>
            <a:off x="4937760" y="6455664"/>
            <a:ext cx="611093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F6B6D"/>
                </a:solidFill>
              </a:rPr>
              <a:t>Джерела: </a:t>
            </a:r>
            <a:pPr indent="0" marL="0">
              <a:buNone/>
            </a:pPr>
            <a:r>
              <a:rPr lang="en-US" sz="900" u="sng" dirty="0">
                <a:solidFill>
                  <a:srgbClr val="5F6B6D"/>
                </a:solidFill>
                <a:hlinkClick r:id="rId1" invalidUrl="" action="" tgtFrame="" tooltip="https://bank.gov.ua/admin_uploads/article/Tables_Charts_2026-Q3.xlsx?v=19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дані графіків ІЗ</a:t>
            </a:r>
            <a:pPr indent="0" marL="0">
              <a:buNone/>
            </a:pPr>
            <a:r>
              <a:rPr lang="en-US" sz="900" dirty="0">
                <a:solidFill>
                  <a:srgbClr val="5F6B6D"/>
                </a:solidFill>
              </a:rPr>
              <a:t> · </a:t>
            </a:r>
            <a:pPr indent="0" marL="0">
              <a:buNone/>
            </a:pPr>
            <a:r>
              <a:rPr lang="en-US" sz="900" u="sng" dirty="0">
                <a:solidFill>
                  <a:srgbClr val="5F6B6D"/>
                </a:solidFill>
                <a:hlinkClick r:id="rId2" invalidUrl="" action="" tgtFrame="" tooltip="https://bank.gov.ua/admin_uploads/article/Macroeconomic_Forecast_table_2026_07.xlsx?v=19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макропрогноз НБУ</a:t>
            </a:r>
            <a:pPr indent="0" marL="0">
              <a:buNone/>
            </a:pPr>
            <a:r>
              <a:rPr lang="en-US" sz="900" dirty="0">
                <a:solidFill>
                  <a:srgbClr val="5F6B6D"/>
                </a:solidFill>
              </a:rPr>
              <a:t> · </a:t>
            </a:r>
            <a:pPr indent="0" marL="0">
              <a:buNone/>
            </a:pPr>
            <a:r>
              <a:rPr lang="en-US" sz="900" u="sng" dirty="0">
                <a:solidFill>
                  <a:srgbClr val="5F6B6D"/>
                </a:solidFill>
                <a:hlinkClick r:id="rId3" invalidUrl="" action="" tgtFrame="" tooltip="https://bank.gov.ua/ua/news/all/komentar-natsionalnogo-banku-schodo-zmini-realnogo-vvp-u-ii-kvartali-2026-roku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коментар НБУ: ВВП II кв.</a:t>
            </a:r>
            <a:endParaRPr lang="en-US" sz="900" dirty="0"/>
          </a:p>
        </p:txBody>
      </p:sp>
      <p:pic>
        <p:nvPicPr>
          <p:cNvPr id="5" name="chart main" descr="C:\Users\Lenovo\Documents\GitHub\nbu-challenge-2026\results\figures\fc_gap_vs_nbu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200" y="1325880"/>
            <a:ext cx="4971531" cy="2740914"/>
          </a:xfrm>
          <a:prstGeom prst="rect">
            <a:avLst/>
          </a:prstGeom>
        </p:spPr>
      </p:pic>
      <p:pic>
        <p:nvPicPr>
          <p:cNvPr id="6" name="chart side" descr="C:\Users\Lenovo\Documents\GitHub\nbu-challenge-2026\results\figures\fc_trends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7200" y="4203954"/>
            <a:ext cx="6241248" cy="2105406"/>
          </a:xfrm>
          <a:prstGeom prst="rect">
            <a:avLst/>
          </a:prstGeom>
        </p:spPr>
      </p:pic>
      <p:sp>
        <p:nvSpPr>
          <p:cNvPr id="7" name="bullets"/>
          <p:cNvSpPr txBox="1"/>
          <p:nvPr/>
        </p:nvSpPr>
        <p:spPr>
          <a:xfrm>
            <a:off x="7818120" y="1417320"/>
            <a:ext cx="3916375" cy="4892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ВВП: 0,0% / 0,6% / 1,0% у 2026–2028 (НБУ: 1,8 / 2,8 / 3,0%)</a:t>
            </a:r>
            <a:endParaRPr lang="en-US" sz="140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Причини: слабкий III кв., атаки на логістику, блокада портів, дефіцит кадрів</a:t>
            </a:r>
            <a:endParaRPr lang="en-US" sz="140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Реальна ставка (≈7–8%) вища за нейтральну (≈6%) — політика вже стримувальна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85855" y="6473952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18</a:t>
            </a:fld>
            <a:endParaRPr lang="en-US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11277295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6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Сценарії: найнебезпечніший — дефіцит фінансування, а не зима чи нафта</a:t>
            </a:r>
            <a:endParaRPr lang="en-US" sz="2600" dirty="0"/>
          </a:p>
        </p:txBody>
      </p:sp>
      <p:sp>
        <p:nvSpPr>
          <p:cNvPr id="4" name="sources"/>
          <p:cNvSpPr txBox="1"/>
          <p:nvPr/>
        </p:nvSpPr>
        <p:spPr>
          <a:xfrm>
            <a:off x="4937760" y="6455664"/>
            <a:ext cx="611093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F6B6D"/>
                </a:solidFill>
              </a:rPr>
              <a:t>Джерела: </a:t>
            </a:r>
            <a:pPr indent="0" marL="0">
              <a:buNone/>
            </a:pPr>
            <a:r>
              <a:rPr lang="en-US" sz="900" u="sng" dirty="0">
                <a:solidFill>
                  <a:srgbClr val="5F6B6D"/>
                </a:solidFill>
                <a:hlinkClick r:id="rId1" invalidUrl="" action="" tgtFrame="" tooltip="https://bank.gov.ua/ua/news/all/pidsumki-diskusiyi-chleniv-komitetu-z-monetarnoyi-politiki-natsionalnogo-banku-schodo-rivnya-oblikovoyi-stavki-16-veresnya-2026-roku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підсумки дискусії КМП</a:t>
            </a:r>
            <a:pPr indent="0" marL="0">
              <a:buNone/>
            </a:pPr>
            <a:r>
              <a:rPr lang="en-US" sz="900" dirty="0">
                <a:solidFill>
                  <a:srgbClr val="5F6B6D"/>
                </a:solidFill>
              </a:rPr>
              <a:t> · </a:t>
            </a:r>
            <a:pPr indent="0" marL="0">
              <a:buNone/>
            </a:pPr>
            <a:r>
              <a:rPr lang="en-US" sz="900" u="sng" dirty="0">
                <a:solidFill>
                  <a:srgbClr val="5F6B6D"/>
                </a:solidFill>
                <a:hlinkClick r:id="rId2" invalidUrl="" action="" tgtFrame="" tooltip="https://finance.yahoo.com/quote/BZ%3DF/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ф'ючерси Brent</a:t>
            </a:r>
            <a:pPr indent="0" marL="0">
              <a:buNone/>
            </a:pPr>
            <a:r>
              <a:rPr lang="en-US" sz="900" dirty="0">
                <a:solidFill>
                  <a:srgbClr val="5F6B6D"/>
                </a:solidFill>
              </a:rPr>
              <a:t> · </a:t>
            </a:r>
            <a:pPr indent="0" marL="0">
              <a:buNone/>
            </a:pPr>
            <a:r>
              <a:rPr lang="en-US" sz="900" u="sng" dirty="0">
                <a:solidFill>
                  <a:srgbClr val="5F6B6D"/>
                </a:solidFill>
                <a:hlinkClick r:id="rId3" invalidUrl="" action="" tgtFrame="" tooltip="https://bank.gov.ua/admin_uploads/article/Macroeconomic_Forecast_table_2026_07.xlsx?v=19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макропрогноз НБУ</a:t>
            </a:r>
            <a:endParaRPr lang="en-US" sz="900" dirty="0"/>
          </a:p>
        </p:txBody>
      </p:sp>
      <p:pic>
        <p:nvPicPr>
          <p:cNvPr id="5" name="chart" descr="C:\Users\Lenovo\Documents\GitHub\nbu-challenge-2026\results\figures\ml_scenarios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736038" y="1280160"/>
            <a:ext cx="8719619" cy="2606040"/>
          </a:xfrm>
          <a:prstGeom prst="rect">
            <a:avLst/>
          </a:prstGeom>
        </p:spPr>
      </p:pic>
      <p:graphicFrame>
        <p:nvGraphicFramePr>
          <p:cNvPr id="20" name="table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4069080"/>
          <a:ext cx="7040880" cy="914400"/>
        </p:xfrm>
        <a:graphic>
          <a:graphicData uri="http://schemas.openxmlformats.org/drawingml/2006/table">
            <a:tbl>
              <a:tblPr/>
              <a:tblGrid>
                <a:gridCol w="2651760"/>
                <a:gridCol w="877824"/>
                <a:gridCol w="877824"/>
                <a:gridCol w="877824"/>
                <a:gridCol w="877824"/>
                <a:gridCol w="877824"/>
              </a:tblGrid>
              <a:tr h="31089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chemeClr val="bg1"/>
                          </a:solidFill>
                        </a:rPr>
                        <a:t>Сценарій</a:t>
                      </a:r>
                      <a:endParaRPr lang="en-US" sz="1200" dirty="0"/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C9D6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3B4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chemeClr val="bg1"/>
                          </a:solidFill>
                        </a:rPr>
                        <a:t>ІСЦ пік</a:t>
                      </a:r>
                      <a:endParaRPr lang="en-US" sz="1200" dirty="0"/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C9D6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3B4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chemeClr val="bg1"/>
                          </a:solidFill>
                        </a:rPr>
                        <a:t>ІСЦ IV кв. 27</a:t>
                      </a:r>
                      <a:endParaRPr lang="en-US" sz="1200" dirty="0"/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C9D6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3B4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chemeClr val="bg1"/>
                          </a:solidFill>
                        </a:rPr>
                        <a:t>Ставка пік</a:t>
                      </a:r>
                      <a:endParaRPr lang="en-US" sz="1200" dirty="0"/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C9D6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3B4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chemeClr val="bg1"/>
                          </a:solidFill>
                        </a:rPr>
                        <a:t>грн/€ IV кв. 27</a:t>
                      </a:r>
                      <a:endParaRPr lang="en-US" sz="1200" dirty="0"/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C9D6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3B4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chemeClr val="bg1"/>
                          </a:solidFill>
                        </a:rPr>
                        <a:t>ВВП 2027</a:t>
                      </a:r>
                      <a:endParaRPr lang="en-US" sz="1200" dirty="0"/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C9D6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3B43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chemeClr val="tx1"/>
                          </a:solidFill>
                        </a:rPr>
                        <a:t>Базовий</a:t>
                      </a:r>
                      <a:endParaRPr lang="en-US" sz="1200" dirty="0"/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C9D6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9,3</a:t>
                      </a:r>
                      <a:endParaRPr lang="en-US" sz="1200" dirty="0"/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C9D6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6,5</a:t>
                      </a:r>
                      <a:endParaRPr lang="en-US" sz="1200" dirty="0"/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C9D6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16,5</a:t>
                      </a:r>
                      <a:endParaRPr lang="en-US" sz="1200" dirty="0"/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C9D6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51,9</a:t>
                      </a:r>
                      <a:endParaRPr lang="en-US" sz="1200" dirty="0"/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C9D6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0,6</a:t>
                      </a:r>
                      <a:endParaRPr lang="en-US" sz="1200" dirty="0"/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C9D6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chemeClr val="tx1"/>
                          </a:solidFill>
                        </a:rPr>
                        <a:t>Важка зима</a:t>
                      </a:r>
                      <a:endParaRPr lang="en-US" sz="1200" dirty="0"/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C9D6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1E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10,6</a:t>
                      </a:r>
                      <a:endParaRPr lang="en-US" sz="1200" dirty="0"/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C9D6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1E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8,2</a:t>
                      </a:r>
                      <a:endParaRPr lang="en-US" sz="1200" dirty="0"/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C9D6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1E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17,3</a:t>
                      </a:r>
                      <a:endParaRPr lang="en-US" sz="1200" dirty="0"/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C9D6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1E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52,1</a:t>
                      </a:r>
                      <a:endParaRPr lang="en-US" sz="1200" dirty="0"/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C9D6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1E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−0,3</a:t>
                      </a:r>
                      <a:endParaRPr lang="en-US" sz="1200" dirty="0"/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C9D6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1EF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chemeClr val="tx1"/>
                          </a:solidFill>
                        </a:rPr>
                        <a:t>Дефіцит фінансування</a:t>
                      </a:r>
                      <a:endParaRPr lang="en-US" sz="1200" dirty="0"/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C9D6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11,2</a:t>
                      </a:r>
                      <a:endParaRPr lang="en-US" sz="1200" dirty="0"/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C9D6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10,0</a:t>
                      </a:r>
                      <a:endParaRPr lang="en-US" sz="1200" dirty="0"/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C9D6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19,0</a:t>
                      </a:r>
                      <a:endParaRPr lang="en-US" sz="1200" dirty="0"/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C9D6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55,2</a:t>
                      </a:r>
                      <a:endParaRPr lang="en-US" sz="1200" dirty="0"/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C9D6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0,3</a:t>
                      </a:r>
                      <a:endParaRPr lang="en-US" sz="1200" dirty="0"/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C9D6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chemeClr val="tx1"/>
                          </a:solidFill>
                        </a:rPr>
                        <a:t>Сприятливий</a:t>
                      </a:r>
                      <a:endParaRPr lang="en-US" sz="1200" dirty="0"/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C9D6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1E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8,4</a:t>
                      </a:r>
                      <a:endParaRPr lang="en-US" sz="1200" dirty="0"/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C9D6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1E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5,4</a:t>
                      </a:r>
                      <a:endParaRPr lang="en-US" sz="1200" dirty="0"/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C9D6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1E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16,5</a:t>
                      </a:r>
                      <a:endParaRPr lang="en-US" sz="1200" dirty="0"/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C9D6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1E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51,4</a:t>
                      </a:r>
                      <a:endParaRPr lang="en-US" sz="1200" dirty="0"/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C9D6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1E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1,5</a:t>
                      </a:r>
                      <a:endParaRPr lang="en-US" sz="1200" dirty="0"/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C9D6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1EF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chemeClr val="tx1"/>
                          </a:solidFill>
                        </a:rPr>
                        <a:t>Нафта $120</a:t>
                      </a:r>
                      <a:endParaRPr lang="en-US" sz="1200" dirty="0"/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C9D6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9,8</a:t>
                      </a:r>
                      <a:endParaRPr lang="en-US" sz="1200" dirty="0"/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C9D6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6,6</a:t>
                      </a:r>
                      <a:endParaRPr lang="en-US" sz="1200" dirty="0"/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C9D6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16,6</a:t>
                      </a:r>
                      <a:endParaRPr lang="en-US" sz="1200" dirty="0"/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C9D6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51,9</a:t>
                      </a:r>
                      <a:endParaRPr lang="en-US" sz="1200" dirty="0"/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C9D6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0,6</a:t>
                      </a:r>
                      <a:endParaRPr lang="en-US" sz="1200" dirty="0"/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C9D6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bullets"/>
          <p:cNvSpPr txBox="1"/>
          <p:nvPr/>
        </p:nvSpPr>
        <p:spPr>
          <a:xfrm>
            <a:off x="7818120" y="4114800"/>
            <a:ext cx="3916375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chemeClr val="tx1"/>
                </a:solidFill>
              </a:rPr>
              <a:t>Дефіцит фінансування: гривня на ≈6% слабша (≈55 грн/€) → інфляція до 11%, ставка до ≈19%</a:t>
            </a:r>
            <a:endParaRPr lang="en-US" sz="130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chemeClr val="tx1"/>
                </a:solidFill>
              </a:rPr>
              <a:t>Важка зима: інфляція до 10,6%, ставка ≈17,5%, ВВП 2027 — −0,3%</a:t>
            </a:r>
            <a:endParaRPr lang="en-US" sz="130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chemeClr val="tx1"/>
                </a:solidFill>
              </a:rPr>
              <a:t>Нафта $120: +0,5 в. п. до піку інфляції, ставка майже не змінюється</a:t>
            </a:r>
            <a:endParaRPr lang="en-US" sz="130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chemeClr val="tx1"/>
                </a:solidFill>
              </a:rPr>
              <a:t>Сприятливий: нижча премія за ризик → швидше пом'якшення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85855" y="6473952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19</a:t>
            </a:fld>
            <a:endParaRPr lang="en-US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11277295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6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Матриця ризиків: баланс зміщений у бік вищої інфляції</a:t>
            </a:r>
            <a:endParaRPr lang="en-US" sz="2600" dirty="0"/>
          </a:p>
        </p:txBody>
      </p:sp>
      <p:sp>
        <p:nvSpPr>
          <p:cNvPr id="4" name="sources"/>
          <p:cNvSpPr txBox="1"/>
          <p:nvPr/>
        </p:nvSpPr>
        <p:spPr>
          <a:xfrm>
            <a:off x="4937760" y="6455664"/>
            <a:ext cx="611093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F6B6D"/>
                </a:solidFill>
              </a:rPr>
              <a:t>Джерела: </a:t>
            </a:r>
            <a:pPr indent="0" marL="0">
              <a:buNone/>
            </a:pPr>
            <a:r>
              <a:rPr lang="en-US" sz="900" u="sng" dirty="0">
                <a:solidFill>
                  <a:srgbClr val="5F6B6D"/>
                </a:solidFill>
                <a:hlinkClick r:id="rId1" invalidUrl="" action="" tgtFrame="" tooltip="https://bank.gov.ua/ua/news/all/pidsumki-diskusiyi-chleniv-komitetu-z-monetarnoyi-politiki-natsionalnogo-banku-schodo-rivnya-oblikovoyi-stavki-16-veresnya-2026-roku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підсумки дискусії КМП</a:t>
            </a:r>
            <a:pPr indent="0" marL="0">
              <a:buNone/>
            </a:pPr>
            <a:r>
              <a:rPr lang="en-US" sz="900" dirty="0">
                <a:solidFill>
                  <a:srgbClr val="5F6B6D"/>
                </a:solidFill>
              </a:rPr>
              <a:t> · </a:t>
            </a:r>
            <a:pPr indent="0" marL="0">
              <a:buNone/>
            </a:pPr>
            <a:r>
              <a:rPr lang="en-US" sz="900" u="sng" dirty="0">
                <a:solidFill>
                  <a:srgbClr val="5F6B6D"/>
                </a:solidFill>
                <a:hlinkClick r:id="rId2" invalidUrl="" action="" tgtFrame="" tooltip="https://bank.gov.ua/ua/news/all/inflyatsiya-prishvidshitsya-u-drugomu-pivrichchi-ale-povernetsya-do-znijennya-nastupnogo-roku--inflyatsiyniy-zvit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НБУ, Інфляційний звіт (липень 2026)</a:t>
            </a:r>
            <a:endParaRPr lang="en-US" sz="900" dirty="0"/>
          </a:p>
        </p:txBody>
      </p:sp>
      <p:sp>
        <p:nvSpPr>
          <p:cNvPr id="5" name="Text 2"/>
          <p:cNvSpPr txBox="1"/>
          <p:nvPr/>
        </p:nvSpPr>
        <p:spPr>
          <a:xfrm>
            <a:off x="457200" y="1371600"/>
            <a:ext cx="777240" cy="1478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accent6"/>
                </a:solidFill>
              </a:rPr>
              <a:t>Високий</a:t>
            </a:r>
            <a:endParaRPr lang="en-US" sz="1200" dirty="0"/>
          </a:p>
        </p:txBody>
      </p:sp>
      <p:sp>
        <p:nvSpPr>
          <p:cNvPr id="6" name="cell Високий/Слабкий"/>
          <p:cNvSpPr/>
          <p:nvPr/>
        </p:nvSpPr>
        <p:spPr>
          <a:xfrm>
            <a:off x="1316736" y="1408176"/>
            <a:ext cx="3411626" cy="1405128"/>
          </a:xfrm>
          <a:prstGeom prst="rect">
            <a:avLst/>
          </a:prstGeom>
          <a:solidFill>
            <a:srgbClr val="CFE2DD"/>
          </a:solidFill>
          <a:ln/>
        </p:spPr>
      </p:sp>
      <p:sp>
        <p:nvSpPr>
          <p:cNvPr id="7" name="cell Високий/Помірний"/>
          <p:cNvSpPr/>
          <p:nvPr/>
        </p:nvSpPr>
        <p:spPr>
          <a:xfrm>
            <a:off x="4801514" y="1408176"/>
            <a:ext cx="3411626" cy="1405128"/>
          </a:xfrm>
          <a:prstGeom prst="rect">
            <a:avLst/>
          </a:prstGeom>
          <a:solidFill>
            <a:srgbClr val="B9D5CE"/>
          </a:solidFill>
          <a:ln/>
        </p:spPr>
      </p:sp>
      <p:sp>
        <p:nvSpPr>
          <p:cNvPr id="8" name="Text 5"/>
          <p:cNvSpPr txBox="1"/>
          <p:nvPr/>
        </p:nvSpPr>
        <p:spPr>
          <a:xfrm>
            <a:off x="4929530" y="1481328"/>
            <a:ext cx="3155594" cy="12588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400"/>
              </a:spcAft>
              <a:buNone/>
            </a:pPr>
            <a:r>
              <a:rPr lang="en-US" sz="1300" b="1" dirty="0">
                <a:solidFill>
                  <a:srgbClr val="C0392B"/>
                </a:solidFill>
              </a:rPr>
              <a:t>▲ Тривала нафта ≈$100</a:t>
            </a:r>
            <a:endParaRPr lang="en-US" sz="13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300" b="1" dirty="0">
                <a:solidFill>
                  <a:srgbClr val="1E8449"/>
                </a:solidFill>
              </a:rPr>
              <a:t>▼ Блокада портів: дешевше продовольство</a:t>
            </a:r>
            <a:endParaRPr lang="en-US" sz="1300" dirty="0"/>
          </a:p>
        </p:txBody>
      </p:sp>
      <p:sp>
        <p:nvSpPr>
          <p:cNvPr id="9" name="cell Високий/Сильний"/>
          <p:cNvSpPr/>
          <p:nvPr/>
        </p:nvSpPr>
        <p:spPr>
          <a:xfrm>
            <a:off x="8286293" y="1408176"/>
            <a:ext cx="3411626" cy="1405128"/>
          </a:xfrm>
          <a:prstGeom prst="rect">
            <a:avLst/>
          </a:prstGeom>
          <a:solidFill>
            <a:srgbClr val="A3C8BF"/>
          </a:solidFill>
          <a:ln/>
        </p:spPr>
      </p:sp>
      <p:sp>
        <p:nvSpPr>
          <p:cNvPr id="10" name="Text 7"/>
          <p:cNvSpPr txBox="1"/>
          <p:nvPr/>
        </p:nvSpPr>
        <p:spPr>
          <a:xfrm>
            <a:off x="8414309" y="1481328"/>
            <a:ext cx="3155594" cy="12588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400"/>
              </a:spcAft>
              <a:buNone/>
            </a:pPr>
            <a:r>
              <a:rPr lang="en-US" sz="1300" b="1" dirty="0">
                <a:solidFill>
                  <a:srgbClr val="C0392B"/>
                </a:solidFill>
              </a:rPr>
              <a:t>▲ Атаки на енергетику взимку</a:t>
            </a:r>
            <a:endParaRPr lang="en-US" sz="13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300" b="1" dirty="0">
                <a:solidFill>
                  <a:srgbClr val="C0392B"/>
                </a:solidFill>
              </a:rPr>
              <a:t>▲ Затримки допомоги, резерви &lt; $45 млрд</a:t>
            </a:r>
            <a:endParaRPr lang="en-US" sz="1300" dirty="0"/>
          </a:p>
        </p:txBody>
      </p:sp>
      <p:sp>
        <p:nvSpPr>
          <p:cNvPr id="11" name="Text 8"/>
          <p:cNvSpPr txBox="1"/>
          <p:nvPr/>
        </p:nvSpPr>
        <p:spPr>
          <a:xfrm>
            <a:off x="457200" y="2849880"/>
            <a:ext cx="777240" cy="1478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accent6"/>
                </a:solidFill>
              </a:rPr>
              <a:t>Середній</a:t>
            </a:r>
            <a:endParaRPr lang="en-US" sz="1200" dirty="0"/>
          </a:p>
        </p:txBody>
      </p:sp>
      <p:sp>
        <p:nvSpPr>
          <p:cNvPr id="12" name="cell Середній/Слабкий"/>
          <p:cNvSpPr/>
          <p:nvPr/>
        </p:nvSpPr>
        <p:spPr>
          <a:xfrm>
            <a:off x="1316736" y="2886456"/>
            <a:ext cx="3411626" cy="1405128"/>
          </a:xfrm>
          <a:prstGeom prst="rect">
            <a:avLst/>
          </a:prstGeom>
          <a:solidFill>
            <a:srgbClr val="E3EEEB"/>
          </a:solidFill>
          <a:ln/>
        </p:spPr>
      </p:sp>
      <p:sp>
        <p:nvSpPr>
          <p:cNvPr id="13" name="Text 10"/>
          <p:cNvSpPr txBox="1"/>
          <p:nvPr/>
        </p:nvSpPr>
        <p:spPr>
          <a:xfrm>
            <a:off x="1444752" y="2959608"/>
            <a:ext cx="3155594" cy="12588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400"/>
              </a:spcAft>
              <a:buNone/>
            </a:pPr>
            <a:r>
              <a:rPr lang="en-US" sz="1300" b="1" dirty="0">
                <a:solidFill>
                  <a:srgbClr val="1E8449"/>
                </a:solidFill>
              </a:rPr>
              <a:t>▼ Зміцнення євро — дешевший імпорт з ЄС</a:t>
            </a:r>
            <a:endParaRPr lang="en-US" sz="1300" dirty="0"/>
          </a:p>
        </p:txBody>
      </p:sp>
      <p:sp>
        <p:nvSpPr>
          <p:cNvPr id="14" name="cell Середній/Помірний"/>
          <p:cNvSpPr/>
          <p:nvPr/>
        </p:nvSpPr>
        <p:spPr>
          <a:xfrm>
            <a:off x="4801514" y="2886456"/>
            <a:ext cx="3411626" cy="1405128"/>
          </a:xfrm>
          <a:prstGeom prst="rect">
            <a:avLst/>
          </a:prstGeom>
          <a:solidFill>
            <a:srgbClr val="CFE2DD"/>
          </a:solidFill>
          <a:ln/>
        </p:spPr>
      </p:sp>
      <p:sp>
        <p:nvSpPr>
          <p:cNvPr id="15" name="Text 12"/>
          <p:cNvSpPr txBox="1"/>
          <p:nvPr/>
        </p:nvSpPr>
        <p:spPr>
          <a:xfrm>
            <a:off x="4929530" y="2959608"/>
            <a:ext cx="3155594" cy="12588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400"/>
              </a:spcAft>
              <a:buNone/>
            </a:pPr>
            <a:r>
              <a:rPr lang="en-US" sz="1300" b="1" dirty="0">
                <a:solidFill>
                  <a:srgbClr val="C0392B"/>
                </a:solidFill>
              </a:rPr>
              <a:t>▲ Підвищення ПДВ / акцизів</a:t>
            </a:r>
            <a:endParaRPr lang="en-US" sz="13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300" b="1" dirty="0">
                <a:solidFill>
                  <a:srgbClr val="1E8449"/>
                </a:solidFill>
              </a:rPr>
              <a:t>▼ Охолодження попиту від обстрілів</a:t>
            </a:r>
            <a:endParaRPr lang="en-US" sz="1300" dirty="0"/>
          </a:p>
        </p:txBody>
      </p:sp>
      <p:sp>
        <p:nvSpPr>
          <p:cNvPr id="16" name="cell Середній/Сильний"/>
          <p:cNvSpPr/>
          <p:nvPr/>
        </p:nvSpPr>
        <p:spPr>
          <a:xfrm>
            <a:off x="8286293" y="2886456"/>
            <a:ext cx="3411626" cy="1405128"/>
          </a:xfrm>
          <a:prstGeom prst="rect">
            <a:avLst/>
          </a:prstGeom>
          <a:solidFill>
            <a:srgbClr val="B9D5CE"/>
          </a:solidFill>
          <a:ln/>
        </p:spPr>
      </p:sp>
      <p:sp>
        <p:nvSpPr>
          <p:cNvPr id="17" name="Text 14"/>
          <p:cNvSpPr txBox="1"/>
          <p:nvPr/>
        </p:nvSpPr>
        <p:spPr>
          <a:xfrm>
            <a:off x="8414309" y="2959608"/>
            <a:ext cx="3155594" cy="12588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400"/>
              </a:spcAft>
              <a:buNone/>
            </a:pPr>
            <a:r>
              <a:rPr lang="en-US" sz="1300" b="1" dirty="0">
                <a:solidFill>
                  <a:srgbClr val="C0392B"/>
                </a:solidFill>
              </a:rPr>
              <a:t>▲ Розбалансування очікувань домогосподарств</a:t>
            </a:r>
            <a:endParaRPr lang="en-US" sz="13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300" b="1" dirty="0">
                <a:solidFill>
                  <a:srgbClr val="C0392B"/>
                </a:solidFill>
              </a:rPr>
              <a:t>▲ Зарплатна спіраль (дефіцит кадрів)</a:t>
            </a:r>
            <a:endParaRPr lang="en-US" sz="1300" dirty="0"/>
          </a:p>
        </p:txBody>
      </p:sp>
      <p:sp>
        <p:nvSpPr>
          <p:cNvPr id="18" name="Text 15"/>
          <p:cNvSpPr txBox="1"/>
          <p:nvPr/>
        </p:nvSpPr>
        <p:spPr>
          <a:xfrm>
            <a:off x="457200" y="4328160"/>
            <a:ext cx="777240" cy="1478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accent6"/>
                </a:solidFill>
              </a:rPr>
              <a:t>Низький</a:t>
            </a:r>
            <a:endParaRPr lang="en-US" sz="1200" dirty="0"/>
          </a:p>
        </p:txBody>
      </p:sp>
      <p:sp>
        <p:nvSpPr>
          <p:cNvPr id="19" name="cell Низький/Слабкий"/>
          <p:cNvSpPr/>
          <p:nvPr/>
        </p:nvSpPr>
        <p:spPr>
          <a:xfrm>
            <a:off x="1316736" y="4364736"/>
            <a:ext cx="3411626" cy="1405128"/>
          </a:xfrm>
          <a:prstGeom prst="rect">
            <a:avLst/>
          </a:prstGeom>
          <a:solidFill>
            <a:srgbClr val="F4F8F7"/>
          </a:solidFill>
          <a:ln/>
        </p:spPr>
      </p:sp>
      <p:sp>
        <p:nvSpPr>
          <p:cNvPr id="20" name="cell Низький/Помірний"/>
          <p:cNvSpPr/>
          <p:nvPr/>
        </p:nvSpPr>
        <p:spPr>
          <a:xfrm>
            <a:off x="4801514" y="4364736"/>
            <a:ext cx="3411626" cy="1405128"/>
          </a:xfrm>
          <a:prstGeom prst="rect">
            <a:avLst/>
          </a:prstGeom>
          <a:solidFill>
            <a:srgbClr val="E3EEEB"/>
          </a:solidFill>
          <a:ln/>
        </p:spPr>
      </p:sp>
      <p:sp>
        <p:nvSpPr>
          <p:cNvPr id="21" name="Text 18"/>
          <p:cNvSpPr txBox="1"/>
          <p:nvPr/>
        </p:nvSpPr>
        <p:spPr>
          <a:xfrm>
            <a:off x="4929530" y="4437888"/>
            <a:ext cx="3155594" cy="12588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400"/>
              </a:spcAft>
              <a:buNone/>
            </a:pPr>
            <a:r>
              <a:rPr lang="en-US" sz="1300" b="1" dirty="0">
                <a:solidFill>
                  <a:srgbClr val="C0392B"/>
                </a:solidFill>
              </a:rPr>
              <a:t>▲ Швидше підвищення ставок ЄЦБ</a:t>
            </a:r>
            <a:endParaRPr lang="en-US" sz="1300" dirty="0"/>
          </a:p>
        </p:txBody>
      </p:sp>
      <p:sp>
        <p:nvSpPr>
          <p:cNvPr id="22" name="cell Низький/Сильний"/>
          <p:cNvSpPr/>
          <p:nvPr/>
        </p:nvSpPr>
        <p:spPr>
          <a:xfrm>
            <a:off x="8286293" y="4364736"/>
            <a:ext cx="3411626" cy="1405128"/>
          </a:xfrm>
          <a:prstGeom prst="rect">
            <a:avLst/>
          </a:prstGeom>
          <a:solidFill>
            <a:srgbClr val="CFE2DD"/>
          </a:solidFill>
          <a:ln/>
        </p:spPr>
      </p:sp>
      <p:sp>
        <p:nvSpPr>
          <p:cNvPr id="23" name="Text 20"/>
          <p:cNvSpPr txBox="1"/>
          <p:nvPr/>
        </p:nvSpPr>
        <p:spPr>
          <a:xfrm>
            <a:off x="8414309" y="4437888"/>
            <a:ext cx="3155594" cy="12588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400"/>
              </a:spcAft>
              <a:buNone/>
            </a:pPr>
            <a:r>
              <a:rPr lang="en-US" sz="1300" b="1" dirty="0">
                <a:solidFill>
                  <a:srgbClr val="1E8449"/>
                </a:solidFill>
              </a:rPr>
              <a:t>▼ Перемир'я, повернення мігрантів</a:t>
            </a:r>
            <a:endParaRPr lang="en-US" sz="13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300" b="1" dirty="0">
                <a:solidFill>
                  <a:srgbClr val="C0392B"/>
                </a:solidFill>
              </a:rPr>
              <a:t>▲ Ескалація, прорив фронту</a:t>
            </a:r>
            <a:endParaRPr lang="en-US" sz="1300" dirty="0"/>
          </a:p>
        </p:txBody>
      </p:sp>
      <p:sp>
        <p:nvSpPr>
          <p:cNvPr id="24" name="Text 21"/>
          <p:cNvSpPr txBox="1"/>
          <p:nvPr/>
        </p:nvSpPr>
        <p:spPr>
          <a:xfrm>
            <a:off x="1280160" y="5824728"/>
            <a:ext cx="348477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accent6"/>
                </a:solidFill>
              </a:rPr>
              <a:t>Слабкий</a:t>
            </a:r>
            <a:endParaRPr lang="en-US" sz="1200" dirty="0"/>
          </a:p>
        </p:txBody>
      </p:sp>
      <p:sp>
        <p:nvSpPr>
          <p:cNvPr id="25" name="Text 22"/>
          <p:cNvSpPr txBox="1"/>
          <p:nvPr/>
        </p:nvSpPr>
        <p:spPr>
          <a:xfrm>
            <a:off x="4764938" y="5824728"/>
            <a:ext cx="348477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accent6"/>
                </a:solidFill>
              </a:rPr>
              <a:t>Помірний</a:t>
            </a:r>
            <a:endParaRPr lang="en-US" sz="1200" dirty="0"/>
          </a:p>
        </p:txBody>
      </p:sp>
      <p:sp>
        <p:nvSpPr>
          <p:cNvPr id="26" name="Text 23"/>
          <p:cNvSpPr txBox="1"/>
          <p:nvPr/>
        </p:nvSpPr>
        <p:spPr>
          <a:xfrm>
            <a:off x="8249717" y="5824728"/>
            <a:ext cx="348477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accent6"/>
                </a:solidFill>
              </a:rPr>
              <a:t>Сильний</a:t>
            </a:r>
            <a:endParaRPr lang="en-US" sz="1200" dirty="0"/>
          </a:p>
        </p:txBody>
      </p:sp>
      <p:sp>
        <p:nvSpPr>
          <p:cNvPr id="27" name="Text 24"/>
          <p:cNvSpPr txBox="1"/>
          <p:nvPr/>
        </p:nvSpPr>
        <p:spPr>
          <a:xfrm>
            <a:off x="1280160" y="6099048"/>
            <a:ext cx="10454335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chemeClr val="accent6"/>
                </a:solidFill>
              </a:rPr>
              <a:t>Імовірність ↑   ·   Вплив на базовий сценарій →   ·   ▲ вища інфляція   ▼ нижча інфляція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85855" y="6473952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20</a:t>
            </a:fld>
            <a:endParaRPr lang="en-US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731520" y="2377440"/>
            <a:ext cx="1069848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4000" b="1" dirty="0">
                <a:solidFill>
                  <a:schemeClr val="bg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Рекомендації для Правління НБУ</a:t>
            </a:r>
            <a:endParaRPr lang="en-US" sz="4000" dirty="0"/>
          </a:p>
        </p:txBody>
      </p:sp>
      <p:sp>
        <p:nvSpPr>
          <p:cNvPr id="3" name="Text 1"/>
          <p:cNvSpPr txBox="1"/>
          <p:nvPr/>
        </p:nvSpPr>
        <p:spPr>
          <a:xfrm>
            <a:off x="731520" y="1280160"/>
            <a:ext cx="27432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000" b="1" dirty="0">
                <a:solidFill>
                  <a:srgbClr val="C98A0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03</a:t>
            </a:r>
            <a:endParaRPr lang="en-US" sz="6000" dirty="0"/>
          </a:p>
        </p:txBody>
      </p:sp>
      <p:sp>
        <p:nvSpPr>
          <p:cNvPr id="4" name="Text 2"/>
          <p:cNvSpPr txBox="1"/>
          <p:nvPr/>
        </p:nvSpPr>
        <p:spPr>
          <a:xfrm>
            <a:off x="731520" y="3749040"/>
            <a:ext cx="106984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CFE3DE"/>
                </a:solidFill>
              </a:rPr>
              <a:t>Процентна політика, курс і валютні обмеження — як єдиний пакет</a:t>
            </a:r>
            <a:endParaRPr lang="en-US" sz="18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11277295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6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Рамка рішення: ціль 5% на горизонті до 3 років; у вересні КМП розділився</a:t>
            </a:r>
            <a:endParaRPr lang="en-US" sz="2600" dirty="0"/>
          </a:p>
        </p:txBody>
      </p:sp>
      <p:sp>
        <p:nvSpPr>
          <p:cNvPr id="4" name="sources"/>
          <p:cNvSpPr txBox="1"/>
          <p:nvPr/>
        </p:nvSpPr>
        <p:spPr>
          <a:xfrm>
            <a:off x="4937760" y="6455664"/>
            <a:ext cx="611093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F6B6D"/>
                </a:solidFill>
              </a:rPr>
              <a:t>Джерела: </a:t>
            </a:r>
            <a:pPr indent="0" marL="0">
              <a:buNone/>
            </a:pPr>
            <a:r>
              <a:rPr lang="en-US" sz="900" u="sng" dirty="0">
                <a:solidFill>
                  <a:srgbClr val="5F6B6D"/>
                </a:solidFill>
                <a:hlinkClick r:id="rId1" invalidUrl="" action="" tgtFrame="" tooltip="https://zakon.rada.gov.ua/laws/show/679-14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Закон «Про НБУ», ст. 6</a:t>
            </a:r>
            <a:pPr indent="0" marL="0">
              <a:buNone/>
            </a:pPr>
            <a:r>
              <a:rPr lang="en-US" sz="900" dirty="0">
                <a:solidFill>
                  <a:srgbClr val="5F6B6D"/>
                </a:solidFill>
              </a:rPr>
              <a:t> · </a:t>
            </a:r>
            <a:pPr indent="0" marL="0">
              <a:buNone/>
            </a:pPr>
            <a:r>
              <a:rPr lang="en-US" sz="900" u="sng" dirty="0">
                <a:solidFill>
                  <a:srgbClr val="5F6B6D"/>
                </a:solidFill>
                <a:hlinkClick r:id="rId2" invalidUrl="" action="" tgtFrame="" tooltip="https://p4.bank.gov.ua/admin_uploads/article/MPG_2024-mt_eng.pdf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Основні засади ГКП (2024)</a:t>
            </a:r>
            <a:pPr indent="0" marL="0">
              <a:buNone/>
            </a:pPr>
            <a:r>
              <a:rPr lang="en-US" sz="900" dirty="0">
                <a:solidFill>
                  <a:srgbClr val="5F6B6D"/>
                </a:solidFill>
              </a:rPr>
              <a:t> · </a:t>
            </a:r>
            <a:pPr indent="0" marL="0">
              <a:buNone/>
            </a:pPr>
            <a:r>
              <a:rPr lang="en-US" sz="900" u="sng" dirty="0">
                <a:solidFill>
                  <a:srgbClr val="5F6B6D"/>
                </a:solidFill>
                <a:hlinkClick r:id="rId3" invalidUrl="" action="" tgtFrame="" tooltip="https://bank.gov.ua/ua/news/all/pidsumki-diskusiyi-chleniv-komitetu-z-monetarnoyi-politiki-natsionalnogo-banku-schodo-rivnya-oblikovoyi-stavki-16-veresnya-2026-roku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підсумки дискусії КМП</a:t>
            </a:r>
            <a:pPr indent="0" marL="0">
              <a:buNone/>
            </a:pPr>
            <a:r>
              <a:rPr lang="en-US" sz="900" dirty="0">
                <a:solidFill>
                  <a:srgbClr val="5F6B6D"/>
                </a:solidFill>
              </a:rPr>
              <a:t> · </a:t>
            </a:r>
            <a:pPr indent="0" marL="0">
              <a:buNone/>
            </a:pPr>
            <a:r>
              <a:rPr lang="en-US" sz="900" u="sng" dirty="0">
                <a:solidFill>
                  <a:srgbClr val="5F6B6D"/>
                </a:solidFill>
                <a:hlinkClick r:id="rId4" invalidUrl="" action="" tgtFrame="" tooltip="https://bank.gov.ua/ua/news/all/nbu-informuye-pro-golovniy-printsip-viznachennya-obsyagiv-rozmischennya-trimisyachnih-depozitnih-sertifikativ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принцип обсягів 3-міс. ДС (НБУ)</a:t>
            </a:r>
            <a:endParaRPr lang="en-US" sz="900" dirty="0"/>
          </a:p>
        </p:txBody>
      </p:sp>
      <p:sp>
        <p:nvSpPr>
          <p:cNvPr id="5" name="press release"/>
          <p:cNvSpPr txBox="1"/>
          <p:nvPr/>
        </p:nvSpPr>
        <p:spPr>
          <a:xfrm>
            <a:off x="457200" y="4846320"/>
            <a:ext cx="11277295" cy="1463040"/>
          </a:xfrm>
          <a:prstGeom prst="rect">
            <a:avLst/>
          </a:prstGeom>
          <a:solidFill>
            <a:srgbClr val="FFFFFF"/>
          </a:solidFill>
          <a:ln w="15875">
            <a:solidFill>
              <a:srgbClr val="C98A00"/>
            </a:solidFill>
          </a:ln>
        </p:spPr>
        <p:txBody>
          <a:bodyPr wrap="square" lIns="76200" tIns="152400" rIns="152400" bIns="7620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chemeClr val="accent1"/>
                </a:solidFill>
              </a:rPr>
              <a:t>Наша відповідь на питання конкурсу: облікова ставка — 16,5% з утриманням до середини 2027 р.; депсертифікати — зберегти зв'язок зі строковими депозитами; офіційний курс — керована гнучкість (до ≈4% на рік) без захисту рівня; валютні обмеження — серпневий пакет зберегти, III етап — після відновлення резервів.</a:t>
            </a:r>
            <a:endParaRPr lang="en-US" sz="1400" dirty="0"/>
          </a:p>
        </p:txBody>
      </p:sp>
      <p:sp>
        <p:nvSpPr>
          <p:cNvPr id="6" name="card1"/>
          <p:cNvSpPr/>
          <p:nvPr/>
        </p:nvSpPr>
        <p:spPr>
          <a:xfrm>
            <a:off x="457200" y="1325880"/>
            <a:ext cx="3576218" cy="3246120"/>
          </a:xfrm>
          <a:prstGeom prst="roundRect">
            <a:avLst>
              <a:gd name="adj" fmla="val 2254"/>
            </a:avLst>
          </a:prstGeom>
          <a:solidFill>
            <a:srgbClr val="EAF1EF"/>
          </a:solidFill>
          <a:ln/>
        </p:spPr>
      </p:sp>
      <p:sp>
        <p:nvSpPr>
          <p:cNvPr id="7" name="badge1"/>
          <p:cNvSpPr/>
          <p:nvPr/>
        </p:nvSpPr>
        <p:spPr>
          <a:xfrm>
            <a:off x="685800" y="1554480"/>
            <a:ext cx="457200" cy="457200"/>
          </a:xfrm>
          <a:prstGeom prst="ellipse">
            <a:avLst/>
          </a:prstGeom>
          <a:solidFill>
            <a:srgbClr val="C98A00"/>
          </a:solidFill>
          <a:ln/>
        </p:spPr>
      </p:sp>
      <p:sp>
        <p:nvSpPr>
          <p:cNvPr id="8" name="Text 5"/>
          <p:cNvSpPr txBox="1"/>
          <p:nvPr/>
        </p:nvSpPr>
        <p:spPr>
          <a:xfrm>
            <a:off x="685800" y="15544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chemeClr val="bg1"/>
                </a:solidFill>
              </a:rPr>
              <a:t>1</a:t>
            </a:r>
            <a:endParaRPr lang="en-US" sz="1800" dirty="0"/>
          </a:p>
        </p:txBody>
      </p:sp>
      <p:sp>
        <p:nvSpPr>
          <p:cNvPr id="9" name="Text 6"/>
          <p:cNvSpPr txBox="1"/>
          <p:nvPr/>
        </p:nvSpPr>
        <p:spPr>
          <a:xfrm>
            <a:off x="1280160" y="1554480"/>
            <a:ext cx="257037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Мета і режим</a:t>
            </a:r>
            <a:endParaRPr lang="en-US" sz="1700" dirty="0"/>
          </a:p>
        </p:txBody>
      </p:sp>
      <p:sp>
        <p:nvSpPr>
          <p:cNvPr id="10" name="bullets"/>
          <p:cNvSpPr txBox="1"/>
          <p:nvPr/>
        </p:nvSpPr>
        <p:spPr>
          <a:xfrm>
            <a:off x="731520" y="2240280"/>
            <a:ext cx="3073298" cy="2148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Мета — цінова стабільність; також сприяння фінстабільності й зростанню</a:t>
            </a:r>
            <a:endParaRPr lang="en-US" sz="140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Ціль 5% без діапазону, горизонт — до 3 років</a:t>
            </a:r>
            <a:endParaRPr lang="en-US" sz="140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Гнучке ІТ з керованою гнучкістю курсу</a:t>
            </a:r>
            <a:endParaRPr lang="en-US" sz="1400" dirty="0"/>
          </a:p>
        </p:txBody>
      </p:sp>
      <p:sp>
        <p:nvSpPr>
          <p:cNvPr id="11" name="card2"/>
          <p:cNvSpPr/>
          <p:nvPr/>
        </p:nvSpPr>
        <p:spPr>
          <a:xfrm>
            <a:off x="4307738" y="1325880"/>
            <a:ext cx="3576218" cy="3246120"/>
          </a:xfrm>
          <a:prstGeom prst="roundRect">
            <a:avLst>
              <a:gd name="adj" fmla="val 2254"/>
            </a:avLst>
          </a:prstGeom>
          <a:solidFill>
            <a:srgbClr val="EAF1EF"/>
          </a:solidFill>
          <a:ln/>
        </p:spPr>
      </p:sp>
      <p:sp>
        <p:nvSpPr>
          <p:cNvPr id="12" name="badge2"/>
          <p:cNvSpPr/>
          <p:nvPr/>
        </p:nvSpPr>
        <p:spPr>
          <a:xfrm>
            <a:off x="4536338" y="1554480"/>
            <a:ext cx="457200" cy="457200"/>
          </a:xfrm>
          <a:prstGeom prst="ellipse">
            <a:avLst/>
          </a:prstGeom>
          <a:solidFill>
            <a:srgbClr val="C98A00"/>
          </a:solidFill>
          <a:ln/>
        </p:spPr>
      </p:sp>
      <p:sp>
        <p:nvSpPr>
          <p:cNvPr id="13" name="Text 10"/>
          <p:cNvSpPr txBox="1"/>
          <p:nvPr/>
        </p:nvSpPr>
        <p:spPr>
          <a:xfrm>
            <a:off x="4536338" y="15544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chemeClr val="bg1"/>
                </a:solidFill>
              </a:rPr>
              <a:t>2</a:t>
            </a:r>
            <a:endParaRPr lang="en-US" sz="1800" dirty="0"/>
          </a:p>
        </p:txBody>
      </p:sp>
      <p:sp>
        <p:nvSpPr>
          <p:cNvPr id="14" name="Text 11"/>
          <p:cNvSpPr txBox="1"/>
          <p:nvPr/>
        </p:nvSpPr>
        <p:spPr>
          <a:xfrm>
            <a:off x="5130698" y="1554480"/>
            <a:ext cx="257037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Інструменти</a:t>
            </a:r>
            <a:endParaRPr lang="en-US" sz="1700" dirty="0"/>
          </a:p>
        </p:txBody>
      </p:sp>
      <p:sp>
        <p:nvSpPr>
          <p:cNvPr id="15" name="bullets"/>
          <p:cNvSpPr txBox="1"/>
          <p:nvPr/>
        </p:nvSpPr>
        <p:spPr>
          <a:xfrm>
            <a:off x="4582058" y="2240280"/>
            <a:ext cx="3073298" cy="2148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Облікова ставка; 3-міс. депсертифікати — з 07.08 через тендери</a:t>
            </a:r>
            <a:endParaRPr lang="en-US" sz="140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Обсяги ДС залежать від ліміту банків, прив'язаного до строкових депозитів</a:t>
            </a:r>
            <a:endParaRPr lang="en-US" sz="140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Інтервенції згладжують курс; обмеження — за Стратегією 2023</a:t>
            </a:r>
            <a:endParaRPr lang="en-US" sz="1400" dirty="0"/>
          </a:p>
        </p:txBody>
      </p:sp>
      <p:sp>
        <p:nvSpPr>
          <p:cNvPr id="16" name="card3"/>
          <p:cNvSpPr/>
          <p:nvPr/>
        </p:nvSpPr>
        <p:spPr>
          <a:xfrm>
            <a:off x="8158277" y="1325880"/>
            <a:ext cx="3576218" cy="3246120"/>
          </a:xfrm>
          <a:prstGeom prst="roundRect">
            <a:avLst>
              <a:gd name="adj" fmla="val 2254"/>
            </a:avLst>
          </a:prstGeom>
          <a:solidFill>
            <a:srgbClr val="EAF1EF"/>
          </a:solidFill>
          <a:ln/>
        </p:spPr>
      </p:sp>
      <p:sp>
        <p:nvSpPr>
          <p:cNvPr id="17" name="badge3"/>
          <p:cNvSpPr/>
          <p:nvPr/>
        </p:nvSpPr>
        <p:spPr>
          <a:xfrm>
            <a:off x="8386877" y="1554480"/>
            <a:ext cx="457200" cy="457200"/>
          </a:xfrm>
          <a:prstGeom prst="ellipse">
            <a:avLst/>
          </a:prstGeom>
          <a:solidFill>
            <a:srgbClr val="C98A00"/>
          </a:solidFill>
          <a:ln/>
        </p:spPr>
      </p:sp>
      <p:sp>
        <p:nvSpPr>
          <p:cNvPr id="18" name="Text 15"/>
          <p:cNvSpPr txBox="1"/>
          <p:nvPr/>
        </p:nvSpPr>
        <p:spPr>
          <a:xfrm>
            <a:off x="8386877" y="15544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chemeClr val="bg1"/>
                </a:solidFill>
              </a:rPr>
              <a:t>3</a:t>
            </a:r>
            <a:endParaRPr lang="en-US" sz="1800" dirty="0"/>
          </a:p>
        </p:txBody>
      </p:sp>
      <p:sp>
        <p:nvSpPr>
          <p:cNvPr id="19" name="Text 16"/>
          <p:cNvSpPr txBox="1"/>
          <p:nvPr/>
        </p:nvSpPr>
        <p:spPr>
          <a:xfrm>
            <a:off x="8981237" y="1554480"/>
            <a:ext cx="257037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КМП у вересні</a:t>
            </a:r>
            <a:endParaRPr lang="en-US" sz="1700" dirty="0"/>
          </a:p>
        </p:txBody>
      </p:sp>
      <p:sp>
        <p:nvSpPr>
          <p:cNvPr id="20" name="bullets"/>
          <p:cNvSpPr txBox="1"/>
          <p:nvPr/>
        </p:nvSpPr>
        <p:spPr>
          <a:xfrm>
            <a:off x="8432597" y="2240280"/>
            <a:ext cx="3073298" cy="2148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Рішення +0,5 в. п. до 16%; троє — за 15,5%</a:t>
            </a:r>
            <a:endParaRPr lang="en-US" sz="140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Далі: 7 — тримати 16%, 2 — ще одне підвищення, 1 — знижувати</a:t>
            </a:r>
            <a:endParaRPr lang="en-US" sz="140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Ми — за підвищення: нові дані посилили ризики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85855" y="6473952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22</a:t>
            </a:fld>
            <a:endParaRPr lang="en-US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11277295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6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Варіанти рішення 29 жовтня: кожні +0,5 в. п. знижують втрати</a:t>
            </a:r>
            <a:endParaRPr lang="en-US" sz="2600" dirty="0"/>
          </a:p>
        </p:txBody>
      </p:sp>
      <p:sp>
        <p:nvSpPr>
          <p:cNvPr id="4" name="sources"/>
          <p:cNvSpPr txBox="1"/>
          <p:nvPr/>
        </p:nvSpPr>
        <p:spPr>
          <a:xfrm>
            <a:off x="4937760" y="6455664"/>
            <a:ext cx="611093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F6B6D"/>
                </a:solidFill>
              </a:rPr>
              <a:t>Джерела: </a:t>
            </a:r>
            <a:pPr indent="0" marL="0">
              <a:buNone/>
            </a:pPr>
            <a:r>
              <a:rPr lang="en-US" sz="900" u="sng" dirty="0">
                <a:solidFill>
                  <a:srgbClr val="5F6B6D"/>
                </a:solidFill>
                <a:hlinkClick r:id="rId1" invalidUrl="" action="" tgtFrame="" tooltip="https://p4.bank.gov.ua/admin_uploads/article/MPG_2024-mt_eng.pdf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Основні засади ГКП (2024)</a:t>
            </a:r>
            <a:endParaRPr lang="en-US" sz="900" dirty="0"/>
          </a:p>
        </p:txBody>
      </p:sp>
      <p:pic>
        <p:nvPicPr>
          <p:cNvPr id="5" name="chart" descr="C:\Users\Lenovo\Documents\GitHub\nbu-challenge-2026\results\figures\fc_policy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69601" y="1280160"/>
            <a:ext cx="8652494" cy="2606040"/>
          </a:xfrm>
          <a:prstGeom prst="rect">
            <a:avLst/>
          </a:prstGeom>
        </p:spPr>
      </p:pic>
      <p:graphicFrame>
        <p:nvGraphicFramePr>
          <p:cNvPr id="24" name="table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4069080"/>
          <a:ext cx="7040880" cy="914400"/>
        </p:xfrm>
        <a:graphic>
          <a:graphicData uri="http://schemas.openxmlformats.org/drawingml/2006/table">
            <a:tbl>
              <a:tblPr/>
              <a:tblGrid>
                <a:gridCol w="2651760"/>
                <a:gridCol w="877824"/>
                <a:gridCol w="877824"/>
                <a:gridCol w="877824"/>
                <a:gridCol w="877824"/>
                <a:gridCol w="877824"/>
              </a:tblGrid>
              <a:tr h="31089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chemeClr val="bg1"/>
                          </a:solidFill>
                        </a:rPr>
                        <a:t>Рішення (до середини 2027)</a:t>
                      </a:r>
                      <a:endParaRPr lang="en-US" sz="1200" dirty="0"/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C9D6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3B4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chemeClr val="bg1"/>
                          </a:solidFill>
                        </a:rPr>
                        <a:t>Ставка IV кв. 26</a:t>
                      </a:r>
                      <a:endParaRPr lang="en-US" sz="1200" dirty="0"/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C9D6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3B4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chemeClr val="bg1"/>
                          </a:solidFill>
                        </a:rPr>
                        <a:t>Ставка IV кв. 27</a:t>
                      </a:r>
                      <a:endParaRPr lang="en-US" sz="1200" dirty="0"/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C9D6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3B4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chemeClr val="bg1"/>
                          </a:solidFill>
                        </a:rPr>
                        <a:t>ІСЦ IV кв. 27</a:t>
                      </a:r>
                      <a:endParaRPr lang="en-US" sz="1200" dirty="0"/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C9D6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3B4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chemeClr val="bg1"/>
                          </a:solidFill>
                        </a:rPr>
                        <a:t>ВВП 2027</a:t>
                      </a:r>
                      <a:endParaRPr lang="en-US" sz="1200" dirty="0"/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C9D6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3B4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chemeClr val="bg1"/>
                          </a:solidFill>
                        </a:rPr>
                        <a:t>Втрати</a:t>
                      </a:r>
                      <a:endParaRPr lang="en-US" sz="1200" dirty="0"/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C9D6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3B43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chemeClr val="tx1"/>
                          </a:solidFill>
                        </a:rPr>
                        <a:t>Знизити до 15,5%</a:t>
                      </a:r>
                      <a:endParaRPr lang="en-US" sz="1200" dirty="0"/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C9D6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15,5</a:t>
                      </a:r>
                      <a:endParaRPr lang="en-US" sz="1200" dirty="0"/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C9D6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15,2</a:t>
                      </a:r>
                      <a:endParaRPr lang="en-US" sz="1200" dirty="0"/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C9D6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7,0</a:t>
                      </a:r>
                      <a:endParaRPr lang="en-US" sz="1200" dirty="0"/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C9D6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0,9</a:t>
                      </a:r>
                      <a:endParaRPr lang="en-US" sz="1200" dirty="0"/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C9D6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48,3</a:t>
                      </a:r>
                      <a:endParaRPr lang="en-US" sz="1200" dirty="0"/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C9D6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chemeClr val="tx1"/>
                          </a:solidFill>
                        </a:rPr>
                        <a:t>Утримати 16%</a:t>
                      </a:r>
                      <a:endParaRPr lang="en-US" sz="1200" dirty="0"/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C9D6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1E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16,0</a:t>
                      </a:r>
                      <a:endParaRPr lang="en-US" sz="1200" dirty="0"/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C9D6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1E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15,2</a:t>
                      </a:r>
                      <a:endParaRPr lang="en-US" sz="1200" dirty="0"/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C9D6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1E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6,8</a:t>
                      </a:r>
                      <a:endParaRPr lang="en-US" sz="1200" dirty="0"/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C9D6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1E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0,8</a:t>
                      </a:r>
                      <a:endParaRPr lang="en-US" sz="1200" dirty="0"/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C9D6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1E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44,8</a:t>
                      </a:r>
                      <a:endParaRPr lang="en-US" sz="1200" dirty="0"/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C9D6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1EF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chemeClr val="tx1"/>
                          </a:solidFill>
                        </a:rPr>
                        <a:t>Підвищити до 16,5% ★</a:t>
                      </a:r>
                      <a:endParaRPr lang="en-US" sz="1200" dirty="0"/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C9D6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16,5</a:t>
                      </a:r>
                      <a:endParaRPr lang="en-US" sz="1200" dirty="0"/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C9D6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15,1</a:t>
                      </a:r>
                      <a:endParaRPr lang="en-US" sz="1200" dirty="0"/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C9D6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6,5</a:t>
                      </a:r>
                      <a:endParaRPr lang="en-US" sz="1200" dirty="0"/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C9D6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0,6</a:t>
                      </a:r>
                      <a:endParaRPr lang="en-US" sz="1200" dirty="0"/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C9D6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41,7</a:t>
                      </a:r>
                      <a:endParaRPr lang="en-US" sz="1200" dirty="0"/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C9D6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chemeClr val="tx1"/>
                          </a:solidFill>
                        </a:rPr>
                        <a:t>Підвищити до 17%</a:t>
                      </a:r>
                      <a:endParaRPr lang="en-US" sz="1200" dirty="0"/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C9D6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1E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17,0</a:t>
                      </a:r>
                      <a:endParaRPr lang="en-US" sz="1200" dirty="0"/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C9D6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1E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15,1</a:t>
                      </a:r>
                      <a:endParaRPr lang="en-US" sz="1200" dirty="0"/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C9D6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1E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6,3</a:t>
                      </a:r>
                      <a:endParaRPr lang="en-US" sz="1200" dirty="0"/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C9D6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1E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0,5</a:t>
                      </a:r>
                      <a:endParaRPr lang="en-US" sz="1200" dirty="0"/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C9D6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1E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39,0</a:t>
                      </a:r>
                      <a:endParaRPr lang="en-US" sz="1200" dirty="0"/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C9D6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1EF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chemeClr val="tx1"/>
                          </a:solidFill>
                        </a:rPr>
                        <a:t>Оптимальна (мін. втрат)</a:t>
                      </a:r>
                      <a:endParaRPr lang="en-US" sz="1200" dirty="0"/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C9D6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16,9</a:t>
                      </a:r>
                      <a:endParaRPr lang="en-US" sz="1200" dirty="0"/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C9D6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15,1</a:t>
                      </a:r>
                      <a:endParaRPr lang="en-US" sz="1200" dirty="0"/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C9D6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6,2</a:t>
                      </a:r>
                      <a:endParaRPr lang="en-US" sz="1200" dirty="0"/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C9D6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0,4</a:t>
                      </a:r>
                      <a:endParaRPr lang="en-US" sz="1200" dirty="0"/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C9D6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37,4</a:t>
                      </a:r>
                      <a:endParaRPr lang="en-US" sz="1200" dirty="0"/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C9D6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bullets"/>
          <p:cNvSpPr txBox="1"/>
          <p:nvPr/>
        </p:nvSpPr>
        <p:spPr>
          <a:xfrm>
            <a:off x="7818120" y="4114800"/>
            <a:ext cx="3916375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chemeClr val="tx1"/>
                </a:solidFill>
              </a:rPr>
              <a:t>Після утримання — траєкторія, що повертає інфляцію до 5% на горизонті; за чистим правилом у 2029 було б лише 4,4%</a:t>
            </a:r>
            <a:endParaRPr lang="en-US" sz="130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chemeClr val="tx1"/>
                </a:solidFill>
              </a:rPr>
              <a:t>Оптимальна ставка зараз: 16,5% без реакції на перший раунд адмінцін (практика ІТ), 16,5–16,9% — залежно від згладжування</a:t>
            </a:r>
            <a:endParaRPr lang="en-US" sz="130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chemeClr val="tx1"/>
                </a:solidFill>
              </a:rPr>
              <a:t>Обираємо 16,5%: поступовість за невизначеності; 17% — якщо з'являться вторинні ефекти тарифів і пального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85855" y="6473952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23</a:t>
            </a:fld>
            <a:endParaRPr lang="en-US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11277295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6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Облікова ставка: підвищити до 16,5% і утримувати до середини 2027</a:t>
            </a:r>
            <a:endParaRPr lang="en-US" sz="2600" dirty="0"/>
          </a:p>
        </p:txBody>
      </p:sp>
      <p:sp>
        <p:nvSpPr>
          <p:cNvPr id="4" name="sources"/>
          <p:cNvSpPr txBox="1"/>
          <p:nvPr/>
        </p:nvSpPr>
        <p:spPr>
          <a:xfrm>
            <a:off x="4937760" y="6455664"/>
            <a:ext cx="611093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F6B6D"/>
                </a:solidFill>
              </a:rPr>
              <a:t>Джерела: </a:t>
            </a:r>
            <a:pPr indent="0" marL="0">
              <a:buNone/>
            </a:pPr>
            <a:r>
              <a:rPr lang="en-US" sz="900" u="sng" dirty="0">
                <a:solidFill>
                  <a:srgbClr val="5F6B6D"/>
                </a:solidFill>
                <a:hlinkClick r:id="rId1" invalidUrl="" action="" tgtFrame="" tooltip="https://bank.gov.ua/ua/news/all/natsionalniy-bank-ukrayini-pidvischiv-oblikovu-stavku-do-16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рішення НБУ 17.09.2026</a:t>
            </a:r>
            <a:pPr indent="0" marL="0">
              <a:buNone/>
            </a:pPr>
            <a:r>
              <a:rPr lang="en-US" sz="900" dirty="0">
                <a:solidFill>
                  <a:srgbClr val="5F6B6D"/>
                </a:solidFill>
              </a:rPr>
              <a:t> · </a:t>
            </a:r>
            <a:pPr indent="0" marL="0">
              <a:buNone/>
            </a:pPr>
            <a:r>
              <a:rPr lang="en-US" sz="900" u="sng" dirty="0">
                <a:solidFill>
                  <a:srgbClr val="5F6B6D"/>
                </a:solidFill>
                <a:hlinkClick r:id="rId2" invalidUrl="" action="" tgtFrame="" tooltip="https://bank.gov.ua/ua/news/all/pidsumki-diskusiyi-chleniv-komitetu-z-monetarnoyi-politiki-natsionalnogo-banku-schodo-rivnya-oblikovoyi-stavki-16-veresnya-2026-roku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підсумки дискусії КМП</a:t>
            </a:r>
            <a:endParaRPr lang="en-US" sz="900" dirty="0"/>
          </a:p>
        </p:txBody>
      </p:sp>
      <p:sp>
        <p:nvSpPr>
          <p:cNvPr id="5" name="decision"/>
          <p:cNvSpPr/>
          <p:nvPr/>
        </p:nvSpPr>
        <p:spPr>
          <a:xfrm>
            <a:off x="457200" y="1325880"/>
            <a:ext cx="3108960" cy="4983480"/>
          </a:xfrm>
          <a:prstGeom prst="roundRect">
            <a:avLst>
              <a:gd name="adj" fmla="val 2941"/>
            </a:avLst>
          </a:prstGeom>
          <a:solidFill>
            <a:srgbClr val="0E3B43"/>
          </a:solidFill>
          <a:ln/>
        </p:spPr>
      </p:sp>
      <p:sp>
        <p:nvSpPr>
          <p:cNvPr id="6" name="Text 3"/>
          <p:cNvSpPr txBox="1"/>
          <p:nvPr/>
        </p:nvSpPr>
        <p:spPr>
          <a:xfrm>
            <a:off x="731520" y="1691640"/>
            <a:ext cx="2560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100" kern="0" dirty="0">
                <a:solidFill>
                  <a:srgbClr val="CFE3DE"/>
                </a:solidFill>
              </a:rPr>
              <a:t>ОБЛІКОВА СТАВКА</a:t>
            </a:r>
            <a:endParaRPr lang="en-US" sz="1300" dirty="0"/>
          </a:p>
        </p:txBody>
      </p:sp>
      <p:sp>
        <p:nvSpPr>
          <p:cNvPr id="7" name="Text 4"/>
          <p:cNvSpPr txBox="1"/>
          <p:nvPr/>
        </p:nvSpPr>
        <p:spPr>
          <a:xfrm>
            <a:off x="731520" y="2148840"/>
            <a:ext cx="256032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600" b="1" dirty="0">
                <a:solidFill>
                  <a:srgbClr val="C98A0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16,5%</a:t>
            </a:r>
            <a:endParaRPr lang="en-US" sz="6600" dirty="0"/>
          </a:p>
        </p:txBody>
      </p:sp>
      <p:sp>
        <p:nvSpPr>
          <p:cNvPr id="8" name="Text 5"/>
          <p:cNvSpPr txBox="1"/>
          <p:nvPr/>
        </p:nvSpPr>
        <p:spPr>
          <a:xfrm>
            <a:off x="731520" y="3474720"/>
            <a:ext cx="25603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chemeClr val="bg1"/>
                </a:solidFill>
              </a:rPr>
              <a:t>+0,5 в. п. з 30.10.2026</a:t>
            </a:r>
            <a:endParaRPr lang="en-US" sz="1600" dirty="0"/>
          </a:p>
        </p:txBody>
      </p:sp>
      <p:sp>
        <p:nvSpPr>
          <p:cNvPr id="9" name="Text 6"/>
          <p:cNvSpPr txBox="1"/>
          <p:nvPr/>
        </p:nvSpPr>
        <p:spPr>
          <a:xfrm>
            <a:off x="3931920" y="1325880"/>
            <a:ext cx="7802575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Чому підвищити</a:t>
            </a:r>
            <a:endParaRPr lang="en-US" sz="1600" dirty="0"/>
          </a:p>
        </p:txBody>
      </p:sp>
      <p:sp>
        <p:nvSpPr>
          <p:cNvPr id="10" name="bullets"/>
          <p:cNvSpPr txBox="1"/>
          <p:nvPr/>
        </p:nvSpPr>
        <p:spPr>
          <a:xfrm>
            <a:off x="3931920" y="1709928"/>
            <a:ext cx="7802575" cy="133668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Інфляція зросте до ≈10% у грудні; ризики зміщені вгору (нафта, тарифи, зарплати, очікування)</a:t>
            </a:r>
            <a:endParaRPr lang="en-US" sz="140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Базова інфляція наприкінці 2027 — 5,7% (НБУ: 5,1%): ринок праці перегрітий</a:t>
            </a:r>
            <a:endParaRPr lang="en-US" sz="140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Резерви знижуються: потрібна вища привабливість гривні, щоб зменшити попит на валюту</a:t>
            </a:r>
            <a:endParaRPr lang="en-US" sz="140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Ми рекомендуємо гнучкіший курс — ставка має утримати очікування</a:t>
            </a:r>
            <a:endParaRPr lang="en-US" sz="1400" dirty="0"/>
          </a:p>
        </p:txBody>
      </p:sp>
      <p:sp>
        <p:nvSpPr>
          <p:cNvPr id="11" name="Text 8"/>
          <p:cNvSpPr txBox="1"/>
          <p:nvPr/>
        </p:nvSpPr>
        <p:spPr>
          <a:xfrm>
            <a:off x="3931920" y="3092335"/>
            <a:ext cx="7802575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Чому не більше</a:t>
            </a:r>
            <a:endParaRPr lang="en-US" sz="1600" dirty="0"/>
          </a:p>
        </p:txBody>
      </p:sp>
      <p:sp>
        <p:nvSpPr>
          <p:cNvPr id="12" name="bullets"/>
          <p:cNvSpPr txBox="1"/>
          <p:nvPr/>
        </p:nvSpPr>
        <p:spPr>
          <a:xfrm>
            <a:off x="3931920" y="3476383"/>
            <a:ext cx="7802575" cy="102080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ВВП III кв. скоротився; реальна ставка вже ≈7% — вище нейтральної</a:t>
            </a:r>
            <a:endParaRPr lang="en-US" sz="140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Шоки здебільшого пропозиції: реагуємо на вторинні ефекти, а не на перший раунд</a:t>
            </a:r>
            <a:endParaRPr lang="en-US" sz="140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Без реакції на перший раунд адмінцін оптимум моделі — 16,5%</a:t>
            </a:r>
            <a:endParaRPr lang="en-US" sz="1400" dirty="0"/>
          </a:p>
        </p:txBody>
      </p:sp>
      <p:sp>
        <p:nvSpPr>
          <p:cNvPr id="13" name="Text 10"/>
          <p:cNvSpPr txBox="1"/>
          <p:nvPr/>
        </p:nvSpPr>
        <p:spPr>
          <a:xfrm>
            <a:off x="3931920" y="4542905"/>
            <a:ext cx="7802575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Орієнтири (forward guidance)</a:t>
            </a:r>
            <a:endParaRPr lang="en-US" sz="1600" dirty="0"/>
          </a:p>
        </p:txBody>
      </p:sp>
      <p:sp>
        <p:nvSpPr>
          <p:cNvPr id="14" name="bullets"/>
          <p:cNvSpPr txBox="1"/>
          <p:nvPr/>
        </p:nvSpPr>
        <p:spPr>
          <a:xfrm>
            <a:off x="3931920" y="4926953"/>
            <a:ext cx="7802575" cy="133668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Утримання 16,5% щонайменше до середини 2027; далі зниження до ≈15,0% наприкінці 2027 і ≈10,5% — 2028: інфляція 5% у 2029</a:t>
            </a:r>
            <a:endParaRPr lang="en-US" sz="140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Підвищення до 17–19% — якщо резерви &lt; $43 млрд і тиск на курс (сценарій дефіциту фінансування)</a:t>
            </a:r>
            <a:endParaRPr lang="en-US" sz="140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Швидше пом'якшення — якщо базова інфляція &lt; 7% і очікування знижуються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85855" y="6473952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24</a:t>
            </a:fld>
            <a:endParaRPr lang="en-US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11277295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6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Курс і резерви: без допомоги резерви наблизяться до 3 місяців імпорту</a:t>
            </a:r>
            <a:endParaRPr lang="en-US" sz="2600" dirty="0"/>
          </a:p>
        </p:txBody>
      </p:sp>
      <p:sp>
        <p:nvSpPr>
          <p:cNvPr id="4" name="sources"/>
          <p:cNvSpPr txBox="1"/>
          <p:nvPr/>
        </p:nvSpPr>
        <p:spPr>
          <a:xfrm>
            <a:off x="4937760" y="6455664"/>
            <a:ext cx="611093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F6B6D"/>
                </a:solidFill>
              </a:rPr>
              <a:t>Джерела: </a:t>
            </a:r>
            <a:pPr indent="0" marL="0">
              <a:buNone/>
            </a:pPr>
            <a:r>
              <a:rPr lang="en-US" sz="900" u="sng" dirty="0">
                <a:solidFill>
                  <a:srgbClr val="5F6B6D"/>
                </a:solidFill>
                <a:hlinkClick r:id="rId1" invalidUrl="" action="" tgtFrame="" tooltip="https://bank.gov.ua/ua/open-data/api-dev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API НБУ</a:t>
            </a:r>
            <a:pPr indent="0" marL="0">
              <a:buNone/>
            </a:pPr>
            <a:r>
              <a:rPr lang="en-US" sz="900" dirty="0">
                <a:solidFill>
                  <a:srgbClr val="5F6B6D"/>
                </a:solidFill>
              </a:rPr>
              <a:t> · </a:t>
            </a:r>
            <a:pPr indent="0" marL="0">
              <a:buNone/>
            </a:pPr>
            <a:r>
              <a:rPr lang="en-US" sz="900" u="sng" dirty="0">
                <a:solidFill>
                  <a:srgbClr val="5F6B6D"/>
                </a:solidFill>
                <a:hlinkClick r:id="rId2" invalidUrl="" action="" tgtFrame="" tooltip="https://bank.gov.ua/admin_uploads/article/Tables_Charts_2026-Q3.xlsx?v=19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дані графіків ІЗ</a:t>
            </a:r>
            <a:pPr indent="0" marL="0">
              <a:buNone/>
            </a:pPr>
            <a:r>
              <a:rPr lang="en-US" sz="900" dirty="0">
                <a:solidFill>
                  <a:srgbClr val="5F6B6D"/>
                </a:solidFill>
              </a:rPr>
              <a:t> · </a:t>
            </a:r>
            <a:pPr indent="0" marL="0">
              <a:buNone/>
            </a:pPr>
            <a:r>
              <a:rPr lang="en-US" sz="900" u="sng" dirty="0">
                <a:solidFill>
                  <a:srgbClr val="5F6B6D"/>
                </a:solidFill>
                <a:hlinkClick r:id="rId3" invalidUrl="" action="" tgtFrame="" tooltip="https://bank.gov.ua/admin_uploads/article/Macroeconomic_Forecast_table_2026_07.xlsx?v=19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макропрогноз НБУ</a:t>
            </a:r>
            <a:endParaRPr lang="en-US" sz="900" dirty="0"/>
          </a:p>
        </p:txBody>
      </p:sp>
      <p:pic>
        <p:nvPicPr>
          <p:cNvPr id="5" name="chart" descr="C:\Users\Lenovo\Documents\GitHub\nbu-challenge-2026\results\figures\fc_reserves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200" y="1325880"/>
            <a:ext cx="7040880" cy="4808281"/>
          </a:xfrm>
          <a:prstGeom prst="rect">
            <a:avLst/>
          </a:prstGeom>
        </p:spPr>
      </p:pic>
      <p:sp>
        <p:nvSpPr>
          <p:cNvPr id="6" name="bullets"/>
          <p:cNvSpPr txBox="1"/>
          <p:nvPr/>
        </p:nvSpPr>
        <p:spPr>
          <a:xfrm>
            <a:off x="7818120" y="1417320"/>
            <a:ext cx="3916375" cy="4892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Продаж НБУ ≈$5,0 млрд/міс, надходження ≈$3,7 млрд/міс. НБУ (липень) чекав $69,7 млрд на кінець 2026 — для цього треба ≈$13 млрд/міс</a:t>
            </a:r>
            <a:endParaRPr lang="en-US" sz="140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Наші сценарії на кінець 2026: $56 / 43 / 38 млрд = 5,0 / 3,8 / 3,4 міс. імпорту 2027 р. (як рахує НБУ)</a:t>
            </a:r>
            <a:endParaRPr lang="en-US" sz="140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Ринок чекає ≈47 грн/$ через рік (≈5% послаблення); за ставки 16,5% модель дає ≈1% на рік</a:t>
            </a:r>
            <a:endParaRPr lang="en-US" sz="140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Рекомендація: керована гнучкість — допускати послаблення до ≈4% на рік, інтервенції лише згладжують; рівень курсу не захищати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85855" y="6473952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25</a:t>
            </a:fld>
            <a:endParaRPr lang="en-US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11277295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6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Валютні обмеження: серпневий пакет зберегти, наступні кроки — на паузу</a:t>
            </a:r>
            <a:endParaRPr lang="en-US" sz="2600" dirty="0"/>
          </a:p>
        </p:txBody>
      </p:sp>
      <p:sp>
        <p:nvSpPr>
          <p:cNvPr id="4" name="sources"/>
          <p:cNvSpPr txBox="1"/>
          <p:nvPr/>
        </p:nvSpPr>
        <p:spPr>
          <a:xfrm>
            <a:off x="4937760" y="6455664"/>
            <a:ext cx="611093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F6B6D"/>
                </a:solidFill>
              </a:rPr>
              <a:t>Джерела: </a:t>
            </a:r>
            <a:pPr indent="0" marL="0">
              <a:buNone/>
            </a:pPr>
            <a:r>
              <a:rPr lang="en-US" sz="900" u="sng" dirty="0">
                <a:solidFill>
                  <a:srgbClr val="5F6B6D"/>
                </a:solidFill>
                <a:hlinkClick r:id="rId1" invalidUrl="" action="" tgtFrame="" tooltip="https://bank.gov.ua/ua/news/all/nbu-vprovadjuye-paket-pomyakshennya-valyutnih-obmejen-z-osnovnim-fokusom-na-pidtrimtsi-naselennya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пакет пом'якшення валютних обмежень</a:t>
            </a:r>
            <a:pPr indent="0" marL="0">
              <a:buNone/>
            </a:pPr>
            <a:r>
              <a:rPr lang="en-US" sz="900" dirty="0">
                <a:solidFill>
                  <a:srgbClr val="5F6B6D"/>
                </a:solidFill>
              </a:rPr>
              <a:t> · </a:t>
            </a:r>
            <a:pPr indent="0" marL="0">
              <a:buNone/>
            </a:pPr>
            <a:r>
              <a:rPr lang="en-US" sz="900" u="sng" dirty="0">
                <a:solidFill>
                  <a:srgbClr val="5F6B6D"/>
                </a:solidFill>
                <a:hlinkClick r:id="rId2" invalidUrl="" action="" tgtFrame="" tooltip="https://bank.gov.ua/admin_uploads/article/Strategy_for_easing_FX_restrictions_07-07-2023.pdf?v=19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Стратегія пом'якшення валютних обмежень</a:t>
            </a:r>
            <a:pPr indent="0" marL="0">
              <a:buNone/>
            </a:pPr>
            <a:r>
              <a:rPr lang="en-US" sz="900" dirty="0">
                <a:solidFill>
                  <a:srgbClr val="5F6B6D"/>
                </a:solidFill>
              </a:rPr>
              <a:t> · </a:t>
            </a:r>
            <a:pPr indent="0" marL="0">
              <a:buNone/>
            </a:pPr>
            <a:r>
              <a:rPr lang="en-US" sz="900" u="sng" dirty="0">
                <a:solidFill>
                  <a:srgbClr val="5F6B6D"/>
                </a:solidFill>
                <a:hlinkClick r:id="rId3" invalidUrl="" action="" tgtFrame="" tooltip="https://bank.gov.ua/ua/open-data/api-dev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API НБУ</a:t>
            </a:r>
            <a:endParaRPr lang="en-US" sz="900" dirty="0"/>
          </a:p>
        </p:txBody>
      </p:sp>
      <p:pic>
        <p:nvPicPr>
          <p:cNvPr id="5" name="chart" descr="C:\Users\Lenovo\Documents\GitHub\nbu-challenge-2026\results\figures\ov_fx_households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200" y="1325880"/>
            <a:ext cx="6732760" cy="4983480"/>
          </a:xfrm>
          <a:prstGeom prst="rect">
            <a:avLst/>
          </a:prstGeom>
        </p:spPr>
      </p:pic>
      <p:sp>
        <p:nvSpPr>
          <p:cNvPr id="6" name="bullets"/>
          <p:cNvSpPr txBox="1"/>
          <p:nvPr/>
        </p:nvSpPr>
        <p:spPr>
          <a:xfrm>
            <a:off x="7818120" y="1417320"/>
            <a:ext cx="3916375" cy="4892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Після підвищення ліміту (50 → 200 тис. грн/міс) купівля валюти населенням зросла з $0,39 до $0,58 млрд/міс (+49%) — керовано</a:t>
            </a:r>
            <a:endParaRPr lang="en-US" sz="140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Стратегія НБУ: кроки — за передумовами (резерви, очікування, реальна ставка), а не за календарем</a:t>
            </a:r>
            <a:endParaRPr lang="en-US" sz="140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Пауза для III етапу (капітальні операції, операції населення) до: резерви ≥ $50 млрд (≈4 міс. імпорту), ритмічна допомога, стабільні очікування</a:t>
            </a:r>
            <a:endParaRPr lang="en-US" sz="140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Продовжити стимулюючу лібералізацію (нові інвестиції, «додатковий» ліміт) — вона залучає валюту</a:t>
            </a:r>
            <a:endParaRPr lang="en-US" sz="140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Нові обмеження не запроваджувати: вони не замінюють макрокоригування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85855" y="6473952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26</a:t>
            </a:fld>
            <a:endParaRPr lang="en-US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11277295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6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Комунікація: «ставка — якір, курс — амортизатор»</a:t>
            </a:r>
            <a:endParaRPr lang="en-US" sz="2600" dirty="0"/>
          </a:p>
        </p:txBody>
      </p:sp>
      <p:sp>
        <p:nvSpPr>
          <p:cNvPr id="4" name="sources"/>
          <p:cNvSpPr txBox="1"/>
          <p:nvPr/>
        </p:nvSpPr>
        <p:spPr>
          <a:xfrm>
            <a:off x="4937760" y="6455664"/>
            <a:ext cx="611093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F6B6D"/>
                </a:solidFill>
              </a:rPr>
              <a:t>Джерела: </a:t>
            </a:r>
            <a:pPr indent="0" marL="0">
              <a:buNone/>
            </a:pPr>
            <a:r>
              <a:rPr lang="en-US" sz="900" u="sng" dirty="0">
                <a:solidFill>
                  <a:srgbClr val="5F6B6D"/>
                </a:solidFill>
                <a:hlinkClick r:id="rId1" invalidUrl="" action="" tgtFrame="" tooltip="https://bank.gov.ua/ua/news/all/natsionalniy-bank-ukrayini-pidvischiv-oblikovu-stavku-do-16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рішення НБУ 17.09.2026</a:t>
            </a:r>
            <a:endParaRPr lang="en-US" sz="900" dirty="0"/>
          </a:p>
        </p:txBody>
      </p:sp>
      <p:sp>
        <p:nvSpPr>
          <p:cNvPr id="5" name="press release"/>
          <p:cNvSpPr txBox="1"/>
          <p:nvPr/>
        </p:nvSpPr>
        <p:spPr>
          <a:xfrm>
            <a:off x="457200" y="4846320"/>
            <a:ext cx="11277295" cy="1463040"/>
          </a:xfrm>
          <a:prstGeom prst="rect">
            <a:avLst/>
          </a:prstGeom>
          <a:solidFill>
            <a:srgbClr val="FFFFFF"/>
          </a:solidFill>
          <a:ln w="15875">
            <a:solidFill>
              <a:srgbClr val="C98A00"/>
            </a:solidFill>
          </a:ln>
        </p:spPr>
        <p:txBody>
          <a:bodyPr wrap="square" lIns="76200" tIns="152400" rIns="152400" bIns="7620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chemeClr val="accent1"/>
                </a:solidFill>
              </a:rPr>
              <a:t>Проєкт пресрелізу: «Правління НБУ ухвалило рішення підвищити облікову ставку до 16,5% з огляду на прискорення інфляції, зміщення ризиків угору та зниження міжнародних резервів. НБУ утримуватиме ставку щонайменше до середини 2027 року та допускатиме більшу гнучкість курсу, згладжуючи надмірні коливання».</a:t>
            </a:r>
            <a:endParaRPr lang="en-US" sz="1400" dirty="0"/>
          </a:p>
        </p:txBody>
      </p:sp>
      <p:sp>
        <p:nvSpPr>
          <p:cNvPr id="6" name="card1"/>
          <p:cNvSpPr/>
          <p:nvPr/>
        </p:nvSpPr>
        <p:spPr>
          <a:xfrm>
            <a:off x="457200" y="1325880"/>
            <a:ext cx="3576218" cy="3246120"/>
          </a:xfrm>
          <a:prstGeom prst="roundRect">
            <a:avLst>
              <a:gd name="adj" fmla="val 2254"/>
            </a:avLst>
          </a:prstGeom>
          <a:solidFill>
            <a:srgbClr val="EAF1EF"/>
          </a:solidFill>
          <a:ln/>
        </p:spPr>
      </p:sp>
      <p:sp>
        <p:nvSpPr>
          <p:cNvPr id="7" name="badge1"/>
          <p:cNvSpPr/>
          <p:nvPr/>
        </p:nvSpPr>
        <p:spPr>
          <a:xfrm>
            <a:off x="685800" y="1554480"/>
            <a:ext cx="457200" cy="457200"/>
          </a:xfrm>
          <a:prstGeom prst="ellipse">
            <a:avLst/>
          </a:prstGeom>
          <a:solidFill>
            <a:srgbClr val="C98A00"/>
          </a:solidFill>
          <a:ln/>
        </p:spPr>
      </p:sp>
      <p:sp>
        <p:nvSpPr>
          <p:cNvPr id="8" name="Text 5"/>
          <p:cNvSpPr txBox="1"/>
          <p:nvPr/>
        </p:nvSpPr>
        <p:spPr>
          <a:xfrm>
            <a:off x="685800" y="15544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chemeClr val="bg1"/>
                </a:solidFill>
              </a:rPr>
              <a:t>1</a:t>
            </a:r>
            <a:endParaRPr lang="en-US" sz="1800" dirty="0"/>
          </a:p>
        </p:txBody>
      </p:sp>
      <p:sp>
        <p:nvSpPr>
          <p:cNvPr id="9" name="Text 6"/>
          <p:cNvSpPr txBox="1"/>
          <p:nvPr/>
        </p:nvSpPr>
        <p:spPr>
          <a:xfrm>
            <a:off x="1280160" y="1554480"/>
            <a:ext cx="257037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Ключові меседжі</a:t>
            </a:r>
            <a:endParaRPr lang="en-US" sz="1700" dirty="0"/>
          </a:p>
        </p:txBody>
      </p:sp>
      <p:sp>
        <p:nvSpPr>
          <p:cNvPr id="10" name="bullets"/>
          <p:cNvSpPr txBox="1"/>
          <p:nvPr/>
        </p:nvSpPr>
        <p:spPr>
          <a:xfrm>
            <a:off x="731520" y="2240280"/>
            <a:ext cx="3073298" cy="2148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НБУ підвищує ставку превентивно, щоб інфляція повернулася до 5% у 2029 році</a:t>
            </a:r>
            <a:endParaRPr lang="en-US" sz="140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Гнучкий курс захищає резерви; НБУ згладжує, але не фіксує курс</a:t>
            </a:r>
            <a:endParaRPr lang="en-US" sz="140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Гривневі депозити й ОВДП залишаються вигіднішими за валюту з урахуванням інфляції</a:t>
            </a:r>
            <a:endParaRPr lang="en-US" sz="1400" dirty="0"/>
          </a:p>
        </p:txBody>
      </p:sp>
      <p:sp>
        <p:nvSpPr>
          <p:cNvPr id="11" name="card2"/>
          <p:cNvSpPr/>
          <p:nvPr/>
        </p:nvSpPr>
        <p:spPr>
          <a:xfrm>
            <a:off x="4307738" y="1325880"/>
            <a:ext cx="3576218" cy="3246120"/>
          </a:xfrm>
          <a:prstGeom prst="roundRect">
            <a:avLst>
              <a:gd name="adj" fmla="val 2254"/>
            </a:avLst>
          </a:prstGeom>
          <a:solidFill>
            <a:srgbClr val="EAF1EF"/>
          </a:solidFill>
          <a:ln/>
        </p:spPr>
      </p:sp>
      <p:sp>
        <p:nvSpPr>
          <p:cNvPr id="12" name="badge2"/>
          <p:cNvSpPr/>
          <p:nvPr/>
        </p:nvSpPr>
        <p:spPr>
          <a:xfrm>
            <a:off x="4536338" y="1554480"/>
            <a:ext cx="457200" cy="457200"/>
          </a:xfrm>
          <a:prstGeom prst="ellipse">
            <a:avLst/>
          </a:prstGeom>
          <a:solidFill>
            <a:srgbClr val="C98A00"/>
          </a:solidFill>
          <a:ln/>
        </p:spPr>
      </p:sp>
      <p:sp>
        <p:nvSpPr>
          <p:cNvPr id="13" name="Text 10"/>
          <p:cNvSpPr txBox="1"/>
          <p:nvPr/>
        </p:nvSpPr>
        <p:spPr>
          <a:xfrm>
            <a:off x="4536338" y="15544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chemeClr val="bg1"/>
                </a:solidFill>
              </a:rPr>
              <a:t>2</a:t>
            </a:r>
            <a:endParaRPr lang="en-US" sz="1800" dirty="0"/>
          </a:p>
        </p:txBody>
      </p:sp>
      <p:sp>
        <p:nvSpPr>
          <p:cNvPr id="14" name="Text 11"/>
          <p:cNvSpPr txBox="1"/>
          <p:nvPr/>
        </p:nvSpPr>
        <p:spPr>
          <a:xfrm>
            <a:off x="5130698" y="1554480"/>
            <a:ext cx="257037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Орієнтир для ринку</a:t>
            </a:r>
            <a:endParaRPr lang="en-US" sz="1700" dirty="0"/>
          </a:p>
        </p:txBody>
      </p:sp>
      <p:sp>
        <p:nvSpPr>
          <p:cNvPr id="15" name="bullets"/>
          <p:cNvSpPr txBox="1"/>
          <p:nvPr/>
        </p:nvSpPr>
        <p:spPr>
          <a:xfrm>
            <a:off x="4582058" y="2240280"/>
            <a:ext cx="3073298" cy="2148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Утримання 16,5% щонайменше до середини 2027</a:t>
            </a:r>
            <a:endParaRPr lang="en-US" sz="140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Пом'якшення — з другого півріччя 2027, якщо інфляція й очікування знижуватимуться</a:t>
            </a:r>
            <a:endParaRPr lang="en-US" sz="140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Готовність до додаткових заходів, якщо резерви й курс опиняться під тиском</a:t>
            </a:r>
            <a:endParaRPr lang="en-US" sz="1400" dirty="0"/>
          </a:p>
        </p:txBody>
      </p:sp>
      <p:sp>
        <p:nvSpPr>
          <p:cNvPr id="16" name="card3"/>
          <p:cNvSpPr/>
          <p:nvPr/>
        </p:nvSpPr>
        <p:spPr>
          <a:xfrm>
            <a:off x="8158277" y="1325880"/>
            <a:ext cx="3576218" cy="3246120"/>
          </a:xfrm>
          <a:prstGeom prst="roundRect">
            <a:avLst>
              <a:gd name="adj" fmla="val 2254"/>
            </a:avLst>
          </a:prstGeom>
          <a:solidFill>
            <a:srgbClr val="EAF1EF"/>
          </a:solidFill>
          <a:ln/>
        </p:spPr>
      </p:sp>
      <p:sp>
        <p:nvSpPr>
          <p:cNvPr id="17" name="badge3"/>
          <p:cNvSpPr/>
          <p:nvPr/>
        </p:nvSpPr>
        <p:spPr>
          <a:xfrm>
            <a:off x="8386877" y="1554480"/>
            <a:ext cx="457200" cy="457200"/>
          </a:xfrm>
          <a:prstGeom prst="ellipse">
            <a:avLst/>
          </a:prstGeom>
          <a:solidFill>
            <a:srgbClr val="C98A00"/>
          </a:solidFill>
          <a:ln/>
        </p:spPr>
      </p:sp>
      <p:sp>
        <p:nvSpPr>
          <p:cNvPr id="18" name="Text 15"/>
          <p:cNvSpPr txBox="1"/>
          <p:nvPr/>
        </p:nvSpPr>
        <p:spPr>
          <a:xfrm>
            <a:off x="8386877" y="15544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chemeClr val="bg1"/>
                </a:solidFill>
              </a:rPr>
              <a:t>3</a:t>
            </a:r>
            <a:endParaRPr lang="en-US" sz="1800" dirty="0"/>
          </a:p>
        </p:txBody>
      </p:sp>
      <p:sp>
        <p:nvSpPr>
          <p:cNvPr id="19" name="Text 16"/>
          <p:cNvSpPr txBox="1"/>
          <p:nvPr/>
        </p:nvSpPr>
        <p:spPr>
          <a:xfrm>
            <a:off x="8981237" y="1554480"/>
            <a:ext cx="257037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Чого уникати</a:t>
            </a:r>
            <a:endParaRPr lang="en-US" sz="1700" dirty="0"/>
          </a:p>
        </p:txBody>
      </p:sp>
      <p:sp>
        <p:nvSpPr>
          <p:cNvPr id="20" name="bullets"/>
          <p:cNvSpPr txBox="1"/>
          <p:nvPr/>
        </p:nvSpPr>
        <p:spPr>
          <a:xfrm>
            <a:off x="8432597" y="2240280"/>
            <a:ext cx="3073298" cy="2148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Обіцянок конкретного курсу</a:t>
            </a:r>
            <a:endParaRPr lang="en-US" sz="140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Сигналів про швидке зниження ставки до стабілізації допомоги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85855" y="6473952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27</a:t>
            </a:fld>
            <a:endParaRPr lang="en-US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731520" y="640080"/>
            <a:ext cx="106984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chemeClr val="bg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Підсумок</a:t>
            </a:r>
            <a:endParaRPr lang="en-US" sz="3600" dirty="0"/>
          </a:p>
        </p:txBody>
      </p:sp>
      <p:sp>
        <p:nvSpPr>
          <p:cNvPr id="3" name="n1"/>
          <p:cNvSpPr/>
          <p:nvPr/>
        </p:nvSpPr>
        <p:spPr>
          <a:xfrm>
            <a:off x="731520" y="1783080"/>
            <a:ext cx="566928" cy="566928"/>
          </a:xfrm>
          <a:prstGeom prst="ellipse">
            <a:avLst/>
          </a:prstGeom>
          <a:solidFill>
            <a:srgbClr val="C98A00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731520" y="178308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0E3B43"/>
                </a:solidFill>
              </a:rPr>
              <a:t>1</a:t>
            </a:r>
            <a:endParaRPr lang="en-US" sz="2000" dirty="0"/>
          </a:p>
        </p:txBody>
      </p:sp>
      <p:sp>
        <p:nvSpPr>
          <p:cNvPr id="5" name="Text 3"/>
          <p:cNvSpPr txBox="1"/>
          <p:nvPr/>
        </p:nvSpPr>
        <p:spPr>
          <a:xfrm>
            <a:off x="1554480" y="1709928"/>
            <a:ext cx="9875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chemeClr val="bg1"/>
                </a:solidFill>
              </a:rPr>
              <a:t>Підвищити облікову ставку до 16,5% та утримувати щонайменше до середини 2027</a:t>
            </a:r>
            <a:endParaRPr lang="en-US" sz="2000" dirty="0"/>
          </a:p>
        </p:txBody>
      </p:sp>
      <p:sp>
        <p:nvSpPr>
          <p:cNvPr id="6" name="n2"/>
          <p:cNvSpPr/>
          <p:nvPr/>
        </p:nvSpPr>
        <p:spPr>
          <a:xfrm>
            <a:off x="731520" y="2834640"/>
            <a:ext cx="566928" cy="566928"/>
          </a:xfrm>
          <a:prstGeom prst="ellipse">
            <a:avLst/>
          </a:prstGeom>
          <a:solidFill>
            <a:srgbClr val="C98A00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731520" y="283464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0E3B43"/>
                </a:solidFill>
              </a:rPr>
              <a:t>2</a:t>
            </a:r>
            <a:endParaRPr lang="en-US" sz="2000" dirty="0"/>
          </a:p>
        </p:txBody>
      </p:sp>
      <p:sp>
        <p:nvSpPr>
          <p:cNvPr id="8" name="Text 6"/>
          <p:cNvSpPr txBox="1"/>
          <p:nvPr/>
        </p:nvSpPr>
        <p:spPr>
          <a:xfrm>
            <a:off x="1554480" y="2761488"/>
            <a:ext cx="9875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chemeClr val="bg1"/>
                </a:solidFill>
              </a:rPr>
              <a:t>Керована гнучкість курсу: поступове послаблення гривні замість витрачання резервів</a:t>
            </a:r>
            <a:endParaRPr lang="en-US" sz="2000" dirty="0"/>
          </a:p>
        </p:txBody>
      </p:sp>
      <p:sp>
        <p:nvSpPr>
          <p:cNvPr id="9" name="n3"/>
          <p:cNvSpPr/>
          <p:nvPr/>
        </p:nvSpPr>
        <p:spPr>
          <a:xfrm>
            <a:off x="731520" y="3886200"/>
            <a:ext cx="566928" cy="566928"/>
          </a:xfrm>
          <a:prstGeom prst="ellipse">
            <a:avLst/>
          </a:prstGeom>
          <a:solidFill>
            <a:srgbClr val="C98A00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731520" y="388620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0E3B43"/>
                </a:solidFill>
              </a:rPr>
              <a:t>3</a:t>
            </a:r>
            <a:endParaRPr lang="en-US" sz="2000" dirty="0"/>
          </a:p>
        </p:txBody>
      </p:sp>
      <p:sp>
        <p:nvSpPr>
          <p:cNvPr id="11" name="Text 9"/>
          <p:cNvSpPr txBox="1"/>
          <p:nvPr/>
        </p:nvSpPr>
        <p:spPr>
          <a:xfrm>
            <a:off x="1554480" y="3813048"/>
            <a:ext cx="9875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chemeClr val="bg1"/>
                </a:solidFill>
              </a:rPr>
              <a:t>Пауза в лібералізації валютних обмежень до відновлення резервів і допомоги</a:t>
            </a:r>
            <a:endParaRPr lang="en-US" sz="2000" dirty="0"/>
          </a:p>
        </p:txBody>
      </p:sp>
      <p:sp>
        <p:nvSpPr>
          <p:cNvPr id="12" name="n4"/>
          <p:cNvSpPr/>
          <p:nvPr/>
        </p:nvSpPr>
        <p:spPr>
          <a:xfrm>
            <a:off x="731520" y="4937760"/>
            <a:ext cx="566928" cy="566928"/>
          </a:xfrm>
          <a:prstGeom prst="ellipse">
            <a:avLst/>
          </a:prstGeom>
          <a:solidFill>
            <a:srgbClr val="C98A00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731520" y="493776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0E3B43"/>
                </a:solidFill>
              </a:rPr>
              <a:t>4</a:t>
            </a:r>
            <a:endParaRPr lang="en-US" sz="2000" dirty="0"/>
          </a:p>
        </p:txBody>
      </p:sp>
      <p:sp>
        <p:nvSpPr>
          <p:cNvPr id="14" name="Text 12"/>
          <p:cNvSpPr txBox="1"/>
          <p:nvPr/>
        </p:nvSpPr>
        <p:spPr>
          <a:xfrm>
            <a:off x="1554480" y="4864608"/>
            <a:ext cx="9875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chemeClr val="bg1"/>
                </a:solidFill>
              </a:rPr>
              <a:t>Базовий прогноз: інфляція ≈9,9% у грудні 2026, 6,5% наприкінці 2027, ціль 5% — II кв. 2029</a:t>
            </a:r>
            <a:endParaRPr lang="en-US" sz="2000" dirty="0"/>
          </a:p>
        </p:txBody>
      </p:sp>
      <p:sp>
        <p:nvSpPr>
          <p:cNvPr id="16" name="Text 0"/>
          <p:cNvSpPr/>
          <p:nvPr>
            <p:ph idx="100" type="title" hasCustomPrompt="1"/>
          </p:nvPr>
        </p:nvSpPr>
        <p:spPr>
          <a:xfrm>
            <a:off x="731520" y="2377440"/>
            <a:ext cx="1069848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endParaRPr lang="en-US" sz="4000" dirty="0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731520" y="2377440"/>
            <a:ext cx="1069848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4000" b="1" dirty="0">
                <a:solidFill>
                  <a:schemeClr val="bg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Додатки</a:t>
            </a:r>
            <a:endParaRPr lang="en-US" sz="4000" dirty="0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11277295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6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Додаток 1. Модель: QPM НБУ + розширення команди</a:t>
            </a:r>
            <a:endParaRPr lang="en-US" sz="2600" dirty="0"/>
          </a:p>
        </p:txBody>
      </p:sp>
      <p:sp>
        <p:nvSpPr>
          <p:cNvPr id="4" name="sources"/>
          <p:cNvSpPr txBox="1"/>
          <p:nvPr/>
        </p:nvSpPr>
        <p:spPr>
          <a:xfrm>
            <a:off x="4937760" y="6455664"/>
            <a:ext cx="611093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F6B6D"/>
                </a:solidFill>
              </a:rPr>
              <a:t>Джерела: </a:t>
            </a:r>
            <a:pPr indent="0" marL="0">
              <a:buNone/>
            </a:pPr>
            <a:r>
              <a:rPr lang="en-US" sz="900" u="sng" dirty="0">
                <a:solidFill>
                  <a:srgbClr val="5F6B6D"/>
                </a:solidFill>
                <a:hlinkClick r:id="rId1" invalidUrl="" action="" tgtFrame="" tooltip="https://events.bank.gov.ua/uchallenge2026/files/nbu_challenge_model_2026.zip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модель-шаблон НБУ</a:t>
            </a:r>
            <a:pPr indent="0" marL="0">
              <a:buNone/>
            </a:pPr>
            <a:r>
              <a:rPr lang="en-US" sz="900" dirty="0">
                <a:solidFill>
                  <a:srgbClr val="5F6B6D"/>
                </a:solidFill>
              </a:rPr>
              <a:t> · </a:t>
            </a:r>
            <a:pPr indent="0" marL="0">
              <a:buNone/>
            </a:pPr>
            <a:r>
              <a:rPr lang="en-US" sz="900" u="sng" dirty="0">
                <a:solidFill>
                  <a:srgbClr val="5F6B6D"/>
                </a:solidFill>
                <a:hlinkClick r:id="rId2" invalidUrl="" action="" tgtFrame="" tooltip="https://bank.gov.ua/ua/open-data/api-dev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API НБУ</a:t>
            </a:r>
            <a:pPr indent="0" marL="0">
              <a:buNone/>
            </a:pPr>
            <a:r>
              <a:rPr lang="en-US" sz="900" dirty="0">
                <a:solidFill>
                  <a:srgbClr val="5F6B6D"/>
                </a:solidFill>
              </a:rPr>
              <a:t> · </a:t>
            </a:r>
            <a:pPr indent="0" marL="0">
              <a:buNone/>
            </a:pPr>
            <a:r>
              <a:rPr lang="en-US" sz="900" u="sng" dirty="0">
                <a:solidFill>
                  <a:srgbClr val="5F6B6D"/>
                </a:solidFill>
                <a:hlinkClick r:id="rId3" invalidUrl="" action="" tgtFrame="" tooltip="https://data.ecb.europa.eu/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ЄЦБ Data Portal</a:t>
            </a:r>
            <a:pPr indent="0" marL="0">
              <a:buNone/>
            </a:pPr>
            <a:r>
              <a:rPr lang="en-US" sz="900" dirty="0">
                <a:solidFill>
                  <a:srgbClr val="5F6B6D"/>
                </a:solidFill>
              </a:rPr>
              <a:t> · </a:t>
            </a:r>
            <a:pPr indent="0" marL="0">
              <a:buNone/>
            </a:pPr>
            <a:r>
              <a:rPr lang="en-US" sz="900" u="sng" dirty="0">
                <a:solidFill>
                  <a:srgbClr val="5F6B6D"/>
                </a:solidFill>
                <a:hlinkClick r:id="rId4" invalidUrl="" action="" tgtFrame="" tooltip="https://ec.europa.eu/eurostat/databrowser/view/prc_hicp_minr/default/table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Eurostat HICP</a:t>
            </a:r>
            <a:endParaRPr lang="en-US" sz="900" dirty="0"/>
          </a:p>
        </p:txBody>
      </p:sp>
      <p:sp>
        <p:nvSpPr>
          <p:cNvPr id="5" name="eq1"/>
          <p:cNvSpPr/>
          <p:nvPr/>
        </p:nvSpPr>
        <p:spPr>
          <a:xfrm>
            <a:off x="457200" y="1325880"/>
            <a:ext cx="11277295" cy="749808"/>
          </a:xfrm>
          <a:prstGeom prst="roundRect">
            <a:avLst>
              <a:gd name="adj" fmla="val 7317"/>
            </a:avLst>
          </a:prstGeom>
          <a:solidFill>
            <a:srgbClr val="EAF1EF"/>
          </a:solidFill>
          <a:ln w="6350">
            <a:solidFill>
              <a:srgbClr val="C9D6D3"/>
            </a:solidFill>
            <a:prstDash val="solid"/>
          </a:ln>
        </p:spPr>
      </p:sp>
      <p:sp>
        <p:nvSpPr>
          <p:cNvPr id="6" name="Text 3"/>
          <p:cNvSpPr txBox="1"/>
          <p:nvPr/>
        </p:nvSpPr>
        <p:spPr>
          <a:xfrm>
            <a:off x="685800" y="1325880"/>
            <a:ext cx="301752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accent1"/>
                </a:solidFill>
              </a:rPr>
              <a:t>Попит (розрив ВВП)</a:t>
            </a:r>
            <a:endParaRPr lang="en-US" sz="1400" dirty="0"/>
          </a:p>
        </p:txBody>
      </p:sp>
      <p:sp>
        <p:nvSpPr>
          <p:cNvPr id="7" name="Text 4"/>
          <p:cNvSpPr txBox="1"/>
          <p:nvPr/>
        </p:nvSpPr>
        <p:spPr>
          <a:xfrm>
            <a:off x="3749040" y="1325880"/>
            <a:ext cx="7802575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  <a:latin typeface="Cambria Math" pitchFamily="34" charset="0"/>
                <a:ea typeface="Cambria Math" pitchFamily="34" charset="-122"/>
                <a:cs typeface="Cambria Math" pitchFamily="34" charset="-120"/>
              </a:rPr>
              <a:t>ŷₜ = 0,7·ŷₜ₋₁ − 0,4·MCIₜ + 0,3·ŷ*ₜ + εʸ;   MCI = −0,5·z̃ + 0,3·r̃ + 0,2·prem̃</a:t>
            </a:r>
            <a:endParaRPr lang="en-US" sz="1600" dirty="0"/>
          </a:p>
        </p:txBody>
      </p:sp>
      <p:sp>
        <p:nvSpPr>
          <p:cNvPr id="8" name="eq2"/>
          <p:cNvSpPr/>
          <p:nvPr/>
        </p:nvSpPr>
        <p:spPr>
          <a:xfrm>
            <a:off x="457200" y="2194560"/>
            <a:ext cx="11277295" cy="749808"/>
          </a:xfrm>
          <a:prstGeom prst="roundRect">
            <a:avLst>
              <a:gd name="adj" fmla="val 7317"/>
            </a:avLst>
          </a:prstGeom>
          <a:solidFill>
            <a:srgbClr val="FFFFFF"/>
          </a:solidFill>
          <a:ln w="6350">
            <a:solidFill>
              <a:srgbClr val="C9D6D3"/>
            </a:solidFill>
            <a:prstDash val="solid"/>
          </a:ln>
        </p:spPr>
      </p:sp>
      <p:sp>
        <p:nvSpPr>
          <p:cNvPr id="9" name="Text 6"/>
          <p:cNvSpPr txBox="1"/>
          <p:nvPr/>
        </p:nvSpPr>
        <p:spPr>
          <a:xfrm>
            <a:off x="685800" y="2194560"/>
            <a:ext cx="301752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accent1"/>
                </a:solidFill>
              </a:rPr>
              <a:t>Базова інфляція (Філіпс)</a:t>
            </a:r>
            <a:endParaRPr lang="en-US" sz="1400" dirty="0"/>
          </a:p>
        </p:txBody>
      </p:sp>
      <p:sp>
        <p:nvSpPr>
          <p:cNvPr id="10" name="Text 7"/>
          <p:cNvSpPr txBox="1"/>
          <p:nvPr/>
        </p:nvSpPr>
        <p:spPr>
          <a:xfrm>
            <a:off x="3749040" y="2194560"/>
            <a:ext cx="7802575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  <a:latin typeface="Cambria Math" pitchFamily="34" charset="0"/>
                <a:ea typeface="Cambria Math" pitchFamily="34" charset="-122"/>
                <a:cs typeface="Cambria Math" pitchFamily="34" charset="-120"/>
              </a:rPr>
              <a:t>πᶜₜ = 0,4·πᶜₜ₋₁ + 0,6·Eₜπᶜₜ₊₁ + 0,3·rmcₜ + εᶜ;   rmc = 0,6·ŷ + 0,4·z̃,  z = s − pᶜ + p*</a:t>
            </a:r>
            <a:endParaRPr lang="en-US" sz="1600" dirty="0"/>
          </a:p>
        </p:txBody>
      </p:sp>
      <p:sp>
        <p:nvSpPr>
          <p:cNvPr id="11" name="eq3"/>
          <p:cNvSpPr/>
          <p:nvPr/>
        </p:nvSpPr>
        <p:spPr>
          <a:xfrm>
            <a:off x="457200" y="3063240"/>
            <a:ext cx="11277295" cy="749808"/>
          </a:xfrm>
          <a:prstGeom prst="roundRect">
            <a:avLst>
              <a:gd name="adj" fmla="val 7317"/>
            </a:avLst>
          </a:prstGeom>
          <a:solidFill>
            <a:srgbClr val="EAF1EF"/>
          </a:solidFill>
          <a:ln w="6350">
            <a:solidFill>
              <a:srgbClr val="C9D6D3"/>
            </a:solidFill>
            <a:prstDash val="solid"/>
          </a:ln>
        </p:spPr>
      </p:sp>
      <p:sp>
        <p:nvSpPr>
          <p:cNvPr id="12" name="Text 9"/>
          <p:cNvSpPr txBox="1"/>
          <p:nvPr/>
        </p:nvSpPr>
        <p:spPr>
          <a:xfrm>
            <a:off x="685800" y="3063240"/>
            <a:ext cx="301752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accent1"/>
                </a:solidFill>
              </a:rPr>
              <a:t>Небазові ціни (наше)</a:t>
            </a:r>
            <a:endParaRPr lang="en-US" sz="1400" dirty="0"/>
          </a:p>
        </p:txBody>
      </p:sp>
      <p:sp>
        <p:nvSpPr>
          <p:cNvPr id="13" name="Text 10"/>
          <p:cNvSpPr txBox="1"/>
          <p:nvPr/>
        </p:nvSpPr>
        <p:spPr>
          <a:xfrm>
            <a:off x="3749040" y="3063240"/>
            <a:ext cx="7802575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  <a:latin typeface="Cambria Math" pitchFamily="34" charset="0"/>
                <a:ea typeface="Cambria Math" pitchFamily="34" charset="-122"/>
                <a:cs typeface="Cambria Math" pitchFamily="34" charset="-120"/>
              </a:rPr>
              <a:t>Δrncₜ = 0,3·Δrncₜ₋₁ + 0,016·(Δoilₜ + Δzₜ) + εⁿᶜ;   πₜ = πᶜₜ + Δrncₜ</a:t>
            </a:r>
            <a:endParaRPr lang="en-US" sz="1600" dirty="0"/>
          </a:p>
        </p:txBody>
      </p:sp>
      <p:sp>
        <p:nvSpPr>
          <p:cNvPr id="14" name="eq4"/>
          <p:cNvSpPr/>
          <p:nvPr/>
        </p:nvSpPr>
        <p:spPr>
          <a:xfrm>
            <a:off x="457200" y="3931920"/>
            <a:ext cx="11277295" cy="749808"/>
          </a:xfrm>
          <a:prstGeom prst="roundRect">
            <a:avLst>
              <a:gd name="adj" fmla="val 7317"/>
            </a:avLst>
          </a:prstGeom>
          <a:solidFill>
            <a:srgbClr val="FFFFFF"/>
          </a:solidFill>
          <a:ln w="6350">
            <a:solidFill>
              <a:srgbClr val="C9D6D3"/>
            </a:solidFill>
            <a:prstDash val="solid"/>
          </a:ln>
        </p:spPr>
      </p:sp>
      <p:sp>
        <p:nvSpPr>
          <p:cNvPr id="15" name="Text 12"/>
          <p:cNvSpPr txBox="1"/>
          <p:nvPr/>
        </p:nvSpPr>
        <p:spPr>
          <a:xfrm>
            <a:off x="685800" y="3931920"/>
            <a:ext cx="301752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accent1"/>
                </a:solidFill>
              </a:rPr>
              <a:t>Курс (керована гнучкість)</a:t>
            </a:r>
            <a:endParaRPr lang="en-US" sz="1400" dirty="0"/>
          </a:p>
        </p:txBody>
      </p:sp>
      <p:sp>
        <p:nvSpPr>
          <p:cNvPr id="16" name="Text 13"/>
          <p:cNvSpPr txBox="1"/>
          <p:nvPr/>
        </p:nvSpPr>
        <p:spPr>
          <a:xfrm>
            <a:off x="3749040" y="3931920"/>
            <a:ext cx="7802575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  <a:latin typeface="Cambria Math" pitchFamily="34" charset="0"/>
                <a:ea typeface="Cambria Math" pitchFamily="34" charset="-122"/>
                <a:cs typeface="Cambria Math" pitchFamily="34" charset="-120"/>
              </a:rPr>
              <a:t>sₜ = β·s̄ₜ + (1−β)·sᵘⁱᵖₜ,  β = 0,7;   sᵘⁱᵖ = Eₜsₜ₊₁ + (i* + prem − i)/4</a:t>
            </a:r>
            <a:endParaRPr lang="en-US" sz="1600" dirty="0"/>
          </a:p>
        </p:txBody>
      </p:sp>
      <p:sp>
        <p:nvSpPr>
          <p:cNvPr id="17" name="eq5"/>
          <p:cNvSpPr/>
          <p:nvPr/>
        </p:nvSpPr>
        <p:spPr>
          <a:xfrm>
            <a:off x="457200" y="4800600"/>
            <a:ext cx="11277295" cy="749808"/>
          </a:xfrm>
          <a:prstGeom prst="roundRect">
            <a:avLst>
              <a:gd name="adj" fmla="val 7317"/>
            </a:avLst>
          </a:prstGeom>
          <a:solidFill>
            <a:srgbClr val="EAF1EF"/>
          </a:solidFill>
          <a:ln w="6350">
            <a:solidFill>
              <a:srgbClr val="C9D6D3"/>
            </a:solidFill>
            <a:prstDash val="solid"/>
          </a:ln>
        </p:spPr>
      </p:sp>
      <p:sp>
        <p:nvSpPr>
          <p:cNvPr id="18" name="Text 15"/>
          <p:cNvSpPr txBox="1"/>
          <p:nvPr/>
        </p:nvSpPr>
        <p:spPr>
          <a:xfrm>
            <a:off x="685800" y="4800600"/>
            <a:ext cx="301752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accent1"/>
                </a:solidFill>
              </a:rPr>
              <a:t>Ставка (правило Тейлора)</a:t>
            </a:r>
            <a:endParaRPr lang="en-US" sz="1400" dirty="0"/>
          </a:p>
        </p:txBody>
      </p:sp>
      <p:sp>
        <p:nvSpPr>
          <p:cNvPr id="19" name="Text 16"/>
          <p:cNvSpPr txBox="1"/>
          <p:nvPr/>
        </p:nvSpPr>
        <p:spPr>
          <a:xfrm>
            <a:off x="3749040" y="4800600"/>
            <a:ext cx="7802575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  <a:latin typeface="Cambria Math" pitchFamily="34" charset="0"/>
                <a:ea typeface="Cambria Math" pitchFamily="34" charset="-122"/>
                <a:cs typeface="Cambria Math" pitchFamily="34" charset="-120"/>
              </a:rPr>
              <a:t>iₜ = 0,8·iₜ₋₁ + 0,2·(r̄ₜ + Eπₜ₊₁ + (Eπₜ₊₃ − 5) + 0,5·ŷₜ) + εⁱ</a:t>
            </a:r>
            <a:endParaRPr lang="en-US" sz="1600" dirty="0"/>
          </a:p>
        </p:txBody>
      </p:sp>
      <p:sp>
        <p:nvSpPr>
          <p:cNvPr id="20" name="num1"/>
          <p:cNvSpPr/>
          <p:nvPr/>
        </p:nvSpPr>
        <p:spPr>
          <a:xfrm>
            <a:off x="457200" y="5916168"/>
            <a:ext cx="310896" cy="310896"/>
          </a:xfrm>
          <a:prstGeom prst="ellipse">
            <a:avLst/>
          </a:prstGeom>
          <a:solidFill>
            <a:srgbClr val="C98A00"/>
          </a:solidFill>
          <a:ln/>
        </p:spPr>
      </p:sp>
      <p:sp>
        <p:nvSpPr>
          <p:cNvPr id="21" name="Text 18"/>
          <p:cNvSpPr txBox="1"/>
          <p:nvPr/>
        </p:nvSpPr>
        <p:spPr>
          <a:xfrm>
            <a:off x="457200" y="5916168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bg1"/>
                </a:solidFill>
              </a:rPr>
              <a:t>1</a:t>
            </a:r>
            <a:endParaRPr lang="en-US" sz="1200" dirty="0"/>
          </a:p>
        </p:txBody>
      </p:sp>
      <p:sp>
        <p:nvSpPr>
          <p:cNvPr id="22" name="point1"/>
          <p:cNvSpPr txBox="1"/>
          <p:nvPr/>
        </p:nvSpPr>
        <p:spPr>
          <a:xfrm>
            <a:off x="868680" y="5897880"/>
            <a:ext cx="509000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Калібрування — шаблон НБУ, Grui &amp; Vdovychenko (2019); вага нафти — наше калібрування</a:t>
            </a:r>
            <a:endParaRPr lang="en-US" sz="1300" dirty="0"/>
          </a:p>
        </p:txBody>
      </p:sp>
      <p:sp>
        <p:nvSpPr>
          <p:cNvPr id="23" name="num2"/>
          <p:cNvSpPr/>
          <p:nvPr/>
        </p:nvSpPr>
        <p:spPr>
          <a:xfrm>
            <a:off x="6233008" y="5916168"/>
            <a:ext cx="310896" cy="310896"/>
          </a:xfrm>
          <a:prstGeom prst="ellipse">
            <a:avLst/>
          </a:prstGeom>
          <a:solidFill>
            <a:srgbClr val="C98A00"/>
          </a:solidFill>
          <a:ln/>
        </p:spPr>
      </p:sp>
      <p:sp>
        <p:nvSpPr>
          <p:cNvPr id="24" name="Text 21"/>
          <p:cNvSpPr txBox="1"/>
          <p:nvPr/>
        </p:nvSpPr>
        <p:spPr>
          <a:xfrm>
            <a:off x="6233008" y="5916168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bg1"/>
                </a:solidFill>
              </a:rPr>
              <a:t>2</a:t>
            </a:r>
            <a:endParaRPr lang="en-US" sz="1200" dirty="0"/>
          </a:p>
        </p:txBody>
      </p:sp>
      <p:sp>
        <p:nvSpPr>
          <p:cNvPr id="25" name="point2"/>
          <p:cNvSpPr txBox="1"/>
          <p:nvPr/>
        </p:nvSpPr>
        <p:spPr>
          <a:xfrm>
            <a:off x="6644488" y="5897880"/>
            <a:ext cx="509000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Тренди й розриви — фільтр Калмана, 2016–2026; злам 2022: шок потенційного ВВП, розрив −18% у II кв.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85855" y="6473952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30</a:t>
            </a:fld>
            <a:endParaRPr lang="en-US"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11277295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6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Додаток 2. Реакція на шок ставки залежить від контролю над курсом (β)</a:t>
            </a:r>
            <a:endParaRPr lang="en-US" sz="2600" dirty="0"/>
          </a:p>
        </p:txBody>
      </p:sp>
      <p:sp>
        <p:nvSpPr>
          <p:cNvPr id="4" name="sources"/>
          <p:cNvSpPr txBox="1"/>
          <p:nvPr/>
        </p:nvSpPr>
        <p:spPr>
          <a:xfrm>
            <a:off x="4937760" y="6455664"/>
            <a:ext cx="611093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F6B6D"/>
                </a:solidFill>
              </a:rPr>
              <a:t>Джерела: </a:t>
            </a:r>
            <a:pPr indent="0" marL="0">
              <a:buNone/>
            </a:pPr>
            <a:r>
              <a:rPr lang="en-US" sz="900" u="sng" dirty="0">
                <a:solidFill>
                  <a:srgbClr val="5F6B6D"/>
                </a:solidFill>
                <a:hlinkClick r:id="rId1" invalidUrl="" action="" tgtFrame="" tooltip="https://events.bank.gov.ua/uchallenge2026/files/nbu_challenge_model_2026.zip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модель-шаблон НБУ</a:t>
            </a:r>
            <a:endParaRPr lang="en-US" sz="900" dirty="0"/>
          </a:p>
        </p:txBody>
      </p:sp>
      <p:pic>
        <p:nvPicPr>
          <p:cNvPr id="5" name="chart" descr="C:\Users\Lenovo\Documents\GitHub\nbu-challenge-2026\results\figures\ml_irf_rat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36266" y="1325880"/>
            <a:ext cx="9719163" cy="4983480"/>
          </a:xfrm>
          <a:prstGeom prst="rect">
            <a:avLst/>
          </a:prstGeom>
        </p:spPr>
      </p:pic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85855" y="6473952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31</a:t>
            </a:fld>
            <a:endParaRPr lang="en-US"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11277295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6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Додаток 3. Ставка має лишатися високою, доки прогноз інфляції вищий за ціль на 3–4 в. п.</a:t>
            </a:r>
            <a:endParaRPr lang="en-US" sz="2600" dirty="0"/>
          </a:p>
        </p:txBody>
      </p:sp>
      <p:sp>
        <p:nvSpPr>
          <p:cNvPr id="4" name="sources"/>
          <p:cNvSpPr txBox="1"/>
          <p:nvPr/>
        </p:nvSpPr>
        <p:spPr>
          <a:xfrm>
            <a:off x="4937760" y="6455664"/>
            <a:ext cx="611093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F6B6D"/>
                </a:solidFill>
              </a:rPr>
              <a:t>Джерела: </a:t>
            </a:r>
            <a:pPr indent="0" marL="0">
              <a:buNone/>
            </a:pPr>
            <a:r>
              <a:rPr lang="en-US" sz="900" u="sng" dirty="0">
                <a:solidFill>
                  <a:srgbClr val="5F6B6D"/>
                </a:solidFill>
                <a:hlinkClick r:id="rId1" invalidUrl="" action="" tgtFrame="" tooltip="https://events.bank.gov.ua/uchallenge2026/files/nbu_challenge_model_2026.zip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модель-шаблон НБУ</a:t>
            </a:r>
            <a:endParaRPr lang="en-US" sz="900" dirty="0"/>
          </a:p>
        </p:txBody>
      </p:sp>
      <p:pic>
        <p:nvPicPr>
          <p:cNvPr id="5" name="chart" descr="C:\Users\Lenovo\Documents\GitHub\nbu-challenge-2026\results\figures\fc_rate_drivers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325880"/>
            <a:ext cx="7040880" cy="2947885"/>
          </a:xfrm>
          <a:prstGeom prst="rect">
            <a:avLst/>
          </a:prstGeom>
        </p:spPr>
      </p:pic>
      <p:sp>
        <p:nvSpPr>
          <p:cNvPr id="6" name="bullets"/>
          <p:cNvSpPr txBox="1"/>
          <p:nvPr/>
        </p:nvSpPr>
        <p:spPr>
          <a:xfrm>
            <a:off x="7818120" y="1417320"/>
            <a:ext cx="3916375" cy="4892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Головний чинник — прогноз інфляції на 3 квартали вперед вище цілі</a:t>
            </a:r>
            <a:endParaRPr lang="en-US" sz="140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Розрив ВВП майже не тисне на ставку — це не «перегрів попиту», а шоки витрат</a:t>
            </a:r>
            <a:endParaRPr lang="en-US" sz="140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З другого півріччя 2027 внесок інфляції зменшується → простір для зниження ставки</a:t>
            </a:r>
            <a:endParaRPr lang="en-US" sz="140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Лінія вище стовпців у 2027–2028 — ставка тримається вище правила, щоб інфляція повернулася саме до 5%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85855" y="6473952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32</a:t>
            </a:fld>
            <a:endParaRPr lang="en-US"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11277295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6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Додаток 4. Python і MATLAB/IRIS дають той самий прогноз (розбіжність ~1e−5)</a:t>
            </a:r>
            <a:endParaRPr lang="en-US" sz="2600" dirty="0"/>
          </a:p>
        </p:txBody>
      </p:sp>
      <p:pic>
        <p:nvPicPr>
          <p:cNvPr id="4" name="chart" descr="C:\Users\Lenovo\Documents\GitHub\nbu-challenge-2026\results\figures\fc_matlab_check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40708" y="1325880"/>
            <a:ext cx="9710280" cy="3703320"/>
          </a:xfrm>
          <a:prstGeom prst="rect">
            <a:avLst/>
          </a:prstGeom>
        </p:spPr>
      </p:pic>
      <p:sp>
        <p:nvSpPr>
          <p:cNvPr id="5" name="num1"/>
          <p:cNvSpPr/>
          <p:nvPr/>
        </p:nvSpPr>
        <p:spPr>
          <a:xfrm>
            <a:off x="457200" y="5276088"/>
            <a:ext cx="310896" cy="310896"/>
          </a:xfrm>
          <a:prstGeom prst="ellipse">
            <a:avLst/>
          </a:prstGeom>
          <a:solidFill>
            <a:srgbClr val="C98A00"/>
          </a:solidFill>
          <a:ln/>
        </p:spPr>
      </p:sp>
      <p:sp>
        <p:nvSpPr>
          <p:cNvPr id="6" name="Text 2"/>
          <p:cNvSpPr txBox="1"/>
          <p:nvPr/>
        </p:nvSpPr>
        <p:spPr>
          <a:xfrm>
            <a:off x="457200" y="5276088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bg1"/>
                </a:solidFill>
              </a:rPr>
              <a:t>1</a:t>
            </a:r>
            <a:endParaRPr lang="en-US" sz="1200" dirty="0"/>
          </a:p>
        </p:txBody>
      </p:sp>
      <p:sp>
        <p:nvSpPr>
          <p:cNvPr id="7" name="point1"/>
          <p:cNvSpPr txBox="1"/>
          <p:nvPr/>
        </p:nvSpPr>
        <p:spPr>
          <a:xfrm>
            <a:off x="868680" y="5257800"/>
            <a:ext cx="3164738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Один файл моделі model/model.model, ті самі дані, параметри й плани всіх 5 сценаріїв</a:t>
            </a:r>
            <a:endParaRPr lang="en-US" sz="1300" dirty="0"/>
          </a:p>
        </p:txBody>
      </p:sp>
      <p:sp>
        <p:nvSpPr>
          <p:cNvPr id="8" name="num2"/>
          <p:cNvSpPr/>
          <p:nvPr/>
        </p:nvSpPr>
        <p:spPr>
          <a:xfrm>
            <a:off x="4307738" y="5276088"/>
            <a:ext cx="310896" cy="310896"/>
          </a:xfrm>
          <a:prstGeom prst="ellipse">
            <a:avLst/>
          </a:prstGeom>
          <a:solidFill>
            <a:srgbClr val="C98A00"/>
          </a:solidFill>
          <a:ln/>
        </p:spPr>
      </p:sp>
      <p:sp>
        <p:nvSpPr>
          <p:cNvPr id="9" name="Text 5"/>
          <p:cNvSpPr txBox="1"/>
          <p:nvPr/>
        </p:nvSpPr>
        <p:spPr>
          <a:xfrm>
            <a:off x="4307738" y="5276088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bg1"/>
                </a:solidFill>
              </a:rPr>
              <a:t>2</a:t>
            </a:r>
            <a:endParaRPr lang="en-US" sz="1200" dirty="0"/>
          </a:p>
        </p:txBody>
      </p:sp>
      <p:sp>
        <p:nvSpPr>
          <p:cNvPr id="10" name="point2"/>
          <p:cNvSpPr txBox="1"/>
          <p:nvPr/>
        </p:nvSpPr>
        <p:spPr>
          <a:xfrm>
            <a:off x="4719218" y="5257800"/>
            <a:ext cx="3164738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Фільтр Калмана 2016–2026 і прогнози до 2029 збігаються з точністю до округлення</a:t>
            </a:r>
            <a:endParaRPr lang="en-US" sz="1300" dirty="0"/>
          </a:p>
        </p:txBody>
      </p:sp>
      <p:sp>
        <p:nvSpPr>
          <p:cNvPr id="11" name="num3"/>
          <p:cNvSpPr/>
          <p:nvPr/>
        </p:nvSpPr>
        <p:spPr>
          <a:xfrm>
            <a:off x="8158277" y="5276088"/>
            <a:ext cx="310896" cy="310896"/>
          </a:xfrm>
          <a:prstGeom prst="ellipse">
            <a:avLst/>
          </a:prstGeom>
          <a:solidFill>
            <a:srgbClr val="C98A00"/>
          </a:solidFill>
          <a:ln/>
        </p:spPr>
      </p:sp>
      <p:sp>
        <p:nvSpPr>
          <p:cNvPr id="12" name="Text 8"/>
          <p:cNvSpPr txBox="1"/>
          <p:nvPr/>
        </p:nvSpPr>
        <p:spPr>
          <a:xfrm>
            <a:off x="8158277" y="5276088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bg1"/>
                </a:solidFill>
              </a:rPr>
              <a:t>3</a:t>
            </a:r>
            <a:endParaRPr lang="en-US" sz="1200" dirty="0"/>
          </a:p>
        </p:txBody>
      </p:sp>
      <p:sp>
        <p:nvSpPr>
          <p:cNvPr id="13" name="point3"/>
          <p:cNvSpPr txBox="1"/>
          <p:nvPr/>
        </p:nvSpPr>
        <p:spPr>
          <a:xfrm>
            <a:off x="8569757" y="5257800"/>
            <a:ext cx="3164738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Збірка однією командою: python build.py → MATLAB → звірка → графіки → презентація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85855" y="6473952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33</a:t>
            </a:fld>
            <a:endParaRPr lang="en-US"/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11277295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6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Додаток 5. Бектест: прогноз з даними до III кв. 2025</a:t>
            </a:r>
            <a:endParaRPr lang="en-US" sz="2600" dirty="0"/>
          </a:p>
        </p:txBody>
      </p:sp>
      <p:sp>
        <p:nvSpPr>
          <p:cNvPr id="4" name="sources"/>
          <p:cNvSpPr txBox="1"/>
          <p:nvPr/>
        </p:nvSpPr>
        <p:spPr>
          <a:xfrm>
            <a:off x="4937760" y="6455664"/>
            <a:ext cx="611093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F6B6D"/>
                </a:solidFill>
              </a:rPr>
              <a:t>Джерела: </a:t>
            </a:r>
            <a:pPr indent="0" marL="0">
              <a:buNone/>
            </a:pPr>
            <a:r>
              <a:rPr lang="en-US" sz="900" u="sng" dirty="0">
                <a:solidFill>
                  <a:srgbClr val="5F6B6D"/>
                </a:solidFill>
                <a:hlinkClick r:id="rId1" invalidUrl="" action="" tgtFrame="" tooltip="https://bank.gov.ua/ua/open-data/api-dev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API НБУ</a:t>
            </a:r>
            <a:endParaRPr lang="en-US" sz="900" dirty="0"/>
          </a:p>
        </p:txBody>
      </p:sp>
      <p:pic>
        <p:nvPicPr>
          <p:cNvPr id="5" name="chart" descr="C:\Users\Lenovo\Documents\GitHub\nbu-challenge-2026\results\figures\fc_backtest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77770" y="1325880"/>
            <a:ext cx="10436154" cy="3703320"/>
          </a:xfrm>
          <a:prstGeom prst="rect">
            <a:avLst/>
          </a:prstGeom>
        </p:spPr>
      </p:pic>
      <p:sp>
        <p:nvSpPr>
          <p:cNvPr id="6" name="num1"/>
          <p:cNvSpPr/>
          <p:nvPr/>
        </p:nvSpPr>
        <p:spPr>
          <a:xfrm>
            <a:off x="457200" y="5276088"/>
            <a:ext cx="310896" cy="310896"/>
          </a:xfrm>
          <a:prstGeom prst="ellipse">
            <a:avLst/>
          </a:prstGeom>
          <a:solidFill>
            <a:srgbClr val="C98A00"/>
          </a:solidFill>
          <a:ln/>
        </p:spPr>
      </p:sp>
      <p:sp>
        <p:nvSpPr>
          <p:cNvPr id="7" name="Text 3"/>
          <p:cNvSpPr txBox="1"/>
          <p:nvPr/>
        </p:nvSpPr>
        <p:spPr>
          <a:xfrm>
            <a:off x="457200" y="5276088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bg1"/>
                </a:solidFill>
              </a:rPr>
              <a:t>1</a:t>
            </a:r>
            <a:endParaRPr lang="en-US" sz="1200" dirty="0"/>
          </a:p>
        </p:txBody>
      </p:sp>
      <p:sp>
        <p:nvSpPr>
          <p:cNvPr id="8" name="point1"/>
          <p:cNvSpPr txBox="1"/>
          <p:nvPr/>
        </p:nvSpPr>
        <p:spPr>
          <a:xfrm>
            <a:off x="868680" y="5257800"/>
            <a:ext cx="3164738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Помилка прогнозу ІСЦ на 4 квартали: 0,8–1,2 в. п. (наївний прогноз: 1,2–5,5)</a:t>
            </a:r>
            <a:endParaRPr lang="en-US" sz="1300" dirty="0"/>
          </a:p>
        </p:txBody>
      </p:sp>
      <p:sp>
        <p:nvSpPr>
          <p:cNvPr id="9" name="num2"/>
          <p:cNvSpPr/>
          <p:nvPr/>
        </p:nvSpPr>
        <p:spPr>
          <a:xfrm>
            <a:off x="4307738" y="5276088"/>
            <a:ext cx="310896" cy="310896"/>
          </a:xfrm>
          <a:prstGeom prst="ellipse">
            <a:avLst/>
          </a:prstGeom>
          <a:solidFill>
            <a:srgbClr val="C98A00"/>
          </a:solidFill>
          <a:ln/>
        </p:spPr>
      </p:sp>
      <p:sp>
        <p:nvSpPr>
          <p:cNvPr id="10" name="Text 6"/>
          <p:cNvSpPr txBox="1"/>
          <p:nvPr/>
        </p:nvSpPr>
        <p:spPr>
          <a:xfrm>
            <a:off x="4307738" y="5276088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bg1"/>
                </a:solidFill>
              </a:rPr>
              <a:t>2</a:t>
            </a:r>
            <a:endParaRPr lang="en-US" sz="1200" dirty="0"/>
          </a:p>
        </p:txBody>
      </p:sp>
      <p:sp>
        <p:nvSpPr>
          <p:cNvPr id="11" name="point2"/>
          <p:cNvSpPr txBox="1"/>
          <p:nvPr/>
        </p:nvSpPr>
        <p:spPr>
          <a:xfrm>
            <a:off x="4719218" y="5257800"/>
            <a:ext cx="3164738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Ставку краще прогнозує «без змін»: НБУ змінює її рідко</a:t>
            </a:r>
            <a:endParaRPr lang="en-US" sz="1300" dirty="0"/>
          </a:p>
        </p:txBody>
      </p:sp>
      <p:sp>
        <p:nvSpPr>
          <p:cNvPr id="12" name="num3"/>
          <p:cNvSpPr/>
          <p:nvPr/>
        </p:nvSpPr>
        <p:spPr>
          <a:xfrm>
            <a:off x="8158277" y="5276088"/>
            <a:ext cx="310896" cy="310896"/>
          </a:xfrm>
          <a:prstGeom prst="ellipse">
            <a:avLst/>
          </a:prstGeom>
          <a:solidFill>
            <a:srgbClr val="C98A00"/>
          </a:solidFill>
          <a:ln/>
        </p:spPr>
      </p:sp>
      <p:sp>
        <p:nvSpPr>
          <p:cNvPr id="13" name="Text 9"/>
          <p:cNvSpPr txBox="1"/>
          <p:nvPr/>
        </p:nvSpPr>
        <p:spPr>
          <a:xfrm>
            <a:off x="8158277" y="5276088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bg1"/>
                </a:solidFill>
              </a:rPr>
              <a:t>3</a:t>
            </a:r>
            <a:endParaRPr lang="en-US" sz="1200" dirty="0"/>
          </a:p>
        </p:txBody>
      </p:sp>
      <p:sp>
        <p:nvSpPr>
          <p:cNvPr id="14" name="point3"/>
          <p:cNvSpPr txBox="1"/>
          <p:nvPr/>
        </p:nvSpPr>
        <p:spPr>
          <a:xfrm>
            <a:off x="8569757" y="5257800"/>
            <a:ext cx="3164738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Курс грн/€ модель не прогнозує краще за наївний — залежить від EUR/USD (обмеження моделі)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85855" y="6473952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34</a:t>
            </a:fld>
            <a:endParaRPr lang="en-US"/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11277295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6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Додаток 6. Базовий прогноз по півріччях</a:t>
            </a:r>
            <a:endParaRPr lang="en-US" sz="2600" dirty="0"/>
          </a:p>
        </p:txBody>
      </p:sp>
      <p:graphicFrame>
        <p:nvGraphicFramePr>
          <p:cNvPr id="36" name="table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325880"/>
          <a:ext cx="11277295" cy="914400"/>
        </p:xfrm>
        <a:graphic>
          <a:graphicData uri="http://schemas.openxmlformats.org/drawingml/2006/table">
            <a:tbl>
              <a:tblPr/>
              <a:tblGrid>
                <a:gridCol w="2926080"/>
                <a:gridCol w="1193031"/>
                <a:gridCol w="1193031"/>
                <a:gridCol w="1193031"/>
                <a:gridCol w="1193031"/>
                <a:gridCol w="1193031"/>
                <a:gridCol w="1193031"/>
                <a:gridCol w="1193031"/>
              </a:tblGrid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chemeClr val="bg1"/>
                          </a:solidFill>
                        </a:rPr>
                        <a:t>Показник</a:t>
                      </a:r>
                      <a:endParaRPr lang="en-US" sz="1200" dirty="0"/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C9D6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3B4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chemeClr val="bg1"/>
                          </a:solidFill>
                        </a:rPr>
                        <a:t>IV кв. 2026</a:t>
                      </a:r>
                      <a:endParaRPr lang="en-US" sz="1200" dirty="0"/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C9D6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3B4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chemeClr val="bg1"/>
                          </a:solidFill>
                        </a:rPr>
                        <a:t>II кв. 2027</a:t>
                      </a:r>
                      <a:endParaRPr lang="en-US" sz="1200" dirty="0"/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C9D6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3B4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chemeClr val="bg1"/>
                          </a:solidFill>
                        </a:rPr>
                        <a:t>IV кв. 2027</a:t>
                      </a:r>
                      <a:endParaRPr lang="en-US" sz="1200" dirty="0"/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C9D6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3B4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chemeClr val="bg1"/>
                          </a:solidFill>
                        </a:rPr>
                        <a:t>II кв. 2028</a:t>
                      </a:r>
                      <a:endParaRPr lang="en-US" sz="1200" dirty="0"/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C9D6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3B4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chemeClr val="bg1"/>
                          </a:solidFill>
                        </a:rPr>
                        <a:t>IV кв. 2028</a:t>
                      </a:r>
                      <a:endParaRPr lang="en-US" sz="1200" dirty="0"/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C9D6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3B4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chemeClr val="bg1"/>
                          </a:solidFill>
                        </a:rPr>
                        <a:t>II кв. 2029</a:t>
                      </a:r>
                      <a:endParaRPr lang="en-US" sz="1200" dirty="0"/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C9D6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3B4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chemeClr val="bg1"/>
                          </a:solidFill>
                        </a:rPr>
                        <a:t>IV кв. 2029</a:t>
                      </a:r>
                      <a:endParaRPr lang="en-US" sz="1200" dirty="0"/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C9D6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3B43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chemeClr val="tx1"/>
                          </a:solidFill>
                        </a:rPr>
                        <a:t>ІСЦ, % р/р (сер. за кв.)</a:t>
                      </a:r>
                      <a:endParaRPr lang="en-US" sz="1200" dirty="0"/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C9D6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8,8</a:t>
                      </a:r>
                      <a:endParaRPr lang="en-US" sz="1200" dirty="0"/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C9D6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8,3</a:t>
                      </a:r>
                      <a:endParaRPr lang="en-US" sz="1200" dirty="0"/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C9D6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6,5</a:t>
                      </a:r>
                      <a:endParaRPr lang="en-US" sz="1200" dirty="0"/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C9D6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4,4</a:t>
                      </a:r>
                      <a:endParaRPr lang="en-US" sz="1200" dirty="0"/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C9D6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4,4</a:t>
                      </a:r>
                      <a:endParaRPr lang="en-US" sz="1200" dirty="0"/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C9D6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4,9</a:t>
                      </a:r>
                      <a:endParaRPr lang="en-US" sz="1200" dirty="0"/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C9D6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5,0</a:t>
                      </a:r>
                      <a:endParaRPr lang="en-US" sz="1200" dirty="0"/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C9D6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chemeClr val="tx1"/>
                          </a:solidFill>
                        </a:rPr>
                        <a:t>Базова інфляція, % р/р</a:t>
                      </a:r>
                      <a:endParaRPr lang="en-US" sz="1200" dirty="0"/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C9D6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1E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8,9</a:t>
                      </a:r>
                      <a:endParaRPr lang="en-US" sz="1200" dirty="0"/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C9D6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1E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8,6</a:t>
                      </a:r>
                      <a:endParaRPr lang="en-US" sz="1200" dirty="0"/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C9D6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1E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5,7</a:t>
                      </a:r>
                      <a:endParaRPr lang="en-US" sz="1200" dirty="0"/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C9D6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1E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3,2</a:t>
                      </a:r>
                      <a:endParaRPr lang="en-US" sz="1200" dirty="0"/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C9D6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1E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3,1</a:t>
                      </a:r>
                      <a:endParaRPr lang="en-US" sz="1200" dirty="0"/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C9D6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1E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4,1</a:t>
                      </a:r>
                      <a:endParaRPr lang="en-US" sz="1200" dirty="0"/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C9D6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1E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4,9</a:t>
                      </a:r>
                      <a:endParaRPr lang="en-US" sz="1200" dirty="0"/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C9D6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1E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chemeClr val="tx1"/>
                          </a:solidFill>
                        </a:rPr>
                        <a:t>ВВП, % р/р</a:t>
                      </a:r>
                      <a:endParaRPr lang="en-US" sz="1200" dirty="0"/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C9D6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−0,4</a:t>
                      </a:r>
                      <a:endParaRPr lang="en-US" sz="1200" dirty="0"/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C9D6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0,5</a:t>
                      </a:r>
                      <a:endParaRPr lang="en-US" sz="1200" dirty="0"/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C9D6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0,6</a:t>
                      </a:r>
                      <a:endParaRPr lang="en-US" sz="1200" dirty="0"/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C9D6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0,5</a:t>
                      </a:r>
                      <a:endParaRPr lang="en-US" sz="1200" dirty="0"/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C9D6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1,9</a:t>
                      </a:r>
                      <a:endParaRPr lang="en-US" sz="1200" dirty="0"/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C9D6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3,1</a:t>
                      </a:r>
                      <a:endParaRPr lang="en-US" sz="1200" dirty="0"/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C9D6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3,0</a:t>
                      </a:r>
                      <a:endParaRPr lang="en-US" sz="1200" dirty="0"/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C9D6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chemeClr val="tx1"/>
                          </a:solidFill>
                        </a:rPr>
                        <a:t>Облікова ставка, % (сер. за кв.)</a:t>
                      </a:r>
                      <a:endParaRPr lang="en-US" sz="1200" dirty="0"/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C9D6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1E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16,5</a:t>
                      </a:r>
                      <a:endParaRPr lang="en-US" sz="1200" dirty="0"/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C9D6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1E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16,5</a:t>
                      </a:r>
                      <a:endParaRPr lang="en-US" sz="1200" dirty="0"/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C9D6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1E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15,1</a:t>
                      </a:r>
                      <a:endParaRPr lang="en-US" sz="1200" dirty="0"/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C9D6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1E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12,4</a:t>
                      </a:r>
                      <a:endParaRPr lang="en-US" sz="1200" dirty="0"/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C9D6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1E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10,4</a:t>
                      </a:r>
                      <a:endParaRPr lang="en-US" sz="1200" dirty="0"/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C9D6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1E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9,4</a:t>
                      </a:r>
                      <a:endParaRPr lang="en-US" sz="1200" dirty="0"/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C9D6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1E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9,0</a:t>
                      </a:r>
                      <a:endParaRPr lang="en-US" sz="1200" dirty="0"/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C9D6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1E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chemeClr val="tx1"/>
                          </a:solidFill>
                        </a:rPr>
                        <a:t>Курс, грн/€ (сер. за кв.)</a:t>
                      </a:r>
                      <a:endParaRPr lang="en-US" sz="1200" dirty="0"/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C9D6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51,6</a:t>
                      </a:r>
                      <a:endParaRPr lang="en-US" sz="1200" dirty="0"/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C9D6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51,7</a:t>
                      </a:r>
                      <a:endParaRPr lang="en-US" sz="1200" dirty="0"/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C9D6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51,9</a:t>
                      </a:r>
                      <a:endParaRPr lang="en-US" sz="1200" dirty="0"/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C9D6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52,2</a:t>
                      </a:r>
                      <a:endParaRPr lang="en-US" sz="1200" dirty="0"/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C9D6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52,8</a:t>
                      </a:r>
                      <a:endParaRPr lang="en-US" sz="1200" dirty="0"/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C9D6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53,3</a:t>
                      </a:r>
                      <a:endParaRPr lang="en-US" sz="1200" dirty="0"/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C9D6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53,7</a:t>
                      </a:r>
                      <a:endParaRPr lang="en-US" sz="1200" dirty="0"/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C9D6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chemeClr val="tx1"/>
                          </a:solidFill>
                        </a:rPr>
                        <a:t>Розрив ВВП, %</a:t>
                      </a:r>
                      <a:endParaRPr lang="en-US" sz="1200" dirty="0"/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C9D6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1E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0,7</a:t>
                      </a:r>
                      <a:endParaRPr lang="en-US" sz="1200" dirty="0"/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C9D6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1E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0,4</a:t>
                      </a:r>
                      <a:endParaRPr lang="en-US" sz="1200" dirty="0"/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C9D6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1E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−0,4</a:t>
                      </a:r>
                      <a:endParaRPr lang="en-US" sz="1200" dirty="0"/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C9D6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1E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−1,0</a:t>
                      </a:r>
                      <a:endParaRPr lang="en-US" sz="1200" dirty="0"/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C9D6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1E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−0,6</a:t>
                      </a:r>
                      <a:endParaRPr lang="en-US" sz="1200" dirty="0"/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C9D6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1E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−0,1</a:t>
                      </a:r>
                      <a:endParaRPr lang="en-US" sz="1200" dirty="0"/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C9D6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1E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0,2</a:t>
                      </a:r>
                      <a:endParaRPr lang="en-US" sz="1200" dirty="0"/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C9D6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1EF"/>
                    </a:solidFill>
                  </a:tcPr>
                </a:tc>
              </a:tr>
            </a:tbl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85855" y="6473952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35</a:t>
            </a:fld>
            <a:endParaRPr lang="en-US"/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11277295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6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Додаток 7. Джерела даних</a:t>
            </a:r>
            <a:endParaRPr lang="en-US" sz="2600" dirty="0"/>
          </a:p>
        </p:txBody>
      </p:sp>
      <p:graphicFrame>
        <p:nvGraphicFramePr>
          <p:cNvPr id="37" name="table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325880"/>
          <a:ext cx="11277295" cy="914400"/>
        </p:xfrm>
        <a:graphic>
          <a:graphicData uri="http://schemas.openxmlformats.org/drawingml/2006/table">
            <a:tbl>
              <a:tblPr/>
              <a:tblGrid>
                <a:gridCol w="3291840"/>
                <a:gridCol w="7955280"/>
              </a:tblGrid>
              <a:tr h="43891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chemeClr val="bg1"/>
                          </a:solidFill>
                        </a:rPr>
                        <a:t>Дані</a:t>
                      </a:r>
                      <a:endParaRPr lang="en-US" sz="1300" dirty="0"/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C9D6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3B4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chemeClr val="bg1"/>
                          </a:solidFill>
                        </a:rPr>
                        <a:t>Джерело</a:t>
                      </a:r>
                      <a:endParaRPr lang="en-US" sz="1300" dirty="0"/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C9D6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3B43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b="1" dirty="0">
                          <a:solidFill>
                            <a:schemeClr val="tx1"/>
                          </a:solidFill>
                        </a:rPr>
                        <a:t>ІСЦ, базова інфляція, складові</a:t>
                      </a:r>
                      <a:endParaRPr lang="en-US" sz="1300" dirty="0"/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C9D6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u="sng" dirty="0">
                          <a:hlinkClick r:id="rId1" invalidUrl="" action="" tgtFrame="" tooltip="https://bank.gov.ua/ua/open-data/api-dev" history="1" highlightClick="0" endSnd="0"/>
                        </a:rPr>
                        <a:t>API НБУ</a:t>
                      </a:r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 (Держстат); </a:t>
                      </a:r>
                      <a:pPr algn="l" indent="0" marL="0">
                        <a:buNone/>
                      </a:pPr>
                      <a:r>
                        <a:rPr lang="en-US" sz="1300" u="sng" dirty="0">
                          <a:hlinkClick r:id="rId2" invalidUrl="" action="" tgtFrame="" tooltip="https://bank.gov.ua/files/macro/CCPI_m.xlsx" history="1" highlightClick="0" endSnd="0"/>
                        </a:rPr>
                        <a:t>базовий ІСЦ (НБУ)</a:t>
                      </a:r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; </a:t>
                      </a:r>
                      <a:pPr algn="l" indent="0" marL="0">
                        <a:buNone/>
                      </a:pPr>
                      <a:r>
                        <a:rPr lang="en-US" sz="1300" u="sng" dirty="0">
                          <a:hlinkClick r:id="rId3" invalidUrl="" action="" tgtFrame="" tooltip="https://bank.gov.ua/admin_uploads/article/Tables_Charts_2026-Q3.xlsx?v=19" history="1" highlightClick="0" endSnd="0"/>
                        </a:rPr>
                        <a:t>дані графіків ІЗ</a:t>
                      </a:r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; </a:t>
                      </a:r>
                      <a:pPr algn="l" indent="0" marL="0">
                        <a:buNone/>
                      </a:pPr>
                      <a:r>
                        <a:rPr lang="en-US" sz="1300" u="sng" dirty="0">
                          <a:hlinkClick r:id="rId4" invalidUrl="" action="" tgtFrame="" tooltip="https://bank.gov.ua/ua/news/all/komentar-natsionalnogo-banku-schodo-rivnya-inflyatsiyi-v-serpni-2026-roku" history="1" highlightClick="0" endSnd="0"/>
                        </a:rPr>
                        <a:t>коментар НБУ: інфляція в серпні</a:t>
                      </a:r>
                      <a:endParaRPr lang="en-US" sz="1300" dirty="0"/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C9D6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b="1" dirty="0">
                          <a:solidFill>
                            <a:schemeClr val="tx1"/>
                          </a:solidFill>
                        </a:rPr>
                        <a:t>Облікова ставка, курси, інтервенції, резерви</a:t>
                      </a:r>
                      <a:endParaRPr lang="en-US" sz="1300" dirty="0"/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C9D6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1E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u="sng" dirty="0">
                          <a:hlinkClick r:id="rId5" invalidUrl="" action="" tgtFrame="" tooltip="https://bank.gov.ua/ua/open-data/api-dev" history="1" highlightClick="0" endSnd="0"/>
                        </a:rPr>
                        <a:t>API НБУ</a:t>
                      </a:r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 (statdirectory/key, exchange, kursf, res)</a:t>
                      </a:r>
                      <a:endParaRPr lang="en-US" sz="1300" dirty="0"/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C9D6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1EF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b="1" dirty="0">
                          <a:solidFill>
                            <a:schemeClr val="tx1"/>
                          </a:solidFill>
                        </a:rPr>
                        <a:t>Реальний ВВП, зарплати, бюджет</a:t>
                      </a:r>
                      <a:endParaRPr lang="en-US" sz="1300" dirty="0"/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C9D6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u="sng" dirty="0">
                          <a:hlinkClick r:id="rId6" invalidUrl="" action="" tgtFrame="" tooltip="https://stat.gov.ua/" history="1" highlightClick="0" endSnd="0"/>
                        </a:rPr>
                        <a:t>Держстат</a:t>
                      </a:r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; </a:t>
                      </a:r>
                      <a:pPr algn="l" indent="0" marL="0">
                        <a:buNone/>
                      </a:pPr>
                      <a:r>
                        <a:rPr lang="en-US" sz="1300" u="sng" dirty="0">
                          <a:hlinkClick r:id="rId7" invalidUrl="" action="" tgtFrame="" tooltip="https://bank.gov.ua/ua/news/all/komentar-natsionalnogo-banku-schodo-zmini-realnogo-vvp-u-ii-kvartali-2026-roku" history="1" highlightClick="0" endSnd="0"/>
                        </a:rPr>
                        <a:t>коментар НБУ: ВВП II кв.</a:t>
                      </a:r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; </a:t>
                      </a:r>
                      <a:pPr algn="l" indent="0" marL="0">
                        <a:buNone/>
                      </a:pPr>
                      <a:r>
                        <a:rPr lang="en-US" sz="1300" u="sng" dirty="0">
                          <a:hlinkClick r:id="rId8" invalidUrl="" action="" tgtFrame="" tooltip="https://bank.gov.ua/files/macro/Wages_m.xlsx" history="1" highlightClick="0" endSnd="0"/>
                        </a:rPr>
                        <a:t>зарплати (НБУ)</a:t>
                      </a:r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; </a:t>
                      </a:r>
                      <a:pPr algn="l" indent="0" marL="0">
                        <a:buNone/>
                      </a:pPr>
                      <a:r>
                        <a:rPr lang="en-US" sz="1300" u="sng" dirty="0">
                          <a:hlinkClick r:id="rId9" invalidUrl="" action="" tgtFrame="" tooltip="https://bank.gov.ua/files/macro/S_budget_m.xlsx" history="1" highlightClick="0" endSnd="0"/>
                        </a:rPr>
                        <a:t>бюджет (НБУ)</a:t>
                      </a:r>
                      <a:endParaRPr lang="en-US" sz="1300" dirty="0"/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C9D6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b="1" dirty="0">
                          <a:solidFill>
                            <a:schemeClr val="tx1"/>
                          </a:solidFill>
                        </a:rPr>
                        <a:t>Прогноз і припущення НБУ</a:t>
                      </a:r>
                      <a:endParaRPr lang="en-US" sz="1300" dirty="0"/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C9D6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1E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u="sng" dirty="0">
                          <a:hlinkClick r:id="rId10" invalidUrl="" action="" tgtFrame="" tooltip="https://bank.gov.ua/ua/news/all/inflyatsiya-prishvidshitsya-u-drugomu-pivrichchi-ale-povernetsya-do-znijennya-nastupnogo-roku--inflyatsiyniy-zvit" history="1" highlightClick="0" endSnd="0"/>
                        </a:rPr>
                        <a:t>НБУ, Інфляційний звіт (липень 2026)</a:t>
                      </a:r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; </a:t>
                      </a:r>
                      <a:pPr algn="l" indent="0" marL="0">
                        <a:buNone/>
                      </a:pPr>
                      <a:r>
                        <a:rPr lang="en-US" sz="1300" u="sng" dirty="0">
                          <a:hlinkClick r:id="rId11" invalidUrl="" action="" tgtFrame="" tooltip="https://bank.gov.ua/admin_uploads/article/Macroeconomic_Forecast_table_2026_07.xlsx?v=19" history="1" highlightClick="0" endSnd="0"/>
                        </a:rPr>
                        <a:t>макропрогноз НБУ</a:t>
                      </a:r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; </a:t>
                      </a:r>
                      <a:pPr algn="l" indent="0" marL="0">
                        <a:buNone/>
                      </a:pPr>
                      <a:r>
                        <a:rPr lang="en-US" sz="1300" u="sng" dirty="0">
                          <a:hlinkClick r:id="rId12" invalidUrl="" action="" tgtFrame="" tooltip="https://bank.gov.ua/admin_uploads/article/Tables_Charts_2026-Q3.xlsx?v=19" history="1" highlightClick="0" endSnd="0"/>
                        </a:rPr>
                        <a:t>дані графіків ІЗ</a:t>
                      </a:r>
                      <a:endParaRPr lang="en-US" sz="1300" dirty="0"/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C9D6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1EF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b="1" dirty="0">
                          <a:solidFill>
                            <a:schemeClr val="tx1"/>
                          </a:solidFill>
                        </a:rPr>
                        <a:t>Ціль і горизонт політики</a:t>
                      </a:r>
                      <a:endParaRPr lang="en-US" sz="1300" dirty="0"/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C9D6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u="sng" dirty="0">
                          <a:hlinkClick r:id="rId13" invalidUrl="" action="" tgtFrame="" tooltip="https://p4.bank.gov.ua/admin_uploads/article/MPG_2024-mt_eng.pdf" history="1" highlightClick="0" endSnd="0"/>
                        </a:rPr>
                        <a:t>Основні засади ГКП (2024)</a:t>
                      </a:r>
                      <a:endParaRPr lang="en-US" sz="1300" dirty="0"/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C9D6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b="1" dirty="0">
                          <a:solidFill>
                            <a:schemeClr val="tx1"/>
                          </a:solidFill>
                        </a:rPr>
                        <a:t>Єврозона</a:t>
                      </a:r>
                      <a:endParaRPr lang="en-US" sz="1300" dirty="0"/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C9D6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1E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u="sng" dirty="0">
                          <a:hlinkClick r:id="rId14" invalidUrl="" action="" tgtFrame="" tooltip="https://ec.europa.eu/eurostat/databrowser/view/prc_hicp_minr/default/table" history="1" highlightClick="0" endSnd="0"/>
                        </a:rPr>
                        <a:t>Eurostat HICP</a:t>
                      </a:r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; </a:t>
                      </a:r>
                      <a:pPr algn="l" indent="0" marL="0">
                        <a:buNone/>
                      </a:pPr>
                      <a:r>
                        <a:rPr lang="en-US" sz="1300" u="sng" dirty="0">
                          <a:hlinkClick r:id="rId15" invalidUrl="" action="" tgtFrame="" tooltip="https://data.ecb.europa.eu/" history="1" highlightClick="0" endSnd="0"/>
                        </a:rPr>
                        <a:t>ЄЦБ Data Portal</a:t>
                      </a:r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; </a:t>
                      </a:r>
                      <a:pPr algn="l" indent="0" marL="0">
                        <a:buNone/>
                      </a:pPr>
                      <a:r>
                        <a:rPr lang="en-US" sz="1300" u="sng" dirty="0">
                          <a:hlinkClick r:id="rId16" invalidUrl="" action="" tgtFrame="" tooltip="https://www.ecb.europa.eu/press/projections/html/index.en.html" history="1" highlightClick="0" endSnd="0"/>
                        </a:rPr>
                        <a:t>прогноз ЄЦБ (вересень 2026)</a:t>
                      </a:r>
                      <a:endParaRPr lang="en-US" sz="1300" dirty="0"/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C9D6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1EF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b="1" dirty="0">
                          <a:solidFill>
                            <a:schemeClr val="tx1"/>
                          </a:solidFill>
                        </a:rPr>
                        <a:t>Нафта Brent</a:t>
                      </a:r>
                      <a:endParaRPr lang="en-US" sz="1300" dirty="0"/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C9D6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u="sng" dirty="0">
                          <a:hlinkClick r:id="rId17" invalidUrl="" action="" tgtFrame="" tooltip="https://db.nomics.world/EIA/PET/RBRTE.M" history="1" highlightClick="0" endSnd="0"/>
                        </a:rPr>
                        <a:t>EIA Brent</a:t>
                      </a:r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 (DBnomics); </a:t>
                      </a:r>
                      <a:pPr algn="l" indent="0" marL="0">
                        <a:buNone/>
                      </a:pPr>
                      <a:r>
                        <a:rPr lang="en-US" sz="1300" u="sng" dirty="0">
                          <a:hlinkClick r:id="rId18" invalidUrl="" action="" tgtFrame="" tooltip="https://finance.yahoo.com/quote/BZ%3DF/" history="1" highlightClick="0" endSnd="0"/>
                        </a:rPr>
                        <a:t>ф'ючерси Brent</a:t>
                      </a:r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 (NYMEX BZ)</a:t>
                      </a:r>
                      <a:endParaRPr lang="en-US" sz="1300" dirty="0"/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C9D6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b="1" dirty="0">
                          <a:solidFill>
                            <a:schemeClr val="tx1"/>
                          </a:solidFill>
                        </a:rPr>
                        <a:t>Рішення та дискусія КМП</a:t>
                      </a:r>
                      <a:endParaRPr lang="en-US" sz="1300" dirty="0"/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C9D6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1E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u="sng" dirty="0">
                          <a:hlinkClick r:id="rId19" invalidUrl="" action="" tgtFrame="" tooltip="https://bank.gov.ua/ua/news/all/natsionalniy-bank-ukrayini-pidvischiv-oblikovu-stavku-do-16" history="1" highlightClick="0" endSnd="0"/>
                        </a:rPr>
                        <a:t>рішення НБУ 17.09.2026</a:t>
                      </a:r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; </a:t>
                      </a:r>
                      <a:pPr algn="l" indent="0" marL="0">
                        <a:buNone/>
                      </a:pPr>
                      <a:r>
                        <a:rPr lang="en-US" sz="1300" u="sng" dirty="0">
                          <a:hlinkClick r:id="rId20" invalidUrl="" action="" tgtFrame="" tooltip="https://bank.gov.ua/ua/news/all/pidsumki-diskusiyi-chleniv-komitetu-z-monetarnoyi-politiki-natsionalnogo-banku-schodo-rivnya-oblikovoyi-stavki-16-veresnya-2026-roku" history="1" highlightClick="0" endSnd="0"/>
                        </a:rPr>
                        <a:t>підсумки дискусії КМП</a:t>
                      </a:r>
                      <a:endParaRPr lang="en-US" sz="1300" dirty="0"/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C9D6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1EF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b="1" dirty="0">
                          <a:solidFill>
                            <a:schemeClr val="tx1"/>
                          </a:solidFill>
                        </a:rPr>
                        <a:t>Валютні обмеження, МВФ</a:t>
                      </a:r>
                      <a:endParaRPr lang="en-US" sz="1300" dirty="0"/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C9D6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u="sng" dirty="0">
                          <a:hlinkClick r:id="rId21" invalidUrl="" action="" tgtFrame="" tooltip="https://bank.gov.ua/admin_uploads/article/Strategy_for_easing_FX_restrictions_07-07-2023.pdf?v=19" history="1" highlightClick="0" endSnd="0"/>
                        </a:rPr>
                        <a:t>Стратегія пом'якшення валютних обмежень</a:t>
                      </a:r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; </a:t>
                      </a:r>
                      <a:pPr algn="l" indent="0" marL="0">
                        <a:buNone/>
                      </a:pPr>
                      <a:r>
                        <a:rPr lang="en-US" sz="1300" u="sng" dirty="0">
                          <a:hlinkClick r:id="rId22" invalidUrl="" action="" tgtFrame="" tooltip="https://bank.gov.ua/ua/news/all/nbu-vprovadjuye-paket-pomyakshennya-valyutnih-obmejen-z-osnovnim-fokusom-na-pidtrimtsi-naselennya" history="1" highlightClick="0" endSnd="0"/>
                        </a:rPr>
                        <a:t>пакет пом'якшення валютних обмежень</a:t>
                      </a:r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; </a:t>
                      </a:r>
                      <a:pPr algn="l" indent="0" marL="0">
                        <a:buNone/>
                      </a:pPr>
                      <a:r>
                        <a:rPr lang="en-US" sz="1300" u="sng" dirty="0">
                          <a:hlinkClick r:id="rId23" invalidUrl="" action="" tgtFrame="" tooltip="https://bank.gov.ua/ua/news/all/rada-mvf-shvalila-pershiy-pereglyad-programi-rozshirenogo-finansuvannya-ta-zatverdila-vidilennya-transhu-obsyagom-690-mln-dol-ssha" history="1" highlightClick="0" endSnd="0"/>
                        </a:rPr>
                        <a:t>Рада МВФ: перегляд програми</a:t>
                      </a:r>
                      <a:endParaRPr lang="en-US" sz="1300" dirty="0"/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C9D6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b="1" dirty="0">
                          <a:solidFill>
                            <a:schemeClr val="tx1"/>
                          </a:solidFill>
                        </a:rPr>
                        <a:t>Модель</a:t>
                      </a:r>
                      <a:endParaRPr lang="en-US" sz="1300" dirty="0"/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C9D6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1E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u="sng" dirty="0">
                          <a:hlinkClick r:id="rId24" invalidUrl="" action="" tgtFrame="" tooltip="https://events.bank.gov.ua/uchallenge2026/files/nbu_challenge_model_2026.zip" history="1" highlightClick="0" endSnd="0"/>
                        </a:rPr>
                        <a:t>модель-шаблон НБУ</a:t>
                      </a:r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 + розширення команди; Python і MATLAB R2026b + IRIS</a:t>
                      </a:r>
                      <a:endParaRPr lang="en-US" sz="1300" dirty="0"/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C9D6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1EF"/>
                    </a:solidFill>
                  </a:tcPr>
                </a:tc>
              </a:tr>
            </a:tbl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85855" y="6473952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36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NBU Challenge 2026">
  <a:themeElements>
    <a:clrScheme name="NBU Challenge 2026">
      <a:dk1>
        <a:srgbClr val="1B2326"/>
      </a:dk1>
      <a:lt1>
        <a:srgbClr val="FFFFFF"/>
      </a:lt1>
      <a:dk2>
        <a:srgbClr val="0E3B43"/>
      </a:dk2>
      <a:lt2>
        <a:srgbClr val="EAF1EF"/>
      </a:lt2>
      <a:accent1>
        <a:srgbClr val="0E3B43"/>
      </a:accent1>
      <a:accent2>
        <a:srgbClr val="C98A00"/>
      </a:accent2>
      <a:accent3>
        <a:srgbClr val="2A78D6"/>
      </a:accent3>
      <a:accent4>
        <a:srgbClr val="EB6834"/>
      </a:accent4>
      <a:accent5>
        <a:srgbClr val="1BAF7A"/>
      </a:accent5>
      <a:accent6>
        <a:srgbClr val="5F6B6D"/>
      </a:accent6>
      <a:hlink>
        <a:srgbClr val="2A78D6"/>
      </a:hlink>
      <a:folHlink>
        <a:srgbClr val="4A3AA7"/>
      </a:folHlink>
    </a:clrScheme>
    <a:fontScheme name="NBU Challenge 2026">
      <a:majorFont>
        <a:latin typeface="Cambria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36</Slides>
  <Notes>36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36</vt:i4>
      </vt:variant>
    </vt:vector>
  </HeadingPairs>
  <TitlesOfParts>
    <vt:vector size="3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  <vt:lpstr>Slide 29</vt:lpstr>
      <vt:lpstr>Slide 30</vt:lpstr>
      <vt:lpstr>Slide 31</vt:lpstr>
      <vt:lpstr>Slide 32</vt:lpstr>
      <vt:lpstr>Slide 33</vt:lpstr>
      <vt:lpstr>Slide 34</vt:lpstr>
      <vt:lpstr>Slide 35</vt:lpstr>
      <vt:lpstr>Slide 36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Рекомендації щодо монетарної політики — NBU University Challenge 2026</dc:title>
  <dc:subject>PptxGenJS Presentation</dc:subject>
  <dc:creator>Команда [назва]</dc:creator>
  <cp:lastModifiedBy>Команда [назва]</cp:lastModifiedBy>
  <cp:revision>1</cp:revision>
  <dcterms:created xsi:type="dcterms:W3CDTF">2026-10-08T21:32:20Z</dcterms:created>
  <dcterms:modified xsi:type="dcterms:W3CDTF">2026-10-08T21:32:20Z</dcterms:modified>
</cp:coreProperties>
</file>