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7d5f6d14-513f-4983-71b1-d5d1ab83b7c0}">
          <p14:sldIdLst>
            <p14:sldId id="256"/>
            <p14:sldId id="257"/>
          </p14:sldIdLst>
        </p14:section>
        <p14:section name="Огляд" id="{d6958cd3-6639-f535-ea47-47224e38ee9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1efaf255-7f7c-a1d8-6f81-310fd43b3769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fd2d589d-f059-ef79-ed10-6ba9f3807631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8fd64dd0-8ad8-2de5-9df3-0d3ed29d76b5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25 жовтня.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у жовтні гривня послабилася до 45,1 за долар, і це правильно —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5,4% у четвертому кварталі 2027 року і повернеться до цілі на початку 2028 року — у межах трирічного горизонту НБУ; у 2028 році вона буде навіть трохи нижчою за 5%.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/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у вересні — 114, а в жовтні — близько 125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Ринок праці напружений: номінальні зарплати цього року зростають на 21–25%. Тож навіть за слабкого ВВП тиск на ціни послуг зберігається.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Курс чотири місяці стояв біля 44,7 гривні за долар, а в жовтні НБУ допустив послаблення до 45,1.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/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моделі, дані й плани ми проганяємо в MATLAB з IRIS для звірки: на даних до 21 жовтня розбіжність була в п'ятому знаку, після оновлення даних звірку повторимо.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1,19%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 Базову інфляцію рахуємо тим самим методом: у грудні — 9,6%.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11,2% — наприкінці 2026 року; у місячному вимірі це близько 12% у грудні. Далі вона знизиться до 5,4% у четвертому кварталі 2027-го, у 2028 році опуститься нижче цілі — до 3,8–4,8%, бо нафта дешевшає за ф'ючерсами, а попит слабкий, — і стабілізується біля 5% у 2029 році. Базова інфляція в нас нижча, ніж у НБУ: 4,2% у середньому за четвертий квартал 2027 року, у грудневому вимірі — близько 3,7%, проти 5,1% у НБУ.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Тепер — попит. ВВП ми бачимо слабшим, ніж НБУ в липні: 0,5% цього року, −0,2% у 2027-му і 2,4%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Ми розглянули чотири ризикові сценарії. Найнебезпечніший — дефіцит фінансування: якщо допомога затримається, гривня буде приблизно на 7% слабшою, інфляція зросте до 13,0%, а ставку доведеться підняти до 19,4%. Важка зима з ударами по енергетиці підніме інфляцію до 12,4%, а ВВП у 2027 році скоротиться на 1,1%. Натомість нафта, якщо лишиться біля 120 доларів весь 2027 рік замість зниження до 87 за ф'ючерсами, додає 0,6 пункта до інфляції наприкінці 2027 року, і ставка на піку +0,3 в. п. — це переважно шок першого раунду. Ще чотири ризики для інфляції 2027 року — курс, євро, очікування і ПДВ: якщо гривня слабшатиме так, як чекає ринок, інфляція наприкінці 2027 року буде близько 8% замість 5,4%; якби євро знову подорожчав до 1,16 долара, як припускав НБУ в липні, — близько 8%; розбалансування очікувань дало б близько 7%, а ПДВ 21% — ще 0,5 пункта в II кварталі 2027.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/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16 до 17% залежно від ваги згладжування, за центральної — 16,5%; оптимальна траєкторія починається з 16,9%, тримається на цьому рівні в I кв. 2027 і починає знижуватися з II кварталу 2027. За центральних ваг модель майже не розрізняє 16 і 17%, тому крок у пункт ми обґрунтовуємо ризиками. Ми перевірили рішення на одинадцяти сценаріях: найменші очікувані втрати — на 17%, і 17% — серед них. Найчутливіше припущення — курс: без жовтневого зміцнення гривні до євро оптимум був би 17,8%, а якби євро знову подорожчало до 1,16 долара — 18,2%. Тому ми обираємо пункт зараз і готовність до ще пів пункта в грудні, коли буде оновлений прогноз НБУ, а не півтора пункта одразу.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Ринок не чекає різкого посилення, але ризики зміщені вгору, і НБУ вже робив крок у пункт — у січні й березні 2025 року. Чому не більше: економіка слабка, а півтора пункта одразу — надмірний сигнал до оновленого прогнозу НБУ. Щоб підвищення дійшло до депозитів, обсяги тендерів депсертифікатів варто обмежити. Орієнтир: не знижувати ставку щонайменше до третього кварталу 2027 року — це трохи довше, ніж оптимум моделі (II кв. 2027), запас на курсові ризики. А наступний крок — радше вгору: ще пів пункта в грудні, якщо базова інфляція без сезонності не сповільниться нижче приблизно 0,7% на місяць або посиляться курсові очікування. А якщо гривня піде так, як чекає ринок, за 48 гривень, то 17% недостатньо, і ми готові підвищувати до приблизно 19%.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— не фіксувати його. Чотири місяці гривня стояла біля 44,7 за долар, а в жовтні послабилася до 45,1 — за рік це плюс 8%, і це нормальна робота амортизатора. Курс має поглинати шоки, а НБУ — лише згладжувати коливання.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19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цілі на початку 2028 року і стабілізується біля 5% у 2029-му. Дякуємо за увагу! Будемо раді відповісти на ваші запитання.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/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підтримує попит через локалізацію ОПК і водночас створює попит на валюту, але загалом дефіцит скорочується, тож окремого бюджетного стимулу ми не закладаємо. Уряд у Бюджетній декларації закладає інфляцію 8,9% наприкінці 2027 року — вище, ніж НБУ і ми.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нафтового каналу функції відгуку моделі збігаються з шаблоном НБУ.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Окремо про базову інфляцію. Наша оцінка на четвертий квартал 2027 року — 4,2% у середньому за квартал, тобто близько 3,7% у грудні, проти 5,1% у НБУ — нижча, ніж у НБУ. У моделі її тримають додатний розрив ВВП, перенесення вересневого шоку витрат і курсу та шок витрат опалювального сезону. Загальна інфляція при цьому нижча за НБУ (5,4 проти 6,9% у грудні): тарифи й акцизи додають близько 1,7 пункта на рік, а дешевша нафта й міцніша гривня до євро віднімають більше. Висновок: підвищити ставку зараз, щоб швидше пом'якшити її пізніше.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29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 (перенос у шаблоні ≈0,75 за рік — верхня межа; в останні роки фактичний перенос був нижчим), тому реальний ефект, імовірно, менший.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Кожен варіант: рішення в жовтні й утримання, далі траєкторія повернення до цілі; у ризикових сценаріях правило реагує навколо траєкторії варіанта. Втрати — функція оптимізації (λ = 1). P1 — ризики зміщені вгору, P2 — збалансовані; «Слабкий попит» і «Базова сповільнюється» — дезінфляційні противаги. Максимальний жаль — найбільше відставання від найкращого варіанта в будь-якому сценарії. ● — найкращий варіант у рядку.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Чим сильніше НБУ контролює курс (β → 1), тим слабше ставка впливає на курс і інфляцію — валютний канал головний. Функції відгуку побудовано в Python; з вагою нафти 0 вони збігаються з опублікованими MATLAB-результатами шаблону (тест).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Графік показує, на скільки ставка має бути вищою за нейтральну за правилом Тейлора і чому.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Бектест квазіреальний: сезонне згладжування й фільтр бачать лише дані до дати прогнозу, судження й наукасти не використовувалися, зовнішні змінні — фактичні; «факт» — лише опубліковані дані (IV кв. 2026 не оцінюється).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Усі дані завантажуються скриптами; дата відсічення — 25.10.2026.</a:t>
            </a:r>
            <a:endParaRPr lang="uk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uk-UA"/>
              <a:t>37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uk-UA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uk-UA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1002</a:t>
            </a:fld>
            <a:endParaRPr lang="uk-U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uk-UA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uk-UA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uk-UA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uk-UA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uk-UA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1003</a:t>
            </a:fld>
            <a:endParaRPr lang="uk-U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uk-UA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uk-UA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uk-UA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uk-UA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uk-UA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1004</a:t>
            </a:fld>
            <a:endParaRPr lang="uk-U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uk-UA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uk-UA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uk-UA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uk-UA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uk-UA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1005</a:t>
            </a:fld>
            <a:endParaRPr lang="uk-U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uk-UA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uk-UA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uk-UA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uk-UA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uk-UA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1006</a:t>
            </a:fld>
            <a:endParaRPr lang="uk-U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uk-UA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uk-UA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null</a:t>
            </a:fld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files/macro/Wages_m.xlsx" TargetMode="External"/><Relationship Id="rId5" Type="http://schemas.openxmlformats.org/officeDocument/2006/relationships/image" Target="../media/image-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ua/open-data/api-dev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uk-UA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uk-UA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uk-UA" sz="1600" dirty="0">
                <a:solidFill>
                  <a:schemeClr val="bg1"/>
                </a:solidFill>
              </a:rPr>
              <a:t>Команда [назва]</a:t>
            </a:r>
            <a:endParaRPr lang="uk-UA" sz="1600" dirty="0"/>
          </a:p>
          <a:p>
            <a:pPr indent="0" marL="0">
              <a:spcAft>
                <a:spcPts val="400"/>
              </a:spcAft>
              <a:buNone/>
            </a:pPr>
            <a:r>
              <a:rPr lang="uk-UA" sz="1600" dirty="0">
                <a:solidFill>
                  <a:schemeClr val="bg1"/>
                </a:solidFill>
              </a:rPr>
              <a:t>[Університет, факультет]</a:t>
            </a:r>
            <a:endParaRPr lang="uk-UA" sz="1600" dirty="0"/>
          </a:p>
          <a:p>
            <a:pPr indent="0" marL="0">
              <a:spcAft>
                <a:spcPts val="400"/>
              </a:spcAft>
              <a:buNone/>
            </a:pPr>
            <a:r>
              <a:rPr lang="uk-UA" sz="1600" dirty="0">
                <a:solidFill>
                  <a:schemeClr val="bg1"/>
                </a:solidFill>
              </a:rPr>
              <a:t>NBU University Challenge 2026</a:t>
            </a:r>
            <a:endParaRPr lang="uk-UA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uk-UA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uk-UA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uk-UA" sz="1500" b="1" dirty="0">
                <a:solidFill>
                  <a:srgbClr val="C98A00"/>
                </a:solidFill>
              </a:rPr>
              <a:t>  +1,0 в. п.</a:t>
            </a:r>
            <a:endParaRPr lang="uk-UA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32888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нижче 5% з I кв. 2028, ≈5% у 2029</a:t>
            </a:r>
            <a:endParaRPr lang="uk-UA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100" b="1" spc="100" kern="0" dirty="0">
                <a:solidFill>
                  <a:schemeClr val="accent6"/>
                </a:solidFill>
              </a:rPr>
              <a:t>КУРС ГРИВНІ</a:t>
            </a:r>
            <a:endParaRPr lang="uk-UA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uk-UA" sz="1500" b="1" dirty="0">
                <a:solidFill>
                  <a:srgbClr val="C98A00"/>
                </a:solidFill>
              </a:rPr>
              <a:t>  </a:t>
            </a:r>
            <a:endParaRPr lang="uk-UA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32888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у жовтні гривня послабилася до 45,08 грн/$ — амортизатор працює; рівень не фіксувати, інтервенції лише згладжують</a:t>
            </a:r>
            <a:endParaRPr lang="uk-UA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uk-UA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uk-UA" sz="1500" b="1" dirty="0">
                <a:solidFill>
                  <a:srgbClr val="C98A00"/>
                </a:solidFill>
              </a:rPr>
              <a:t>  етап III</a:t>
            </a:r>
            <a:endParaRPr lang="uk-UA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32888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uk-UA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4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4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4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4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4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4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4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2,4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4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400" b="1" dirty="0">
                          <a:solidFill>
                            <a:schemeClr val="tx1"/>
                          </a:solidFill>
                        </a:rPr>
                        <a:t>Курс, грн/$ (модель)**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4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uk-UA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585216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100" i="1" dirty="0">
                <a:solidFill>
                  <a:schemeClr val="accent6"/>
                </a:solidFill>
              </a:rPr>
              <a:t>* Середнє за квартал (SA); грудень 2026 — 12,1% (наукаст). ** Грн/€ з моделі ÷ EUR/USD 1,12 (жовтневий рівень); аналітики чекають ≈47 грн/$ через рік — курсовий ризик. У 2028 — 3,8–4,8%. Дані на 25.10.2026.</a:t>
            </a:r>
            <a:endParaRPr lang="uk-UA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</a:t>
            </a:fld>
            <a:endParaRPr lang="uk-UA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uk-UA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uk-UA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uk-UA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≈$125, ЄЦБ підвищує ставку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uk-UA" sz="900" dirty="0"/>
          </a:p>
        </p:txBody>
      </p:sp>
      <p:pic>
        <p:nvPicPr>
          <p:cNvPr id="5" name="chart" descr="/home/user/nbu-challenge-2026/results/figures/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11277295" cy="364528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Війна на Близькому Сході (з 28.02.2026): Brent (спот) — в середньому $117 у квітні, $114 у вересні, ≈$125 за 1–20.10 (НБУ закладав $80–85); ф'ючерси — $87 наприкінці 2027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ЄЦБ підвищив ставку до 2,5% (червень, вересень); його технічні припущення — ≈3% у 2027–2028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Інфляція в єврозоні — 3,8% у вересні; ЄЦБ чекає пік ≈3,6% у IV кв. 2026 і 3,0% / 2,5% / 2,1% у середньому за 2026–2028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4</a:t>
            </a:fld>
            <a:endParaRPr lang="uk-UA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uk-UA" sz="900" dirty="0"/>
          </a:p>
        </p:txBody>
      </p:sp>
      <p:pic>
        <p:nvPicPr>
          <p:cNvPr id="5" name="chart" descr="/home/user/nbu-challenge-2026/results/figures/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559" y="1325880"/>
            <a:ext cx="10348578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5</a:t>
            </a:fld>
            <a:endParaRPr lang="uk-UA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uk-UA" sz="900" dirty="0"/>
          </a:p>
        </p:txBody>
      </p:sp>
      <p:pic>
        <p:nvPicPr>
          <p:cNvPr id="5" name="chart" descr="/home/user/nbu-challenge-2026/results/figures/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516671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Реальна ставка (як рахує НБУ — від липневих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ОВДП (06.10): 1 рік — 15,1%, 2,5 року — 16,5% — ринок чекає високих ставок надовго, але не різкого посилення; кредити бізнесу +30% р/р (КМП)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6</a:t>
            </a:fld>
            <a:endParaRPr lang="uk-UA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Активність: врожай підтримав III кв., промисловість і логістика слабкі, зарплати +21–25%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4" invalidUrl="" action="" tgtFrame="" tooltip="https://bank.gov.ua/files/macro/Wages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зарплати (НБУ)</a:t>
            </a:r>
            <a:endParaRPr lang="uk-UA" sz="900" dirty="0"/>
          </a:p>
        </p:txBody>
      </p:sp>
      <p:pic>
        <p:nvPicPr>
          <p:cNvPr id="5" name="chart" descr="/home/user/nbu-challenge-2026/results/figures/ov_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11277295" cy="3530284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7</a:t>
            </a:fld>
            <a:endParaRPr lang="uk-UA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uk-UA" sz="900" dirty="0"/>
          </a:p>
        </p:txBody>
      </p:sp>
      <p:pic>
        <p:nvPicPr>
          <p:cNvPr id="5" name="chart" descr="/home/user/nbu-challenge-2026/results/figures/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85" y="1325880"/>
            <a:ext cx="1096752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Курс: ≈44,7 грн/$ у червні–вересні, у жовтні — до 45,08 (14.10, історичний мінімум гривні), 25.10 — 45,05; продаж валюти «доносить» допомогу: у вересні уряд конвертував $3,81 млрд траншу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8</a:t>
            </a:fld>
            <a:endParaRPr lang="uk-UA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uk-UA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uk-UA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uk-UA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uk-UA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27048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uk-UA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uk-UA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27048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5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uk-UA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uk-UA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27048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5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uk-UA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uk-UA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27048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5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uk-UA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uk-UA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uk-UA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uk-UA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1e−5*</a:t>
            </a:r>
            <a:endParaRPr lang="uk-UA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250" dirty="0">
                <a:solidFill>
                  <a:schemeClr val="tx1"/>
                </a:solidFill>
              </a:rPr>
              <a:t>розбіжність Python і MATLAB/IRIS на тому самому файлі моделі: фільтр і всі 5 сценаріїв (* звірка від 21.10, до оновлення даних 25.10)</a:t>
            </a:r>
            <a:endParaRPr lang="uk-UA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0,4–1,8 в. п.</a:t>
            </a:r>
            <a:endParaRPr lang="uk-UA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400" dirty="0">
                <a:solidFill>
                  <a:schemeClr val="tx1"/>
                </a:solidFill>
              </a:rPr>
              <a:t>помилка ІСЦ на 1–4 кв. уперед, 3 прогони 2025 р. із фактичними зовнішніми умовами («без змін»: 1,3–6,1)</a:t>
            </a:r>
            <a:endParaRPr lang="uk-U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uk-UA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Базова + небазова інфляція</a:t>
            </a:r>
            <a:endParaRPr lang="uk-UA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Канал нафти Brent</a:t>
            </a:r>
            <a:endParaRPr lang="uk-UA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Наукаст ІСЦ і курсу</a:t>
            </a:r>
            <a:endParaRPr lang="uk-UA" sz="1200" dirty="0"/>
          </a:p>
        </p:txBody>
      </p:sp>
      <p:sp>
        <p:nvSpPr>
          <p:cNvPr id="33" name="chip4"/>
          <p:cNvSpPr/>
          <p:nvPr/>
        </p:nvSpPr>
        <p:spPr>
          <a:xfrm>
            <a:off x="6784848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784848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Судження з джерелами</a:t>
            </a:r>
            <a:endParaRPr lang="uk-UA" sz="1200" dirty="0"/>
          </a:p>
        </p:txBody>
      </p:sp>
      <p:sp>
        <p:nvSpPr>
          <p:cNvPr id="35" name="chip5"/>
          <p:cNvSpPr/>
          <p:nvPr/>
        </p:nvSpPr>
        <p:spPr>
          <a:xfrm>
            <a:off x="8842248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42248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Віялові графіки</a:t>
            </a:r>
            <a:endParaRPr lang="uk-UA" sz="1200" dirty="0"/>
          </a:p>
        </p:txBody>
      </p:sp>
      <p:sp>
        <p:nvSpPr>
          <p:cNvPr id="37" name="chip6"/>
          <p:cNvSpPr/>
          <p:nvPr/>
        </p:nvSpPr>
        <p:spPr>
          <a:xfrm>
            <a:off x="457200" y="58064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7200" y="58064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Оптимальна ставка</a:t>
            </a:r>
            <a:endParaRPr lang="uk-UA" sz="1200" dirty="0"/>
          </a:p>
        </p:txBody>
      </p:sp>
      <p:sp>
        <p:nvSpPr>
          <p:cNvPr id="39" name="chip7"/>
          <p:cNvSpPr/>
          <p:nvPr/>
        </p:nvSpPr>
        <p:spPr>
          <a:xfrm>
            <a:off x="228142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8142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Бектест</a:t>
            </a:r>
            <a:endParaRPr lang="uk-UA" sz="1200" dirty="0"/>
          </a:p>
        </p:txBody>
      </p:sp>
      <p:sp>
        <p:nvSpPr>
          <p:cNvPr id="41" name="chip8"/>
          <p:cNvSpPr/>
          <p:nvPr/>
        </p:nvSpPr>
        <p:spPr>
          <a:xfrm>
            <a:off x="3328416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28416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Резерви</a:t>
            </a:r>
            <a:endParaRPr lang="uk-UA" sz="1200" dirty="0"/>
          </a:p>
        </p:txBody>
      </p:sp>
      <p:sp>
        <p:nvSpPr>
          <p:cNvPr id="43" name="chip9"/>
          <p:cNvSpPr/>
          <p:nvPr/>
        </p:nvSpPr>
        <p:spPr>
          <a:xfrm>
            <a:off x="4375404" y="58064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375404" y="5806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dirty="0">
                <a:solidFill>
                  <a:schemeClr val="accent1"/>
                </a:solidFill>
              </a:rPr>
              <a:t>Звірка з MATLAB/IRIS</a:t>
            </a:r>
            <a:endParaRPr lang="uk-UA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10</a:t>
            </a:fld>
            <a:endParaRPr lang="uk-UA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uk-UA" sz="900" dirty="0"/>
          </a:p>
        </p:txBody>
      </p:sp>
      <p:pic>
        <p:nvPicPr>
          <p:cNvPr id="5" name="chart" descr="/home/user/nbu-challenge-2026/results/figures/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417570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1,33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0,02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1,11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−0,16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2916936"/>
            <a:ext cx="4647895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uk-UA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300" dirty="0">
                <a:solidFill>
                  <a:schemeClr val="tx1"/>
                </a:solidFill>
              </a:rPr>
              <a:t>Тренд 1,19% на місяць (без сезонності) — це ≈15% у річному вимірі; вересневий стрибок частково разовий (−0,1 в. п./міс.)</a:t>
            </a:r>
            <a:endParaRPr lang="uk-UA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300" dirty="0">
                <a:solidFill>
                  <a:schemeClr val="tx1"/>
                </a:solidFill>
              </a:rPr>
              <a:t>Грудень 12,1% — вище липневого прогнозу НБУ (10%); базова тим самим методом — 9,6% (НБУ: 9,2%)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11</a:t>
            </a:fld>
            <a:endParaRPr lang="uk-UA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пройде пік наприкінці 2026 і повернеться до цілі на початку 2028 — у межах горизонту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uk-UA" sz="900" dirty="0"/>
          </a:p>
        </p:txBody>
      </p:sp>
      <p:pic>
        <p:nvPicPr>
          <p:cNvPr id="5" name="chart" descr="/home/user/nbu-challenge-2026/results/figures/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215" y="1325880"/>
            <a:ext cx="9905266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Пік — IV кв. 2026: ≈11,2% за квартал (грудень ≈12,1%); 5,4% у IV кв. 2027 (НБУ 6,9%); у 2028 — 3,8–4,8%, ≈5% — у 2029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Ставка: 17% до середини 2027 → 13,1% наприкінці 2027 → 10,5% — 2028 → 10,5% — 2029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2,0 до 9,1%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12</a:t>
            </a:fld>
            <a:endParaRPr lang="uk-UA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≈0,7% у IV кв. 2026, ≈−1,0% у 2027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uk-UA" sz="900" dirty="0"/>
          </a:p>
        </p:txBody>
      </p:sp>
      <p:pic>
        <p:nvPicPr>
          <p:cNvPr id="5" name="chart main" descr="/home/user/nbu-challenge-2026/results/figures/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29812" cy="2740914"/>
          </a:xfrm>
          <a:prstGeom prst="rect">
            <a:avLst/>
          </a:prstGeom>
        </p:spPr>
      </p:pic>
      <p:pic>
        <p:nvPicPr>
          <p:cNvPr id="6" name="chart side" descr="/home/user/nbu-challenge-2026/results/figures/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141024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ВВП: 0,5% / −0,2% / 2,4% у 2026–2028 (НБУ: 1,8 / 2,8 / 3,0%)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Розрив ВВП у 2027: у нас ≈−1,0%, у НБУ +1,4% — ми бачимо слабший попит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uk-U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13</a:t>
            </a:fld>
            <a:endParaRPr lang="uk-UA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головні ризики — дефіцит фінансування, зима і курс; нафта ≈$120 весь 2027 — +0,6 в. п.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uk-UA" sz="900" dirty="0"/>
          </a:p>
        </p:txBody>
      </p:sp>
      <p:pic>
        <p:nvPicPr>
          <p:cNvPr id="5" name="chart" descr="/home/user/nbu-challenge-2026/results/figures/fc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7099" y="1280160"/>
            <a:ext cx="8697498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"/>
                <a:gridCol w="859536"/>
                <a:gridCol w="859536"/>
                <a:gridCol w="859536"/>
                <a:gridCol w="859536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13,0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19,4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48,6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6,0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452360" y="4087368"/>
            <a:ext cx="4282135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Дефіцит фінансування: гривня на ≈7% слабша (≈49 грн/$) → ІСЦ до 13,0%, ставка до 19,4%</a:t>
            </a:r>
            <a:endParaRPr lang="uk-UA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Важка зима: ІСЦ до 12,4%, ставка до 17,8%, ВВП 2027 −1,1%</a:t>
            </a:r>
            <a:endParaRPr lang="uk-UA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Нафта ≈$120 весь 2027 (а не $87): +0,6 в. п. до ІСЦ IV кв. 2027, ставка на піку +0,3 в. п. — перший раунд</a:t>
            </a:r>
            <a:endParaRPr lang="uk-UA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Ще чотири ризики (додаток 8): курс, як чекає ринок → ≈8%; євро знову 1,16 $ → ≈8%; розбалансування очікувань → ≈7%; ПДВ 21% → +0,5 в. п.</a:t>
            </a:r>
            <a:endParaRPr lang="uk-UA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14</a:t>
            </a:fld>
            <a:endParaRPr lang="uk-UA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uk-UA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uk-UA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uk-UA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85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85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uk-UA" sz="85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85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uk-UA" sz="85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85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uk-UA" sz="85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85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uk-UA" sz="85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uk-UA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uk-UA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800" b="1" dirty="0">
                <a:solidFill>
                  <a:schemeClr val="bg1"/>
                </a:solidFill>
              </a:rPr>
              <a:t>1</a:t>
            </a:r>
            <a:endParaRPr lang="uk-UA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uk-UA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uk-UA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800" b="1" dirty="0">
                <a:solidFill>
                  <a:schemeClr val="bg1"/>
                </a:solidFill>
              </a:rPr>
              <a:t>2</a:t>
            </a:r>
            <a:endParaRPr lang="uk-UA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uk-UA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uk-UA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800" b="1" dirty="0">
                <a:solidFill>
                  <a:schemeClr val="bg1"/>
                </a:solidFill>
              </a:rPr>
              <a:t>3</a:t>
            </a:r>
            <a:endParaRPr lang="uk-U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uk-UA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uk-U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16</a:t>
            </a:fld>
            <a:endParaRPr lang="uk-UA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у моделі — 16–17%; обираємо 17% і готові йти далі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uk-UA" sz="900" dirty="0"/>
          </a:p>
        </p:txBody>
      </p:sp>
      <p:pic>
        <p:nvPicPr>
          <p:cNvPr id="5" name="chart" descr="/home/user/nbu-challenge-2026/results/figures/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32" y="1280160"/>
            <a:ext cx="7365632" cy="259080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5384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"/>
                <a:gridCol w="859536"/>
                <a:gridCol w="859536"/>
                <a:gridCol w="859536"/>
                <a:gridCol w="859536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13,2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452360" y="4072128"/>
            <a:ext cx="4282135" cy="2237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Втрати: відхилення інфляції від 5%, розрив ВВП, зміни ставки; адмінціни — з вагою 50%</a:t>
            </a:r>
            <a:endParaRPr lang="uk-UA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Оптимум: 16,9% зараз (16,4–17,7% залежно від згладжування), зниження з II кв. 2027; за курсовими припущеннями — 16,9–18,2%</a:t>
            </a:r>
            <a:endParaRPr lang="uk-UA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16–17% майже рівні (втрати 106 / 105 / 106); під ризиками (11 сценаріїв) мінімум — 17%, мінімакс жалю — 17,5%</a:t>
            </a:r>
            <a:endParaRPr lang="uk-UA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Вибір — 17%: усередині модельного діапазону; крок у пункт — через ризики вгору; готові до +0,5 у грудні</a:t>
            </a:r>
            <a:endParaRPr lang="uk-UA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17</a:t>
            </a:fld>
            <a:endParaRPr lang="uk-UA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uk-UA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uk-UA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uk-UA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dirty="0">
                <a:solidFill>
                  <a:schemeClr val="bg1"/>
                </a:solidFill>
              </a:rPr>
              <a:t>+1,0 в. п. з 30.10.2026</a:t>
            </a:r>
            <a:endParaRPr lang="uk-UA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uk-UA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673352"/>
            <a:ext cx="7802575" cy="1409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uk-UA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Базова інфляція прискорилася до 8,8% і за наукастом сягне ≈9,6% у грудні — вторинні ефекти вже є; очікування домогосподарств 10–14%</a:t>
            </a:r>
            <a:endParaRPr lang="uk-UA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Курс: якщо гривня піде як чекає ринок (48+ грн/$), ІСЦ IV кв. 2027 — ≈8% і 17% недостатньо — готові підвищувати до ≈19%</a:t>
            </a:r>
            <a:endParaRPr lang="uk-UA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До депозитів: знизити коефіцієнт використання ліміту 3-міс. ДС (прив'язаного до строкових вкладів)</a:t>
            </a:r>
            <a:endParaRPr lang="uk-UA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192949"/>
            <a:ext cx="7802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uk-UA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540421"/>
            <a:ext cx="7802575" cy="1155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Модель: оптимум ≈16,9%, під ризиками — 17%, за курсовими припущеннями 16,5–18,2% — ми усередині цього діапазону і рішучіші за ринок (ОВДП, очікування)</a:t>
            </a:r>
            <a:endParaRPr lang="uk-UA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+1 в. п. — як у січні й березні 2025; +1,5 одразу — надмірний сигнал за слабкого ВВП і до оновленого прогнозу НБУ</a:t>
            </a:r>
            <a:endParaRPr lang="uk-UA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uk-UA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806019"/>
            <a:ext cx="7802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uk-UA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5153491"/>
            <a:ext cx="7802575" cy="1155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Не знижувати щонайменше до III кв. 2027 (оптимум моделі — з II кв. 2027; запас на курсові ризики); далі ≈13,1% наприкінці 2027, ≈10,5% — 2028</a:t>
            </a:r>
            <a:endParaRPr lang="uk-UA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Наступний крок радше вгору: ще +0,5 у грудні, якщо базова без сезонності не сповільниться нижче ≈0,7% м/м (зараз ≈0,8%) або посиляться курсові очікування</a:t>
            </a:r>
            <a:endParaRPr lang="uk-UA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uk-UA" sz="125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uk-UA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18</a:t>
            </a:fld>
            <a:endParaRPr lang="uk-UA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за надходжень липня–вересня резерви на кінець 2026 — $43 млрд (3,8 міс. імпорту)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uk-UA" sz="900" dirty="0"/>
          </a:p>
        </p:txBody>
      </p:sp>
      <p:pic>
        <p:nvPicPr>
          <p:cNvPr id="5" name="chart" descr="/home/user/nbu-challenge-2026/results/figures/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275734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35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uk-UA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35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uk-UA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350" dirty="0">
                <a:solidFill>
                  <a:schemeClr val="tx1"/>
                </a:solidFill>
              </a:rPr>
              <a:t>Модель: ≈45,6 грн/$ у IV кв. 2027 (≈1% до долара) — міцніше за бюджет-2027 (48,3) та ICU (49,2): курс тримає весь шлях ставки (паритет) і керований цільовий курс; перенос у ціни ≈0,75 — верхня межа</a:t>
            </a:r>
            <a:endParaRPr lang="uk-UA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350" dirty="0">
                <a:solidFill>
                  <a:schemeClr val="tx1"/>
                </a:solidFill>
              </a:rPr>
              <a:t>Якщо правий ринок (48+ грн/$): ІСЦ IV кв. 2027 ≈8%, і 17% недостатньо — готові підвищувати до ≈19%</a:t>
            </a:r>
            <a:endParaRPr lang="uk-UA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350" dirty="0">
                <a:solidFill>
                  <a:schemeClr val="tx1"/>
                </a:solidFill>
              </a:rPr>
              <a:t>Рекомендація: не фіксувати курс — жовтневе послаблення до 45,08 грн/$ показує, що амортизатор працює;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uk-UA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19</a:t>
            </a:fld>
            <a:endParaRPr lang="uk-UA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uk-UA" sz="900" dirty="0"/>
          </a:p>
        </p:txBody>
      </p:sp>
      <p:pic>
        <p:nvPicPr>
          <p:cNvPr id="5" name="chart" descr="/home/user/nbu-challenge-2026/results/figures/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6606008" cy="498348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uk-U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20</a:t>
            </a:fld>
            <a:endParaRPr lang="uk-UA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uk-UA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2000" b="1" dirty="0">
                <a:solidFill>
                  <a:srgbClr val="0E3B43"/>
                </a:solidFill>
              </a:rPr>
              <a:t>1</a:t>
            </a:r>
            <a:endParaRPr lang="uk-UA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uk-UA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2000" b="1" dirty="0">
                <a:solidFill>
                  <a:srgbClr val="0E3B43"/>
                </a:solidFill>
              </a:rPr>
              <a:t>2</a:t>
            </a:r>
            <a:endParaRPr lang="uk-UA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uk-UA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2000" b="1" dirty="0">
                <a:solidFill>
                  <a:srgbClr val="0E3B43"/>
                </a:solidFill>
              </a:rPr>
              <a:t>3</a:t>
            </a:r>
            <a:endParaRPr lang="uk-UA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uk-UA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2000" b="1" dirty="0">
                <a:solidFill>
                  <a:srgbClr val="0E3B43"/>
                </a:solidFill>
              </a:rPr>
              <a:t>4</a:t>
            </a:r>
            <a:endParaRPr lang="uk-UA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2000" dirty="0">
                <a:solidFill>
                  <a:schemeClr val="bg1"/>
                </a:solidFill>
              </a:rPr>
              <a:t>Базовий прогноз: інфляція ≈12,1% у грудні 2026, 5,4% у IV кв. 2027, нижче 5% з I кв. 2028, ≈5% у 2029</a:t>
            </a:r>
            <a:endParaRPr lang="uk-UA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uk-UA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uk-UA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експорт, розрив покривають партнери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uk-UA" sz="900" dirty="0"/>
          </a:p>
        </p:txBody>
      </p:sp>
      <p:pic>
        <p:nvPicPr>
          <p:cNvPr id="5" name="chart" descr="/home/user/nbu-challenge-2026/results/figures/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207137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23</a:t>
            </a:fld>
            <a:endParaRPr lang="uk-UA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uk-UA" sz="900" dirty="0"/>
          </a:p>
        </p:txBody>
      </p:sp>
      <p:pic>
        <p:nvPicPr>
          <p:cNvPr id="5" name="chart" descr="/home/user/nbu-challenge-2026/results/figures/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91" y="1325880"/>
            <a:ext cx="10276713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5,4% у IV кв.)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24</a:t>
            </a:fld>
            <a:endParaRPr lang="uk-UA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неї реагує слабко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uk-UA" sz="900" dirty="0"/>
          </a:p>
        </p:txBody>
      </p:sp>
      <p:pic>
        <p:nvPicPr>
          <p:cNvPr id="5" name="chart" descr="/home/user/nbu-challenge-2026/results/figures/irf_res_dl_roil_b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2" y="1325880"/>
            <a:ext cx="5986592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З вагою нафти 0 функції відгуку збігаються з шаблоном НБУ (тест); поділ на базову й небазову інфляцію лишається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25</a:t>
            </a:fld>
            <a:endParaRPr lang="uk-UA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uk-UA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92240"/>
                <a:gridCol w="27706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12,1% і 9,6% р/р; в IV кв. фіксуємо обидва ряди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IV кв. 2026 — за фактом жовтня й останнім курсом (50,4 грн/€); далі допустиме послаблення (цільовий темп) 4% у 2027, 3% у 2028; фактичний — з моделі (у 2027 — +1,3%, у середньому ≈1,5% на рік); EUR/USD 1,12 без змін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11" invalidUrl="" action="" tgtFrame="" tooltip="https://bank.gov.ua/ua/open-data/api-dev" history="1" highlightClick="0" endSnd="0"/>
                        </a:rPr>
                        <a:t>Офіційний курс НБУ, ЄЦБ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Спот до вересня; IV кв. 2026 $119 (жовтень — спот, далі ф'ючерс); ф'ючерсна крива (25.10): $87 (кінець 2027) → $79 (кінець 2028)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uk-UA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≈3% у 2027–2028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26</a:t>
            </a:fld>
            <a:endParaRPr lang="uk-UA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у 2027 — нижча, ніж у НБУ: 4,2% у IV кв. (≈3,7% у грудні) проти 5,1%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uk-UA" sz="900" dirty="0"/>
          </a:p>
        </p:txBody>
      </p:sp>
      <p:pic>
        <p:nvPicPr>
          <p:cNvPr id="5" name="chart" descr="/home/user/nbu-challenge-2026/results/figures/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920117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Наша базова — середнє за IV кв., у НБУ — грудень; для порівняння показуємо й грудневий еквівалент (інтерполяція)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Що її тримає в моделі: додатний розрив ВВП, перенесення вересневого шоку витрат і курсу; у 2027 — шок витрат опалювального сезону (судження за оцінкою НБУ)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Загальна: 5,4% у IV кв. 2027 (НБУ 6,9% у грудні) — тарифи й акцизи додають ≈1,7 в. п. на рік, дешевша нафта (ф'ючерси) — віднімає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2028: базова 3,4% (НБУ 3,3%) — слабкий попит → простір для зниження ставки з II пів. 2027</a:t>
            </a:r>
            <a:endParaRPr lang="uk-U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27</a:t>
            </a:fld>
            <a:endParaRPr lang="uk-UA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uk-UA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accent6"/>
                </a:solidFill>
              </a:rPr>
              <a:t>Високий</a:t>
            </a:r>
            <a:endParaRPr lang="uk-UA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Нафта ≈$120 весь 2027 (+0,6 в. п.)</a:t>
            </a:r>
            <a:endParaRPr lang="uk-UA" sz="1300" dirty="0"/>
          </a:p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uk-UA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uk-UA" sz="1300" dirty="0"/>
          </a:p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uk-UA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accent6"/>
                </a:solidFill>
              </a:rPr>
              <a:t>Середній</a:t>
            </a:r>
            <a:endParaRPr lang="uk-UA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1E8449"/>
                </a:solidFill>
              </a:rPr>
              <a:t>▼ Слабший попит у єврозоні — менший експорт</a:t>
            </a:r>
            <a:endParaRPr lang="uk-UA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uk-UA" sz="1300" dirty="0"/>
          </a:p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uk-UA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uk-UA" sz="1300" dirty="0"/>
          </a:p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uk-UA" sz="1300" dirty="0"/>
          </a:p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Євро знову 1,16 $ — гривня до євро слабшає на ≈3%</a:t>
            </a:r>
            <a:endParaRPr lang="uk-UA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accent6"/>
                </a:solidFill>
              </a:rPr>
              <a:t>Низький</a:t>
            </a:r>
            <a:endParaRPr lang="uk-UA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uk-UA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uk-UA" sz="1300" dirty="0"/>
          </a:p>
          <a:p>
            <a:pPr indent="0" marL="0">
              <a:spcAft>
                <a:spcPts val="400"/>
              </a:spcAft>
              <a:buNone/>
            </a:pPr>
            <a:r>
              <a:rPr lang="uk-UA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uk-UA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accent6"/>
                </a:solidFill>
              </a:rPr>
              <a:t>Слабкий</a:t>
            </a:r>
            <a:endParaRPr lang="uk-UA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accent6"/>
                </a:solidFill>
              </a:rPr>
              <a:t>Помірний</a:t>
            </a:r>
            <a:endParaRPr lang="uk-U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accent6"/>
                </a:solidFill>
              </a:rPr>
              <a:t>Сильний</a:t>
            </a:r>
            <a:endParaRPr lang="uk-UA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uk-UA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28</a:t>
            </a:fld>
            <a:endParaRPr lang="uk-UA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uk-UA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uk-UA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базової інфляції, зміщення ризиків угору й ризики для курсових очікувань. НБУ не знижуватиме ставку щонайменше до III кварталу 2027 року, готовий за потреби до подальших кроків і допускатиме більшу гнучкість курсу, згладжуючи надмірні коливання».</a:t>
            </a:r>
            <a:endParaRPr lang="uk-UA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800" b="1" dirty="0">
                <a:solidFill>
                  <a:schemeClr val="bg1"/>
                </a:solidFill>
              </a:rPr>
              <a:t>1</a:t>
            </a:r>
            <a:endParaRPr lang="uk-UA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uk-UA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НБУ підвищує ставку на 1 в. п., щоб інфляція повернулася до цілі на початку 2028 року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uk-UA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800" b="1" dirty="0">
                <a:solidFill>
                  <a:schemeClr val="bg1"/>
                </a:solidFill>
              </a:rPr>
              <a:t>2</a:t>
            </a:r>
            <a:endParaRPr lang="uk-UA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uk-UA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uk-UA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800" b="1" dirty="0">
                <a:solidFill>
                  <a:schemeClr val="bg1"/>
                </a:solidFill>
              </a:rPr>
              <a:t>3</a:t>
            </a:r>
            <a:endParaRPr lang="uk-U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uk-UA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Обіцянок конкретного курсу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uk-U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29</a:t>
            </a:fld>
            <a:endParaRPr lang="uk-UA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євро, очікування, ПДВ — ставка реагує за правилом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uk-UA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12,2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18,9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47,7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Євро знову 1,16 $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Євро знову 1,16 $ з I кв. 2027 (припущення НБУ, липень) за того ж грн/$: гривня до євро слабшає на ≈3,4%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18,7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11,5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30</a:t>
            </a:fld>
            <a:endParaRPr lang="uk-UA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Стійкість рішення: під ризиками найменші очікувані втрати — 17%</a:t>
            </a:r>
            <a:endParaRPr lang="uk-UA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207008"/>
                <a:gridCol w="1207008"/>
                <a:gridCol w="1207008"/>
                <a:gridCol w="1207008"/>
                <a:gridCol w="120700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100" b="1" dirty="0">
                          <a:solidFill>
                            <a:schemeClr val="bg1"/>
                          </a:solidFill>
                        </a:rPr>
                        <a:t>Сценарій (втрати, λ = 1)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100" b="1" dirty="0">
                          <a:solidFill>
                            <a:schemeClr val="bg1"/>
                          </a:solidFill>
                        </a:rPr>
                        <a:t>Ймовірн., % P1 / P2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100" b="1" dirty="0">
                          <a:solidFill>
                            <a:schemeClr val="bg1"/>
                          </a:solidFill>
                        </a:rPr>
                        <a:t>16%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100" b="1" dirty="0">
                          <a:solidFill>
                            <a:schemeClr val="bg1"/>
                          </a:solidFill>
                        </a:rPr>
                        <a:t>16,5%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100" b="1" dirty="0">
                          <a:solidFill>
                            <a:schemeClr val="bg1"/>
                          </a:solidFill>
                        </a:rPr>
                        <a:t>17%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100" b="1" dirty="0">
                          <a:solidFill>
                            <a:schemeClr val="bg1"/>
                          </a:solidFill>
                        </a:rPr>
                        <a:t>17,5%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100" b="1" dirty="0">
                          <a:solidFill>
                            <a:schemeClr val="bg1"/>
                          </a:solidFill>
                        </a:rPr>
                        <a:t>18%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28 / 35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15 / 10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169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194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119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166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159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154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147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Євро знову 1,16 $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162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153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213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Слабкий попит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Базова сповільнюється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Очікувані втрати (P1)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134 ●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134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136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Очікувані втрати (P2)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126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124 ●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b="1" dirty="0">
                          <a:solidFill>
                            <a:schemeClr val="tx1"/>
                          </a:solidFill>
                        </a:rPr>
                        <a:t>Максимальний жаль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7 ●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uk-UA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31</a:t>
            </a:fld>
            <a:endParaRPr lang="uk-UA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Модель: QPM НБУ + розширення команди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uk-UA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400" b="1" dirty="0">
                <a:solidFill>
                  <a:schemeClr val="accent1"/>
                </a:solidFill>
              </a:rPr>
              <a:t>Попит (розрив ВВП)</a:t>
            </a:r>
            <a:endParaRPr lang="uk-UA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uk-UA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uk-UA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uk-UA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400" b="1" dirty="0">
                <a:solidFill>
                  <a:schemeClr val="accent1"/>
                </a:solidFill>
              </a:rPr>
              <a:t>Небазові ціни (наше)</a:t>
            </a:r>
            <a:endParaRPr lang="uk-UA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uk-UA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uk-UA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uk-UA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uk-UA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uk-UA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uk-UA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uk-UA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Тренди й розриви — фільтр Калмана, 2016–2026; 2022 — шок потенційного ВВП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32</a:t>
            </a:fld>
            <a:endParaRPr lang="uk-UA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Реакція на шок ставки залежить від контролю над курсом (β)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uk-UA" sz="900" dirty="0"/>
          </a:p>
        </p:txBody>
      </p:sp>
      <p:pic>
        <p:nvPicPr>
          <p:cNvPr id="5" name="chart" descr="/home/user/nbu-challenge-2026/results/figures/irf_res_ir_tlr_b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832" y="1325880"/>
            <a:ext cx="8056031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33</a:t>
            </a:fld>
            <a:endParaRPr lang="uk-UA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Ставка має лишатися високою, доки прогноз інфляції вищий за ціль на 3–4 в. п.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uk-UA" sz="900" dirty="0"/>
          </a:p>
        </p:txBody>
      </p:sp>
      <p:pic>
        <p:nvPicPr>
          <p:cNvPr id="5" name="chart" descr="/home/user/nbu-challenge-2026/results/figures/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28542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uk-UA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uk-UA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uk-U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34</a:t>
            </a:fld>
            <a:endParaRPr lang="uk-UA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Бектест: прогноз з даними до III кв. 2025</a:t>
            </a:r>
            <a:endParaRPr lang="uk-UA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uk-UA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uk-UA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uk-UA" sz="900" dirty="0"/>
          </a:p>
        </p:txBody>
      </p:sp>
      <p:pic>
        <p:nvPicPr>
          <p:cNvPr id="5" name="chart" descr="/home/user/nbu-challenge-2026/results/figures/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505" y="1325880"/>
            <a:ext cx="933068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1</a:t>
            </a:r>
            <a:endParaRPr lang="uk-UA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Помилка прогнозу ІСЦ на 1–4 квартали вперед: 0,4–1,8 в. п. («без змін»: 1,3–6,1); лише 3 прогони, зовнішні умови — фактичні, тож це перевірка, а не доказ переваги над НБУ</a:t>
            </a:r>
            <a:endParaRPr lang="uk-UA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2</a:t>
            </a:r>
            <a:endParaRPr lang="uk-UA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uk-UA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k-UA" sz="1200" b="1" dirty="0">
                <a:solidFill>
                  <a:schemeClr val="bg1"/>
                </a:solidFill>
              </a:rPr>
              <a:t>3</a:t>
            </a:r>
            <a:endParaRPr lang="uk-UA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uk-UA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uk-U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35</a:t>
            </a:fld>
            <a:endParaRPr lang="uk-UA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Базовий прогноз по півріччях</a:t>
            </a:r>
            <a:endParaRPr lang="uk-UA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3,8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50,4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50,6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51,1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46,1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46,9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−0,9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−1,5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uk-UA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36</a:t>
            </a:fld>
            <a:endParaRPr lang="uk-UA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uk-UA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Джерела даних</a:t>
            </a:r>
            <a:endParaRPr lang="uk-UA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uk-UA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uk-UA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uk-UA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uk-UA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uk-UA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uk-UA"/>
              <a:t>37</a:t>
            </a:fld>
            <a:endParaRPr lang="uk-U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2026-10-27T18:52:18Z</dcterms:created>
  <dcterms:modified xsi:type="dcterms:W3CDTF">2026-10-27T18:52:18Z</dcterms:modified>
</cp:coreProperties>
</file>