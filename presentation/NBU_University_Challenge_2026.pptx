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3185489a-dcf8-cbd6-ff65-a5293fdee303}">
          <p14:sldIdLst>
            <p14:sldId id="256"/>
            <p14:sldId id="257"/>
          </p14:sldIdLst>
        </p14:section>
        <p14:section name="Огляд" id="{d0ca0b96-f0e7-ff7b-59ad-80a1dc00c379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Прогноз" id="{de4d80d1-2978-b376-6bdb-9f634c08eb13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Рекомендації" id="{84f4a8c2-2371-6062-3da6-8274c974d72d}">
          <p14:sldIdLst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Додатки" id="{8956125a-bd43-ba5e-4a7d-607405d0cd78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25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1 пункт, до 17%, і утримувати її щонайменше до середини 2027 року: у вересні інфляція сягнула 10%, у грудні буде близько 12%. Друге — не заморожувати курс: у жовтні гривня послабилася до 45,1 за долар, і це правильно — курс має поглинати шоки. І обмежити обсяги тендерів депсертифікатів, щоб підвищення дійшло до депозитів. Третє — поставити на паузу наступні кроки валютної лібералізації, доки не відновляться резерви. За такої політики інфляція знизиться до 5,4% у четвертому кварталі 2027 року і повернеться до цілі на початку 2028 року — у межах трирічного горизонту НБУ; у 2028 році вона буде навіть трохи нижчою за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коштувала в середньому 117 доларів за барель, у вересні — 114, а в жовтні — близько 125 — тоді як НБУ в липні закладав 80–85. Ринок очікує здешевлення: ф'ючерси вказують на 87 доларів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вересні інфляція стрибнула до 10% — ціни за місяць зросли на 2,1%. Пальне подорожчало на 46% за рік, атаки на склади й логістику здорожчили доставку. Але більше нас турбує базова інфляція: вона прискорилася до 8,8%, послуги дорожчають на 14%. І навіть продовольство, яке досі стримувало ціни, почало дорожчати.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ставка, якщо рахувати як НБУ — від очікувань, — близько 8%, тож гривневі активи поки привабливі. Але великі банки майже не підняли депозитні ставки — трансмісія слабка,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у третьому — близько 1%, і то завдяки врожаю: це суттєво гірше прогнозу НБУ. Але атаки й дефіцит кадрів б'ють по потенціалу ще сильніше, ніж по попиту. Ринок праці напружений: номінальні зарплати цього року зростають на 21–25%.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Але важливо: продаж валюти здебільшого «доносить» допомогу на ринок — у вересні уряд конвертував 3,81 мільярда оборонного траншу. Тож резерви падають через ритм допомоги. Курс чотири місяці стояв біля 44,7 гривні за долар, а в жовтні НБУ допустив послаблення до 45,1.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завантажуються автоматично, фільтр Калмана оцінює розриви й тренди, далі — прогноз із судженнями й аналіз політики. Наше розширення — окремо базова й небазова інфляція і канал світових цін на нафту: нафта на 20% дорожча додає 0,3 пункта до інфляції, а ставка реагує слабко. Той самий файл моделі, дані й плани ми проганяємо в MATLAB з IRIS для звірки: на даних до 21 жовтня розбіжність була в п'ятому знаку, після оновлення даних звірку повторимо.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разовість вересневого стрибка. Тренд — 1,19% на місяць. До того ж діє ефект бази: у жовтні–грудні 2025 ціни зросли лише на 1,5%. Тому річна інфляція підніметься до 12,1% у грудні — помітно вище, ніж НБУ прогнозував у липні. Базову інфляцію рахуємо тим самим методом: у грудні — 9,6%.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У середньому за квартал інфляція досягне піку — близько 11,2% — наприкінці 2026 року; у місячному вимірі це близько 12% у грудні. Далі вона знизиться до 5,4% у четвертому кварталі 2027-го, у 2028 році опуститься нижче цілі — до 3,8–4,8%, бо нафта дешевшає за ф'ючерсами, а попит слабкий, — і стабілізується біля 5% у 2029 році. Базова інфляція в нас нижча, ніж у НБУ: 4,2% у середньому за четвертий квартал 2027 року, у грудневому вимірі — близько 3,7%, проти 5,1% у НБУ. Ставка — 17% до середини 2027 року, далі поступово знижується до 10,5% наприкінці 2028-го. Невизначеність велика — це показує віяло.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попит. ВВП ми бачимо слабшим, ніж НБУ в липні: 0,5% цього року, −0,2% у 2027-му і 2,4% у 2028-му. Мінекономіки теж погіршує прогноз — до 0,8–1% на 2027 рік. Але потенціал економіки постраждав ще більше: атаки й дефіцит кадрів. Тому розрив ВВП зараз додатний, і ціни послуг ростуть. Бюджетного стимулу ми не закладаємо: дефіцит скорочується з 35 до 26% ВВП. У 2027 році висока реальна ставка охолоджує попит, і розрив закривається — це ціна повернення інфляції до цілі.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сценарії. Найнебезпечніший — дефіцит фінансування: якщо допомога затримається, гривня буде приблизно на 7% слабшою, інфляція зросте до 13,0%, а ставку доведеться підняти до 19,4%. Важка зима з ударами по енергетиці підніме інфляцію до 12,4%, а ВВП у 2027 році скоротиться на 1,1%. Натомість нафта, якщо лишиться біля 120 доларів весь 2027 рік замість зниження до 87 за ф'ючерсами, додає 0,6 пункта до інфляції наприкінці 2027 року, і ставка на піку +0,3 в. п. — це переважно шок першого раунду. Ще чотири ризики для інфляції 2027 року — курс, євро, очікування і ПДВ: якщо гривня слабшатиме так, як чекає ринок, інфляція наприкінці 2027 року буде близько 8% замість 5,4%; якби євро знову подорожчав до 1,16 долара, як припускав НБУ в липні, — близько 8%; розбалансування очікувань дало б близько 7%, а ПДВ 21% — ще 0,5 пункта в II кварталі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Спершу — рамка. Головна мета НБУ — цінова стабільність: ціль 5%, і повернути до неї інфляцію треба на горизонті до трьох років. Інструменти — облікова ставка, депозитні сертифікати, які з серпня розміщуються на тендерах, валютні інтервенції та обмеження. У вересні КМП підвищив ставку до 16%, але думки розділилися: семеро вважають, що цього достатньо, двоє чекають ще одного підвищення, один — зниження. Ми — за підвищення, і ось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порівняли чотири варіанти рішення — від утримання 16% до підвищення до 17,5%. У кожному ставка утримується до середини 2027 року, а далі знижується так, щоб інфляція повернулася саме до 5%. Критерій — втрати: відхилення інфляції від цілі, розрив ВВП і різкі зміни ставки. Адмінціни ми враховуємо наполовину: вони ростуть щороку, але це перший раунд. Мінімум втрат — від 16 до 17% залежно від ваги згладжування, за центральної — 16,5%; оптимальна траєкторія починається з 16,9%, тримається на цьому рівні в I кв. 2027 і починає знижуватися з II кварталу 2027. За центральних ваг модель майже не розрізняє 16 і 17%, тому крок у пункт ми обґрунтовуємо ризиками. Ми перевірили рішення на одинадцяти сценаріях: найменші очікувані втрати — на 17%, і 17% — серед них. Найчутливіше припущення — курс: без жовтневого зміцнення гривні до євро оптимум був би 17,8%, а якби євро знову подорожчало до 1,16 долара — 18,2%. Тому ми обираємо пункт зараз і готовність до ще пів пункта в грудні, коли буде оновлений прогноз НБУ, а не півтора пункта одразу.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17%. Чому підвищити: інфляція в грудні сягне близько 12%, базова інфляція прискорюється, курсові ризики високі, а гнучкіший курс потребує сильного якоря для очікувань. Ринок не чекає різкого посилення, але ризики зміщені вгору, і НБУ вже робив крок у пункт — у січні й березні 2025 року. Чому не більше: економіка слабка, а півтора пункта одразу — надмірний сигнал до оновленого прогнозу НБУ. Щоб підвищення дійшло до депозитів, обсяги тендерів депсертифікатів варто обмежити. Орієнтир: не знижувати ставку щонайменше до третього кварталу 2027 року — це трохи довше, ніж оптимум моделі (II кв. 2027), запас на курсові ризики. А наступний крок — радше вгору: ще пів пункта в грудні, якщо базова інфляція без сезонності не сповільниться нижче приблизно 0,7% на місяць або посиляться курсові очікування. А якщо гривня піде так, як чекає ринок, за 48 гривень, то 17% недостатньо, і ми готові підвищувати до приблизно 19%.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і залишиться, на кінець року резерви становитимуть 43 мільярди. Структурно попит на валюту високий: імпорт у 2,6 раза більший за експорт, а офіційне фінансування скоротиться з 87 до 33 мільярдів у 2028 році. Водночас продаж валюти здебільшого «доносить» допомогу до ринку, тож резерви визначає її ритм, а не курс. Наша рекомендація щодо курсу — не фіксувати його. Чотири місяці гривня стояла біля 44,7 за долар, а в жовтні послабилася до 45,1 — за рік це плюс 8%, і це нормальна робота амортизатора. Курс має поглинати шоки, а НБУ — лише згладжувати коливання.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купівля валюти населенням зросла з 0,39 до 0,58 мільярда доларів на місяць — помітно, але керовано. За Стратегією НБУ кроки робляться за передумовами, а не за календарем. Тому третій етап — операції населення й капітальні операції — пропонуємо відкласти, доки резерви не повернуться до 50 мільярдів, а допомога — до ритмічності.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17% і утримувати щонайменше до середини 2027 року. Друге — не заморожувати курс і обмежити обсяги депсертифікатів. Третє — пауза в лібералізації валютних обмежень. Формула комунікації — «ставка — якір, курс — амортизатор». За такої політики інфляція повернеться до цілі на початку 2028 року і стабілізується біля 5% у 2029-му.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Звідки тиск на резерви — видно з платіжного балансу. Імпорт цього року в 2,6 раза більший за експорт, дефіцит — близько 89 мільярдів доларів. Поточний рахунок фінансують позики партнерів. Але офіційне фінансування скорочується з 87 мільярдів у 2026 році до 33 у 2028-му, і, за прогнозом НБУ, поточний рахунок тоді погіршиться до мінус 45 мільярдів. Тому резерви потрібні як буфер, а лібералізацію варто проводити поступово.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підтримує попит через локалізацію ОПК і водночас створює попит на валюту, але загалом дефіцит скорочується, тож окремого бюджетного стимулу ми не закладаємо. Уряд у Бюджетній декларації закладає інфляцію 8,9% наприкінці 2027 року — вище, ніж НБУ і 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моделі. У шаблоні одна крива Філіпса для всієї інфляції, тож нафтовий шок дає хибні коливання через курс. Ми розділили інфляцію на базову і небазову: небазові ціни реагують на нафту та курс. Нафта на 20% дорожча — це плюс 0,3 пункта до інфляції впродовж року, ставка зростає лише на 0,2 пункта, а базова інфляція не прискорюється. Без нафтового каналу функції відгуку моделі збігаються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Окремо про базову інфляцію. Наша оцінка на четвертий квартал 2027 року — 4,2% у середньому за квартал, тобто близько 3,7% у грудні, проти 5,1% у НБУ — нижча, ніж у НБУ. У моделі її тримають додатний розрив ВВП, перенесення вересневого шоку витрат і курсу та шок витрат опалювального сезону. Загальна інфляція при цьому нижча за НБУ (5,4 проти 6,9% у грудні): тарифи й акцизи додають близько 1,7 пункта на рік, а дешевша нафта й міцніша гривня до євро віднімають більше.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рішуче, курс не заморожений, а обмежені обсяги депсертифікатів доносять підвищення до депозитних ставок.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Розраховано поверх базового сценарію, як і основні сценарії: правило Тейлора реагує на нові шоки. Найсильніший — курс: модель передає послаблення гривні в ціни швидко (перенос у шаблоні ≈0,75 за рік — верхня межа; в останні роки фактичний перенос був нижчим), тому реальний ефект, імовірно, менший.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Кожен варіант: рішення в жовтні й утримання, далі траєкторія повернення до цілі; у ризикових сценаріях правило реагує навколо траєкторії варіанта. Втрати — функція оптимізації (λ = 1). P1 — ризики зміщені вгору, P2 — збалансовані; «Слабкий попит» і «Базова сповільнюється» — дезінфляційні противаги. Максимальний жаль — найбільше відставання від найкращого варіанта в будь-якому сценарії. ● — найкращий варіант у рядку.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побудовано в Python; з вагою нафти 0 вони збігаються з опублікованими MATLAB-результатами шаблону (тест).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Графік показує, на скільки ставка має бути вищою за нейтральну за правилом Тейлора і чому.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сезонне згладжування й фільтр бачать лише дані до дати прогнозу, судження й наукасти не використовувалися, зовнішні змінні — фактичні; «факт» — лише опубліковані дані (IV кв. 2026 не оцінюється).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17%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25.10.2026.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ecb.europa.eu/press/projections/html/index.en.html" TargetMode="External"/><Relationship Id="rId2" Type="http://schemas.openxmlformats.org/officeDocument/2006/relationships/hyperlink" Target="https://ec.europa.eu/eurostat/databrowser/view/prc_hicp_minr/default/table" TargetMode="External"/><Relationship Id="rId3" Type="http://schemas.openxmlformats.org/officeDocument/2006/relationships/hyperlink" Target="https://db.nomics.world/EIA/PET/RBRTE.M" TargetMode="External"/><Relationship Id="rId4" Type="http://schemas.openxmlformats.org/officeDocument/2006/relationships/hyperlink" Target="https://finance.yahoo.com/quote/BZ%3DF/" TargetMode="External"/><Relationship Id="rId5" Type="http://schemas.openxmlformats.org/officeDocument/2006/relationships/image" Target="../media/image-4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rivnya-inflyatsiyi-u-veresni-2026-roku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5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minfin.com.ua/ua/2026/10/07/18307690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image" Target="../media/image-6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komentar-natsionalnogo-banku-schodo-zmini-realnogo-vvp-u-ii-kvartali-2026-roku" TargetMode="External"/><Relationship Id="rId2" Type="http://schemas.openxmlformats.org/officeDocument/2006/relationships/hyperlink" Target="https://minfin.com.ua/ua/2026/09/23/182198642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files/macro/Wages_m.xlsx" TargetMode="External"/><Relationship Id="rId5" Type="http://schemas.openxmlformats.org/officeDocument/2006/relationships/image" Target="../media/image-7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mijnarodni-rezervi-stanovili-471-mlrd-dol-ssha-za-pidsumkami-veresnya" TargetMode="External"/><Relationship Id="rId3" Type="http://schemas.openxmlformats.org/officeDocument/2006/relationships/hyperlink" Target="https://epravda.com.ua/finances/valyutniy-rinok-ukrajini-rezultati-troh-rokiv-rezhimu-kerovanoji-gnuchkosti-826509/" TargetMode="External"/><Relationship Id="rId4" Type="http://schemas.openxmlformats.org/officeDocument/2006/relationships/image" Target="../media/image-8-1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ua/news/all/komentar-natsionalnogo-banku-schodo-rivnya-inflyatsiyi-u-veresni-2026-roku" TargetMode="External"/><Relationship Id="rId3" Type="http://schemas.openxmlformats.org/officeDocument/2006/relationships/image" Target="../media/image-11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Tables_Charts_2026-Q3.xlsx?v=19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interfax.com.ua/news/economic/1211092.html" TargetMode="External"/><Relationship Id="rId4" Type="http://schemas.openxmlformats.org/officeDocument/2006/relationships/image" Target="../media/image-13-1.png"/><Relationship Id="rId5" Type="http://schemas.openxmlformats.org/officeDocument/2006/relationships/image" Target="../media/image-13-2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zakon.rada.gov.ua/laws/show/679-14" TargetMode="External"/><Relationship Id="rId2" Type="http://schemas.openxmlformats.org/officeDocument/2006/relationships/hyperlink" Target="https://p4.bank.gov.ua/admin_uploads/article/MPG_2024-mt_eng.pdf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news/all/nbu-informuye-pro-golovniy-printsip-viznachennya-obsyagiv-rozmischennya-trimisyachnih-depozitnih-sertifikativ" TargetMode="External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p4.bank.gov.ua/admin_uploads/article/MPG_2024-mt_eng.pdf" TargetMode="Externa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mijnarodni-rezervi-stanovili-471-mlrd-dol-ssha-za-pidsumkami-veresnya" TargetMode="External"/><Relationship Id="rId2" Type="http://schemas.openxmlformats.org/officeDocument/2006/relationships/hyperlink" Target="https://epravda.com.ua/finances/valyutniy-rinok-ukrajini-rezultati-troh-rokiv-rezhimu-kerovanoji-gnuchkosti-826509/" TargetMode="External"/><Relationship Id="rId3" Type="http://schemas.openxmlformats.org/officeDocument/2006/relationships/hyperlink" Target="https://bank.gov.ua/admin_uploads/article/Macroeconomic_Forecast_table_2026_07.xlsx?v=19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bu-vprovadjuye-paket-pomyakshennya-valyutnih-obmejen-z-osnovnim-fokusom-na-pidtrimtsi-naselennya" TargetMode="External"/><Relationship Id="rId2" Type="http://schemas.openxmlformats.org/officeDocument/2006/relationships/hyperlink" Target="https://bank.gov.ua/admin_uploads/article/Strategy_for_easing_FX_restrictions_07-07-2023.pdf?v=19" TargetMode="External"/><Relationship Id="rId3" Type="http://schemas.openxmlformats.org/officeDocument/2006/relationships/hyperlink" Target="https://bank.gov.ua/ua/open-data/api-dev" TargetMode="External"/><Relationship Id="rId4" Type="http://schemas.openxmlformats.org/officeDocument/2006/relationships/image" Target="../media/image-20-1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image" Target="../media/image-23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admin_uploads/article/Macroeconomic_Forecast_table_2026_07.xlsx?v=19" TargetMode="External"/><Relationship Id="rId2" Type="http://schemas.openxmlformats.org/officeDocument/2006/relationships/hyperlink" Target="https://bank.gov.ua/admin_uploads/article/Tables_Charts_2026-Q3.xlsx?v=19" TargetMode="External"/><Relationship Id="rId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4" Type="http://schemas.openxmlformats.org/officeDocument/2006/relationships/image" Target="../media/image-24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db.nomics.world/EIA/PET/RBRTE.M" TargetMode="External"/><Relationship Id="rId3" Type="http://schemas.openxmlformats.org/officeDocument/2006/relationships/hyperlink" Target="https://finance.yahoo.com/quote/BZ%3DF/" TargetMode="External"/><Relationship Id="rId4" Type="http://schemas.openxmlformats.org/officeDocument/2006/relationships/image" Target="../media/image-25-1.png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hyperlink" Target="https://bank.gov.ua/ua/open-data/api-dev" TargetMode="External"/><Relationship Id="rId5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6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7" Type="http://schemas.openxmlformats.org/officeDocument/2006/relationships/hyperlink" Target="https://bank.gov.ua/admin_uploads/article/Macroeconomic_Forecast_table_2026_07.xlsx?v=19" TargetMode="External"/><Relationship Id="rId8" Type="http://schemas.openxmlformats.org/officeDocument/2006/relationships/hyperlink" Target="https://bank.gov.ua/ua/news/all/natsionalniy-bank-ukrayini-pidvischiv-oblikovu-stavku-do-16" TargetMode="External"/><Relationship Id="rId9" Type="http://schemas.openxmlformats.org/officeDocument/2006/relationships/hyperlink" Target="https://bank.gov.ua/admin_uploads/article/Macroeconomic_Forecast_table_2026_07.xlsx?v=19" TargetMode="External"/><Relationship Id="rId10" Type="http://schemas.openxmlformats.org/officeDocument/2006/relationships/hyperlink" Target="https://bank.gov.ua/admin_uploads/article/Macroeconomic_Forecast_table_2026_07.xlsx?v=19" TargetMode="External"/><Relationship Id="rId11" Type="http://schemas.openxmlformats.org/officeDocument/2006/relationships/hyperlink" Target="https://bank.gov.ua/ua/open-data/api-dev" TargetMode="External"/><Relationship Id="rId12" Type="http://schemas.openxmlformats.org/officeDocument/2006/relationships/hyperlink" Target="https://db.nomics.world/EIA/PET/RBRTE.M" TargetMode="External"/><Relationship Id="rId13" Type="http://schemas.openxmlformats.org/officeDocument/2006/relationships/hyperlink" Target="https://finance.yahoo.com/quote/BZ%3DF/" TargetMode="External"/><Relationship Id="rId14" Type="http://schemas.openxmlformats.org/officeDocument/2006/relationships/hyperlink" Target="https://www.ecb.europa.eu/press/projections/html/index.en.html" TargetMode="External"/><Relationship Id="rId15" Type="http://schemas.openxmlformats.org/officeDocument/2006/relationships/slideLayout" Target="../slideLayouts/slideLayout6.xml"/><Relationship Id="rId1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files/macro/CCPI_m.xlsx" TargetMode="External"/><Relationship Id="rId2" Type="http://schemas.openxmlformats.org/officeDocument/2006/relationships/hyperlink" Target="https://bank.gov.ua/admin_uploads/article/Macroeconomic_Forecast_table_2026_07.xlsx?v=19" TargetMode="External"/><Relationship Id="rId3" Type="http://schemas.openxmlformats.org/officeDocument/2006/relationships/image" Target="../media/image-27-1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news/all/natsionalniy-bank-ukrayini-pidvischiv-oblikovu-stavku-do-16" TargetMode="Externa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hyperlink" Target="https://interfax.com.ua/news/economic/1205936.html" TargetMode="External"/><Relationship Id="rId2" Type="http://schemas.openxmlformats.org/officeDocument/2006/relationships/hyperlink" Target="https://finance.yahoo.com/quote/BZ%3DF/" TargetMode="External"/><Relationship Id="rId3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hyperlink" Target="https://bank.gov.ua/ua/open-data/api-dev" TargetMode="External"/><Relationship Id="rId3" Type="http://schemas.openxmlformats.org/officeDocument/2006/relationships/hyperlink" Target="https://data.ecb.europa.eu/" TargetMode="External"/><Relationship Id="rId4" Type="http://schemas.openxmlformats.org/officeDocument/2006/relationships/hyperlink" Target="https://ec.europa.eu/eurostat/databrowser/view/prc_hicp_minr/default/table" TargetMode="External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events.bank.gov.ua/uchallenge2026/files/nbu_challenge_model_2026.zip" TargetMode="Externa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hyperlink" Target="https://bank.gov.ua/ua/open-data/api-dev" TargetMode="External"/><Relationship Id="rId2" Type="http://schemas.openxmlformats.org/officeDocument/2006/relationships/hyperlink" Target="https://bank.gov.ua/files/macro/CCPI_m.xlsx" TargetMode="External"/><Relationship Id="rId3" Type="http://schemas.openxmlformats.org/officeDocument/2006/relationships/hyperlink" Target="https://bank.gov.ua/admin_uploads/article/Tables_Charts_2026-Q3.xlsx?v=19" TargetMode="External"/><Relationship Id="rId4" Type="http://schemas.openxmlformats.org/officeDocument/2006/relationships/hyperlink" Target="https://bank.gov.ua/ua/news/all/komentar-natsionalnogo-banku-schodo-rivnya-inflyatsiyi-u-veresni-2026-roku" TargetMode="External"/><Relationship Id="rId5" Type="http://schemas.openxmlformats.org/officeDocument/2006/relationships/hyperlink" Target="https://bank.gov.ua/ua/open-data/api-dev" TargetMode="External"/><Relationship Id="rId6" Type="http://schemas.openxmlformats.org/officeDocument/2006/relationships/hyperlink" Target="https://stat.gov.ua/" TargetMode="External"/><Relationship Id="rId7" Type="http://schemas.openxmlformats.org/officeDocument/2006/relationships/hyperlink" Target="https://bank.gov.ua/ua/news/all/komentar-natsionalnogo-banku-schodo-zmini-realnogo-vvp-u-ii-kvartali-2026-roku" TargetMode="External"/><Relationship Id="rId8" Type="http://schemas.openxmlformats.org/officeDocument/2006/relationships/hyperlink" Target="https://bank.gov.ua/files/macro/Wages_m.xlsx" TargetMode="External"/><Relationship Id="rId9" Type="http://schemas.openxmlformats.org/officeDocument/2006/relationships/hyperlink" Target="https://bank.gov.ua/files/macro/S_budget_m.xlsx" TargetMode="External"/><Relationship Id="rId10" Type="http://schemas.openxmlformats.org/officeDocument/2006/relationships/hyperlink" Target="https://bank.gov.ua/ua/news/all/inflyatsiya-prishvidshitsya-u-drugomu-pivrichchi-ale-povernetsya-do-znijennya-nastupnogo-roku--inflyatsiyniy-zvit" TargetMode="External"/><Relationship Id="rId11" Type="http://schemas.openxmlformats.org/officeDocument/2006/relationships/hyperlink" Target="https://bank.gov.ua/admin_uploads/article/Macroeconomic_Forecast_table_2026_07.xlsx?v=19" TargetMode="External"/><Relationship Id="rId12" Type="http://schemas.openxmlformats.org/officeDocument/2006/relationships/hyperlink" Target="https://bank.gov.ua/admin_uploads/article/Tables_Charts_2026-Q3.xlsx?v=19" TargetMode="External"/><Relationship Id="rId13" Type="http://schemas.openxmlformats.org/officeDocument/2006/relationships/hyperlink" Target="https://p4.bank.gov.ua/admin_uploads/article/MPG_2024-mt_eng.pdf" TargetMode="External"/><Relationship Id="rId14" Type="http://schemas.openxmlformats.org/officeDocument/2006/relationships/hyperlink" Target="https://ec.europa.eu/eurostat/databrowser/view/prc_hicp_minr/default/table" TargetMode="External"/><Relationship Id="rId15" Type="http://schemas.openxmlformats.org/officeDocument/2006/relationships/hyperlink" Target="https://data.ecb.europa.eu/" TargetMode="External"/><Relationship Id="rId16" Type="http://schemas.openxmlformats.org/officeDocument/2006/relationships/hyperlink" Target="https://www.ecb.europa.eu/press/projections/html/index.en.html" TargetMode="External"/><Relationship Id="rId17" Type="http://schemas.openxmlformats.org/officeDocument/2006/relationships/hyperlink" Target="https://db.nomics.world/EIA/PET/RBRTE.M" TargetMode="External"/><Relationship Id="rId18" Type="http://schemas.openxmlformats.org/officeDocument/2006/relationships/hyperlink" Target="https://finance.yahoo.com/quote/BZ%3DF/" TargetMode="External"/><Relationship Id="rId19" Type="http://schemas.openxmlformats.org/officeDocument/2006/relationships/hyperlink" Target="https://bank.gov.ua/ua/news/all/natsionalniy-bank-ukrayini-pidvischiv-oblikovu-stavku-do-16" TargetMode="External"/><Relationship Id="rId20" Type="http://schemas.openxmlformats.org/officeDocument/2006/relationships/hyperlink" Target="https://bank.gov.ua/ua/news/all/pidsumki-diskusiyi-chleniv-komitetu-z-monetarnoyi-politiki-natsionalnogo-banku-schodo-rivnya-oblikovoyi-stavki-16-veresnya-2026-roku" TargetMode="External"/><Relationship Id="rId21" Type="http://schemas.openxmlformats.org/officeDocument/2006/relationships/hyperlink" Target="https://bank.gov.ua/admin_uploads/article/Strategy_for_easing_FX_restrictions_07-07-2023.pdf?v=19" TargetMode="External"/><Relationship Id="rId22" Type="http://schemas.openxmlformats.org/officeDocument/2006/relationships/hyperlink" Target="https://bank.gov.ua/ua/news/all/nbu-vprovadjuye-paket-pomyakshennya-valyutnih-obmejen-z-osnovnim-fokusom-na-pidtrimtsi-naselennya" TargetMode="External"/><Relationship Id="rId23" Type="http://schemas.openxmlformats.org/officeDocument/2006/relationships/hyperlink" Target="https://bank.gov.ua/ua/news/all/rada-mvf-shvalila-pershiy-pereglyad-programi-rozshirenogo-finansuvannya-ta-zatverdila-vidilennya-transhu-obsyagom-690-mln-dol-ssha" TargetMode="External"/><Relationship Id="rId24" Type="http://schemas.openxmlformats.org/officeDocument/2006/relationships/hyperlink" Target="https://events.bank.gov.ua/uchallenge2026/files/nbu_challenge_model_2026.zip" TargetMode="External"/><Relationship Id="rId25" Type="http://schemas.openxmlformats.org/officeDocument/2006/relationships/slideLayout" Target="../slideLayouts/slideLayout6.xml"/><Relationship Id="rId26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ставка 17%, гнучкіший курс, пауза в лібералізації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+1,0 в. п.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32888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зниження; інфляція нижче 5% з I кв. 2028, ≈5% у 2029</a:t>
            </a:r>
            <a:endParaRPr lang="en-US" sz="1300" dirty="0"/>
          </a:p>
        </p:txBody>
      </p:sp>
      <p:sp>
        <p:nvSpPr>
          <p:cNvPr id="9" name="card2"/>
          <p:cNvSpPr/>
          <p:nvPr/>
        </p:nvSpPr>
        <p:spPr>
          <a:xfrm>
            <a:off x="4307738" y="132588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Гнучкий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4536338" y="2532888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 жовтні гривня послабилася до 45,08 грн/$ — амортизатор працює; рівень не фіксувати, інтервенції лише згладжують</a:t>
            </a:r>
            <a:endParaRPr lang="en-US" sz="1300" dirty="0"/>
          </a:p>
        </p:txBody>
      </p:sp>
      <p:sp>
        <p:nvSpPr>
          <p:cNvPr id="13" name="card3"/>
          <p:cNvSpPr/>
          <p:nvPr/>
        </p:nvSpPr>
        <p:spPr>
          <a:xfrm>
            <a:off x="8158277" y="1325880"/>
            <a:ext cx="3576218" cy="2103120"/>
          </a:xfrm>
          <a:prstGeom prst="roundRect">
            <a:avLst>
              <a:gd name="adj" fmla="val 3478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8386877" y="2532888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5760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0,5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2,4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3,2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Курс, грн/$ (модель)**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4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5852160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12,1% (наукаст). ** Грн/€ з моделі ÷ EUR/USD 1,12 (жовтневий рівень); аналітики чекають ≈47 грн/$ через рік — курсовий ризик. У 2028 — 3,8–4,8%. Дані на 25.10.2026.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≈$125, ЄЦБ підвищує ставку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www.ecb.europa.eu/press/projections/html/index.en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прогноз ЄЦБ (вересень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ov_exter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11277295" cy="364528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(спот) — в середньому $117 у квітні, $114 у вересні, ≈$125 за 1–20.10 (НБУ закладав $80–85); ф'ючерси — $87 наприкінці 2027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його технічні припущення — ≈3% у 2027–2028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3,8% у вересні; ЄЦБ чекає пік ≈3,6% у IV кв. 2026 і 3,0% / 2,5% / 2,1% у середньому за 2026–2028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у вересні — 10,0%: пальне, руйнування логістики, прискорення базової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infl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559" y="1325880"/>
            <a:ext cx="10348578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+2,1% за місяць: пальне +46,2% р/р, адмінціни +13,6% (проїзд, вода, алкоголь), атаки на склади й логістику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8,8% (з 8,1%): оброблені продукти +10,7%, послуги +13,7% (зарплати, оренда)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Сирі продукти прискорилися до 6,7%: менші врожаї овочів, витрати на транспорт і зберігання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підвищені; реальна ставка від очікувань ≈8% — гривневі активи поки привабливі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10/07/18307690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аукціон ОВДП 06.10.2026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pic>
        <p:nvPicPr>
          <p:cNvPr id="5" name="chart" descr="/home/user/nbu-challenge-2026/results/figures/ov_rat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11277295" cy="3516671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 (липень)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ставка (як рахує НБУ — від липневих очікувань аналітиків): ≈8,1%; але депозитні ставки великих банків після липня й вересня майже не зросли — трансмісія слабка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ОВДП (06.10): 1 рік — 15,1%, 2,5 року — 16,5% — ринок чекає високих ставок надовго, але не різкого посилення; кредити бізнесу +30% р/р (КМП)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Активність: врожай підтримав III кв., промисловість і логістика слабкі, зарплати +21–25%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komentar-natsionalnogo-banku-schodo-zmini-realnogo-vvp-u-ii-kvartal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ВВП II кв.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minfin.com.ua/ua/2026/09/23/182198642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ІЕД: ВВП у липні–серпні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bank.gov.ua/files/macro/Wages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зарплати (НБУ)</a:t>
            </a:r>
            <a:endParaRPr lang="en-US" sz="900" dirty="0"/>
          </a:p>
        </p:txBody>
      </p:sp>
      <p:pic>
        <p:nvPicPr>
          <p:cNvPr id="5" name="chart" descr="/home/user/nbu-challenge-2026/results/figures/ov_activit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325880"/>
            <a:ext cx="11277295" cy="3530284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+0,4% р/р; III кв. — ≈+1% р/р (ІЕД: липень +4%, серпень +1,2% — врожай), «суттєво гірше» за прогноз НБУ (+2,1%)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б'ють і по попиту, і по потенціалу (енергетика, логістика, порти; −0,9 в. п. до ВВП-2026 за НБУ)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Потенціал постраждав сильніше: дефіцит кадрів, зарплати +21–25% р/р у I пів., +23% у серпні — розрив ВВП додатний, послуги дорожчають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endParaRPr lang="en-US" sz="900" dirty="0"/>
          </a:p>
        </p:txBody>
      </p:sp>
      <p:pic>
        <p:nvPicPr>
          <p:cNvPr id="5" name="chart" descr="/home/user/nbu-challenge-2026/results/figures/ov_f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085" y="1325880"/>
            <a:ext cx="1096752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Курс: ≈44,7 грн/$ у червні–вересні, у жовтні — до 45,08 (14.10, історичний мінімум гривні), 25.10 — 45,05; продаж валюти «доносить» допомогу: у вересні уряд конвертував $3,81 млрд траншу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527048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8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9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562274" y="1527048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650" dirty="0"/>
          </a:p>
        </p:txBody>
      </p:sp>
      <p:sp>
        <p:nvSpPr>
          <p:cNvPr id="11" name="Text 8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2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3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84468" y="1527048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650" dirty="0"/>
          </a:p>
        </p:txBody>
      </p:sp>
      <p:sp>
        <p:nvSpPr>
          <p:cNvPr id="15" name="Text 12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6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7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406661" y="1527048"/>
            <a:ext cx="21449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650" dirty="0"/>
          </a:p>
        </p:txBody>
      </p:sp>
      <p:sp>
        <p:nvSpPr>
          <p:cNvPr id="19" name="Text 16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1e−5*</a:t>
            </a:r>
            <a:endParaRPr lang="en-US" sz="3400" dirty="0"/>
          </a:p>
        </p:txBody>
      </p:sp>
      <p:sp>
        <p:nvSpPr>
          <p:cNvPr id="23" name="Text 20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розбіжність Python і MATLAB/IRIS на тому самому файлі моделі: фільтр і всі 5 сценаріїв (* звірка від 21.10, до оновлення даних 25.10)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0,4–1,8 в. п.</a:t>
            </a:r>
            <a:endParaRPr lang="en-US" sz="3400" dirty="0"/>
          </a:p>
        </p:txBody>
      </p:sp>
      <p:sp>
        <p:nvSpPr>
          <p:cNvPr id="25" name="Text 22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ІСЦ на 1–4 кв. уперед, 3 прогони 2025 р. із фактичними зовнішніми умовами («без змін»: 1,3–6,1)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7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9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1" name="chip3"/>
          <p:cNvSpPr/>
          <p:nvPr/>
        </p:nvSpPr>
        <p:spPr>
          <a:xfrm>
            <a:off x="4805172" y="5349240"/>
            <a:ext cx="1842516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05172" y="5349240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 і курсу</a:t>
            </a:r>
            <a:endParaRPr lang="en-US" sz="1200" dirty="0"/>
          </a:p>
        </p:txBody>
      </p:sp>
      <p:sp>
        <p:nvSpPr>
          <p:cNvPr id="33" name="chip4"/>
          <p:cNvSpPr/>
          <p:nvPr/>
        </p:nvSpPr>
        <p:spPr>
          <a:xfrm>
            <a:off x="6784848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784848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5" name="chip5"/>
          <p:cNvSpPr/>
          <p:nvPr/>
        </p:nvSpPr>
        <p:spPr>
          <a:xfrm>
            <a:off x="8842248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842248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7" name="chip6"/>
          <p:cNvSpPr/>
          <p:nvPr/>
        </p:nvSpPr>
        <p:spPr>
          <a:xfrm>
            <a:off x="457200" y="58064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57200" y="58064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9" name="chip7"/>
          <p:cNvSpPr/>
          <p:nvPr/>
        </p:nvSpPr>
        <p:spPr>
          <a:xfrm>
            <a:off x="228142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28142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1" name="chip8"/>
          <p:cNvSpPr/>
          <p:nvPr/>
        </p:nvSpPr>
        <p:spPr>
          <a:xfrm>
            <a:off x="3328416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328416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3" name="chip9"/>
          <p:cNvSpPr/>
          <p:nvPr/>
        </p:nvSpPr>
        <p:spPr>
          <a:xfrm>
            <a:off x="4375404" y="58064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375404" y="58064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Звірка з 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≈12,1% у грудні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komentar-natsionalnogo-banku-schodo-rivnya-inflyatsiyi-u-veresni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коментар НБУ: інфляція у вересні</a:t>
            </a:r>
            <a:endParaRPr lang="en-US" sz="900" dirty="0"/>
          </a:p>
        </p:txBody>
      </p:sp>
      <p:pic>
        <p:nvPicPr>
          <p:cNvPr id="5" name="chart" descr="/home/user/nbu-challenge-2026/results/figures/fc_nowca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6309360" cy="3417570"/>
          </a:xfrm>
          <a:prstGeom prst="rect">
            <a:avLst/>
          </a:prstGeom>
        </p:spPr>
      </p:pic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0,24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086600" y="2916936"/>
            <a:ext cx="4647895" cy="339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жовтні–грудні 2025 ціни зросли лише на 1,5%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1,19% на місяць (без сезонності) — це ≈15% у річному вимірі; вересневий стрибок частково разовий (−0,1 в. п./міс.)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Грудень 12,1% — вище липневого прогнозу НБУ (10%); базова тим самим методом — 9,6% (НБУ: 9,2%)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пройде пік наприкінці 2026 і повернеться до цілі на початку 2028 — у межах горизонту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fa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215" y="1325880"/>
            <a:ext cx="9905266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— IV кв. 2026: ≈11,2% за квартал (грудень ≈12,1%); 5,4% у IV кв. 2027 (НБУ 6,9%); у 2028 — 3,8–4,8%, ≈5% — у 2029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17% до середини 2027 → 13,1% наприкінці 2027 → 10,5% — 2028 → 10,5% — 2029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2,0 до 9,1%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слабка, але потенціал постраждав ще більше: розрив ≈0,7% у IV кв. 2026, ≈−1,0% у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interfax.com.ua/news/economic/1211092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Мінекономіки: прогноз ВВП</a:t>
            </a:r>
            <a:endParaRPr lang="en-US" sz="900" dirty="0"/>
          </a:p>
        </p:txBody>
      </p:sp>
      <p:pic>
        <p:nvPicPr>
          <p:cNvPr id="5" name="chart main" descr="/home/user/nbu-challenge-2026/results/figures/fc_gap_vs_nb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4929812" cy="2740914"/>
          </a:xfrm>
          <a:prstGeom prst="rect">
            <a:avLst/>
          </a:prstGeom>
        </p:spPr>
      </p:pic>
      <p:pic>
        <p:nvPicPr>
          <p:cNvPr id="6" name="chart side" descr="/home/user/nbu-challenge-2026/results/figures/fc_trend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203954"/>
            <a:ext cx="6141024" cy="2105406"/>
          </a:xfrm>
          <a:prstGeom prst="rect">
            <a:avLst/>
          </a:prstGeom>
        </p:spPr>
      </p:pic>
      <p:sp>
        <p:nvSpPr>
          <p:cNvPr id="7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0,5% / −0,2% / 2,4%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у 2027: у нас ≈−1,0%, у НБУ +1,4% — ми бачимо слабший попит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Мінекономіки теж погіршує прогноз: ≈0,5% у 2026, 0,8–1% у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додатний → послуги дорожчають; у 2027 висока реальна ставка охолоджує попит; бюджетного стимулу не закладаємо: дефіцит скорочується з 35 до 26% ВВП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головні ризики — дефіцит фінансування, зима і курс; нафта ≈$120 весь 2027 — +0,6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scenario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7099" y="1280160"/>
            <a:ext cx="8697498" cy="2606040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"/>
                <a:gridCol w="859536"/>
                <a:gridCol w="859536"/>
                <a:gridCol w="859536"/>
                <a:gridCol w="859536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452360" y="4087368"/>
            <a:ext cx="4282135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Дефіцит фінансування: гривня на ≈7% слабша (≈49 грн/$) → ІСЦ до 13,0%, ставка до 19,4%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Важка зима: ІСЦ до 12,4%, ставка до 17,8%, ВВП 2027 −1,1%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Нафта ≈$120 весь 2027 (а не $87): +0,6 в. п. до ІСЦ IV кв. 2027, ставка на піку +0,3 в. п. — перший раунд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Ще чотири ризики (додаток 8): курс, як чекає ринок → ≈8%; євро знову 1,16 $ → ≈8%; розбалансування очікувань → ≈7%; ПДВ 21% → +0,5 в. п.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Рамка рішення: ціль 5% на горизонті до 3 років; у вересні КМП розділився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850" u="sng" dirty="0">
                <a:solidFill>
                  <a:srgbClr val="5F6B6D"/>
                </a:solidFill>
                <a:hlinkClick r:id="rId1" invalidUrl="" action="" tgtFrame="" tooltip="https://zakon.rada.gov.ua/laws/show/679-1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Закон «Про НБУ», ст. 6</a:t>
            </a:r>
            <a:pPr indent="0" marL="0">
              <a:buNone/>
            </a:pPr>
            <a:r>
              <a:rPr lang="en-US" sz="85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5F6B6D"/>
                </a:solidFill>
                <a:hlinkClick r:id="rId2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pPr indent="0" marL="0">
              <a:buNone/>
            </a:pPr>
            <a:r>
              <a:rPr lang="en-US" sz="85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85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850" u="sng" dirty="0">
                <a:solidFill>
                  <a:srgbClr val="5F6B6D"/>
                </a:solidFill>
                <a:hlinkClick r:id="rId4" invalidUrl="" action="" tgtFrame="" tooltip="https://bank.gov.ua/ua/news/all/nbu-informuye-pro-golovniy-printsip-viznachennya-obsyagiv-rozmischennya-trimisyachnih-depozitnih-sertifikati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принцип обсягів 3-міс. ДС (НБУ)</a:t>
            </a:r>
            <a:endParaRPr lang="en-US" sz="85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Наша відповідь на питання конкурсу: облікова ставка — 17% з утриманням до середини 2027 р.; депсертифікати — обмежити обсяги тендерів, щоб підвищення дійшло до депозитних ставок; офіційний курс — не заморожувати, лише згладжувати коливання; валютні обмеження — серпневий пакет зберегти, III етап — після відновлення резервів.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Мета і режим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Мета — цінова стабільність; також сприяння фінстабільності й зростанню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Ціль — 5% «на належному горизонті політики (до 3-х років)»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Гнучке ІТ з керованою гнучкістю курсу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Інструменти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Облікова ставка; 3-міс. депсертифікати — з 07.08 через тендери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Обсяги ДС залежать від ліміту банків, прив'язаного до строкових депозитів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Інтервенції згладжують курс; обмеження — за Стратегією 2023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КМП у вересні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Рішення +0,5 в. п. до 16%; троє — за 15,5%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Далі: 7 — тримати 16%, 2 — ще одне підвищення, 1 — знижувати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Вересневий ІСЦ 10,0% — вище прогнозу НБУ: ми — за +1 в. п.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рішення: мінімум втрат у моделі — 16–17%; обираємо 17% і готові йти далі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p4.bank.gov.ua/admin_uploads/article/MPG_2024-mt_eng.pdf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Основні засади ГКП (2024)</a:t>
            </a:r>
            <a:endParaRPr lang="en-US" sz="900" dirty="0"/>
          </a:p>
        </p:txBody>
      </p:sp>
      <p:pic>
        <p:nvPicPr>
          <p:cNvPr id="5" name="chart" descr="/home/user/nbu-challenge-2026/results/figures/fc_polic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32" y="1280160"/>
            <a:ext cx="7365632" cy="2590800"/>
          </a:xfrm>
          <a:prstGeom prst="rect">
            <a:avLst/>
          </a:prstGeom>
        </p:spPr>
      </p:pic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53840"/>
          <a:ext cx="6675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"/>
                <a:gridCol w="859536"/>
                <a:gridCol w="859536"/>
                <a:gridCol w="859536"/>
                <a:gridCol w="859536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bullets"/>
          <p:cNvSpPr txBox="1"/>
          <p:nvPr/>
        </p:nvSpPr>
        <p:spPr>
          <a:xfrm>
            <a:off x="7452360" y="4072128"/>
            <a:ext cx="4282135" cy="2237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Втрати: відхилення інфляції від 5%, розрив ВВП, зміни ставки; адмінціни — з вагою 50%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Оптимум: 16,9% зараз (16,4–17,7% залежно від згладжування), зниження з II кв. 2027; за курсовими припущеннями — 16,9–18,2%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16–17% майже рівні (втрати 106 / 105 / 106); під ризиками (11 сценаріїв) мінімум — 17%, мінімакс жалю — 17,5%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Вибір — 17%: усередині модельного діапазону; крок у пункт — через ризики вгору; готові до +0,5 у грудні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17% і утримувати до середини 2027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sp>
        <p:nvSpPr>
          <p:cNvPr id="5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6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+1,0 в. п. з 30.10.2026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1325880"/>
            <a:ext cx="7802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10" name="bullets"/>
          <p:cNvSpPr txBox="1"/>
          <p:nvPr/>
        </p:nvSpPr>
        <p:spPr>
          <a:xfrm>
            <a:off x="3931920" y="1673352"/>
            <a:ext cx="7802575" cy="1409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Вересень — 10,0%, значно вище прогнозу НБУ; у грудні — ≈12%; ризики зміщені вгору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Базова інфляція прискорилася до 8,8% і за наукастом сягне ≈9,6% у грудні — вторинні ефекти вже є; очікування домогосподарств 10–14%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Курс: якщо гривня піде як чекає ринок (48+ грн/$), ІСЦ IV кв. 2027 — ≈8% і 17% недостатньо — готові підвищувати до ≈19%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До депозитів: знизити коефіцієнт використання ліміту 3-міс. ДС (прив'язаного до строкових вкладів)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931920" y="3192949"/>
            <a:ext cx="7802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17, а не 16,5 чи 17,5</a:t>
            </a:r>
            <a:endParaRPr lang="en-US" sz="1600" dirty="0"/>
          </a:p>
        </p:txBody>
      </p:sp>
      <p:sp>
        <p:nvSpPr>
          <p:cNvPr id="12" name="bullets"/>
          <p:cNvSpPr txBox="1"/>
          <p:nvPr/>
        </p:nvSpPr>
        <p:spPr>
          <a:xfrm>
            <a:off x="3931920" y="3540421"/>
            <a:ext cx="7802575" cy="1155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Модель: оптимум ≈16,9%, під ризиками — 17%, за курсовими припущеннями 16,5–18,2% — ми усередині цього діапазону і рішучіші за ринок (ОВДП, очікування)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+1 в. п. — як у січні й березні 2025; +1,5 одразу — надмірний сигнал за слабкого ВВП і до оновленого прогнозу НБУ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16,5% — якби жовтневі дані показали сповільнення базової інфляції і стабільні очікування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4806019"/>
            <a:ext cx="78025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4" name="bullets"/>
          <p:cNvSpPr txBox="1"/>
          <p:nvPr/>
        </p:nvSpPr>
        <p:spPr>
          <a:xfrm>
            <a:off x="3931920" y="5153491"/>
            <a:ext cx="7802575" cy="11558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Не знижувати щонайменше до III кв. 2027 (оптимум моделі — з II кв. 2027; запас на курсові ризики); далі ≈13,1% наприкінці 2027, ≈10,5% — 2028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Наступний крок радше вгору: ще +0,5 у грудні, якщо базова без сезонності не сповільниться нижче ≈0,7% м/м (зараз ≈0,8%) або посиляться курсові очікування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за надходжень липня–вересня резерви на кінець 2026 — $43 млрд (3,8 міс. імпорту)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mijnarodni-rezervi-stanovili-471-mlrd-dol-ssha-za-pidsumkami-veres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НБУ: резерви у вересні (USL $3,81 млрд)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epravda.com.ua/finances/valyutniy-rinok-ukrajini-rezultati-troh-rokiv-rezhimu-kerovanoji-gnuchkosti-826509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А. Пишний: три роки керованої гнучкості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reserv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7040880" cy="4275734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Продаж НБУ ≈$5,0 млрд/міс, надходження ≈$3,7 млрд/міс. НБУ (липень) чекав $69,7 млрд на кінець 2026 — для цього треба ≈$13 млрд/міс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Наші сценарії на кінець 2026: $56 / 43 / 38 млрд = 5,0 / 3,8 / 3,4 міс. імпорту 2027 р.; центральний — $43 млрд, надолуження — якщо Рада ухвалить закони під допомогу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Модель: ≈45,6 грн/$ у IV кв. 2027 (≈1% до долара) — міцніше за бюджет-2027 (48,3) та ICU (49,2): курс тримає весь шлях ставки (паритет) і керований цільовий курс; перенос у ціни ≈0,75 — верхня межа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Якщо правий ринок (48+ грн/$): ІСЦ IV кв. 2027 ≈8%, і 17% недостатньо — готові підвищувати до ≈19%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Рекомендація: не фіксувати курс — жовтневе послаблення до 45,08 грн/$ показує, що амортизатор працює; інтервенції — лише згладжувати. Резерви залежать від ритму допомоги (продаж валюти її «доносить»), тому захищає їх пауза в лібералізації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bu-vprovadjuye-paket-pomyakshennya-valyutnih-obmejen-z-osnovnim-fokusom-na-pidtrimtsi-naselenny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пакет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Strategy_for_easing_FX_restrictions_07-07-2023.pdf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Стратегія пом'якшення валютних обмежень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ov_fx_househol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325880"/>
            <a:ext cx="6606008" cy="4983480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(≈4,5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17%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Не заморожувати курс; обмежити обсяги тендерів депсертифікатів, щоб підвищення дійшло до депозитів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≈12,1% у грудні 2026, 5,4% у IV кв. 2027, нижче 5% з I кв. 2028, ≈5% у 2029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Платіжний баланс: імпорт у 2,6 раза більший за експорт, розрив покривають партнери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endParaRPr lang="en-US" sz="900" dirty="0"/>
          </a:p>
        </p:txBody>
      </p:sp>
      <p:pic>
        <p:nvPicPr>
          <p:cNvPr id="5" name="chart" descr="/home/user/nbu-challenge-2026/results/figures/ov_b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11277295" cy="3207137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2026: експорт $56 млрд, імпорт $145 млрд — дефіцит $89 млрд; приватні перекази — лише $7,6 млрд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Поточний рахунок −$16 млрд фінансують партнери: ERA ($25,9 млрд у 2025), Ukraine Facility; у 2026 НБУ чекає ще $9,8 млрд позик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2028: офіційне фінансування $87 → $33 млрд, поточний рахунок −$45 млрд, широкий баланс −$24 млрд → резерви — буфер, лібералізація — поступово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Бюджет залежить від допомоги: $87 млрд у 2026, але надходження затримуються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Tables_Charts_2026-Q3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дані графіків ІЗ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rada-mvf-shvalila-pershiy-pereglyad-programi-rozshirenogo-finansuvannya-ta-zatverdila-vidilennya-transhu-obsyagom-690-mln-dol-ssh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Рада МВФ: перегляд програми</a:t>
            </a:r>
            <a:endParaRPr lang="en-US" sz="900" dirty="0"/>
          </a:p>
        </p:txBody>
      </p:sp>
      <p:pic>
        <p:nvPicPr>
          <p:cNvPr id="5" name="chart" descr="/home/user/nbu-challenge-2026/results/figures/ov_fis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491" y="1325880"/>
            <a:ext cx="10276713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Бюджетна декларація 2027–2029: дефіцит держбюджету 17,7% ВВП у 2027 і 11,1% у 2028; уряд закладає інфляцію 8,9% на грудень 2027 (НБУ — 6,9%, ми — 5,4% у IV кв.)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Наше розширення QPM: нафта змінює небазові ціни, а ставка на неї реагує слабко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db.nomics.world/EIA/PET/RBRTE.M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EIA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endParaRPr lang="en-US" sz="900" dirty="0"/>
          </a:p>
        </p:txBody>
      </p:sp>
      <p:pic>
        <p:nvPicPr>
          <p:cNvPr id="5" name="chart" descr="/home/user/nbu-challenge-2026/results/figures/irf_res_dl_roil_bet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2552" y="1325880"/>
            <a:ext cx="5986592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року; правило реагує на загальний ІСЦ, але ставка — лише +0,2 в. п.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функції відгуку збігаються з шаблоном НБУ (тест); поділ на базову й небазову інфляцію лишається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Припущення та судження базового сценарію — кожне з джерелом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2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92240"/>
                <a:gridCol w="27706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 ІСЦ і базового ІСЦ (тренд + сезонність − 0,1 в. п.): грудень — 12,1% і 9,6% р/р; в IV кв. фіксуємо обидва ряди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4" invalidUrl="" action="" tgtFrame="" tooltip="https://bank.gov.ua/ua/open-data/api-dev" history="1" highlightClick="0" endSnd="0"/>
                        </a:rPr>
                        <a:t>Держстат, API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+1,1% кв/кв SA (≈+1% р/р): ІЕД — липень +4%, серпень +1,2%; КМП — «суттєво гірше» за прогноз НБУ (+2,1%)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5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ІЕД, підсумки КМП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6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7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8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9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Без окремого імпульсу: дефіцит без грантів 35 → 26% ВВП, оборонна частина USL $33,2 → $16,7 млрд; локалізація ОПК коштом USL частково компенсує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0" invalidUrl="" action="" tgtFrame="" tooltip="https://bank.gov.ua/admin_uploads/article/Macroeconomic_Forecast_table_2026_07.xlsx?v=19" history="1" highlightClick="0" endSnd="0"/>
                        </a:rPr>
                        <a:t>НБУ, макропрогноз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IV кв. 2026 — за фактом жовтня й останнім курсом (50,4 грн/€); далі допустиме послаблення (цільовий темп) 4% у 2027, 3% у 2028; фактичний — з моделі (у 2027 — +1,3%, у середньому ≈1,5% на рік); EUR/USD 1,12 без змін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1" invalidUrl="" action="" tgtFrame="" tooltip="https://bank.gov.ua/ua/open-data/api-dev" history="1" highlightClick="0" endSnd="0"/>
                        </a:rPr>
                        <a:t>Офіційний курс НБУ, ЄЦБ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Спот до вересня; IV кв. 2026 $119 (жовтень — спот, далі ф'ючерс); ф'ючерсна крива (25.10): $87 (кінець 2027) → $79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2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, </a:t>
                      </a:r>
                      <a:pPr algn="l" indent="0" marL="0">
                        <a:buNone/>
                      </a:pPr>
                      <a:r>
                        <a:rPr lang="en-US" sz="1200" u="sng" dirty="0">
                          <a:hlinkClick r:id="rId13" invalidUrl="" action="" tgtFrame="" tooltip="https://finance.yahoo.com/quote/BZ%3DF/" history="1" highlightClick="0" endSnd="0"/>
                        </a:rPr>
                        <a:t>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≈3% у 2027–2028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u="sng" dirty="0">
                          <a:hlinkClick r:id="rId14" invalidUrl="" action="" tgtFrame="" tooltip="https://www.ecb.europa.eu/press/projections/html/index.en.html" history="1" highlightClick="0" endSnd="0"/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Базова інфляція у 2027 — нижча, ніж у НБУ: 4,2% у IV кв. (≈3,7% у грудні) проти 5,1%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files/macro/CCPI_m.xlsx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базовий ІСЦ (НБУ)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admin_uploads/article/Macroeconomic_Forecast_table_2026_07.xlsx?v=19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макропрогноз НБУ</a:t>
            </a:r>
            <a:endParaRPr lang="en-US" sz="900" dirty="0"/>
          </a:p>
        </p:txBody>
      </p:sp>
      <p:pic>
        <p:nvPicPr>
          <p:cNvPr id="5" name="chart" descr="/home/user/nbu-challenge-2026/results/figures/fc_cor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25880"/>
            <a:ext cx="7040880" cy="3920117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Наша базова — середнє за IV кв., у НБУ — грудень; для порівняння показуємо й грудневий еквівалент (інтерполяція)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Що її тримає в моделі: додатний розрив ВВП, перенесення вересневого шоку витрат і курсу; у 2027 — шок витрат опалювального сезону (судження за оцінкою НБУ)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5,4% у IV кв. 2027 (НБУ 6,9% у грудні)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3,4% (НБУ 3,3%) — слабкий попит → простір для зниження ставки з II пів. 2027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news/all/inflyatsiya-prishvidshitsya-u-drugomu-pivrichchi-ale-povernetsya-do-znijennya-nastupnogo-roku--inflyatsiyniy-zvit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НБУ, Інфляційний звіт (липень 2026)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6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7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Нафта ≈$120 весь 2027 (+0,6 в. п.)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9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2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Слабший попит у єврозоні — менший експорт</a:t>
            </a:r>
            <a:endParaRPr lang="en-US" sz="1300" dirty="0"/>
          </a:p>
        </p:txBody>
      </p:sp>
      <p:sp>
        <p:nvSpPr>
          <p:cNvPr id="14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6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Євро знову 1,16 $ — гривня до євро слабшає на ≈3%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9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20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2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7. 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news/all/natsionalniy-bank-ukrayini-pidvischiv-oblikovu-stavku-do-16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рішення НБУ 17.09.2026</a:t>
            </a:r>
            <a:endParaRPr lang="en-US" sz="900" dirty="0"/>
          </a:p>
        </p:txBody>
      </p:sp>
      <p:sp>
        <p:nvSpPr>
          <p:cNvPr id="5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17% з огляду на прискорення базової інфляції, зміщення ризиків угору й ризики для курсових очікувань. НБУ не знижуватиме ставку щонайменше до III кварталу 2027 року, готовий за потреби до подальших кроків і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6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7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10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на 1 в. п., щоб інфляція повернулася до цілі на початку 2028 року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заморожений: НБУ згладжує коливання, але не фіксує рівень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Обмежені обсяги депсертифікатів — щоб підвищення дійшло до ставок за депозитами</a:t>
            </a:r>
            <a:endParaRPr lang="en-US" sz="1400" dirty="0"/>
          </a:p>
        </p:txBody>
      </p:sp>
      <p:sp>
        <p:nvSpPr>
          <p:cNvPr id="11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2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5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17%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6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7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20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8. Додаткові ризики: курс, євро, очікування, ПДВ — ставка реагує за правилом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interfax.com.ua/news/economic/1205936.html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НБУ про ПДВ 21% (Interfax)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finance.yahoo.com/quote/BZ%3DF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ф'ючерси Brent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bank.gov.ua/ua/news/all/pidsumki-diskusiyi-chleniv-komitetu-z-monetarnoyi-politiki-natsionalnogo-banku-schodo-rivnya-oblikovoyi-stavki-16-veresnya-2026-roku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підсумки дискусії КМП</a:t>
            </a:r>
            <a:endParaRPr lang="en-US" sz="900" dirty="0"/>
          </a:p>
        </p:txBody>
      </p:sp>
      <p:graphicFrame>
        <p:nvGraphicFramePr>
          <p:cNvPr id="3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480560"/>
                <a:gridCol w="1143000"/>
                <a:gridCol w="1051560"/>
                <a:gridCol w="109728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грн/$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17% і траєкторія повернення до цілі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Гривня слабшає на 5,4% на рік до долара — як чекають аналітики (НБУ)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 знову 1,16 $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Євро знову 1,16 $ з I кв. 2027 (припущення НБУ, липень) за того ж грн/$: гривня до євро слабшає на ≈3,4%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Базова інфляція вища на 1 в. п. (кв/кв, у річному вимірі) щокварталу 2027 р.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Разове підвищення цін на ≈0,5% (оцінка НБУ: +0,4–0,7 в. п. до інфляції)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9. Стійкість рішення: під ризиками найменші очікувані втрати — 17%</a:t>
            </a:r>
            <a:endParaRPr lang="en-US" sz="2600" dirty="0"/>
          </a:p>
        </p:txBody>
      </p:sp>
      <p:graphicFrame>
        <p:nvGraphicFramePr>
          <p:cNvPr id="3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7672"/>
                <a:gridCol w="1207008"/>
                <a:gridCol w="1207008"/>
                <a:gridCol w="1207008"/>
                <a:gridCol w="1207008"/>
                <a:gridCol w="1207008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Сценарій (втрати, λ = 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Ймовірн., % P1 / P2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16,5%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17,5%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18%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 / 35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194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Курс як чекає ринок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147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Євро знову 1,16 $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Розбалансування очікувань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213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ПДВ 21% з 2027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Слабкий попит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 / 10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109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Базова сповільнюється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 / 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71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(P1)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134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136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Очікувані втрати (P2)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126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124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127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Максимальний жаль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 ●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en-US" sz="11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10. Модель: QPM НБУ + розширення команди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2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3" invalidUrl="" action="" tgtFrame="" tooltip="https://data.ecb.europa.eu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ЄЦБ Data Portal</a:t>
            </a:r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 ·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4" invalidUrl="" action="" tgtFrame="" tooltip="https://ec.europa.eu/eurostat/databrowser/view/prc_hicp_minr/default/tabl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Eurostat HICP</a:t>
            </a:r>
            <a:endParaRPr lang="en-US" sz="900" dirty="0"/>
          </a:p>
        </p:txBody>
      </p:sp>
      <p:sp>
        <p:nvSpPr>
          <p:cNvPr id="5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8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1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+ 4·Δzₜ) + εⁿᶜ;   πₜ = πᶜₜ + Δrncₜ</a:t>
            </a:r>
            <a:endParaRPr lang="en-US" sz="1600" dirty="0"/>
          </a:p>
        </p:txBody>
      </p:sp>
      <p:sp>
        <p:nvSpPr>
          <p:cNvPr id="14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7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π*) + 0,5·ŷₜ) + εⁱ</a:t>
            </a:r>
            <a:endParaRPr lang="en-US" sz="1600" dirty="0"/>
          </a:p>
        </p:txBody>
      </p:sp>
      <p:sp>
        <p:nvSpPr>
          <p:cNvPr id="20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2" name="point1"/>
          <p:cNvSpPr txBox="1"/>
          <p:nvPr/>
        </p:nvSpPr>
        <p:spPr>
          <a:xfrm>
            <a:off x="868680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 (Grui, Vdovychenko, 2019); вага нафти — наша</a:t>
            </a:r>
            <a:endParaRPr lang="en-US" sz="1300" dirty="0"/>
          </a:p>
        </p:txBody>
      </p:sp>
      <p:sp>
        <p:nvSpPr>
          <p:cNvPr id="23" name="num2"/>
          <p:cNvSpPr/>
          <p:nvPr/>
        </p:nvSpPr>
        <p:spPr>
          <a:xfrm>
            <a:off x="430773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30773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point2"/>
          <p:cNvSpPr txBox="1"/>
          <p:nvPr/>
        </p:nvSpPr>
        <p:spPr>
          <a:xfrm>
            <a:off x="4719218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Темпи в моделі — 100·ln-різниці, на слайдах — % р/р: π* = 4,88 = 5% р/р</a:t>
            </a:r>
            <a:endParaRPr lang="en-US" sz="1300" dirty="0"/>
          </a:p>
        </p:txBody>
      </p:sp>
      <p:sp>
        <p:nvSpPr>
          <p:cNvPr id="26" name="num3"/>
          <p:cNvSpPr/>
          <p:nvPr/>
        </p:nvSpPr>
        <p:spPr>
          <a:xfrm>
            <a:off x="8158277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158277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8" name="point3"/>
          <p:cNvSpPr txBox="1"/>
          <p:nvPr/>
        </p:nvSpPr>
        <p:spPr>
          <a:xfrm>
            <a:off x="8569757" y="5897880"/>
            <a:ext cx="3164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2022 — шок потенційного ВВП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11. Реакція на шок ставки залежить від контролю над курсом (β)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irf_res_ir_tlr_be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7832" y="1325880"/>
            <a:ext cx="8056031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12. 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events.bank.gov.ua/uchallenge2026/files/nbu_challenge_model_2026.zi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модель-шаблон НБУ</a:t>
            </a:r>
            <a:endParaRPr lang="en-US" sz="900" dirty="0"/>
          </a:p>
        </p:txBody>
      </p:sp>
      <p:pic>
        <p:nvPicPr>
          <p:cNvPr id="5" name="chart" descr="/home/user/nbu-challenge-2026/results/figures/fc_rate_driv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2928542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Внесок розриву ВВП у правило невеликий (вага 0,5) — головне прогноз інфляції; але додатний розрив підтримує ціни послуг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Лінія — наша траєкторія ставки (повернення до цілі), стовпці — чинники правила Тейлора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13. Бектест: прогноз з даними до III кв. 2025</a:t>
            </a:r>
            <a:endParaRPr lang="en-US" sz="2600" dirty="0"/>
          </a:p>
        </p:txBody>
      </p:sp>
      <p:sp>
        <p:nvSpPr>
          <p:cNvPr id="4" name="sources"/>
          <p:cNvSpPr txBox="1"/>
          <p:nvPr/>
        </p:nvSpPr>
        <p:spPr>
          <a:xfrm>
            <a:off x="4937760" y="6455664"/>
            <a:ext cx="61109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6B6D"/>
                </a:solidFill>
              </a:rPr>
              <a:t>Джерела: </a:t>
            </a:r>
            <a:pPr indent="0" marL="0">
              <a:buNone/>
            </a:pPr>
            <a:r>
              <a:rPr lang="en-US" sz="900" u="sng" dirty="0">
                <a:solidFill>
                  <a:srgbClr val="5F6B6D"/>
                </a:solidFill>
                <a:hlinkClick r:id="rId1" invalidUrl="" action="" tgtFrame="" tooltip="https://bank.gov.ua/ua/open-data/api-dev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API НБУ</a:t>
            </a:r>
            <a:endParaRPr lang="en-US" sz="900" dirty="0"/>
          </a:p>
        </p:txBody>
      </p:sp>
      <p:pic>
        <p:nvPicPr>
          <p:cNvPr id="5" name="chart" descr="/home/user/nbu-challenge-2026/results/figures/fc_backte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505" y="1325880"/>
            <a:ext cx="9330685" cy="3703320"/>
          </a:xfrm>
          <a:prstGeom prst="rect">
            <a:avLst/>
          </a:prstGeom>
        </p:spPr>
      </p:pic>
      <p:sp>
        <p:nvSpPr>
          <p:cNvPr id="6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1–4 квартали вперед: 0,4–1,8 в. п. («без змін»: 1,3–6,1); лише 3 прогони, зовнішні умови — фактичні, тож це перевірка, а не доказ переваги над НБУ</a:t>
            </a:r>
            <a:endParaRPr lang="en-US" sz="1300" dirty="0"/>
          </a:p>
        </p:txBody>
      </p:sp>
      <p:sp>
        <p:nvSpPr>
          <p:cNvPr id="9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2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14. Базовий прогноз по півріччях</a:t>
            </a:r>
            <a:endParaRPr lang="en-US" sz="2600" dirty="0"/>
          </a:p>
        </p:txBody>
      </p:sp>
      <p:graphicFrame>
        <p:nvGraphicFramePr>
          <p:cNvPr id="3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грн/$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15. Джерела даних</a:t>
            </a:r>
            <a:endParaRPr lang="en-US" sz="2600" dirty="0"/>
          </a:p>
        </p:txBody>
      </p:sp>
      <p:graphicFrame>
        <p:nvGraphicFramePr>
          <p:cNvPr id="3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(Держстат);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" invalidUrl="" action="" tgtFrame="" tooltip="https://bank.gov.ua/files/macro/CCPI_m.xlsx" history="1" highlightClick="0" endSnd="0"/>
                        </a:rPr>
                        <a:t>базовий ІСЦ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3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4" invalidUrl="" action="" tgtFrame="" tooltip="https://bank.gov.ua/ua/news/all/komentar-natsionalnogo-banku-schodo-rivnya-inflyatsiyi-u-veresni-2026-roku" history="1" highlightClick="0" endSnd="0"/>
                        </a:rPr>
                        <a:t>коментар НБУ: інфляція у вересні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5" invalidUrl="" action="" tgtFrame="" tooltip="https://bank.gov.ua/ua/open-data/api-dev" history="1" highlightClick="0" endSnd="0"/>
                        </a:rPr>
                        <a:t>API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ВВП, зарплати, бюджет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6" invalidUrl="" action="" tgtFrame="" tooltip="https://stat.gov.ua/" history="1" highlightClick="0" endSnd="0"/>
                        </a:rPr>
                        <a:t>Держстат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7" invalidUrl="" action="" tgtFrame="" tooltip="https://bank.gov.ua/ua/news/all/komentar-natsionalnogo-banku-schodo-zmini-realnogo-vvp-u-ii-kvartali-2026-roku" history="1" highlightClick="0" endSnd="0"/>
                        </a:rPr>
                        <a:t>коментар НБУ: ВВП II кв.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8" invalidUrl="" action="" tgtFrame="" tooltip="https://bank.gov.ua/files/macro/Wages_m.xlsx" history="1" highlightClick="0" endSnd="0"/>
                        </a:rPr>
                        <a:t>зарплати (НБУ)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9" invalidUrl="" action="" tgtFrame="" tooltip="https://bank.gov.ua/files/macro/S_budget_m.xlsx" history="1" highlightClick="0" endSnd="0"/>
                        </a:rPr>
                        <a:t>бюджет (НБУ)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0" invalidUrl="" action="" tgtFrame="" tooltip="https://bank.gov.ua/ua/news/all/inflyatsiya-prishvidshitsya-u-drugomu-pivrichchi-ale-povernetsya-do-znijennya-nastupnogo-roku--inflyatsiyniy-zvit" history="1" highlightClick="0" endSnd="0"/>
                        </a:rPr>
                        <a:t>НБУ, Інфляційний звіт (липень 2026)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1" invalidUrl="" action="" tgtFrame="" tooltip="https://bank.gov.ua/admin_uploads/article/Macroeconomic_Forecast_table_2026_07.xlsx?v=19" history="1" highlightClick="0" endSnd="0"/>
                        </a:rPr>
                        <a:t>макропрогноз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2" invalidUrl="" action="" tgtFrame="" tooltip="https://bank.gov.ua/admin_uploads/article/Tables_Charts_2026-Q3.xlsx?v=19" history="1" highlightClick="0" endSnd="0"/>
                        </a:rPr>
                        <a:t>дані графіків ІЗ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Ціль і горизонт політики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3" invalidUrl="" action="" tgtFrame="" tooltip="https://p4.bank.gov.ua/admin_uploads/article/MPG_2024-mt_eng.pdf" history="1" highlightClick="0" endSnd="0"/>
                        </a:rPr>
                        <a:t>Основні засади ГКП (2024)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4" invalidUrl="" action="" tgtFrame="" tooltip="https://ec.europa.eu/eurostat/databrowser/view/prc_hicp_minr/default/table" history="1" highlightClick="0" endSnd="0"/>
                        </a:rPr>
                        <a:t>Eurostat HICP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5" invalidUrl="" action="" tgtFrame="" tooltip="https://data.ecb.europa.eu/" history="1" highlightClick="0" endSnd="0"/>
                        </a:rPr>
                        <a:t>ЄЦБ Data Portal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6" invalidUrl="" action="" tgtFrame="" tooltip="https://www.ecb.europa.eu/press/projections/html/index.en.html" history="1" highlightClick="0" endSnd="0"/>
                        </a:rPr>
                        <a:t>прогноз ЄЦБ (вересень 2026)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7" invalidUrl="" action="" tgtFrame="" tooltip="https://db.nomics.world/EIA/PET/RBRTE.M" history="1" highlightClick="0" endSnd="0"/>
                        </a:rPr>
                        <a:t>EIA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(DBnomics);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18" invalidUrl="" action="" tgtFrame="" tooltip="https://finance.yahoo.com/quote/BZ%3DF/" history="1" highlightClick="0" endSnd="0"/>
                        </a:rPr>
                        <a:t>ф'ючерси Brent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(NYMEX BZ)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19" invalidUrl="" action="" tgtFrame="" tooltip="https://bank.gov.ua/ua/news/all/natsionalniy-bank-ukrayini-pidvischiv-oblikovu-stavku-do-16" history="1" highlightClick="0" endSnd="0"/>
                        </a:rPr>
                        <a:t>рішення НБУ 17.09.2026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0" invalidUrl="" action="" tgtFrame="" tooltip="https://bank.gov.ua/ua/news/all/pidsumki-diskusiyi-chleniv-komitetu-z-monetarnoyi-politiki-natsionalnogo-banku-schodo-rivnya-oblikovoyi-stavki-16-veresnya-2026-roku" history="1" highlightClick="0" endSnd="0"/>
                        </a:rPr>
                        <a:t>підсумки дискусії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обмеження, МВФ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1" invalidUrl="" action="" tgtFrame="" tooltip="https://bank.gov.ua/admin_uploads/article/Strategy_for_easing_FX_restrictions_07-07-2023.pdf?v=19" history="1" highlightClick="0" endSnd="0"/>
                        </a:rPr>
                        <a:t>Стратегія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2" invalidUrl="" action="" tgtFrame="" tooltip="https://bank.gov.ua/ua/news/all/nbu-vprovadjuye-paket-pomyakshennya-valyutnih-obmejen-z-osnovnim-fokusom-na-pidtrimtsi-naselennya" history="1" highlightClick="0" endSnd="0"/>
                        </a:rPr>
                        <a:t>пакет пом'якшення валютних обмежень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; </a:t>
                      </a:r>
                      <a:pPr algn="l" indent="0" marL="0">
                        <a:buNone/>
                      </a:pPr>
                      <a:r>
                        <a:rPr lang="en-US" sz="1300" u="sng" dirty="0">
                          <a:hlinkClick r:id="rId23" invalidUrl="" action="" tgtFrame="" tooltip="https://bank.gov.ua/ua/news/all/rada-mvf-shvalila-pershiy-pereglyad-programi-rozshirenogo-finansuvannya-ta-zatverdila-vidilennya-transhu-obsyagom-690-mln-dol-ssha" history="1" highlightClick="0" endSnd="0"/>
                        </a:rPr>
                        <a:t>Рада МВФ: перегляд програми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u="sng" dirty="0">
                          <a:hlinkClick r:id="rId24" invalidUrl="" action="" tgtFrame="" tooltip="https://events.bank.gov.ua/uchallenge2026/files/nbu_challenge_model_2026.zip" history="1" highlightClick="0" endSnd="0"/>
                        </a:rPr>
                        <a:t>модель-шаблон НБУ</a:t>
                      </a:r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2026-10-27T18:48:35Z</dcterms:created>
  <dcterms:modified xsi:type="dcterms:W3CDTF">2026-10-27T18:48:35Z</dcterms:modified>
</cp:coreProperties>
</file>