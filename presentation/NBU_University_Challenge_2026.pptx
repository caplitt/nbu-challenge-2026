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bb164bcc-21a9-f9f6-a7bd-8cedde432857}">
          <p14:sldIdLst>
            <p14:sldId id="256"/>
            <p14:sldId id="257"/>
          </p14:sldIdLst>
        </p14:section>
        <p14:section name="Огляд" id="{71cfdcdc-7afd-7172-3635-abba2fe08ac7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6753de2a-170e-4106-7c95-6a1fa83a0c50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a5a7aaae-5321-f558-773f-0c4e74d94b0e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Додатки" id="{6634529d-e749-f80a-00da-0112548b5b8d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— Команда [назва]. Наша рекомендація — для засідання Правління НБУ 29 жовтня 2026 року, на якому НБУ оновить макропрогноз. Дані — станом на 7 жовтня 2026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рішення. Перше — підвищити облікову ставку на 0,5 в. п. до 16,5%: інфляція прискорюється, ризики зміщені вгору, а оптимальна ставка за моделлю — 16,5%, якщо не реагувати на перший раунд підвищення адмінцін, і 16,9% — якщо реагувати. Друге — дозволити гривні поступово слабшати, щоб не витрачати ~5 млрд дол. резервів щомісяця. Третє — поставити на паузу наступні кроки валютної лібералізації, доки не відновляться резерви й ритм міжнародної допомоги.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Зовнішній фон гірший, ніж у липневому прогнозі НБУ: дорожча нафта підживлює ціни на пальне в Україні, а підвищення ставок у світі зменшує простір для пом'якшення. У прогнозі ми беремо ф'ючерсну криву Brent: ринок очікує поступового здешевлення нафти (до $76 наприкінці 2028), і це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— 8,1% р/р, трохи вище траєкторії НБУ. Шоки пропозиції (пальне, тарифи) поширюються на послуги через витрати бізнесу. Продовольство — дезінфляційний чинник.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Ризик — розбалансування очікувань: домогосподарства очікують інфляцію вище фактичної, а члени КМП звертають увагу на зростання очікувань фінансових аналітиків.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Ринок праці перегрітий через дефіцит працівників, тому навіть за слабкого ВВП фундаментальний ціновий тиск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Стабільність курсу зараз забезпечується інтервенціями, а надходження допомоги в липні–вересні були меншими за очікувані. Це ключовий аргумент для нашої курсової рекомендації.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Локалізація оборонного виробництва коштом USL — це водночас бюджетний імпульс (інфляційний)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взяли шаблон QPM від НБУ, переписали його на Python і розширили: окремо базова й небазова інфляція та канал світових цін на нафту. Python дав автоматизацію даних, віяла, оптимальну політику й бектест. Той самий файл моделі ми проганяємо в MATLAB/IRIS: фільтр і всі сценарії збігаються до п'ятого знака, а графіки сценаріїв і функцій відгуку в презентації побудовані саме в MATLAB.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розділили інфляцію на базову і небазову: крива Філіпса з шаблону НБУ тепер описує базову інфляцію (дані Держстату про базовий ІСЦ), а небазові ціни реагують на реальну ціну нафти в євро і на курс. Вагу 0,016 відкалібровано так, щоб +20% ціни нафти давали ≈+0,3 в. п. до ІСЦ: пальне ≈4% кошика, частка нафти в його ціні ≈40%, плюс непрямі ефекти. Графік побудовано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має лише кілька основних рівнянь, тому все, чого в ній немає — енергетика, бюджет, допомога, тарифи, — входить через явні судження. Кожне судження має кількісне обґрунтування та джерело. Адмінціни: у середньому за 2016–2026 роки загальна інфляція перевищувала базову на 1,7 в. п.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поточного кварталу модель не потрібна: беремо трендовий темп і сезонність, поправка −0,1 в. п. — наше судження щодо продовольства. Після публікації вересневого ІСЦ (9–10 жовтня) прогноз оновиться автоматично.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Віяло побудоване стохастичними симуляціями з волатильністю шоків, оціненою на 2023–2026 роках. Широке віяло — чесне відображення воєнної невизначеності.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базова інфляція наприкінці 2027 вища, ніж у НБУ, бо ринок праці перегрітий, а атаки на енергетику підвищують витрати. Загальна інфляція близька до НБУ, бо дешевша за ф'ючерсами нафта частково компенсує тарифи й акцизи. У 2028 базова інфляція опускається нижче цілі — як і в прогнозі НБУ, — тому орієнтир на зниження ставки з II кварталу 2027 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Наша оцінка розриву ВВП близька до НБУ в історії, але на 2027 рік ми консервативніші: бюджетний імпульс частково нівелюється атаками і нестачею працівників.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Сценарії побудовано поверх базового: однакове рішення в жовтні, далі ставка за правилом. Графік розраховано в MATLAB/IRIS за тими самими планами, що й у Python. Висновок: головний ризик для інфляції — курс і резерви; нафтовий шок — це перший раунд для цін пального, він майже не потребує реакції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↑ — ризик вищої інфляції, ↓ — нижчої. Більшість сильних і ймовірних ризиків — проінфляційні; це аргумент на користь превентивного підвищення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Втрати = сума квадратів відхилень інфляції від цілі плюс половина квадрата розриву ВВП за 2027–2028. Оптимальна траєкторія — розв'язок задачі найменших квадратів у лінійній моделі. Частина інфляції 2027–2028 — заплановане підвищення адмінцін; центробанки зазвичай не реагують на перший раунд таких змін, тому орієнтуємося на оптимум без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— помірне превентивне підвищення з чіткими умовами подальших дій.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Простий балансовий розрахунок: резерви = попередні + офіційні надходження − продаж валюти НБУ. Регресія інтервенцій на модельну змінну не дала значущого зв'язку, тому ми не використовували підхід «1% курсу = X млрд».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Рекомендація спирається на Стратегію пом'якшення валютних обмежень (2023): пріоритет поточних операцій над капітальними і можливість призупинення кроків за несприятливих умов.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Комунікація має пояснити логіку пакета: вища ставка дозволяє не витрачати резерви на утримання курсу.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Дякуємо! Готові до запитань.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Квартальні значення базового сценарію (рішення 16,5% у жовтні, далі — правило).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кінця I кв. 2027; зниження — з II кв. 2027 за базового сценарію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661818"/>
                <a:gridCol w="2661818"/>
                <a:gridCol w="266181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квартал, з урахуванням сезонності; на кінець грудня 2026 — 9,9% (наш короткостроковий прогноз). Повернення до цілі 5% — II кв. 2028. Дані станом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0,3–1,3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0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2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макропрогноз липень 2026 (адмінціни +14,0% / +11,3%)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EIA, 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у II кв. 2028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6,9% наприкінці 2027 (НБУ, липень: 6,9% на грудень)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→ 14,7% наприкінці 2027 → 11,2% наприкінці 2028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імовірність потрапити в 5±1% — 17% наприкінці 2027 і 18% — 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5,9% наприкінці року проти 5,1%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6,9%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2,9% (НБУ 3,3%) — слабкий попит → простір для зниження ставки з II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превентивне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≈0,4% проти 1,4%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1,1% / 0,9%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правилом ставка має лишатися ≈16,5% до весни: інфляція вище цілі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12%, ставка до ≈19%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10,5%, ставка ≈17,0%, ВВП 2027 — 0,2%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+0,5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Варіант (далі — правило)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ставка: 16,5%, якщо не реагувати на перший раунд підвищення адмінцін (практика ІТ); 16,9% — якщо реагувати на весь ІСЦ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Чутливість до згладжування ставки: 16,3–17,6%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поступовість за невизначеності; 17%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весни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5,9%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218688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602736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16,5%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764024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5148072"/>
            <a:ext cx="780257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2027; зниження з II кв. 2027 до ≈14,5% наприкінці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17–19%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кінця I кварталу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у 2028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кінця I кв.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II кв.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кінця I кв.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6,9% наприкінці 2027, ціль — II кв. 2028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6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9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2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2028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0,3–1,3 в. п. (наївний прогноз: 1,3–5,3)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Базовий прогноз по кварталах</a:t>
            </a:r>
            <a:endParaRPr lang="en-US" sz="26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  <a:gridCol w="927913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2026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2027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2028 Q4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52,4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−0,0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−0,8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−0,7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Джерела даних</a:t>
            </a:r>
            <a:endParaRPr lang="en-US" sz="26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EIA (через DBnomics), ф'ючерси NYMEX BZ (Yahoo Finance); курс USD/EUR — ЄЦБ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2026-10-08T08:59:31Z</dcterms:created>
  <dcterms:modified xsi:type="dcterms:W3CDTF">2026-10-08T08:59:31Z</dcterms:modified>
</cp:coreProperties>
</file>