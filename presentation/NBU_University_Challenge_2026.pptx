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887e67ab-2a8c-4b64-706a-41bac988dced}">
          <p14:sldIdLst>
            <p14:sldId id="256"/>
            <p14:sldId id="257"/>
          </p14:sldIdLst>
        </p14:section>
        <p14:section name="Огляд" id="{174ff0c7-056a-4777-9c63-57f0fbc816c3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Прогноз" id="{71d4bdcd-d2a2-84e9-76cf-2c263835ce60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Рекомендації" id="{ef552b0c-e924-d8b7-8a43-257da34f2713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Додатки" id="{55447dfe-07a7-9791-5fde-4438fd1f7e0f}">
          <p14:sldIdLst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20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1 пункт, до 17%, і утримувати її щонайменше до середини 2027 року: у вересні інфляція сягнула 10%, у грудні буде близько 12%. Друге — не заморожувати курс: з червня гривня стоїть біля 45 за долар, а курс має поглинати шоки. І обмежити обсяги тендерів депсертифікатів, щоб підвищення дійшло до депозитів. Третє — поставити на паузу наступні кроки валютної лібералізації, доки не відновляться резерви. За такої політики інфляція знизиться до 7,2% у четвертому кварталі 2027 року і стабілізується на 5% у другому кварталі 2029 року — у межах трирічного горизонту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сягала 117 доларів за барель, а у вересні–жовтні знову перевищила 100 — тоді як НБУ в липні закладав 80–85. Ринок очікує здешевлення: ф'ючерси вказують на 87 доларів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вересні інфляція стрибнула до 10% — ціни за місяць зросли на 2,1%. Пальне подорожчало на 46% за рік, атаки на склади й логістику здорожчили доставку. Але більше нас турбує базова інфляція: вона прискорилася до 8,8%, послуги дорожчають на 14%. І навіть продовольство, яке досі стримувало ціни, почало дорожчати.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ставка від очікувань аналітиків — близько 8%, але від фактичної інфляції вона знизилася з 7 до 6%. А великі банки майже не підняли депозитні ставки, тож трансмісія слабка,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а у третьому, за оцінкою КМП, — суттєво гірше прогнозу НБУ. Атаки на енергетику, логістику й порти забирають близько 0,9 пункта зростання. Водночас ринок праці перегрітий: через дефіцит кадрів номінальні зарплати цього року зростають на 21–25%.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Але важливо: продаж валюти здебільшого «доносить» допомогу на ринок — у вересні уряд конвертував 3,81 мільярда оборонного траншу. Тож резерви падають через ритм допомоги. А курс із червня фактично заморожений — близько 44,7 гривні за долар.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Звідки тиск на резерви — видно з платіжного балансу. Імпорт цього року в 2,6 раза більший за експорт, дефіцит — близько 89 мільярдів доларів. Поточний рахунок фінансують позики партнерів. Але офіційне фінансування скорочується з 87 мільярдів у 2026 році до 33 у 2028-му, і, за прогнозом НБУ, поточний рахунок тоді погіршиться до мінус 45 мільярдів. Тому резерви потрібні як буфер, а лібералізацію варто проводити поступово.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— водночас бюджетний імпульс для попиту і додатковий попит на валюту. Уряд у Бюджетній декларації закладає інфляцію 8,9% наприкінці 2027 року — вище, ніж НБУ і 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завантажуються автоматично, фільтр Калмана оцінює розриви й тренди, далі — прогноз із судженнями й аналіз політики. Той самий файл моделі ми проганяємо в MATLAB з IRIS: розбіжність — у п'ятому знаку, а графіки сценаріїв у презентації побудовані в MATLAB.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моделі. У шаблоні одна крива Філіпса для всієї інфляції, тож нафтовий шок дає хибні коливання через курс. Ми розділили інфляцію на базову і небазову: небазові ціни реагують на нафту та курс. Нафта на 20% дорожча — це плюс 0,3 пункта до інфляції впродовж року, ставка зростає лише на 0,2 пункта, а базова інфляція не прискорюється. Без цього каналу модель точно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разовість вересневого стрибка. Тренд — 0,86% на місяць. До того ж діє ефект бази: у жовтні–грудні 2025 ціни зросли лише на 1,5%. Тому річна інфляція підніметься до 12,1% у грудні — помітно вище, ніж НБУ прогнозував у липні.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У середньому за квартал інфляція досягне піку — близько 11,3% — на початку 2027 року; у місячному вимірі це близько 12% у грудні. Далі вона знизиться до 7,2% у четвертому кварталі 2027-го, у 2028-му коливатиметься біля 5% — до 4,5% у мінімумі — і з другому кварталі 2029 року стабілізується на 5%. Ставка — 17% до середини 2027 року, далі поступово знижується до 10,1% наприкінці 2028-го. Невизначеність велика — це показує віяло.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Важлива відмінність від НБУ — базова інфляція. Ми вважаємо, що вона буде стійкішою: 5,9% наприкінці 2027 року проти 5,1% у НБУ. Причина — перегрітий ринок праці, дорожчі послуги й наслідки атак. Загальна інфляція при цьому близька до НБУ: тарифи й акцизи додають близько 1,7 пункта на рік, а дешевша нафта частково це компенсує.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Попит ми бачимо слабшим, ніж НБУ: фактично нульове зростання цього року, 0,8% у 2027-му і 1,0% у 2028-му проти 1,8, 2,8 і 3,0% у НБУ. Причини — слабкий третій квартал, атаки, блокада портів і дефіцит кадрів. У моделі реальна ставка зараз близька до нейтральної. За 17% вона зросте до 8% у другому кварталі 2027-го сама собою, бо інфляція знижуватиметься, — тому одного рішучого кроку достатньо, різкішого посилення не потрібно.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сценарії, розраховані в MATLAB. Найнебезпечніший — дефіцит фінансування: якщо допомога затримається, гривня буде приблизно на 6% слабшою, інфляція зросте до 13,3%, а ставку доведеться підняти до 19,3%. Важка зима з ударами по енергетиці підніме інфляцію до 12,8% і майже зупинить зростання ВВП. Натомість нафта по 120 доларів додає лише 0,4 пункта до піку інфляції, і ставка майже не реагує — це шок першого раунду. Висновок: головний ризик для інфляції — курс і резерви.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Спершу — рамка. Головна мета НБУ — цінова стабільність: ціль 5% без діапазону, і повернути до неї інфляцію треба на горизонті до трьох років. Інструменти — облікова ставка, депозитні сертифікати, які з серпня розміщуються на тендерах, валютні інтервенції та обмеження. У вересні КМП підвищив ставку до 16%, але думки розділилися: семеро вважають, що цього достатньо, двоє чекають ще одного підвищення, один — зниження. Ми — за підвищення, і ось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порівняли чотири варіанти рішення — від утримання 16% до підвищення до 17,5%. У кожному ставка утримується до середини 2027 року, а далі знижується так, щоб інфляція повернулася саме до 5%. Критерій — втрати: відхилення інфляції від цілі, розрив ВВП і різкі зміни ставки. Адмінціни ми враховуємо наполовину: вони ростуть щороку, але це перший раунд. Утримання 16% — найгірший варіант за будь-яких ваг. Оптимальна траєкторія моделі починається з 17,1%, але між 16,5 і 17,5% різниця втрат мала. Тому крок у пункт ми обираємо за ризиками: якщо гривня слабшатиме, як чекає ринок, інфляція наприкінці 2027 року буде близько 11%, а не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17%. Чому підвищити: інфляція в грудні сягне близько 12%, базова інфляція прискорюється, курсові ризики високі, а гнучкіший курс потребує сильного якоря для очікувань. Чому не більше: економіка слабка, а шоки здебільшого з боку пропозиції. Орієнтир: утримувати 17% щонайменше до середини 2027 року, далі знижувати — до близько 14,5% наприкінці 2027-го і 10,0% наприкінці 2028-го. Якщо тиск на курс почне розхитувати очікування — готові підвищувати далі; якщо базова інфляція опуститься нижче 7% — знижувати швидше.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Якщо так і залишиться, на кінець року резерви становитимуть 43 мільярди. Але продаж валюти здебільшого «доносить» допомогу до ринку, тож резерви визначає її ритм, а не курс. Наша рекомендація щодо курсу інша: не заморожувати його. З червня гривня стоїть біля 44,7 за долар, хоча за рік до того послабилася на 8%. Курс має поглинати шоки, а НБУ — лише згладжувати коливання.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купівля валюти населенням зросла з 0,39 до 0,58 мільярда доларів на місяць — помітно, але керовано. За Стратегією НБУ кроки робляться за передумовами, а не за календарем. Тому третій етап — операції населення й капітальні операції — пропонуємо відкласти, доки резерви не повернуться до 50 мільярдів, а допомога — до ритмічності.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рішуче, курс не заморожений, а обмежені обсяги депсертифікатів доносять підвищення до депозитних ставок.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17% і утримувати щонайменше до середини 2027 року. Друге — не заморожувати курс і обмежити обсяги депсертифікатів. Третє — пауза в лібералізації валютних обмежень. За такої політики інфляція стабілізується на 5% у другому кварталі 2029 року.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розраховано в MATLAB/IRIS.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Лінії — розрахунок у Python, кружки — у MATLAB R2026b з IRIS. Це підтверджує, що наш Python-порт і розширення моделі коректні, а графіки MATLAB у презентації відповідають тим самим цифрам.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зовнішні змінні — фактичні, судження не використовувалися.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17%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20.10.2026.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u-veres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minfin.com.ua/ua/2026/10/07/18307690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7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mijnarodni-rezervi-stanovili-471-mlrd-dol-ssha-za-pidsumkami-veresnya" TargetMode="External"/><Relationship Id="rId3" Type="http://schemas.openxmlformats.org/officeDocument/2006/relationships/hyperlink" Target="https://epravda.com.ua/finances/valyutniy-rinok-ukrajini-rezultati-troh-rokiv-rezhimu-kerovanoji-gnuchkosti-826509/" TargetMode="External"/><Relationship Id="rId4" Type="http://schemas.openxmlformats.org/officeDocument/2006/relationships/image" Target="../media/image-8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9" Type="http://schemas.openxmlformats.org/officeDocument/2006/relationships/hyperlink" Target="https://bank.gov.ua/ua/news/all/natsionalniy-bank-ukrayini-pidvischiv-oblikovu-stavku-do-16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4.xml"/><Relationship Id="rId1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u-veresni-2026-roku" TargetMode="External"/><Relationship Id="rId3" Type="http://schemas.openxmlformats.org/officeDocument/2006/relationships/image" Target="../media/image-15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6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komentar-natsionalnogo-banku-schodo-zmini-realnogo-vvp-u-ii-kvartali-2026-roku" TargetMode="External"/><Relationship Id="rId4" Type="http://schemas.openxmlformats.org/officeDocument/2006/relationships/image" Target="../media/image-18-1.png"/><Relationship Id="rId5" Type="http://schemas.openxmlformats.org/officeDocument/2006/relationships/image" Target="../media/image-18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zakon.rada.gov.ua/laws/show/679-14" TargetMode="External"/><Relationship Id="rId2" Type="http://schemas.openxmlformats.org/officeDocument/2006/relationships/hyperlink" Target="https://p4.bank.gov.ua/admin_uploads/article/MPG_2024-mt_eng.pdf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news/all/nbu-informuye-pro-golovniy-printsip-viznachennya-obsyagiv-rozmischennya-trimisyachnih-depozitnih-sertifikativ" TargetMode="External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mijnarodni-rezervi-stanovili-471-mlrd-dol-ssha-za-pidsumkami-veresnya" TargetMode="External"/><Relationship Id="rId2" Type="http://schemas.openxmlformats.org/officeDocument/2006/relationships/hyperlink" Target="https://epravda.com.ua/finances/valyutniy-rinok-ukrajini-rezultati-troh-rokiv-rezhimu-kerovanoji-gnuchkosti-826509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6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1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2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u-veres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ставка 17%, гнучкіший курс, пауза в лібералізації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+1,0 в. п.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зниження, що повертає інфляцію до 5% у 2029</a:t>
            </a:r>
            <a:endParaRPr lang="en-US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Гнучкий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червня ≈44,7 грн/$ без змін; допускати двосторонні коливання, інтервенції лише згладжують; рівень не фіксувати</a:t>
            </a:r>
            <a:endParaRPr lang="en-US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3,3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грн/€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53,8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12,1% (наукаст). Ціль НБУ — 5% на горизонті до 3 років; стабілізація на 5% — з II кв. 2029. Дані на 20.10.2026.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≈$105, ЄЦБ підвищує ставку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449" y="1325880"/>
            <a:ext cx="10406798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— пік $117 у квітні, $102 у вересні, ≈$105 у жовтні (НБУ закладав $80–85); ф'ючерси — $87 наприкінці 2027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ринок закладає ще ≈+0,5 в. п. до кінця 2027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пік ≈3,7% наприкінці 2026 (прогноз ЄЦБ: 3,0% / 2,5% / 2,1% у 2026–2028)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у вересні — 10,0%: пальне, руйнування логістики, прискорення базової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+2,1% за місяць: пальне +46,2% р/р, адмінціни +13,6% (проїзд, вода, алкоголь), атаки на склади й логістику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8,8% (з 8,1%): оброблені продукти +10,7%, послуги +13,7% (зарплати, оренда)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Сирі продукти прискорилися до 6,7%: менші врожаї овочів, витрати на транспорт і зберігання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підвищені; реальна ставка — 6–8% залежно від методу, і вона знижується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10/07/18307690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аукціон ОВДП 06.10.2026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5284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 (липень)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ставка: від очікувань аналітиків ≈8,1%, від нашого прогнозу на рік уперед ≈7,0%, від фактичної інфляції ≈6,0% (місяцем раніше — ≈7,4%); депозити реагують слабко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ОВДП: 1 рік — 15,1%, 2,5 року — 16,5% (06.10): ринок не закладає швидкого зниження; гривневі кредити бізнесу +30% р/р — умови не надто жорсткі (КМП)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сповільнюється: ВВП III кв. гірший за прогноз, а зарплати +21–25%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activ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362322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+0,3% кв/кв, +0,4% р/р; у III кв. — «суттєво гірше прогнозу НБУ» (КМП)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на енергетику, логістику та порти; внесок обстрілів у ВВП-2026 — −0,9 в. п. (НБУ)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кадрів: номінальні зарплати +21–25% р/р у січні–червні (червень — +25%) — тиск на ціни послуг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327036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заморожений: ≈44,7 грн/$ з червня (за рік до того — +8%); продаж валюти здебільшого «доносить» допомогу: у вересні уряд конвертував $3,81 млрд оборонного траншу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Платіжний баланс: імпорт у 2,6 раза більший за експорт — розрив покривають позики партнерів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b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384581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2026: експорт $56 млрд, імпорт $145 млрд — дефіцит $89 млрд; приватні перекази — лише $7,6 млрд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Поточний рахунок −$16 млрд фінансують партнери: ERA ($25,9 млрд у 2025), Ukraine Facility; у 2026 НБУ чекає ще $9,8 млрд позик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2028: офіційне фінансування $87 → $33 млрд, поточний рахунок −$45 млрд, широкий баланс −$24 млрд → резерви — буфер, лібералізація — поступово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залежить від допомоги: $87 млрд у 2026, але надходження затримуються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is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042" y="1325880"/>
            <a:ext cx="10945611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Бюджетна декларація 2027–2029: дефіцит держбюджету 17,7% ВВП у 2027 і 11,1% у 2028; уряд закладає інфляцію 8,9% на грудень 2027 (НБУ — 6,9%, ми — 7,2% у IV кв.)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~1e−5</a:t>
            </a:r>
            <a:endParaRPr lang="en-US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MATLAB/IRIS: фільтр і всі 5 сценаріїв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0,8–1,0 в. п.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прогнозу ІСЦ на рік уперед (наївний: 1,3–6,1)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</a:t>
            </a:r>
            <a:endParaRPr lang="en-US" sz="1200" dirty="0"/>
          </a:p>
        </p:txBody>
      </p:sp>
      <p:sp>
        <p:nvSpPr>
          <p:cNvPr id="33" name="chip4"/>
          <p:cNvSpPr/>
          <p:nvPr/>
        </p:nvSpPr>
        <p:spPr>
          <a:xfrm>
            <a:off x="6163056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163056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5" name="chip5"/>
          <p:cNvSpPr/>
          <p:nvPr/>
        </p:nvSpPr>
        <p:spPr>
          <a:xfrm>
            <a:off x="8220456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20456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7" name="chip6"/>
          <p:cNvSpPr/>
          <p:nvPr/>
        </p:nvSpPr>
        <p:spPr>
          <a:xfrm>
            <a:off x="9889236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889236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9" name="chip7"/>
          <p:cNvSpPr/>
          <p:nvPr/>
        </p:nvSpPr>
        <p:spPr>
          <a:xfrm>
            <a:off x="457200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7200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1" name="chip8"/>
          <p:cNvSpPr/>
          <p:nvPr/>
        </p:nvSpPr>
        <p:spPr>
          <a:xfrm>
            <a:off x="150418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50418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3" name="chip9"/>
          <p:cNvSpPr/>
          <p:nvPr/>
        </p:nvSpPr>
        <p:spPr>
          <a:xfrm>
            <a:off x="2551176" y="58064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551176" y="58064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Наше розширення QPM: нафта змінює небазові ціни, ставка реагує лише на вторинні ефекти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irf_oi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158013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року, ставка +0,2 в. п.; базова інфляція не прискорюється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модель точно збігається з шаблоном НБУ — перевірено тестами і в MATLAB/IRIS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Припущення та судження базового сценарію — кожне з джерелом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Наукаст: тренд 0,86%/міс + сезонність − 0,1 в. п. (разові ефекти вересня) → грудень 12,1%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−0,3% кв/кв SA (КМП: «суттєво гірше прогнозу»)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КМП 28.09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Бюджетний імпульс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Локалізація оборонного виробництва коштом Ukraine Support Loan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8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і макропрогноз,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Допустиме послаблення (цільовий темп): 4% у 2027, 3% у 2028; фактичний курс — з моделі (≈1% на рік)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 (EUR/USD)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Ф'ючерсна крива (20.10): $109 (IV кв. 2026) → $87 (кінець 2027) → $79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до 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≈12,1% у грудні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406958"/>
          </a:xfrm>
          <a:prstGeom prst="rect">
            <a:avLst/>
          </a:prstGeom>
        </p:spPr>
      </p:pic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0,17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3054096"/>
            <a:ext cx="4647895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жовтні–грудні 2025 ціни зросли лише на 1,5%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0,86% на місяць (з урахуванням сезонності) — це ≈11% у річному вимірі; вересневий стрибок частково разовий (−0,1 в. п./міс.)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Грудень 12,1% — вище липневого прогнозу НБУ (10%): вересень уже вивів інфляцію з його траєкторії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 початку 2027 і стабілізується на 5% у 2029 — у межах горизонту політики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245" y="1325880"/>
            <a:ext cx="9945206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— I кв. 2027: ≈11,3% у середньому за квартал (у грудні — ≈12,1% за місяць); 7,2% у IV кв. 2027 (НБУ: 6,9% у грудні); ≈5% уже в II кв. 2028, у 2028 — тимчасово ≈4,5%; стабільно 5% — з II кв. 2029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17% до середини 2027 → 14,7% наприкінці 2027 → 10,1% — 2028 → 9,0% — 2029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3,6 до 10,8%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Базова інфляція в 2027 стійкіша, ніж у НБУ: 5,9% наприкінці року проти 5,1%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881792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Зарплати +21–25%, дорожчі послуги, наслідки атак — базова інфляція знижується повільніше, ніж очікує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7,2% у IV кв. 2027 (НБУ 6,9% у грудні)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3,3% (НБУ 3,3%) — слабкий попит → простір для зниження ставки з II пів.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Висновок: рішуче підвищення зараз, швидше пом'якшення пізніше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 бачимо слабший попит, ніж НБУ: розрив ВВП у 2027 ≈0,4% проти 1,4%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endParaRPr lang="en-US" sz="900" dirty="0"/>
          </a:p>
        </p:txBody>
      </p:sp>
      <p:pic>
        <p:nvPicPr>
          <p:cNvPr id="5" name="chart main" descr="C:\Users\Lenovo\Documents\GitHub\nbu-challenge-2026\results\figures\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71531" cy="2740914"/>
          </a:xfrm>
          <a:prstGeom prst="rect">
            <a:avLst/>
          </a:prstGeom>
        </p:spPr>
      </p:pic>
      <p:pic>
        <p:nvPicPr>
          <p:cNvPr id="6" name="chart side" descr="C:\Users\Lenovo\Documents\GitHub\nbu-challenge-2026\results\figures\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241248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0,0% / 0,8% / 1,0%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Причини: слабкий III кв., атаки на логістику, блокада портів, дефіцит кадрів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 моделі реальна ставка зараз ≈6,2% — близько нейтральної (≈6,6%); за 17% вона зросте до ≈8,4% у II кв. 2027: політика стає стримувальною в міру зниження інфляції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найнебезпечніший — дефіцит фінансування, а не зима чи нафта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038" y="1280160"/>
            <a:ext cx="8719619" cy="2606040"/>
          </a:xfrm>
          <a:prstGeom prst="rect">
            <a:avLst/>
          </a:prstGeom>
        </p:spPr>
      </p:pic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грн/€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(≈55 грн/€) → інфляція до 13,3%, ставка до 19,3%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12,8%, ставка до 17,8%, ВВП 2027 — −0,1%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+0,4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Сприятливий: нижча премія за ризик → швидше пом'якшення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Рамка рішення: ціль 5% на горизонті до 3 років; у вересні КМП розділився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zakon.rada.gov.ua/laws/show/679-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Закон «Про НБУ», ст. 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ua/news/all/nbu-informuye-pro-golovniy-printsip-viznachennya-obsyagiv-rozmischennya-trimisyachnih-depozitnih-sertifikati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принцип обсягів 3-міс. ДС (НБУ)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Наша відповідь на питання конкурсу: облікова ставка — 17% з утриманням до середини 2027 р.; депсертифікати — обмежити обсяги тендерів, щоб підвищення дійшло до депозитних ставок; офіційний курс — не заморожувати, лише згладжувати коливання; валютні обмеження — серпневий пакет зберегти, III етап — після відновлення резервів.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і режим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Мета — цінова стабільність; також сприяння фінстабільності й зростанню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Ціль 5% без діапазону, горизонт — до 3 років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Гнучке ІТ з керованою гнучкістю курсу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Інструменти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Облікова ставка; 3-міс. депсертифікати — з 07.08 через тендери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Обсяги ДС залежать від ліміту банків, прив'язаного до строкових депозитів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Інтервенції згладжують курс; обмеження — за Стратегією 2023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КМП у вересні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Рішення +0,5 в. п. до 16%; троє — за 15,5%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Далі: 7 — тримати 16%, 2 — ще одне підвищення, 1 — знижувати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Вересневий ІСЦ 10,0% — вище прогнозу НБУ: ми — за +1 в. п.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 29 жовтня: утримати 16% — найгірше; між 16,5 і 17,5% різниця мала — крок обираємо за ризиками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601" y="1280160"/>
            <a:ext cx="8652494" cy="2606040"/>
          </a:xfrm>
          <a:prstGeom prst="rect">
            <a:avLst/>
          </a:prstGeom>
        </p:spPr>
      </p:pic>
      <p:graphicFrame>
        <p:nvGraphicFramePr>
          <p:cNvPr id="2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109,6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109,6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Втрати: відхилення інфляції від 5%, розрив ВВП, різкі зміни ставки; адмінціни — з вагою 50% (вони ростуть щороку, але це перший раунд) — той самий принцип для рішення й усієї траєкторії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траєкторія починається з 17,1% (16,5–17,8% залежно від згладжування); найменші втрати серед утримань — 16,5–18%: таблиця не вибирає крок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+1 в. п. — через ризики для курсу й очікувань: якщо гривня слабшатиме, як чекає ринок (≈5% на рік), інфляція в IV кв. 2027 — ≈10,5% замість 7,2%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17% і утримувати до середини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+1,0 в. п. з 30.10.2026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709928"/>
            <a:ext cx="7802575" cy="114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Вересень — 10,0%, значно вище прогнозу НБУ; у грудні — ≈12%; ризики зміщені вгору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наприкінці 2027 — 5,9% (НБУ: 5,1%): ринок праці перегрітий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і очікування: якщо гривня слабшатиме, як чекає ринок, інфляція IV кв. 2027 — ≈11%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Гнучкіший курс потребує сильного якоря — ставка має утримати очікування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2897945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не більше</a:t>
            </a:r>
            <a:endParaRPr lang="en-US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281993"/>
            <a:ext cx="7802575" cy="1142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 III кв. скоротився; за 17% реальна ставка сама зросте з ≈6,2% до ≈8,4% у II кв. 2027 — у міру зниження інфляції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Оптимальна траєкторія моделі починається з 17,1%; адмінціни враховуємо на 50%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Підвищення має дійти до депозитів: обмежити обсяги тендерів 3-міс. ДС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470009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4854057"/>
            <a:ext cx="7802575" cy="140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2027; далі зниження до ≈14,5% наприкінці 2027 і ≈10,0% — 2028: інфляція 5% у 2029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Подальше підвищення (до ≈19%) — якщо тиск на курс загрожує очікуванням (зростають девальваційні й інфляційні очікування)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без допомоги резерви наблизяться до 3 місяців імпорту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reser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808281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млрд/міс. НБУ (липень) чекав $69,7 млрд на кінець 2026 — для цього треба ≈$13 млрд/міс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Наші сценарії на кінець 2026: $56 / 43 / 38 млрд = 5,0 / 3,8 / 3,4 міс. імпорту 2027 р. (як рахує НБУ)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Ринок чекає ≈47 грн/$ через рік (≈5% послаблення); за ставки 17% модель дає ≈1% на рік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не заморожувати курс (≈44,7 грн/$ з червня); інтервенції — лише згладжувати. Резерви залежать від ритму допомоги (продаж валюти її «доносить»), тому захищає їх пауза в лібералізації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6732760" cy="498348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(≈4,5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17% з огляду на прискорення інфляції, зміщення ризиків угору та зниження міжнародних резервів. НБУ утримуватиме ставку щонайменше до середини 2027 року та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на 1 в. п., щоб інфляція повернулася до 5% у 2029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заморожений: НБУ згладжує коливання, але не фіксує рівень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Обмежені обсяги депсертифікатів — щоб підвищення дійшло до ставок за депозитами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17%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Не заморожувати курс; обмежити обсяги тендерів депсертифікатів, щоб підвищення дійшло до депозитів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≈12,1% у грудні 2026, 7,2% у IV кв. 2027, стабільно 5% — з II кв. 2029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Модель: QPM НБУ + розширення команди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Δzₜ) + εⁿᶜ;   πₜ = πᶜₜ + Δrncₜ</a:t>
            </a:r>
            <a:endParaRPr lang="en-US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π*) + 0,5·ŷₜ) + εⁱ</a:t>
            </a:r>
            <a:endParaRPr lang="en-US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 (Grui, Vdovychenko, 2019); вага нафти — наша</a:t>
            </a:r>
            <a:endParaRPr lang="en-US" sz="1300" dirty="0"/>
          </a:p>
        </p:txBody>
      </p:sp>
      <p:sp>
        <p:nvSpPr>
          <p:cNvPr id="23" name="num2"/>
          <p:cNvSpPr/>
          <p:nvPr/>
        </p:nvSpPr>
        <p:spPr>
          <a:xfrm>
            <a:off x="430773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0773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4719218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Темпи в моделі — 100·ln-різниці, на слайдах — % р/р: π* = 4,88 = 5% р/р</a:t>
            </a:r>
            <a:endParaRPr lang="en-US" sz="1300" dirty="0"/>
          </a:p>
        </p:txBody>
      </p:sp>
      <p:sp>
        <p:nvSpPr>
          <p:cNvPr id="26" name="num3"/>
          <p:cNvSpPr/>
          <p:nvPr/>
        </p:nvSpPr>
        <p:spPr>
          <a:xfrm>
            <a:off x="8158277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58277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point3"/>
          <p:cNvSpPr txBox="1"/>
          <p:nvPr/>
        </p:nvSpPr>
        <p:spPr>
          <a:xfrm>
            <a:off x="8569757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Реакція на шок ставки залежить від контролю над курсом (β)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ml_irf_r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266" y="1325880"/>
            <a:ext cx="9719163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47885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ВВП майже не тисне на ставку — це не «перегрів попиту», а шоки витрат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Лінія вище стовпців у 2027–2028 — ставка тримається вище правила, щоб інфляція повернулася саме до 5%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Python і MATLAB/IRIS дають той самий прогноз (розбіжність ~1e−5)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matlab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708" y="1325880"/>
            <a:ext cx="9710280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Один файл моделі model/model.model, ті самі дані, параметри й плани всіх 5 сценаріїв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Фільтр Калмана 2016–2026 і прогнози до 2029 збігаються з точністю до округлення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Збірка однією командою: python build.py → MATLAB → звірка → графіки → презентація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Бектест: прогноз з даними до III кв. 2025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C:\Users\Lenovo\Documents\GitHub\nbu-challenge-2026\results\figures\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4 квартали: 0,8–1,0 в. п. (наївний прогноз: 1,3–6,1)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Базовий прогноз по півріччях</a:t>
            </a:r>
            <a:endParaRPr lang="en-US" sz="2600" dirty="0"/>
          </a:p>
        </p:txBody>
      </p:sp>
      <p:graphicFrame>
        <p:nvGraphicFramePr>
          <p:cNvPr id="3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7. Джерела даних</a:t>
            </a:r>
            <a:endParaRPr lang="en-US" sz="26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4" invalidUrl="" action="" tgtFrame="" tooltip="https://bank.gov.ua/ua/news/all/komentar-natsionalnogo-banku-schodo-rivnya-inflyatsiyi-u-veresni-2026-roku" history="1" highlightClick="0" endSnd="0"/>
                        </a:rPr>
                        <a:t>коментар НБУ: інфляція у вересні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2026-10-21T08:01:36Z</dcterms:created>
  <dcterms:modified xsi:type="dcterms:W3CDTF">2026-10-21T08:01:36Z</dcterms:modified>
</cp:coreProperties>
</file>