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" id="{13572c52-9942-476d-c42b-50b80fe868e3}">
          <p14:sldIdLst>
            <p14:sldId id="256"/>
            <p14:sldId id="257"/>
          </p14:sldIdLst>
        </p14:section>
        <p14:section name="Огляд" id="{0db517e7-777e-9dde-7880-56207ccf15ad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Прогноз" id="{956c848c-d249-b600-7b99-f4d0248bf6b6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Рекомендації" id="{ea4fe3bb-c4d8-4ba1-3ade-f183bf3e0670}">
          <p14:sldIdLst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Додатки" id="{de75bea0-f4aa-6405-fb6b-a1b891ac47a8}">
          <p14:sldIdLst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Добрий день, шановні члени журі. Ми — Команда [назва]. Сьогодні представимо наші рекомендації для засідання Правління НБУ 29 жовтня 2026 року. Усі дані — станом на 7 жовтня.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Почнемо з головного. Ми пропонуємо три рішення, які працюють як єдиний пакет. Перше — підвищити облікову ставку на 0,5 пункта, до 16,5%, і утримувати її щонайменше до середини 2027 року. Інфляція знову прискорюється: у грудні вона сягне майже 10%, а ризики зміщені вгору. Друге — керована гнучкість курсу: допускати поступове послаблення гривні до євро, до 4% на рік, замість того щоб витрачати близько 5 мільярдів доларів резервів щомісяця; за вищої ставки фактичне послаблення буде помірним — близько 1% на рік. Третє — поставити на паузу наступні кроки валютної лібералізації, доки не відновляться резерви і ритм допомоги. За такої політики інфляція знизиться до 6,7% наприкінці 2027 року і повернеться до цілі 5% у третьому кварталі 2029 року — у межах трирічного горизонту політики НБУ. Далі — як ми дійшли до цих висновків.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Зовнішнє середовище стало помітно проінфляційним. Через війну на Близькому Сході нафта Brent у квітні сягала 117 доларів за барель і у вересні знову перевищила 100 — тоді як НБУ в липні закладав 80–85. Ринок очікує здешевлення: ф'ючерси вказують на 83 долари наприкінці 2027 року, і саме цю криву ми беремо в прогноз. Водночас ЄЦБ підвищує ставку, тож простору для пом'якшення в Україні менше.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Інфляція в серпні прискорилася до 8,1%. Головні рушії — пальне, яке подорожчало майже на 39% за рік, і адмінрегульовані ціни. Але більше нас турбує базова інфляція: вона тримається на рівні 8,1% три місяці поспіль, а послуги дорожчають на 13% через зарплати, оренду й логістику. Стримує лише продовольство: через блокаду Чорного моря зерно й овочі залишаються на внутрішньому ринку.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Інфляційні очікування підвищені: домогосподарства чекають 10–14% — більше, ніж фактична інфляція, а фінансові аналітики підвищили свої очікування до 7,9%. Реальна облікова ставка — близько 7%, тому гривневі депозити й ОВДП поки привабливі. Але депозитні ставки реагують із запізненням, і ризик розбалансування очікувань реальний.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Економіка тим часом сповільнюється. ВВП у другому кварталі зріс лише на 0,4% за рік, а у третьому, за оцінкою КМП, — суттєво гірше прогнозу НБУ. Атаки на енергетику, логістику й порти забирають близько 0,9 пункта зростання. Водночас ринок праці перегрітий: через дефіцит кадрів номінальні зарплати зростають на 25%, реальні — на 17%. Тож навіть за слабкого ВВП тиск на ціни послуг зберігається.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Найгостріша проблема — валютний ринок. НБУ продає в середньому близько 5,0 мільярда доларів на місяць, у вересні — рекордні 5,5 мільярда. Резерви за два місяці скоротилися з 51,2 до 47,1 мільярда, тоді як НБУ очікував 53,8. Курс стабільний — близько 51,5 гривні за євро, — але ця стабільність купується резервами.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Причина — залежність бюджету від допомоги. Дефіцит без грантів — близько 35% ВВП, потреба у зовнішньому фінансуванні — 87 мільярдів доларів, а влітку надходження затрималися. Оборонний кредит USL — водночас бюджетний імпульс для попиту і додатковий попит на валюту для імпорту компонентів.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 — прогноз. Ми взяли квартальну прогнозну модель НБУ, переписали її на Python і розширили. Дані автоматично завантажуються з API НБУ, Держстату, ЄЦБ і Eurostat; фільтр Калмана оцінює розриви й тренди; далі — прогноз із судженнями й аналіз політики. Щоб бути впевненими в результатах, той самий файл моделі ми проганяємо в MATLAB з IRIS, як у НБУ: розбіжність — у п'ятому знаку після коми, а графіки сценаріїв у презентації побудовані в MATLAB. На історії модель прогнозує інфляцію на рік уперед значно точніше за наївний прогноз.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Що ми змінили в моделі НБУ. У шаблоні одна крива Філіпса для всієї інфляції, тож нафтовий шок або не впливає на ціни, або дає хибні коливання через курс. Ми розділили інфляцію на базову і небазову: крива Філіпса описує базову, а небазові ціни реагують на світову ціну нафти та курс. На графіку видно: нафта на 20% дорожча — це плюс 0,3 пункта до інфляції впродовж року, ставка зростає лише на 0,2 пункта, а базова інфляція не прискорюється. Якщо вимкнути цей канал, модель точно збігається з шаблоном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Модель не описує все — енергетику, бюджет, допомогу, тарифи. Тому ці чинники входять через явні судження, і кожне має кількісне обґрунтування та джерело. Наприклад, вторинні ефекти атак в опалювальний сезон ми калібруємо за оцінкою НБУ. Окремо закладаємо адмінціни й акцизи: у 2016–2026 роках загальна інфляція в середньому перевищувала базову на 1,7 пункта на рік, і НБУ закладає таку саму різницю на 2027–2028 роки.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найближчих місяців ми будуємо короткостроковий прогноз: трендовий темп цін, сезонність і поправка на дешевше продовольство. Тренд — 0,65% на місяць, тобто близько 8% у річному вимірі. До того ж діє ефект бази: у вересні–грудні 2025 року ціни зросли лише на 1,8%. Тому річна інфляція механічно підніметься до 9,9% у грудні — близько до прогнозу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Базовий прогноз. Нагадаю: ціль НБУ — 5% без діапазону відхилень, і повернути інфляцію до неї треба на горизонті до трьох років. Інфляція досягне піку — близько 8,9% — на початку 2027 року, знизиться до 6,7% наприкінці 2027-го, у 2028-му тимчасово опуститься до 4,3% через дешевшу нафту і з третьому кварталі 2029 року стабілізується на 5%. Ставка — 16,5% до середини 2027 року, далі поступово знижується до 10,4% наприкінці 2028-го. Віяло показує, наскільки велика невизначеність: з імовірністю 70% інфляція наприкінці 2027 року буде між 2 і 11%.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Важлива відмінність від НБУ — базова інфляція. Ми вважаємо, що вона буде стійкішою: 5,7% наприкінці 2027 року проти 5,1% у НБУ. Причина — перегрітий ринок праці, дорожчі послуги й наслідки атак. Загальна інфляція при цьому близька до НБУ: тарифи й акцизи додають близько 1,7 пункта на рік, а дешевша нафта частково це компенсує. У 2028 році базова інфляція опускається нижче цілі — як і в НБУ. Висновок: підвищити ставку зараз, щоб швидше пом'якшити її пізніше.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Попит ми бачимо слабшим, ніж НБУ: фактично нульове зростання цього року, 1,0% у 2027-му і 0,9% у 2028-му проти 1,8, 2,8 і 3,0% у НБУ. Причини — слабкий третій квартал, атаки, блокада портів і дефіцит кадрів. Реальна ставка вже вища за нейтральну, тобто політика стримувальна, — тому ми не пропонуємо різкого посилення.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Що каже правило Тейлора. Головна причина тримати ставку високою — прогноз інфляції на три квартали вперед, на 3–4 пункти вищий за ціль. Розрив ВВП майже не тисне на ставку: це не перегрів попиту, а шоки витрат. З другого півріччя 2027 року внесок інфляції зменшується — з'являється простір для зниження ставки.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розглянули чотири ризикові сценарії, розраховані в MATLAB. Найнебезпечніший — дефіцит фінансування: якщо допомога затримається, гривня буде приблизно на 6% слабшою, інфляція зросте до 11,5%, а ставку доведеться підняти до 19,3%. Важка зима з ударами по енергетиці підніме інфляцію до 10,4% і майже зупинить зростання ВВП. Натомість нафта по 120 доларів додає лише 0,5 пункта до піку інфляції, і ставка майже не реагує — це шок першого раунду. Висновок: головний ризик для інфляції — курс і резерви.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Матриця ризиків підсумовує: більшість імовірних і сильних ризиків — проінфляційні. Це атаки на енергетику, затримки допомоги, розбалансування очікувань і зарплатна спіраль. Дезінфляційних менше — блокада портів, охолодження попиту, можливе перемир'я. Баланс зміщений угору.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Переходимо до рекомендацій. Ми порівняли чотири варіанти рішення 29 жовтня — від зниження до 15,5% до підвищення до 17%. У кожному ставка утримується до середини 2027 року, а далі знижується так, щоб інфляція повернулася до 5% на горизонті політики. Механічне правило Тейлора для цього не годиться: з ним інфляція наприкінці 2029 року була б лише 4,3%. Критерій вибору — втрати: відхилення інфляції від цілі та розрив ВВП у 2027–2029 роках. Кожні 0,5 пункта підвищення зменшують втрати. Оптимальна ставка за моделлю — 16,6%, якщо не реагувати на перший раунд підвищення адмінцін, як і належить за інфляційного таргетування.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Тому перша рекомендація — підвищити облікову ставку до 16,5%. Чому підвищити: інфляція в грудні сягне майже 10%, базова інфляція стійкіша, ніж очікує НБУ, резерви знижуються, а гнучкіший курс потребує сильного якоря для очікувань. Чому не більше: економіка слабка, реальна ставка вже вища за нейтральну, а шоки здебільшого з боку пропозиції. Орієнтир для ринку: утримувати 16,5% щонайменше до середини 2027 року, далі — поступове зниження: близько 15,5% наприкінці 2027-го і 10,5% наприкінці 2028-го. Якщо резерви впадуть нижче 43 мільярдів — готові підвищувати далі; якщо базова інфляція опуститься нижче 7% — знижувати швидше.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Друга рекомендація — щодо курсу. НБУ продає близько 5,0 мільярда доларів на місяць, а надходить близько 3,7. Якщо так триватиме, наприкінці року резерви становитимуть 43 мільярди — 3,6 місяця імпорту, а за затримки допомоги — 38 мільярдів. Тому ми пропонуємо керовану гнучкість: допускати поступове послаблення гривні — до 4% на рік до євро, — а інтервенції використовувати лише для згладжування коливань. За ставки 16,5% модель показує фактичне послаблення лише близько 1% на рік: висока ставка підтримує гривню без витрачання резервів. Захищати певний рівень курсу — прямий шлях до втрати резервів.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Третя рекомендація — валютні обмеження. Серпневий пакет варто зберегти: після підвищення ліміту купівля валюти населенням зросла з 0,39 до 0,58 мільярда доларів на місяць — помітно, але керовано. Стратегія НБУ передбачає, що кроки лібералізації робляться за передумовами, а не за календарем. Тому наступний етап — капітальні операції та операції населення — пропонуємо поставити на паузу, доки резерви не повернуться до 50 мільярдів доларів, а допомога не надходитиме ритмічно. Лібералізацію, яка залучає валюту, — продовжувати, а нових обмежень не запроваджувати.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Усе це має пояснити комунікація. Ключова формула — «ставка — якір, курс — амортизатор»: НБУ підвищує ставку превентивно, гнучкий курс захищає резерви, а гривневі заощадження залишаються вигіднішими за валютні. Чого уникати — обіцянок конкретного курсу і сигналів про швидке зниження ставки. На слайді — наш проєкт пресрелізу.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Підсумуємо. Перше — підвищити облікову ставку до 16,5% і утримувати щонайменше до середини 2027 року. Друге — керована гнучкість курсу замість витрачання резервів. Третє — пауза в лібералізації валютних обмежень. За такої політики інфляція повернеться до цілі 5% у третьому кварталі 2029 року. Дякуємо за увагу! Будемо раді відповісти на ваші запитання.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ŷ — розрив ВВП, z̃ — розрив реального курсу (за базовими цінами), r̃ — розрив реальної ставки, prem — премія за ризик, oil — реальна ціна Brent у євро, rnc — відносна ціна небазових товарів. З вагою нафти 0 модель збігається з шаблоном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Чим сильніше НБУ контролює курс (β → 1), тим слабше ставка впливає на курс і інфляцію — валютний канал головний. Функції відгуку розраховано в MATLAB/IRIS.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Лінії — розрахунок у Python, кружки — у MATLAB R2026b з IRIS. Це підтверджує, що наш Python-порт і розширення моделі коректні, а графіки MATLAB у презентації відповідають тим самим цифрам.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Бектест квазіреальний: зовнішні змінні — фактичні, судження не використовувалися.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Значення базового сценарію в II і IV кварталах (рішення 16,5% у жовтні з утриманням до середини 2027, далі — траєкторія повернення до цілі). Усі квартали — results/tables/baseline_quarterly.csv.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Усі дані завантажуються скриптами; дата відсічення — 07.10.2026.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intr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NBU University Challenge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Огля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Прогноз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Рекомендації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Додатк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ecb.europa.eu/press/projections/html/index.en.html" TargetMode="External"/><Relationship Id="rId2" Type="http://schemas.openxmlformats.org/officeDocument/2006/relationships/hyperlink" Target="https://ec.europa.eu/eurostat/databrowser/view/prc_hicp_minr/default/table" TargetMode="External"/><Relationship Id="rId3" Type="http://schemas.openxmlformats.org/officeDocument/2006/relationships/hyperlink" Target="https://db.nomics.world/EIA/PET/RBRTE.M" TargetMode="External"/><Relationship Id="rId4" Type="http://schemas.openxmlformats.org/officeDocument/2006/relationships/hyperlink" Target="https://finance.yahoo.com/quote/BZ%3DF/" TargetMode="External"/><Relationship Id="rId5" Type="http://schemas.openxmlformats.org/officeDocument/2006/relationships/image" Target="../media/image-4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komentar-natsionalnogo-banku-schodo-rivnya-inflyatsiyi-v-serpni-2026-roku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hyperlink" Target="https://bank.gov.ua/ua/open-data/api-dev" TargetMode="External"/><Relationship Id="rId4" Type="http://schemas.openxmlformats.org/officeDocument/2006/relationships/image" Target="../media/image-5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Tables_Charts_2026-Q3.xlsx?v=19" TargetMode="External"/><Relationship Id="rId2" Type="http://schemas.openxmlformats.org/officeDocument/2006/relationships/hyperlink" Target="https://bank.gov.ua/ua/open-data/api-dev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image" Target="../media/image-6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komentar-natsionalnogo-banku-schodo-zmini-realnogo-vvp-u-ii-kvartali-2026-roku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image" Target="../media/image-7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ua/news/all/natsionalniy-bank-ukrayini-pidvischiv-oblikovu-stavku-do-16" TargetMode="External"/><Relationship Id="rId3" Type="http://schemas.openxmlformats.org/officeDocument/2006/relationships/image" Target="../media/image-8-1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Macroeconomic_Forecast_table_2026_07.xlsx?v=19" TargetMode="External"/><Relationship Id="rId2" Type="http://schemas.openxmlformats.org/officeDocument/2006/relationships/hyperlink" Target="https://bank.gov.ua/ua/news/all/rada-mvf-shvalila-pershiy-pereglyad-programi-rozshirenogo-finansuvannya-ta-zatverdila-vidilennya-transhu-obsyagom-690-mln-dol-ssha" TargetMode="External"/><Relationship Id="rId3" Type="http://schemas.openxmlformats.org/officeDocument/2006/relationships/image" Target="../media/image-9-1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hyperlink" Target="https://bank.gov.ua/ua/open-data/api-dev" TargetMode="External"/><Relationship Id="rId3" Type="http://schemas.openxmlformats.org/officeDocument/2006/relationships/hyperlink" Target="https://data.ecb.europa.eu/" TargetMode="External"/><Relationship Id="rId4" Type="http://schemas.openxmlformats.org/officeDocument/2006/relationships/hyperlink" Target="https://ec.europa.eu/eurostat/databrowser/view/prc_hicp_minr/default/table" TargetMode="Externa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files/macro/CCPI_m.xlsx" TargetMode="External"/><Relationship Id="rId2" Type="http://schemas.openxmlformats.org/officeDocument/2006/relationships/hyperlink" Target="https://db.nomics.world/EIA/PET/RBRTE.M" TargetMode="External"/><Relationship Id="rId3" Type="http://schemas.openxmlformats.org/officeDocument/2006/relationships/hyperlink" Target="https://finance.yahoo.com/quote/BZ%3DF/" TargetMode="External"/><Relationship Id="rId4" Type="http://schemas.openxmlformats.org/officeDocument/2006/relationships/image" Target="../media/image-12-1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hyperlink" Target="https://bank.gov.ua/ua/open-data/api-dev" TargetMode="External"/><Relationship Id="rId5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6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7" Type="http://schemas.openxmlformats.org/officeDocument/2006/relationships/hyperlink" Target="https://bank.gov.ua/admin_uploads/article/Macroeconomic_Forecast_table_2026_07.xlsx?v=19" TargetMode="External"/><Relationship Id="rId8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9" Type="http://schemas.openxmlformats.org/officeDocument/2006/relationships/hyperlink" Target="https://bank.gov.ua/ua/news/all/natsionalniy-bank-ukrayini-pidvischiv-oblikovu-stavku-do-16" TargetMode="External"/><Relationship Id="rId10" Type="http://schemas.openxmlformats.org/officeDocument/2006/relationships/hyperlink" Target="https://bank.gov.ua/admin_uploads/article/Macroeconomic_Forecast_table_2026_07.xlsx?v=19" TargetMode="External"/><Relationship Id="rId11" Type="http://schemas.openxmlformats.org/officeDocument/2006/relationships/hyperlink" Target="https://bank.gov.ua/admin_uploads/article/Macroeconomic_Forecast_table_2026_07.xlsx?v=19" TargetMode="External"/><Relationship Id="rId12" Type="http://schemas.openxmlformats.org/officeDocument/2006/relationships/hyperlink" Target="https://db.nomics.world/EIA/PET/RBRTE.M" TargetMode="External"/><Relationship Id="rId13" Type="http://schemas.openxmlformats.org/officeDocument/2006/relationships/hyperlink" Target="https://finance.yahoo.com/quote/BZ%3DF/" TargetMode="External"/><Relationship Id="rId14" Type="http://schemas.openxmlformats.org/officeDocument/2006/relationships/hyperlink" Target="https://www.ecb.europa.eu/press/projections/html/index.en.html" TargetMode="External"/><Relationship Id="rId15" Type="http://schemas.openxmlformats.org/officeDocument/2006/relationships/slideLayout" Target="../slideLayouts/slideLayout4.xml"/><Relationship Id="rId1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ua/news/all/komentar-natsionalnogo-banku-schodo-rivnya-inflyatsiyi-v-serpni-2026-roku" TargetMode="External"/><Relationship Id="rId3" Type="http://schemas.openxmlformats.org/officeDocument/2006/relationships/image" Target="../media/image-14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image" Target="../media/image-15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files/macro/CCPI_m.xlsx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image" Target="../media/image-16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Tables_Charts_2026-Q3.xlsx?v=19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hyperlink" Target="https://bank.gov.ua/ua/news/all/komentar-natsionalnogo-banku-schodo-zmini-realnogo-vvp-u-ii-kvartali-2026-roku" TargetMode="External"/><Relationship Id="rId4" Type="http://schemas.openxmlformats.org/officeDocument/2006/relationships/image" Target="../media/image-17-1.png"/><Relationship Id="rId5" Type="http://schemas.openxmlformats.org/officeDocument/2006/relationships/image" Target="../media/image-17-2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image" Target="../media/image-18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" Type="http://schemas.openxmlformats.org/officeDocument/2006/relationships/hyperlink" Target="https://finance.yahoo.com/quote/BZ%3DF/" TargetMode="External"/><Relationship Id="rId3" Type="http://schemas.openxmlformats.org/officeDocument/2006/relationships/hyperlink" Target="https://bank.gov.ua/admin_uploads/article/Macroeconomic_Forecast_table_2026_07.xlsx?v=19" TargetMode="External"/><Relationship Id="rId4" Type="http://schemas.openxmlformats.org/officeDocument/2006/relationships/image" Target="../media/image-19-1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image" Target="../media/image-22-1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atsionalniy-bank-ukrayini-pidvischiv-oblikovu-stavku-do-16" TargetMode="External"/><Relationship Id="rId2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ua/news/all/rada-mvf-shvalila-pershiy-pereglyad-programi-rozshirenogo-finansuvannya-ta-zatverdila-vidilennya-transhu-obsyagom-690-mln-dol-ssha" TargetMode="External"/><Relationship Id="rId3" Type="http://schemas.openxmlformats.org/officeDocument/2006/relationships/image" Target="../media/image-24-1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bu-vprovadjuye-paket-pomyakshennya-valyutnih-obmejen-z-osnovnim-fokusom-na-pidtrimtsi-naselennya" TargetMode="External"/><Relationship Id="rId2" Type="http://schemas.openxmlformats.org/officeDocument/2006/relationships/hyperlink" Target="https://bank.gov.ua/admin_uploads/article/Strategy_for_easing_FX_restrictions_07-07-2023.pdf?v=19" TargetMode="External"/><Relationship Id="rId3" Type="http://schemas.openxmlformats.org/officeDocument/2006/relationships/hyperlink" Target="https://bank.gov.ua/ua/open-data/api-dev" TargetMode="External"/><Relationship Id="rId4" Type="http://schemas.openxmlformats.org/officeDocument/2006/relationships/image" Target="../media/image-25-1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atsionalniy-bank-ukrayini-pidvischiv-oblikovu-stavku-do-16" TargetMode="Externa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hyperlink" Target="https://bank.gov.ua/ua/open-data/api-dev" TargetMode="External"/><Relationship Id="rId3" Type="http://schemas.openxmlformats.org/officeDocument/2006/relationships/hyperlink" Target="https://data.ecb.europa.eu/" TargetMode="External"/><Relationship Id="rId4" Type="http://schemas.openxmlformats.org/officeDocument/2006/relationships/hyperlink" Target="https://ec.europa.eu/eurostat/databrowser/view/prc_hicp_minr/default/table" TargetMode="External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image" Target="../media/image-30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image" Target="../media/image-32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files/macro/CCPI_m.xlsx" TargetMode="External"/><Relationship Id="rId3" Type="http://schemas.openxmlformats.org/officeDocument/2006/relationships/hyperlink" Target="https://bank.gov.ua/admin_uploads/article/Tables_Charts_2026-Q3.xlsx?v=19" TargetMode="External"/><Relationship Id="rId4" Type="http://schemas.openxmlformats.org/officeDocument/2006/relationships/hyperlink" Target="https://bank.gov.ua/ua/news/all/komentar-natsionalnogo-banku-schodo-rivnya-inflyatsiyi-v-serpni-2026-roku" TargetMode="External"/><Relationship Id="rId5" Type="http://schemas.openxmlformats.org/officeDocument/2006/relationships/hyperlink" Target="https://bank.gov.ua/ua/open-data/api-dev" TargetMode="External"/><Relationship Id="rId6" Type="http://schemas.openxmlformats.org/officeDocument/2006/relationships/hyperlink" Target="https://stat.gov.ua/" TargetMode="External"/><Relationship Id="rId7" Type="http://schemas.openxmlformats.org/officeDocument/2006/relationships/hyperlink" Target="https://bank.gov.ua/ua/news/all/komentar-natsionalnogo-banku-schodo-zmini-realnogo-vvp-u-ii-kvartali-2026-roku" TargetMode="External"/><Relationship Id="rId8" Type="http://schemas.openxmlformats.org/officeDocument/2006/relationships/hyperlink" Target="https://bank.gov.ua/files/macro/Wages_m.xlsx" TargetMode="External"/><Relationship Id="rId9" Type="http://schemas.openxmlformats.org/officeDocument/2006/relationships/hyperlink" Target="https://bank.gov.ua/files/macro/S_budget_m.xlsx" TargetMode="External"/><Relationship Id="rId10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11" Type="http://schemas.openxmlformats.org/officeDocument/2006/relationships/hyperlink" Target="https://bank.gov.ua/admin_uploads/article/Macroeconomic_Forecast_table_2026_07.xlsx?v=19" TargetMode="External"/><Relationship Id="rId12" Type="http://schemas.openxmlformats.org/officeDocument/2006/relationships/hyperlink" Target="https://bank.gov.ua/admin_uploads/article/Tables_Charts_2026-Q3.xlsx?v=19" TargetMode="External"/><Relationship Id="rId13" Type="http://schemas.openxmlformats.org/officeDocument/2006/relationships/hyperlink" Target="https://p4.bank.gov.ua/admin_uploads/article/MPG_2024-mt_eng.pdf" TargetMode="External"/><Relationship Id="rId14" Type="http://schemas.openxmlformats.org/officeDocument/2006/relationships/hyperlink" Target="https://ec.europa.eu/eurostat/databrowser/view/prc_hicp_minr/default/table" TargetMode="External"/><Relationship Id="rId15" Type="http://schemas.openxmlformats.org/officeDocument/2006/relationships/hyperlink" Target="https://data.ecb.europa.eu/" TargetMode="External"/><Relationship Id="rId16" Type="http://schemas.openxmlformats.org/officeDocument/2006/relationships/hyperlink" Target="https://www.ecb.europa.eu/press/projections/html/index.en.html" TargetMode="External"/><Relationship Id="rId17" Type="http://schemas.openxmlformats.org/officeDocument/2006/relationships/hyperlink" Target="https://db.nomics.world/EIA/PET/RBRTE.M" TargetMode="External"/><Relationship Id="rId18" Type="http://schemas.openxmlformats.org/officeDocument/2006/relationships/hyperlink" Target="https://finance.yahoo.com/quote/BZ%3DF/" TargetMode="External"/><Relationship Id="rId19" Type="http://schemas.openxmlformats.org/officeDocument/2006/relationships/hyperlink" Target="https://bank.gov.ua/ua/news/all/natsionalniy-bank-ukrayini-pidvischiv-oblikovu-stavku-do-16" TargetMode="External"/><Relationship Id="rId20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1" Type="http://schemas.openxmlformats.org/officeDocument/2006/relationships/hyperlink" Target="https://bank.gov.ua/admin_uploads/article/Strategy_for_easing_FX_restrictions_07-07-2023.pdf?v=19" TargetMode="External"/><Relationship Id="rId22" Type="http://schemas.openxmlformats.org/officeDocument/2006/relationships/hyperlink" Target="https://bank.gov.ua/ua/news/all/nbu-vprovadjuye-paket-pomyakshennya-valyutnih-obmejen-z-osnovnim-fokusom-na-pidtrimtsi-naselennya" TargetMode="External"/><Relationship Id="rId23" Type="http://schemas.openxmlformats.org/officeDocument/2006/relationships/hyperlink" Target="https://bank.gov.ua/ua/news/all/rada-mvf-shvalila-pershiy-pereglyad-programi-rozshirenogo-finansuvannya-ta-zatverdila-vidilennya-transhu-obsyagom-690-mln-dol-ssha" TargetMode="External"/><Relationship Id="rId24" Type="http://schemas.openxmlformats.org/officeDocument/2006/relationships/hyperlink" Target="https://events.bank.gov.ua/uchallenge2026/files/nbu_challenge_model_2026.zip" TargetMode="External"/><Relationship Id="rId25" Type="http://schemas.openxmlformats.org/officeDocument/2006/relationships/slideLayout" Target="../slideLayouts/slideLayout6.xml"/><Relationship Id="rId26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щодо монетарної політики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7033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Рішення Правління НБУ 29 жовтня 2026 року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463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Команда [назва]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[Університет, факультет]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NBU University Challenge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Головне: помірне посилення ставки, гнучкіший курс, пауза в лібералізації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endParaRPr lang="en-US" sz="900" dirty="0"/>
          </a:p>
        </p:txBody>
      </p:sp>
      <p:sp>
        <p:nvSpPr>
          <p:cNvPr id="5" name="card1"/>
          <p:cNvSpPr/>
          <p:nvPr/>
        </p:nvSpPr>
        <p:spPr>
          <a:xfrm>
            <a:off x="457200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ОБЛІКОВА СТАВКА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16,5%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+0,5 в. п.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утримувати щонайменше до середини 2027; далі — зниження, що повертає інфляцію до 5% у 2029</a:t>
            </a:r>
            <a:endParaRPr lang="en-US" sz="1300" dirty="0"/>
          </a:p>
        </p:txBody>
      </p:sp>
      <p:sp>
        <p:nvSpPr>
          <p:cNvPr id="9" name="card2"/>
          <p:cNvSpPr/>
          <p:nvPr/>
        </p:nvSpPr>
        <p:spPr>
          <a:xfrm>
            <a:off x="4307738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36338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КУРС ГРИВНІ ДО ЄВРО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36338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 4%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на рік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4536338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допускати поступове послаблення; за ставки 16,5% фактичне — ≈1% на рік; інтервенції лише згладжують коливання</a:t>
            </a:r>
            <a:endParaRPr lang="en-US" sz="1300" dirty="0"/>
          </a:p>
        </p:txBody>
      </p:sp>
      <p:sp>
        <p:nvSpPr>
          <p:cNvPr id="13" name="card3"/>
          <p:cNvSpPr/>
          <p:nvPr/>
        </p:nvSpPr>
        <p:spPr>
          <a:xfrm>
            <a:off x="8158277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386877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ВАЛЮТНІ ОБМЕЖЕННЯ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386877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Пауза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етап III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8386877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серпневий пакет зберегти; нові кроки — після відновлення резервів і допомоги</a:t>
            </a:r>
            <a:endParaRPr lang="en-US" sz="13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9476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96364"/>
                <a:gridCol w="1996364"/>
                <a:gridCol w="1996364"/>
                <a:gridCol w="199636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ІСЦ, % р/р*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8,7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6,7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4,4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Базова інфляція, % р/р*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5,7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3,1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Реальний ВВП, % (рік)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3,1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Облікова ставка, %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15,5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10,4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Курс, грн/€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51,6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51,9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52,6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53,6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457200" y="6281928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* Середнє за квартал (SA); грудень 2026 — 9,9% (наукаст). Ціль НБУ — 5% на горизонті до 3 років; повернення до цілі — III кв. 2029. Дані на 07.10.2026.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Огляд економіки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Інфляція прискорюється, резерви тануть, економіка сповільнюється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Зовнішнє середовище стало проінфляційним: нафта ≈$100, ЄЦБ підвищує ставку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www.ecb.europa.eu/press/projections/html/index.en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прогноз ЄЦБ (вересень 2026)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b.nomics.world/EIA/PET/RBRTE.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EIA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extern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49" y="1325880"/>
            <a:ext cx="10406798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Війна на Близькому Сході (з 28.02.2026): Brent — пік $117 у квітні, $102 у вересні (НБУ закладав $80–85); ф'ючерси — $83 наприкінці 2027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ЄЦБ підвищив ставку до 2,5% (червень, вересень); ринок закладає ще ≈+0,5 в. п. до кінця 2027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Інфляція в єврозоні — пік ≈3,7% наприкінці 2026 (прогноз ЄЦБ: 3,0% / 2,5% / 2,1% у 2026–2028)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прискорилася до 8,1%: пальне й тарифи, базова — стабільно висока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komentar-natsionalnogo-banku-schodo-rivnya-inflyatsiyi-v-serpn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інфляція в серпні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infla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770" y="1325880"/>
            <a:ext cx="10436154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Пальне +38,7% р/р, адмінрегульовані ціни +13,0% (вода, проїзд) — головні рушії серпня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Базова інфляція 8,1% три місяці поспіль: послуги +13,4% (зарплати, оренда, логістика)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Стримує: сирі продукти +1,0% — блокада Чорного моря тримає зерно й овочі на внутрішньому ринку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Очікування підвищені, реальна ставка ≈7% — гривневі активи поки привабливі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rat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15284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Очікування домогосподарств 10–14% — вище фактичної інфляції; аналітики підвищили до 7,9%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Реальна облікова ставка ≈7 в. п. (ex post); депозитні ставки реагують із лагом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Липневе й вересневе підвищення підтримали попит на гривневі депозити та ОВДП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Економіка сповільнюється: ВВП III кв. гірший за прогноз, зарплати +25%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komentar-natsionalnogo-banku-schodo-zmini-realnogo-vvp-u-ii-kvartal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ВВП II кв.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activ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362322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ВВП II кв.: +0,3% кв/кв, +0,4% р/р; у III кв. — «суттєво гірше прогнозу НБУ» (КМП)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Атаки на енергетику, логістику та порти; внесок обстрілів у ВВП-2026 — −0,9 в. п. (НБУ)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Дефіцит кадрів: номінальні зарплати +25% р/р у червні, реальні +17% — тиск на ціни послуг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НБУ продає ≈$5,0 млрд на місяць — резерви впали до $47,1 млрд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natsionalniy-bank-ukrayini-pidvischiv-oblikovu-stavku-do-1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рішення НБУ 17.09.2026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f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11277295" cy="3327036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Чистий продаж валюти НБУ: $4,8 млрд у серпні, $5,5 млрд у вересні — рекорд року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Резерви: $51,2 млрд (липень) → $47,1 млрд (вересень) проти $53,8 млрд у прогнозі НБУ на кінець III кв.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 стабільний (≈51,5 грн/€, ≈44,7 грн/$) — ціною резервів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Бюджет залежить від допомоги: $87 млрд у 2026, але надходження затримуються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rada-mvf-shvalila-pershiy-pereglyad-programi-rozshirenogo-finansuvannya-ta-zatverdila-vidilennya-transhu-obsyagom-690-mln-dol-ssh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Рада МВФ: перегляд програми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fisc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042" y="1325880"/>
            <a:ext cx="10945611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Дефіцит без грантів ≈35% ВВП у 2026; оборонна складова USL — $33,2 млрд (2026) і $16,7 млрд (2027)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Липень–серпень: менше офіційного фінансування → стриманіші видатки, падіння резервів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Частина допомоги прив'язана до ухвалення законів — ризик подальших затримок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Макроекономічний прогноз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QPM НБУ на Python + короткостроковий прогноз + судження + сценарії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Модель: QPM НБУ з нашим розширенням — у Python і MATLAB/IRIS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ata.ecb.europa.eu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ЄЦБ Data Portal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endParaRPr lang="en-US" sz="900" dirty="0"/>
          </a:p>
        </p:txBody>
      </p:sp>
      <p:sp>
        <p:nvSpPr>
          <p:cNvPr id="5" name="step1"/>
          <p:cNvSpPr/>
          <p:nvPr/>
        </p:nvSpPr>
        <p:spPr>
          <a:xfrm>
            <a:off x="457200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Дані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API НБУ, Держстат, ЄЦБ, Eurostat, Brent; оновлення одним скриптом</a:t>
            </a:r>
            <a:endParaRPr lang="en-US" sz="1300" dirty="0"/>
          </a:p>
        </p:txBody>
      </p:sp>
      <p:sp>
        <p:nvSpPr>
          <p:cNvPr id="8" name="arrow1"/>
          <p:cNvSpPr/>
          <p:nvPr/>
        </p:nvSpPr>
        <p:spPr>
          <a:xfrm>
            <a:off x="3041066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9" name="step2"/>
          <p:cNvSpPr/>
          <p:nvPr/>
        </p:nvSpPr>
        <p:spPr>
          <a:xfrm>
            <a:off x="3379394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562274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Фільтр Калмана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3562274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розриви й тренди: ВВП, реальний курс, нейтральна ставка</a:t>
            </a:r>
            <a:endParaRPr lang="en-US" sz="1300" dirty="0"/>
          </a:p>
        </p:txBody>
      </p:sp>
      <p:sp>
        <p:nvSpPr>
          <p:cNvPr id="12" name="arrow2"/>
          <p:cNvSpPr/>
          <p:nvPr/>
        </p:nvSpPr>
        <p:spPr>
          <a:xfrm>
            <a:off x="5963260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3" name="step3"/>
          <p:cNvSpPr/>
          <p:nvPr/>
        </p:nvSpPr>
        <p:spPr>
          <a:xfrm>
            <a:off x="6301588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84468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Прогноз із планом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484468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наукаст ІСЦ, судження з джерелами, ф'ючерси на нафту, прогноз ЄЦБ</a:t>
            </a:r>
            <a:endParaRPr lang="en-US" sz="1300" dirty="0"/>
          </a:p>
        </p:txBody>
      </p:sp>
      <p:sp>
        <p:nvSpPr>
          <p:cNvPr id="16" name="arrow3"/>
          <p:cNvSpPr/>
          <p:nvPr/>
        </p:nvSpPr>
        <p:spPr>
          <a:xfrm>
            <a:off x="8885453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7" name="step4"/>
          <p:cNvSpPr/>
          <p:nvPr/>
        </p:nvSpPr>
        <p:spPr>
          <a:xfrm>
            <a:off x="9223781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406661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Політика й ризики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9406661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сценарії, віяло, оптимальна ставка; перевірка в MATLAB/IRIS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1e−13</a:t>
            </a:r>
            <a:endParaRPr lang="en-US" sz="34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похибка розв'язку рівнянь моделі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307738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~1e−5</a:t>
            </a:r>
            <a:endParaRPr lang="en-US" sz="3400" dirty="0"/>
          </a:p>
        </p:txBody>
      </p:sp>
      <p:sp>
        <p:nvSpPr>
          <p:cNvPr id="23" name="Text 20"/>
          <p:cNvSpPr txBox="1"/>
          <p:nvPr/>
        </p:nvSpPr>
        <p:spPr>
          <a:xfrm>
            <a:off x="4307738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розбіжність Python і MATLAB/IRIS: фільтр і всі 5 сценаріїв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158277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0,3–1,3 в. п.</a:t>
            </a:r>
            <a:endParaRPr lang="en-US" sz="3400" dirty="0"/>
          </a:p>
        </p:txBody>
      </p:sp>
      <p:sp>
        <p:nvSpPr>
          <p:cNvPr id="25" name="Text 22"/>
          <p:cNvSpPr txBox="1"/>
          <p:nvPr/>
        </p:nvSpPr>
        <p:spPr>
          <a:xfrm>
            <a:off x="8158277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помилка прогнозу ІСЦ на рік уперед (наївний: 1,3–5,3)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4983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Що ми додали до шаблону НБУ</a:t>
            </a:r>
            <a:endParaRPr lang="en-US" sz="1300" dirty="0"/>
          </a:p>
        </p:txBody>
      </p:sp>
      <p:sp>
        <p:nvSpPr>
          <p:cNvPr id="27" name="chip1"/>
          <p:cNvSpPr/>
          <p:nvPr/>
        </p:nvSpPr>
        <p:spPr>
          <a:xfrm>
            <a:off x="457200" y="5349240"/>
            <a:ext cx="238658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57200" y="5349240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Базова + небазова інфляція</a:t>
            </a:r>
            <a:endParaRPr lang="en-US" sz="1200" dirty="0"/>
          </a:p>
        </p:txBody>
      </p:sp>
      <p:sp>
        <p:nvSpPr>
          <p:cNvPr id="29" name="chip2"/>
          <p:cNvSpPr/>
          <p:nvPr/>
        </p:nvSpPr>
        <p:spPr>
          <a:xfrm>
            <a:off x="2980944" y="53492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980944" y="53492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Канал нафти Brent</a:t>
            </a:r>
            <a:endParaRPr lang="en-US" sz="1200" dirty="0"/>
          </a:p>
        </p:txBody>
      </p:sp>
      <p:sp>
        <p:nvSpPr>
          <p:cNvPr id="31" name="chip3"/>
          <p:cNvSpPr/>
          <p:nvPr/>
        </p:nvSpPr>
        <p:spPr>
          <a:xfrm>
            <a:off x="4805172" y="5349240"/>
            <a:ext cx="122072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805172" y="5349240"/>
            <a:ext cx="122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Наукаст ІСЦ</a:t>
            </a:r>
            <a:endParaRPr lang="en-US" sz="1200" dirty="0"/>
          </a:p>
        </p:txBody>
      </p:sp>
      <p:sp>
        <p:nvSpPr>
          <p:cNvPr id="33" name="chip4"/>
          <p:cNvSpPr/>
          <p:nvPr/>
        </p:nvSpPr>
        <p:spPr>
          <a:xfrm>
            <a:off x="6163056" y="534924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163056" y="5349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Судження з джерелами</a:t>
            </a:r>
            <a:endParaRPr lang="en-US" sz="1200" dirty="0"/>
          </a:p>
        </p:txBody>
      </p:sp>
      <p:sp>
        <p:nvSpPr>
          <p:cNvPr id="35" name="chip5"/>
          <p:cNvSpPr/>
          <p:nvPr/>
        </p:nvSpPr>
        <p:spPr>
          <a:xfrm>
            <a:off x="8220456" y="5349240"/>
            <a:ext cx="153162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220456" y="5349240"/>
            <a:ext cx="15316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Віялові графіки</a:t>
            </a:r>
            <a:endParaRPr lang="en-US" sz="1200" dirty="0"/>
          </a:p>
        </p:txBody>
      </p:sp>
      <p:sp>
        <p:nvSpPr>
          <p:cNvPr id="37" name="chip6"/>
          <p:cNvSpPr/>
          <p:nvPr/>
        </p:nvSpPr>
        <p:spPr>
          <a:xfrm>
            <a:off x="9889236" y="53492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889236" y="53492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Оптимальна ставка</a:t>
            </a:r>
            <a:endParaRPr lang="en-US" sz="1200" dirty="0"/>
          </a:p>
        </p:txBody>
      </p:sp>
      <p:sp>
        <p:nvSpPr>
          <p:cNvPr id="39" name="chip7"/>
          <p:cNvSpPr/>
          <p:nvPr/>
        </p:nvSpPr>
        <p:spPr>
          <a:xfrm>
            <a:off x="457200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57200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Бектест</a:t>
            </a:r>
            <a:endParaRPr lang="en-US" sz="1200" dirty="0"/>
          </a:p>
        </p:txBody>
      </p:sp>
      <p:sp>
        <p:nvSpPr>
          <p:cNvPr id="41" name="chip8"/>
          <p:cNvSpPr/>
          <p:nvPr/>
        </p:nvSpPr>
        <p:spPr>
          <a:xfrm>
            <a:off x="1504188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504188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Резерви</a:t>
            </a:r>
            <a:endParaRPr lang="en-US" sz="1200" dirty="0"/>
          </a:p>
        </p:txBody>
      </p:sp>
      <p:sp>
        <p:nvSpPr>
          <p:cNvPr id="43" name="chip9"/>
          <p:cNvSpPr/>
          <p:nvPr/>
        </p:nvSpPr>
        <p:spPr>
          <a:xfrm>
            <a:off x="2551176" y="5806440"/>
            <a:ext cx="122072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551176" y="5806440"/>
            <a:ext cx="122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MATLAB/IRIS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Наше розширення QPM: нафта змінює небазові ціни, ставка реагує лише на вторинні ефекти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files/macro/CCPI_m.xlsx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базовий ІСЦ (НБУ)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db.nomics.world/EIA/PET/RBRTE.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EIA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ml_irf_oi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158013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ІСЦ = базова інфляція + зміна відносних цін небазових товарів; крива Філіпса НБУ описує базову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Brent +20% → ІСЦ +0,3 в. п. упродовж року, ставка +0,2 в. п.; базова інфляція не прискорюється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 вагою нафти 0 модель точно збігається з шаблоном НБУ — перевірено тестами і в MATLAB/IRIS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Припущення та судження базового сценарію — кожне з джерелом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graphicFrame>
        <p:nvGraphicFramePr>
          <p:cNvPr id="1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858000"/>
                <a:gridCol w="222199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Чинник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Що закладено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Інфляція IV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Наукаст: тренд 0,65%/міс + сезонність − 0,1 в. п. (продовольство) → грудень 9,9%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4" invalidUrl="" action="" tgtFrame="" tooltip="https://bank.gov.ua/ua/open-data/api-dev" history="1" highlightClick="0" endSnd="0"/>
                        </a:rPr>
                        <a:t>Держстат, API НБУ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ВВП III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−0,3% кв/кв SA (КМП: «суттєво гірше прогнозу»)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5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Підсумки КМП 28.09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Шок витрат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Вторинні ефекти атак на енергетику, логістику й виробництво в опалювальний 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6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Підсумки дискусії КМП, 28.09.2026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Адмінціни та акцизи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Тарифи після мораторію, наближення акцизів до мінімумів ЄС — загальна інфляція вища за базову на ≈1,7 в. п. на рік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7" invalidUrl="" action="" tgtFrame="" tooltip="https://bank.gov.ua/admin_uploads/article/Macroeconomic_Forecast_table_2026_07.xlsx?v=19" history="1" highlightClick="0" endSnd="0"/>
                        </a:rPr>
                        <a:t>НБУ, макропрогноз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Бюджетний імпульс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Локалізація оборонного виробництва коштом Ukraine Support Loan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8" invalidUrl="" action="" tgtFrame="" tooltip="https://bank.gov.ua/ua/news/all/inflyatsiya-prishvidshitsya-u-drugomu-pivrichchi-ale-povernetsya-do-znijennya-nastupnogo-roku--inflyatsiyniy-zvit" history="1" highlightClick="0" endSnd="0"/>
                        </a:rPr>
                        <a:t>НБУ, Інфляційний звіт і макропрогноз,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Премія за ризик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Затримки офіційного фінансування в липні–вересні; резерви знизилися до $47,1 млрд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9" invalidUrl="" action="" tgtFrame="" tooltip="https://bank.gov.ua/ua/news/all/natsionalniy-bank-ukrayini-pidvischiv-oblikovu-stavku-do-16" history="1" highlightClick="0" endSnd="0"/>
                        </a:rPr>
                        <a:t>Рішення НБУ 17.09.2026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Потенційний ВВП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Вищий потенціал: інвестиції в потужності ОПК і, за припущенням НБУ, чисте повернення мігрантів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0" invalidUrl="" action="" tgtFrame="" tooltip="https://bank.gov.ua/admin_uploads/article/Macroeconomic_Forecast_table_2026_07.xlsx?v=19" history="1" highlightClick="0" endSnd="0"/>
                        </a:rPr>
                        <a:t>НБУ, припущення макропрогнозу,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 гривні до 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Допустиме послаблення (цільовий темп): 4% у 2027, 3% у 2028; фактичний курс — з моделі (≈1% на рік)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1" invalidUrl="" action="" tgtFrame="" tooltip="https://bank.gov.ua/admin_uploads/article/Macroeconomic_Forecast_table_2026_07.xlsx?v=19" history="1" highlightClick="0" endSnd="0"/>
                        </a:rPr>
                        <a:t>Макропрогноз НБУ (EUR/USD)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Ф'ючерсна крива: $101 (IV кв. 2026) → $83 (кінець 2027) → $76 (кінець 2028)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2" invalidUrl="" action="" tgtFrame="" tooltip="https://db.nomics.world/EIA/PET/RBRTE.M" history="1" highlightClick="0" endSnd="0"/>
                        </a:rPr>
                        <a:t>EIA Brent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, </a:t>
                      </a:r>
                      <a:pPr algn="l" indent="0" marL="0">
                        <a:buNone/>
                      </a:pPr>
                      <a:r>
                        <a:rPr lang="en-US" sz="1200" u="sng" dirty="0">
                          <a:hlinkClick r:id="rId13" invalidUrl="" action="" tgtFrame="" tooltip="https://finance.yahoo.com/quote/BZ%3DF/" history="1" highlightClick="0" endSnd="0"/>
                        </a:rPr>
                        <a:t>NYMEX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HICP 3,0 / 2,5 / 2,1%, ВВП 0,9 / 1,4 / 1,5%, ставка ЄЦБ до 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4" invalidUrl="" action="" tgtFrame="" tooltip="https://www.ecb.europa.eu/press/projections/html/index.en.html" history="1" highlightClick="0" endSnd="0"/>
                        </a:rPr>
                        <a:t>ЄЦБ, вер.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Короткостроковий прогноз: інфляція зросте до ≈9,9% у грудні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komentar-natsionalnogo-banku-schodo-rivnya-inflyatsiyi-v-serpn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інфляція в серпні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nowca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6309360" cy="3406958"/>
          </a:xfrm>
          <a:prstGeom prst="rect">
            <a:avLst/>
          </a:prstGeom>
        </p:spPr>
      </p:pic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325880"/>
          <a:ext cx="4647895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685800"/>
                <a:gridCol w="731520"/>
                <a:gridCol w="960120"/>
                <a:gridCol w="640080"/>
                <a:gridCol w="60350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Місяць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Тренд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Поправка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м/м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2026-09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−0,01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0,55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086600" y="3383280"/>
            <a:ext cx="46478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Ефект бази: у вересні–грудні 2025 ціни зросли лише на 1,8% → річна інфляція механічно зростає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Тренд 0,65% на місяць (з урахуванням сезонності) — це ≈8% у річному вимірі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Наш прогноз грудня близький до НБУ (10%): тиск пального компенсує дешевше продовольство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досягне піку на початку 2027 і повернеться до цілі 5% у 2029 — у межах горизонту політики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f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245" y="1325880"/>
            <a:ext cx="9945206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Пік ≈8,9% у I кв. 2027; 6,7% наприкінці 2027 (НБУ: 6,9%); у 2028 — тимчасово ≈4,3% (дешевша нафта); 5% — з III кв. 2029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Ставка: 16,5% до середини 2027 → 15,5% наприкінці 2027 → 10,4% — 2028 → 8,9% — 2029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Невизначеність велика: з імовірністю 70% інфляція наприкінці 2027 — від 2,4 до 11,0%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Базова інфляція в 2027 стійкіша, ніж у НБУ: 5,7% наприкінці року проти 5,1%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files/macro/CCPI_m.xlsx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базовий ІСЦ (НБУ)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co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7040880" cy="3881792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Зарплати +25%, дорожчі послуги, наслідки атак — базова інфляція знижується повільніше, ніж очікує НБУ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Загальна: 6,7% наприкінці 2027 (НБУ 6,9%) — тарифи й акцизи додають ≈1,7 в. п. на рік, дешевша нафта (ф'ючерси) — віднімає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2028: базова 3,1% (НБУ 3,3%) — слабкий попит → простір для зниження ставки з II пів.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Висновок: превентивне підвищення зараз, швидше пом'якшення пізніше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Ми бачимо слабший попит, ніж НБУ: розрив ВВП у 2027 ≈0,3% проти 1,4%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komentar-natsionalnogo-banku-schodo-zmini-realnogo-vvp-u-ii-kvartal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ВВП II кв.</a:t>
            </a:r>
            <a:endParaRPr lang="en-US" sz="900" dirty="0"/>
          </a:p>
        </p:txBody>
      </p:sp>
      <p:pic>
        <p:nvPicPr>
          <p:cNvPr id="5" name="chart main" descr="C:\Users\Lenovo\Documents\GitHub\nbu-challenge-2026\results\figures\fc_gap_vs_nb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4971531" cy="2740914"/>
          </a:xfrm>
          <a:prstGeom prst="rect">
            <a:avLst/>
          </a:prstGeom>
        </p:spPr>
      </p:pic>
      <p:pic>
        <p:nvPicPr>
          <p:cNvPr id="6" name="chart side" descr="C:\Users\Lenovo\Documents\GitHub\nbu-challenge-2026\results\figures\fc_trend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203954"/>
            <a:ext cx="6241248" cy="2105406"/>
          </a:xfrm>
          <a:prstGeom prst="rect">
            <a:avLst/>
          </a:prstGeom>
        </p:spPr>
      </p:pic>
      <p:sp>
        <p:nvSpPr>
          <p:cNvPr id="7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ВВП: 0,0% / 1,0% / 0,9% у 2026–2028 (НБУ: 1,8 / 2,8 / 3,0%)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Причини: слабкий III кв., атаки на логістику, блокада портів, дефіцит кадрів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Реальна ставка (≈7–8%) вища за нейтральну (≈6%) — політика вже стримувальна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Ставка має лишатися високою, доки прогноз інфляції вищий за ціль на 3–4 в. п.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rate_driv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2947885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Головний чинник — прогноз інфляції на 3 квартали вперед вище цілі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Розрив ВВП майже не тисне на ставку — це не «перегрів попиту», а шоки витрат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 другого півріччя 2027 внесок інфляції зменшується → простір для зниження ставки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Сценарії: найнебезпечніший — дефіцит фінансування, а не зима чи нафта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ml_scenario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6038" y="1280160"/>
            <a:ext cx="8719619" cy="2606040"/>
          </a:xfrm>
          <a:prstGeom prst="rect">
            <a:avLst/>
          </a:prstGeom>
        </p:spPr>
      </p:pic>
      <p:graphicFrame>
        <p:nvGraphicFramePr>
          <p:cNvPr id="2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Сценарій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грн/€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Важка зима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Дефіцит фінансування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Сприятливий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Нафта $120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Дефіцит фінансування: гривня на ≈6% слабша (≈55 грн/€) → інфляція до 11%, ставка до ≈19%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Важка зима: інфляція до 10,4%, ставка ≈17,5%, ВВП 2027 — 0,1%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Нафта $120: +0,5 в. п. до піку інфляції, ставка майже не змінюється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Сприятливий: нижча премія за ризик → швидше пом'якшення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Матриця ризиків: баланс зміщений у бік вищої інфляції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37160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Високий</a:t>
            </a:r>
            <a:endParaRPr lang="en-US" sz="1200" dirty="0"/>
          </a:p>
        </p:txBody>
      </p:sp>
      <p:sp>
        <p:nvSpPr>
          <p:cNvPr id="6" name="cell Високий/Слабкий"/>
          <p:cNvSpPr/>
          <p:nvPr/>
        </p:nvSpPr>
        <p:spPr>
          <a:xfrm>
            <a:off x="1316736" y="140817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7" name="cell Високий/Помірний"/>
          <p:cNvSpPr/>
          <p:nvPr/>
        </p:nvSpPr>
        <p:spPr>
          <a:xfrm>
            <a:off x="4801514" y="140817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929530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Тривала нафта ≈$100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Блокада портів: дешевше продовольство</a:t>
            </a:r>
            <a:endParaRPr lang="en-US" sz="1300" dirty="0"/>
          </a:p>
        </p:txBody>
      </p:sp>
      <p:sp>
        <p:nvSpPr>
          <p:cNvPr id="9" name="cell Високий/Сильний"/>
          <p:cNvSpPr/>
          <p:nvPr/>
        </p:nvSpPr>
        <p:spPr>
          <a:xfrm>
            <a:off x="8286293" y="1408176"/>
            <a:ext cx="3411626" cy="1405128"/>
          </a:xfrm>
          <a:prstGeom prst="rect">
            <a:avLst/>
          </a:prstGeom>
          <a:solidFill>
            <a:srgbClr val="A3C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14309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Атаки на енергетику взимку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Затримки допомоги, резерви &lt; $45 млрд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284988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Середній</a:t>
            </a:r>
            <a:endParaRPr lang="en-US" sz="1200" dirty="0"/>
          </a:p>
        </p:txBody>
      </p:sp>
      <p:sp>
        <p:nvSpPr>
          <p:cNvPr id="12" name="cell Середній/Слабкий"/>
          <p:cNvSpPr/>
          <p:nvPr/>
        </p:nvSpPr>
        <p:spPr>
          <a:xfrm>
            <a:off x="1316736" y="288645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444752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Зміцнення євро — дешевший імпорт з ЄС</a:t>
            </a:r>
            <a:endParaRPr lang="en-US" sz="1300" dirty="0"/>
          </a:p>
        </p:txBody>
      </p:sp>
      <p:sp>
        <p:nvSpPr>
          <p:cNvPr id="14" name="cell Середній/Помірний"/>
          <p:cNvSpPr/>
          <p:nvPr/>
        </p:nvSpPr>
        <p:spPr>
          <a:xfrm>
            <a:off x="4801514" y="288645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929530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Підвищення ПДВ / акцизів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Охолодження попиту від обстрілів</a:t>
            </a:r>
            <a:endParaRPr lang="en-US" sz="1300" dirty="0"/>
          </a:p>
        </p:txBody>
      </p:sp>
      <p:sp>
        <p:nvSpPr>
          <p:cNvPr id="16" name="cell Середній/Сильний"/>
          <p:cNvSpPr/>
          <p:nvPr/>
        </p:nvSpPr>
        <p:spPr>
          <a:xfrm>
            <a:off x="8286293" y="288645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414309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Розбалансування очікувань домогосподарств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Зарплатна спіраль (дефіцит кадрів)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32816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Низький</a:t>
            </a:r>
            <a:endParaRPr lang="en-US" sz="1200" dirty="0"/>
          </a:p>
        </p:txBody>
      </p:sp>
      <p:sp>
        <p:nvSpPr>
          <p:cNvPr id="19" name="cell Низький/Слабкий"/>
          <p:cNvSpPr/>
          <p:nvPr/>
        </p:nvSpPr>
        <p:spPr>
          <a:xfrm>
            <a:off x="1316736" y="4364736"/>
            <a:ext cx="3411626" cy="1405128"/>
          </a:xfrm>
          <a:prstGeom prst="rect">
            <a:avLst/>
          </a:prstGeom>
          <a:solidFill>
            <a:srgbClr val="F4F8F7"/>
          </a:solidFill>
          <a:ln/>
        </p:spPr>
      </p:sp>
      <p:sp>
        <p:nvSpPr>
          <p:cNvPr id="20" name="cell Низький/Помірний"/>
          <p:cNvSpPr/>
          <p:nvPr/>
        </p:nvSpPr>
        <p:spPr>
          <a:xfrm>
            <a:off x="4801514" y="436473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929530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Швидше підвищення ставок ЄЦБ</a:t>
            </a:r>
            <a:endParaRPr lang="en-US" sz="1300" dirty="0"/>
          </a:p>
        </p:txBody>
      </p:sp>
      <p:sp>
        <p:nvSpPr>
          <p:cNvPr id="22" name="cell Низький/Сильний"/>
          <p:cNvSpPr/>
          <p:nvPr/>
        </p:nvSpPr>
        <p:spPr>
          <a:xfrm>
            <a:off x="8286293" y="436473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414309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Перемир'я, повернення мігрантів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Ескалація, прорив фронту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280160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Слабкий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4764938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Помірний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8249717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Сильний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280160" y="609904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Імовірність ↑   ·   Вплив на базовий сценарій →   ·   ▲ вища інфляція   ▼ нижча інфляція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для Правління НБУ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Процентна політика, курс і валютні обмеження — як єдиний пакет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Варіанти рішення 29 жовтня: кожні +0,5 в. п. знижують втрати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polic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9601" y="1280160"/>
            <a:ext cx="8652494" cy="2606040"/>
          </a:xfrm>
          <a:prstGeom prst="rect">
            <a:avLst/>
          </a:prstGeom>
        </p:spPr>
      </p:pic>
      <p:graphicFrame>
        <p:nvGraphicFramePr>
          <p:cNvPr id="2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Рішення (до середини 2027)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Втрати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Знизити до 15,5%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48,7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Утримати 16%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16,5% ★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41,5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Оптимальна (мін. втрат)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35,3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Після утримання — траєкторія, що повертає інфляцію до 5% на горизонті; за чистим правилом у 2029 було б лише 4,3%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Оптимальна ставка зараз: 16,6% без реакції на перший раунд адмінцін (практика ІТ), 16,6–17,1% — залежно від згладжування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Обираємо 16,5%: поступовість за невизначеності; 17% — якщо з'являться вторинні ефекти тарифів і пального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Облікова ставка: підвищити до 16,5% і утримувати до середини 2027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atsionalniy-bank-ukrayini-pidvischiv-oblikovu-stavku-do-1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рішення НБУ 17.09.2026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sp>
        <p:nvSpPr>
          <p:cNvPr id="5" name="decision"/>
          <p:cNvSpPr/>
          <p:nvPr/>
        </p:nvSpPr>
        <p:spPr>
          <a:xfrm>
            <a:off x="457200" y="1325880"/>
            <a:ext cx="3108960" cy="4983480"/>
          </a:xfrm>
          <a:prstGeom prst="roundRect">
            <a:avLst>
              <a:gd name="adj" fmla="val 2941"/>
            </a:avLst>
          </a:prstGeom>
          <a:solidFill>
            <a:srgbClr val="0E3B4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FE3DE"/>
                </a:solidFill>
              </a:rPr>
              <a:t>ОБЛІКОВА СТАВКА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4884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16,5%</a:t>
            </a:r>
            <a:endParaRPr lang="en-US" sz="6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4747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+0,5 в. п. з 30.10.2026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931920" y="132588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підвищити</a:t>
            </a:r>
            <a:endParaRPr lang="en-US" sz="1600" dirty="0"/>
          </a:p>
        </p:txBody>
      </p:sp>
      <p:sp>
        <p:nvSpPr>
          <p:cNvPr id="10" name="bullets"/>
          <p:cNvSpPr txBox="1"/>
          <p:nvPr/>
        </p:nvSpPr>
        <p:spPr>
          <a:xfrm>
            <a:off x="3931920" y="1709928"/>
            <a:ext cx="7802575" cy="1336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Інфляція зросте до ≈10% у грудні; ризики зміщені вгору (нафта, тарифи, зарплати, очікування)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Базова інфляція наприкінці 2027 — 5,7% (НБУ: 5,1%): ринок праці перегрітий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Резерви знижуються: потрібна вища привабливість гривні, щоб зменшити попит на валюту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Ми рекомендуємо гнучкіший курс — ставка має утримати очікування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931920" y="3092335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не більше</a:t>
            </a:r>
            <a:endParaRPr lang="en-US" sz="1600" dirty="0"/>
          </a:p>
        </p:txBody>
      </p:sp>
      <p:sp>
        <p:nvSpPr>
          <p:cNvPr id="12" name="bullets"/>
          <p:cNvSpPr txBox="1"/>
          <p:nvPr/>
        </p:nvSpPr>
        <p:spPr>
          <a:xfrm>
            <a:off x="3931920" y="3476383"/>
            <a:ext cx="7802575" cy="1020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ВВП III кв. скоротився; реальна ставка вже ≈7% — вище нейтральної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Шоки здебільшого пропозиції: реагуємо на вторинні ефекти, а не на перший раунд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Без реакції на перший раунд адмінцін оптимум моделі — 16,6%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4542905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Орієнтири (forward guidance)</a:t>
            </a:r>
            <a:endParaRPr lang="en-US" sz="1600" dirty="0"/>
          </a:p>
        </p:txBody>
      </p:sp>
      <p:sp>
        <p:nvSpPr>
          <p:cNvPr id="14" name="bullets"/>
          <p:cNvSpPr txBox="1"/>
          <p:nvPr/>
        </p:nvSpPr>
        <p:spPr>
          <a:xfrm>
            <a:off x="3931920" y="4926953"/>
            <a:ext cx="7802575" cy="1336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Утримання 16,5% щонайменше до середини 2027; далі зниження до ≈15,5% наприкінці 2027 і ≈10,5% — 2028: інфляція 5% у 2029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Підвищення до 17–19% — якщо резерви &lt; $43 млрд і тиск на курс (сценарій дефіциту фінансування)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Швидше пом'якшення — якщо базова інфляція &lt; 7% і очікування знижуються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Курс і резерви: без допомоги резерви наблизяться до 3 місяців імпорту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rada-mvf-shvalila-pershiy-pereglyad-programi-rozshirenogo-finansuvannya-ta-zatverdila-vidilennya-transhu-obsyagom-690-mln-dol-ssh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Рада МВФ: перегляд програми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reserv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7040880" cy="4808281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Продаж НБУ ≈$5,0 млрд/міс, надходження ≈$3,7 млрд/міс (липень–вересень)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Кінець 2026: $56 / 43 / 38 млрд = 4,6 / 3,6 / 3,1 міс. імпорту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Рекомендація: керована гнучкість — допускати послаблення гривні до € до ≈4% на рік (за ставки 16,5% фактичне — ≈1%), інтервенції лише для згладжування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Курс не фіксувати й не захищати рівень: це прямий шлях до втрати резервів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Валютні обмеження: серпневий пакет зберегти, наступні кроки — на паузу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bu-vprovadjuye-paket-pomyakshennya-valyutnih-obmejen-z-osnovnim-fokusom-na-pidtrimtsi-naselen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пакет пом'якшення валютних обмежень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Strategy_for_easing_FX_restrictions_07-07-2023.pdf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Стратегія пом'якшення валютних обмежень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fx_household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6732760" cy="4983480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Після підвищення ліміту (50 → 200 тис. грн/міс) купівля валюти населенням зросла з $0,39 до $0,58 млрд/міс (+49%) — керовано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Стратегія НБУ: кроки — за передумовами (резерви, очікування, реальна ставка), а не за календарем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Пауза для III етапу (капітальні операції, операції населення) до: резерви ≥ $50 млрд (≈4 міс. імпорту), ритмічна допомога, стабільні очікування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Продовжити стимулюючу лібералізацію (нові інвестиції, «додатковий» ліміт) — вона залучає валюту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Нові обмеження не запроваджувати: вони не замінюють макрокоригування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Комунікація: «ставка — якір, курс — амортизатор»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atsionalniy-bank-ukrayini-pidvischiv-oblikovu-stavku-do-1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рішення НБУ 17.09.2026</a:t>
            </a:r>
            <a:endParaRPr lang="en-US" sz="900" dirty="0"/>
          </a:p>
        </p:txBody>
      </p:sp>
      <p:sp>
        <p:nvSpPr>
          <p:cNvPr id="5" name="press release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98A00"/>
            </a:solidFill>
          </a:ln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Проєкт пресрелізу: «Правління НБУ ухвалило рішення підвищити облікову ставку до 16,5% з огляду на прискорення інфляції, зміщення ризиків угору та зниження міжнародних резервів. НБУ утримуватиме ставку щонайменше до середини 2027 року та допускатиме більшу гнучкість курсу, згладжуючи надмірні коливання».</a:t>
            </a:r>
            <a:endParaRPr lang="en-US" sz="1400" dirty="0"/>
          </a:p>
        </p:txBody>
      </p:sp>
      <p:sp>
        <p:nvSpPr>
          <p:cNvPr id="6" name="card1"/>
          <p:cNvSpPr/>
          <p:nvPr/>
        </p:nvSpPr>
        <p:spPr>
          <a:xfrm>
            <a:off x="457200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7" name="badge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меседжі</a:t>
            </a:r>
            <a:endParaRPr lang="en-US" sz="1700" dirty="0"/>
          </a:p>
        </p:txBody>
      </p:sp>
      <p:sp>
        <p:nvSpPr>
          <p:cNvPr id="10" name="bullets"/>
          <p:cNvSpPr txBox="1"/>
          <p:nvPr/>
        </p:nvSpPr>
        <p:spPr>
          <a:xfrm>
            <a:off x="731520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НБУ підвищує ставку превентивно, щоб інфляція повернулася до 5% у 2029 році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Гнучкий курс захищає резерви; НБУ згладжує, але не фіксує курс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Гривневі депозити й ОВДП залишаються вигіднішими за валюту з урахуванням інфляції</a:t>
            </a:r>
            <a:endParaRPr lang="en-US" sz="1400" dirty="0"/>
          </a:p>
        </p:txBody>
      </p:sp>
      <p:sp>
        <p:nvSpPr>
          <p:cNvPr id="11" name="card2"/>
          <p:cNvSpPr/>
          <p:nvPr/>
        </p:nvSpPr>
        <p:spPr>
          <a:xfrm>
            <a:off x="4307738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2" name="badge2"/>
          <p:cNvSpPr/>
          <p:nvPr/>
        </p:nvSpPr>
        <p:spPr>
          <a:xfrm>
            <a:off x="4536338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3633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130698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 для ринку</a:t>
            </a:r>
            <a:endParaRPr lang="en-US" sz="1700" dirty="0"/>
          </a:p>
        </p:txBody>
      </p:sp>
      <p:sp>
        <p:nvSpPr>
          <p:cNvPr id="15" name="bullets"/>
          <p:cNvSpPr txBox="1"/>
          <p:nvPr/>
        </p:nvSpPr>
        <p:spPr>
          <a:xfrm>
            <a:off x="4582058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Утримання 16,5% щонайменше до середини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Пом'якшення — з другого півріччя 2027, якщо інфляція й очікування знижуватимуться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Готовність до додаткових заходів, якщо резерви й курс опиняться під тиском</a:t>
            </a:r>
            <a:endParaRPr lang="en-US" sz="1400" dirty="0"/>
          </a:p>
        </p:txBody>
      </p:sp>
      <p:sp>
        <p:nvSpPr>
          <p:cNvPr id="16" name="card3"/>
          <p:cNvSpPr/>
          <p:nvPr/>
        </p:nvSpPr>
        <p:spPr>
          <a:xfrm>
            <a:off x="8158277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7" name="badge3"/>
          <p:cNvSpPr/>
          <p:nvPr/>
        </p:nvSpPr>
        <p:spPr>
          <a:xfrm>
            <a:off x="8386877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386877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981237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Чого уникати</a:t>
            </a:r>
            <a:endParaRPr lang="en-US" sz="1700" dirty="0"/>
          </a:p>
        </p:txBody>
      </p:sp>
      <p:sp>
        <p:nvSpPr>
          <p:cNvPr id="20" name="bullets"/>
          <p:cNvSpPr txBox="1"/>
          <p:nvPr/>
        </p:nvSpPr>
        <p:spPr>
          <a:xfrm>
            <a:off x="8432597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Обіцянок конкретного курсу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Сигналів про швидке зниження ставки до стабілізації допомоги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Підсумок</a:t>
            </a:r>
            <a:endParaRPr lang="en-US" sz="3600" dirty="0"/>
          </a:p>
        </p:txBody>
      </p:sp>
      <p:sp>
        <p:nvSpPr>
          <p:cNvPr id="3" name="n1"/>
          <p:cNvSpPr/>
          <p:nvPr/>
        </p:nvSpPr>
        <p:spPr>
          <a:xfrm>
            <a:off x="731520" y="178308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7099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Підвищити облікову ставку до 16,5% та утримувати щонайменше до середини 2027</a:t>
            </a:r>
            <a:endParaRPr lang="en-US" sz="2000" dirty="0"/>
          </a:p>
        </p:txBody>
      </p:sp>
      <p:sp>
        <p:nvSpPr>
          <p:cNvPr id="6" name="n2"/>
          <p:cNvSpPr/>
          <p:nvPr/>
        </p:nvSpPr>
        <p:spPr>
          <a:xfrm>
            <a:off x="731520" y="283464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834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76148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Керована гнучкість курсу: поступове послаблення гривні замість витрачання резервів</a:t>
            </a:r>
            <a:endParaRPr lang="en-US" sz="2000" dirty="0"/>
          </a:p>
        </p:txBody>
      </p:sp>
      <p:sp>
        <p:nvSpPr>
          <p:cNvPr id="9" name="n3"/>
          <p:cNvSpPr/>
          <p:nvPr/>
        </p:nvSpPr>
        <p:spPr>
          <a:xfrm>
            <a:off x="731520" y="388620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886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81304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Пауза в лібералізації валютних обмежень до відновлення резервів і допомоги</a:t>
            </a:r>
            <a:endParaRPr lang="en-US" sz="2000" dirty="0"/>
          </a:p>
        </p:txBody>
      </p:sp>
      <p:sp>
        <p:nvSpPr>
          <p:cNvPr id="12" name="n4"/>
          <p:cNvSpPr/>
          <p:nvPr/>
        </p:nvSpPr>
        <p:spPr>
          <a:xfrm>
            <a:off x="731520" y="493776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864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Базовий прогноз: інфляція ≈9,9% у грудні 2026, 6,7% наприкінці 2027, ціль 5% — III кв. 2029</a:t>
            </a:r>
            <a:endParaRPr lang="en-US" sz="20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Додатки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1. Модель: QPM НБУ + розширення команди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ata.ecb.europa.eu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ЄЦБ Data Portal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endParaRPr lang="en-US" sz="900" dirty="0"/>
          </a:p>
        </p:txBody>
      </p:sp>
      <p:sp>
        <p:nvSpPr>
          <p:cNvPr id="5" name="eq1"/>
          <p:cNvSpPr/>
          <p:nvPr/>
        </p:nvSpPr>
        <p:spPr>
          <a:xfrm>
            <a:off x="457200" y="132588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32588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Попит (розрив ВВП)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749040" y="132588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ŷₜ = 0,7·ŷₜ₋₁ − 0,4·MCIₜ + 0,3·ŷ*ₜ + εʸ;   MCI = −0,5·z̃ + 0,3·r̃ + 0,2·prem̃</a:t>
            </a:r>
            <a:endParaRPr lang="en-US" sz="1600" dirty="0"/>
          </a:p>
        </p:txBody>
      </p:sp>
      <p:sp>
        <p:nvSpPr>
          <p:cNvPr id="8" name="eq2"/>
          <p:cNvSpPr/>
          <p:nvPr/>
        </p:nvSpPr>
        <p:spPr>
          <a:xfrm>
            <a:off x="457200" y="219456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19456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Базова інфляція (Філіпс)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749040" y="219456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πᶜₜ = 0,4·πᶜₜ₋₁ + 0,6·Eₜπᶜₜ₊₁ + 0,3·rmcₜ + εᶜ;   rmc = 0,6·ŷ + 0,4·z̃,  z = s − pᶜ + p*</a:t>
            </a:r>
            <a:endParaRPr lang="en-US" sz="1600" dirty="0"/>
          </a:p>
        </p:txBody>
      </p:sp>
      <p:sp>
        <p:nvSpPr>
          <p:cNvPr id="11" name="eq3"/>
          <p:cNvSpPr/>
          <p:nvPr/>
        </p:nvSpPr>
        <p:spPr>
          <a:xfrm>
            <a:off x="457200" y="306324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06324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Небазові ціни (наше)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749040" y="306324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Δrncₜ = 0,3·Δrncₜ₋₁ + 0,016·(Δoilₜ + Δzₜ) + εⁿᶜ;   πₜ = πᶜₜ + Δrncₜ</a:t>
            </a:r>
            <a:endParaRPr lang="en-US" sz="1600" dirty="0"/>
          </a:p>
        </p:txBody>
      </p:sp>
      <p:sp>
        <p:nvSpPr>
          <p:cNvPr id="14" name="eq4"/>
          <p:cNvSpPr/>
          <p:nvPr/>
        </p:nvSpPr>
        <p:spPr>
          <a:xfrm>
            <a:off x="457200" y="393192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93192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Курс (керована гнучкість)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749040" y="393192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sₜ = β·s̄ₜ + (1−β)·sᵘⁱᵖₜ,  β = 0,7;   sᵘⁱᵖ = Eₜsₜ₊₁ + (i* + prem − i)/4</a:t>
            </a:r>
            <a:endParaRPr lang="en-US" sz="1600" dirty="0"/>
          </a:p>
        </p:txBody>
      </p:sp>
      <p:sp>
        <p:nvSpPr>
          <p:cNvPr id="17" name="eq5"/>
          <p:cNvSpPr/>
          <p:nvPr/>
        </p:nvSpPr>
        <p:spPr>
          <a:xfrm>
            <a:off x="457200" y="480060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80060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Ставка (правило Тейлора)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749040" y="480060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iₜ = 0,8·iₜ₋₁ + 0,2·(r̄ₜ + Eπₜ₊₁ + (Eπₜ₊₃ − 5) + 0,5·ŷₜ) + εⁱ</a:t>
            </a:r>
            <a:endParaRPr lang="en-US" sz="1600" dirty="0"/>
          </a:p>
        </p:txBody>
      </p:sp>
      <p:sp>
        <p:nvSpPr>
          <p:cNvPr id="20" name="num1"/>
          <p:cNvSpPr/>
          <p:nvPr/>
        </p:nvSpPr>
        <p:spPr>
          <a:xfrm>
            <a:off x="457200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57200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2" name="point1"/>
          <p:cNvSpPr txBox="1"/>
          <p:nvPr/>
        </p:nvSpPr>
        <p:spPr>
          <a:xfrm>
            <a:off x="868680" y="5897880"/>
            <a:ext cx="5090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Калібрування — шаблон НБУ, Grui &amp; Vdovychenko (2019); вага нафти — наше калібрування</a:t>
            </a:r>
            <a:endParaRPr lang="en-US" sz="1300" dirty="0"/>
          </a:p>
        </p:txBody>
      </p:sp>
      <p:sp>
        <p:nvSpPr>
          <p:cNvPr id="23" name="num2"/>
          <p:cNvSpPr/>
          <p:nvPr/>
        </p:nvSpPr>
        <p:spPr>
          <a:xfrm>
            <a:off x="6233008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233008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5" name="point2"/>
          <p:cNvSpPr txBox="1"/>
          <p:nvPr/>
        </p:nvSpPr>
        <p:spPr>
          <a:xfrm>
            <a:off x="6644488" y="5897880"/>
            <a:ext cx="5090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Тренди й розриви — фільтр Калмана, 2016–2026; злам 2022: шок потенційного ВВП, розрив −18% у II кв.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2. Реакція на шок ставки залежить від контролю над курсом (β)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ml_irf_r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6266" y="1325880"/>
            <a:ext cx="9719163" cy="4983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3. Python і MATLAB/IRIS дають той самий прогноз (розбіжність ~1e−5)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matlab_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0708" y="1325880"/>
            <a:ext cx="9710280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Один файл моделі model/model.model, ті самі дані, параметри й плани всіх 5 сценаріїв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Фільтр Калмана 2016–2026 і прогнози до 2029 збігаються з точністю до округлення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Збірка однією командою: python build.py → MATLAB → звірка → графіки → презентація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4. Бектест: прогноз з даними до III кв. 2025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backt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770" y="1325880"/>
            <a:ext cx="10436154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Помилка прогнозу ІСЦ на 4 квартали: 0,3–1,3 в. п. (наївний прогноз: 1,3–5,3)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Ставку краще прогнозує «без змін»: НБУ змінює її рідко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 грн/€ модель не прогнозує краще за наївний — залежить від EUR/USD (обмеження моделі)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5. Базовий прогноз по півріччях</a:t>
            </a:r>
            <a:endParaRPr lang="en-US" sz="2600" dirty="0"/>
          </a:p>
        </p:txBody>
      </p:sp>
      <p:graphicFrame>
        <p:nvGraphicFramePr>
          <p:cNvPr id="3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93031"/>
                <a:gridCol w="1193031"/>
                <a:gridCol w="1193031"/>
                <a:gridCol w="1193031"/>
                <a:gridCol w="1193031"/>
                <a:gridCol w="1193031"/>
                <a:gridCol w="1193031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Показник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ІСЦ, % р/р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Базова інфляція, 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ВВП, 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Облікова ставка, %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Курс, грн/€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53,2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53,6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Розрив ВВП, 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−1,0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6. Джерела даних</a:t>
            </a:r>
            <a:endParaRPr lang="en-US" sz="2600" dirty="0"/>
          </a:p>
        </p:txBody>
      </p:sp>
      <p:graphicFrame>
        <p:nvGraphicFramePr>
          <p:cNvPr id="3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955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Дані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ІСЦ, базова інфляція, складові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" invalidUrl="" action="" tgtFrame="" tooltip="https://bank.gov.ua/ua/open-data/api-dev" history="1" highlightClick="0" endSnd="0"/>
                        </a:rPr>
                        <a:t>API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(Держстат);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" invalidUrl="" action="" tgtFrame="" tooltip="https://bank.gov.ua/files/macro/CCPI_m.xlsx" history="1" highlightClick="0" endSnd="0"/>
                        </a:rPr>
                        <a:t>базовий ІСЦ (НБУ)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3" invalidUrl="" action="" tgtFrame="" tooltip="https://bank.gov.ua/admin_uploads/article/Tables_Charts_2026-Q3.xlsx?v=19" history="1" highlightClick="0" endSnd="0"/>
                        </a:rPr>
                        <a:t>дані графіків ІЗ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4" invalidUrl="" action="" tgtFrame="" tooltip="https://bank.gov.ua/ua/news/all/komentar-natsionalnogo-banku-schodo-rivnya-inflyatsiyi-v-serpni-2026-roku" history="1" highlightClick="0" endSnd="0"/>
                        </a:rPr>
                        <a:t>коментар НБУ: інфляція в серпні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Облікова ставка, курси, інтервенції, резерви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5" invalidUrl="" action="" tgtFrame="" tooltip="https://bank.gov.ua/ua/open-data/api-dev" history="1" highlightClick="0" endSnd="0"/>
                        </a:rPr>
                        <a:t>API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(statdirectory/key, exchange, kursf, res)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Реальний ВВП, зарплати, бюджет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6" invalidUrl="" action="" tgtFrame="" tooltip="https://stat.gov.ua/" history="1" highlightClick="0" endSnd="0"/>
                        </a:rPr>
                        <a:t>Держстат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7" invalidUrl="" action="" tgtFrame="" tooltip="https://bank.gov.ua/ua/news/all/komentar-natsionalnogo-banku-schodo-zmini-realnogo-vvp-u-ii-kvartali-2026-roku" history="1" highlightClick="0" endSnd="0"/>
                        </a:rPr>
                        <a:t>коментар НБУ: ВВП II кв.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8" invalidUrl="" action="" tgtFrame="" tooltip="https://bank.gov.ua/files/macro/Wages_m.xlsx" history="1" highlightClick="0" endSnd="0"/>
                        </a:rPr>
                        <a:t>зарплати (НБУ)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9" invalidUrl="" action="" tgtFrame="" tooltip="https://bank.gov.ua/files/macro/S_budget_m.xlsx" history="1" highlightClick="0" endSnd="0"/>
                        </a:rPr>
                        <a:t>бюджет (НБУ)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Прогноз і припущення НБУ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0" invalidUrl="" action="" tgtFrame="" tooltip="https://bank.gov.ua/ua/news/all/inflyatsiya-prishvidshitsya-u-drugomu-pivrichchi-ale-povernetsya-do-znijennya-nastupnogo-roku--inflyatsiyniy-zvit" history="1" highlightClick="0" endSnd="0"/>
                        </a:rPr>
                        <a:t>НБУ, Інфляційний звіт (липень 2026)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1" invalidUrl="" action="" tgtFrame="" tooltip="https://bank.gov.ua/admin_uploads/article/Macroeconomic_Forecast_table_2026_07.xlsx?v=19" history="1" highlightClick="0" endSnd="0"/>
                        </a:rPr>
                        <a:t>макропрогноз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2" invalidUrl="" action="" tgtFrame="" tooltip="https://bank.gov.ua/admin_uploads/article/Tables_Charts_2026-Q3.xlsx?v=19" history="1" highlightClick="0" endSnd="0"/>
                        </a:rPr>
                        <a:t>дані графіків ІЗ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Ціль і горизонт політики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3" invalidUrl="" action="" tgtFrame="" tooltip="https://p4.bank.gov.ua/admin_uploads/article/MPG_2024-mt_eng.pdf" history="1" highlightClick="0" endSnd="0"/>
                        </a:rPr>
                        <a:t>Основні засади ГКП (2024)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4" invalidUrl="" action="" tgtFrame="" tooltip="https://ec.europa.eu/eurostat/databrowser/view/prc_hicp_minr/default/table" history="1" highlightClick="0" endSnd="0"/>
                        </a:rPr>
                        <a:t>Eurostat HICP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5" invalidUrl="" action="" tgtFrame="" tooltip="https://data.ecb.europa.eu/" history="1" highlightClick="0" endSnd="0"/>
                        </a:rPr>
                        <a:t>ЄЦБ Data Portal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6" invalidUrl="" action="" tgtFrame="" tooltip="https://www.ecb.europa.eu/press/projections/html/index.en.html" history="1" highlightClick="0" endSnd="0"/>
                        </a:rPr>
                        <a:t>прогноз ЄЦБ (вересень 2026)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7" invalidUrl="" action="" tgtFrame="" tooltip="https://db.nomics.world/EIA/PET/RBRTE.M" history="1" highlightClick="0" endSnd="0"/>
                        </a:rPr>
                        <a:t>EIA Brent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(DBnomics);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8" invalidUrl="" action="" tgtFrame="" tooltip="https://finance.yahoo.com/quote/BZ%3DF/" history="1" highlightClick="0" endSnd="0"/>
                        </a:rPr>
                        <a:t>ф'ючерси Brent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(NYMEX BZ)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Рішення та дискусія КМП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9" invalidUrl="" action="" tgtFrame="" tooltip="https://bank.gov.ua/ua/news/all/natsionalniy-bank-ukrayini-pidvischiv-oblikovu-stavku-do-16" history="1" highlightClick="0" endSnd="0"/>
                        </a:rPr>
                        <a:t>рішення НБУ 17.09.2026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0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підсумки дискусії КМП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Валютні обмеження, МВФ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21" invalidUrl="" action="" tgtFrame="" tooltip="https://bank.gov.ua/admin_uploads/article/Strategy_for_easing_FX_restrictions_07-07-2023.pdf?v=19" history="1" highlightClick="0" endSnd="0"/>
                        </a:rPr>
                        <a:t>Стратегія пом'якшення валютних обмежень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2" invalidUrl="" action="" tgtFrame="" tooltip="https://bank.gov.ua/ua/news/all/nbu-vprovadjuye-paket-pomyakshennya-valyutnih-obmejen-z-osnovnim-fokusom-na-pidtrimtsi-naselennya" history="1" highlightClick="0" endSnd="0"/>
                        </a:rPr>
                        <a:t>пакет пом'якшення валютних обмежень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3" invalidUrl="" action="" tgtFrame="" tooltip="https://bank.gov.ua/ua/news/all/rada-mvf-shvalila-pershiy-pereglyad-programi-rozshirenogo-finansuvannya-ta-zatverdila-vidilennya-transhu-obsyagom-690-mln-dol-ssha" history="1" highlightClick="0" endSnd="0"/>
                        </a:rPr>
                        <a:t>Рада МВФ: перегляд програми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Модель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24" invalidUrl="" action="" tgtFrame="" tooltip="https://events.bank.gov.ua/uchallenge2026/files/nbu_challenge_model_2026.zip" history="1" highlightClick="0" endSnd="0"/>
                        </a:rPr>
                        <a:t>модель-шаблон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+ розширення команди; Python і MATLAB R2026b + IRIS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U Challenge 2026">
  <a:themeElements>
    <a:clrScheme name="NBU Challenge 2026">
      <a:dk1>
        <a:srgbClr val="1B2326"/>
      </a:dk1>
      <a:lt1>
        <a:srgbClr val="FFFFFF"/>
      </a:lt1>
      <a:dk2>
        <a:srgbClr val="0E3B43"/>
      </a:dk2>
      <a:lt2>
        <a:srgbClr val="EAF1EF"/>
      </a:lt2>
      <a:accent1>
        <a:srgbClr val="0E3B43"/>
      </a:accent1>
      <a:accent2>
        <a:srgbClr val="C98A00"/>
      </a:accent2>
      <a:accent3>
        <a:srgbClr val="2A78D6"/>
      </a:accent3>
      <a:accent4>
        <a:srgbClr val="EB6834"/>
      </a:accent4>
      <a:accent5>
        <a:srgbClr val="1BAF7A"/>
      </a:accent5>
      <a:accent6>
        <a:srgbClr val="5F6B6D"/>
      </a:accent6>
      <a:hlink>
        <a:srgbClr val="2A78D6"/>
      </a:hlink>
      <a:folHlink>
        <a:srgbClr val="4A3AA7"/>
      </a:folHlink>
    </a:clrScheme>
    <a:fontScheme name="NBU Challenge 2026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Рекомендації щодо монетарної політики — NBU University Challenge 2026</dc:title>
  <dc:subject>PptxGenJS Presentation</dc:subject>
  <dc:creator>Команда [назва]</dc:creator>
  <cp:lastModifiedBy>Команда [назва]</cp:lastModifiedBy>
  <cp:revision>1</cp:revision>
  <dcterms:created xsi:type="dcterms:W3CDTF">2026-10-08T13:28:36Z</dcterms:created>
  <dcterms:modified xsi:type="dcterms:W3CDTF">2026-10-08T13:28:36Z</dcterms:modified>
</cp:coreProperties>
</file>