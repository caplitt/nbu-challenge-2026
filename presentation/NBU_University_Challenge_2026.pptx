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ступ" id="{1258835f-ef73-c13a-d2fb-a97e60805694}">
          <p14:sldIdLst>
            <p14:sldId id="256"/>
            <p14:sldId id="257"/>
          </p14:sldIdLst>
        </p14:section>
        <p14:section name="Огляд" id="{89c52bbf-46cd-83c4-bdea-056df7c425ea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Прогноз" id="{91811968-71d9-faab-ba4c-a9100b544bd4}">
          <p14:sldIdLst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Рекомендації" id="{966c67d9-832c-2ad5-5f62-74c412aeddf0}">
          <p14:sldIdLst>
            <p14:sldId id="270"/>
            <p14:sldId id="271"/>
            <p14:sldId id="272"/>
            <p14:sldId id="273"/>
            <p14:sldId id="274"/>
            <p14:sldId id="275"/>
            <p14:sldId id="276"/>
          </p14:sldIdLst>
        </p14:section>
        <p14:section name="Додатки" id="{38815901-9313-940d-982a-34e125d9ab2b}">
          <p14:sldIdLst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Добрий день, шановні члени журі. Ми — Команда [назва]. Сьогодні представимо наші рекомендації для засідання Правління НБУ 29 жовтня 2026 року. Усі дані — станом на 25 жовтня.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Почнемо з головного. Ми пропонуємо три рішення, які працюють як єдиний пакет. Перше — підвищити облікову ставку на 1 пункт, до 17%, і утримувати її щонайменше до середини 2027 року: у вересні інфляція сягнула 10%, у грудні буде близько 12%. Друге — не заморожувати курс: у жовтні гривня послабилася до 45,1 за долар, і це правильно — курс має поглинати шоки. І обмежити обсяги тендерів депсертифікатів, щоб підвищення дійшло до депозитів. Третє — поставити на паузу наступні кроки валютної лібералізації, доки не відновляться резерви. За такої політики інфляція знизиться до 5,4% у четвертому кварталі 2027 року і повернеться до цілі у 2028 році — у межах трирічного горизонту НБУ.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Зовнішнє середовище стало помітно проінфляційним. Через війну на Близькому Сході нафта Brent у квітні коштувала в середньому 117 доларів за барель, у вересні — 114, а в жовтні — близько 125 — тоді як НБУ в липні закладав 80–85. Ринок очікує здешевлення: ф'ючерси вказують на 87 доларів наприкінці 2027 року, і саме цю криву ми беремо в прогноз. Водночас ЄЦБ підвищує ставку, тож простору для пом'якшення в Україні менше.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 вересні інфляція стрибнула до 10% — ціни за місяць зросли на 2,1%. Пальне подорожчало на 46% за рік, атаки на склади й логістику здорожчили доставку. Але більше нас турбує базова інфляція: вона прискорилася до 8,8%, послуги дорожчають на 14%. І навіть продовольство, яке досі стримувало ціни, почало дорожчати.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Інфляційні очікування підвищені: домогосподарства чекають 10–14% — більше, ніж фактична інфляція, а фінансові аналітики підвищили свої очікування до 7,9%. Реальна ставка, якщо рахувати як НБУ — від очікувань, — близько 8%, тож гривневі активи поки привабливі. Але великі банки майже не підняли депозитні ставки — трансмісія слабка, і ризик розбалансування очікувань реальний.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Економіка тим часом сповільнюється. ВВП у другому кварталі зріс лише на 0,4% за рік, у третьому — близько 1%, і то завдяки врожаю: це суттєво гірше прогнозу НБУ. Але атаки й дефіцит кадрів б'ють по потенціалу ще сильніше, ніж по попиту. Ринок праці напружений: номінальні зарплати цього року зростають на 21–25%. Тож навіть за слабкого ВВП тиск на ціни послуг зберігається.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Найгостріша проблема — валютний ринок. НБУ продає в середньому близько 5,0 мільярда доларів на місяць, у вересні — рекордні 5,5 мільярда. Резерви за два місяці скоротилися з 51,2 до 47,1 мільярда, тоді як НБУ очікував 53,8. Але важливо: продаж валюти здебільшого «доносить» допомогу на ринок — у вересні уряд конвертував 3,81 мільярда оборонного траншу. Тож резерви падають через ритм допомоги. Курс чотири місяці стояв біля 44,7 гривні за долар, а в жовтні НБУ допустив послаблення до 45,1.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Тепер — прогноз. Ми взяли квартальну прогнозну модель НБУ, переписали її на Python і розширили. Дані завантажуються автоматично, фільтр Калмана оцінює розриви й тренди, далі — прогноз із судженнями й аналіз політики. Наше розширення — окремо базова й небазова інфляція і канал світових цін на нафту: нафта на 20% дорожча додає 0,3 пункта до інфляції, а ставка реагує слабко. Той самий файл моделі, дані й плани ми проганяємо в MATLAB з IRIS для звірки: розбіжність — у п'ятому знаку.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Для найближчих місяців ми будуємо короткостроковий прогноз: трендовий темп цін, сезонність і поправка на разовість вересневого стрибка. Тренд — 1,19% на місяць. До того ж діє ефект бази: у жовтні–грудні 2025 ціни зросли лише на 1,5%. Тому річна інфляція підніметься до 12,1% у грудні — помітно вище, ніж НБУ прогнозував у липні. Базову інфляцію рахуємо тим самим методом: у грудні — 9,6%.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Базовий прогноз. Нагадаю: ціль НБУ — 5% без діапазону відхилень, і повернути інфляцію до неї треба на горизонті до трьох років. У середньому за квартал інфляція досягне піку — близько 11,2% — наприкінці 2026 року; у місячному вимірі це близько 12% у грудні. Далі вона знизиться до 5,4% у четвертому кварталі 2027-го, у 2028 році опуститься нижче цілі — до 3,8–4,8%, бо нафта дешевшає за ф'ючерсами, а попит слабкий, — і стабілізується біля 5% у 2028 році. Базова інфляція в нас нижча, ніж у НБУ: 4,2% у середньому за четвертий квартал 2027 року, у грудневому вимірі — близько 3,7%, проти 5,1% у НБУ. Ставка — 17% до середини 2027 року, далі поступово знижується до 10,5% наприкінці 2028-го. Невизначеність велика — це показує віяло.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Тепер — попит. ВВП ми бачимо слабшим, ніж НБУ в липні: 0,5% цього року, −0,2% у 2027-му і 2,4% у 2028-му. Мінекономіки теж погіршує прогноз — до 0,8–1% на 2027 рік. Але потенціал економіки постраждав ще більше: атаки й дефіцит кадрів. Тому розрив ВВП зараз додатний, і ціни послуг ростуть. Бюджетного стимулу ми не закладаємо: дефіцит скорочується з 35 до 26% ВВП. У 2027 році висока реальна ставка охолоджує попит, і розрив закривається — це ціна повернення інфляції до цілі.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Ми розглянули чотири ризикові сценарії. Найнебезпечніший — дефіцит фінансування: якщо допомога затримається, гривня буде приблизно на 6% слабшою, інфляція зросте до 13,0%, а ставку доведеться підняти до 19,3%. Важка зима з ударами по енергетиці підніме інфляцію до 12,4% і майже зупинить зростання ВВП. Натомість нафта по 120 доларів додає лише 0,1 пункта до піку інфляції, і ставка майже не реагує — це шок першого раунду. Ще два ризики для інфляції 2027 року — курс і очікування: якщо гривня слабшатиме так, як чекає ринок, інфляція наприкінці 2027 року буде близько 7% замість 5%, розбалансування очікувань дало б близько 7%, а ПДВ 21% — ще 0,7 пункта до піку.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Переходимо до рекомендацій. Спершу — рамка. Головна мета НБУ — цінова стабільність: ціль 5%, і повернути до неї інфляцію треба на горизонті до трьох років. Інструменти — облікова ставка, депозитні сертифікати, які з серпня розміщуються на тендерах, валютні інтервенції та обмеження. У вересні КМП підвищив ставку до 16%, але думки розділилися: семеро вважають, що цього достатньо, двоє чекають ще одного підвищення, один — зниження. Ми — за підвищення, і ось чому.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Ми порівняли чотири варіанти рішення — від утримання 16% до підвищення до 17,5%. У кожному ставка утримується до середини 2027 року, а далі знижується так, щоб інфляція повернулася саме до 5%. Критерій — втрати: відхилення інфляції від цілі, розрив ВВП і різкі зміни ставки. Адмінціни ми враховуємо наполовину: вони ростуть щороку, але це перший раунд. Мінімум втрат — від 16 до 17% залежно від ваги згладжування, за центральної — 16,5%; оптимальна траєкторія починається з 16,9% і в першому кварталі 2027-го підіймається до 16,9%. Ми перевірили рішення на десяти сценаріях: найменші очікувані втрати — на 16,5 і 17%, і 17% — серед них. Тому ми обираємо пункт зараз і готовність до ще пів пункта в грудні, коли буде оновлений прогноз НБУ, а не півтора пункта одразу.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Тому перша рекомендація — підвищити облікову ставку до 17%. Чому підвищити: інфляція в грудні сягне близько 12%, базова інфляція прискорюється, курсові ризики високі, а гнучкіший курс потребує сильного якоря для очікувань. Ринок не чекає різкого посилення, але ризики зміщені вгору, і НБУ вже робив крок у пункт — у січні й березні 2025 року. Чому не більше: економіка слабка, а півтора пункта одразу — надмірний сигнал до оновленого прогнозу НБУ. Щоб підвищення дійшло до депозитів, обсяги тендерів депсертифікатів варто обмежити. Орієнтир: не знижувати ставку щонайменше до третього кварталу 2027 року, а наступний крок — радше вгору: ще пів пункта в грудні, якщо базова інфляція не сповільниться або посиляться курсові очікування.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Друга рекомендація — щодо курсу. НБУ продає близько 5,0 мільярда доларів на місяць, а надходить близько 3,7. Якщо так і залишиться, на кінець року резерви становитимуть 43 мільярди. Структурно попит на валюту високий: імпорт у 2,6 раза більший за експорт, а офіційне фінансування скоротиться з 87 до 33 мільярдів у 2028 році. Водночас продаж валюти здебільшого «доносить» допомогу до ринку, тож резерви визначає її ритм, а не курс. Наша рекомендація щодо курсу інша: не фіксувати його. Чотири місяці гривня стояла біля 44,7 за долар, а в жовтні послабилася до 45,1 — за рік це плюс 8%, і це нормальна робота амортизатора. Курс має поглинати шоки, а НБУ — лише згладжувати коливання.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Третя рекомендація — валютні обмеження. Серпневий пакет варто зберегти: купівля валюти населенням зросла з 0,39 до 0,58 мільярда доларів на місяць — помітно, але керовано. За Стратегією НБУ кроки робляться за передумовами, а не за календарем. Тому третій етап — операції населення й капітальні операції — пропонуємо відкласти, доки резерви не повернуться до 50 мільярдів, а допомога — до ритмічності. Нових обмежень не запроваджувати.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Підсумуємо. Перше — підвищити облікову ставку до 17% і утримувати щонайменше до середини 2027 року. Друге — не заморожувати курс і обмежити обсяги депсертифікатів. Третє — пауза в лібералізації валютних обмежень. Формула комунікації — «ставка — якір, курс — амортизатор». За такої політики інфляція повернеться до цілі у 2028 році. Дякуємо за увагу! Будемо раді відповісти на ваші запитання.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Звідки тиск на резерви — видно з платіжного балансу. Імпорт цього року в 2,6 раза більший за експорт, дефіцит — близько 89 мільярдів доларів. Поточний рахунок фінансують позики партнерів. Але офіційне фінансування скорочується з 87 мільярдів у 2026 році до 33 у 2028-му, і, за прогнозом НБУ, поточний рахунок тоді погіршиться до мінус 45 мільярдів. Тому резерви потрібні як буфер, а лібералізацію варто проводити поступово.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Причина — залежність бюджету від допомоги. Дефіцит без грантів — близько 35% ВВП, потреба у зовнішньому фінансуванні — 87 мільярдів доларів, а влітку надходження затрималися. Оборонний кредит USL підтримує попит через локалізацію ОПК і водночас створює попит на валюту, але загалом дефіцит скорочується, тож окремого бюджетного стимулу ми не закладаємо. Уряд у Бюджетній декларації закладає інфляцію 8,9% наприкінці 2027 року — вище, ніж НБУ і 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Що ми змінили в моделі. У шаблоні одна крива Філіпса для всієї інфляції, тож нафтовий шок дає хибні коливання через курс. Ми розділили інфляцію на базову і небазову: небазові ціни реагують на нафту та курс. Нафта на 20% дорожча — це плюс 0,3 пункта до інфляції впродовж року, ставка зростає лише на 0,2 пункта, а базова інфляція не прискорюється. Без нафтового каналу функції відгуку моделі збігаються з шаблоном НБУ.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Модель не описує все — енергетику, бюджет, допомогу, тарифи. Тому ці чинники входять через явні судження, і кожне має кількісне обґрунтування та джерело. Наприклад, вторинні ефекти атак в опалювальний сезон ми калібруємо за оцінкою НБУ. Окремо закладаємо адмінціни й акцизи: у 2016–2026 роках загальна інфляція в середньому перевищувала базову на 1,7 пункта на рік, і НБУ закладає таку саму різницю на 2027–2028 роки.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Окремо про базову інфляцію. Наша оцінка на четвертий квартал 2027 року — 4,2% у середньому за квартал, тобто близько 3,7% у грудні, проти 5,1% у НБУ — нижча, ніж у НБУ. У моделі її тримають додатний розрив ВВП, перенесення вересневого шоку витрат і курсу та шок витрат опалювального сезону. Загальна інфляція при цьому близька до НБУ: тарифи й акцизи додають близько 1,7 пункта на рік, а дешевша нафта частково це компенсує. Висновок: підвищити ставку зараз, щоб швидше пом'якшити її пізніше.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Матриця ризиків підсумовує: більшість імовірних і сильних ризиків — проінфляційні. Це атаки на енергетику, затримки допомоги, розбалансування очікувань і зарплатна спіраль. Дезінфляційних менше — блокада портів, охолодження попиту, можливе перемир'я. Баланс зміщений угору.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Усе це має пояснити комунікація. Ключова формула — «ставка — якір, курс — амортизатор»: НБУ підвищує ставку рішуче, курс не заморожений, а обмежені обсяги депсертифікатів доносять підвищення до депозитних ставок. Чого уникати — обіцянок конкретного курсу і сигналів про швидке зниження ставки. На слайді — наш проєкт пресрелізу.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Розраховано поверх базового сценарію, як і основні сценарії: правило Тейлора реагує на нові шоки. Найсильніший — курс: модель передає послаблення гривні в ціни швидко (перенос у шаблоні ≈0,75 за рік — верхня межа; в останні роки фактичний перенос був нижчим), тому реальний ефект, імовірно, менший.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Кожен варіант: рішення в жовтні й утримання, далі траєкторія повернення до цілі; у ризикових сценаріях правило реагує навколо траєкторії варіанта. Втрати — функція оптимізації (λ = 1). P1 — ризики зміщені вгору, P2 — збалансовані; «Слабкий попит» і «Базова сповільнюється» — дезінфляційні противаги. Максимальний жаль — найбільше відставання від найкращого варіанта в будь-якому сценарії. ● — найкращий варіант у рядку.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ŷ — розрив ВВП, z̃ — розрив реального курсу (за базовими цінами), r̃ — розрив реальної ставки, prem — премія за ризик, oil — реальна ціна Brent у євро, rnc — відносна ціна небазових товарів. З вагою нафти 0 модель збігається з шаблоном НБУ.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Чим сильніше НБУ контролює курс (β → 1), тим слабше ставка впливає на курс і інфляцію — валютний канал головний. Функції відгуку побудовано в Python; з вагою нафти 0 вони збігаються з опублікованими MATLAB-результатами шаблону (тест).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Графік показує, на скільки ставка має бути вищою за нейтральну за правилом Тейлора і чому.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Бектест квазіреальний: сезонне згладжування й фільтр бачать лише дані до дати прогнозу, судження й наукасти не використовувалися, зовнішні змінні — фактичні; «факт» — лише опубліковані дані (IV кв. 2026 не оцінюється).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Значення базового сценарію в II і IV кварталах (рішення 17% у жовтні з утриманням до середини 2027, далі — траєкторія повернення до цілі). Усі квартали — results/tables/baseline_quarterly.csv.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Усі дані завантажуються скриптами; дата відсічення — 25.10.2026.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intr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NBU University Challenge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Огляд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Огляд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1380744" y="6473952"/>
            <a:ext cx="886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Прогноз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2450592" y="6473952"/>
            <a:ext cx="125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Рекомендації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3886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Додатки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Прогноз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Огляд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1380744" y="6473952"/>
            <a:ext cx="886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Прогноз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2450592" y="6473952"/>
            <a:ext cx="125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Рекомендації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3886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Додатки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Рекомендації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Огляд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1380744" y="6473952"/>
            <a:ext cx="886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Прогноз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2450592" y="6473952"/>
            <a:ext cx="125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Рекомендації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3886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Додатки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Додатки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Огляд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1380744" y="6473952"/>
            <a:ext cx="886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Прогноз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2450592" y="6473952"/>
            <a:ext cx="125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Рекомендації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3886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Додатки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E3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p4.bank.gov.ua/admin_uploads/article/MPG_2024-mt_eng.pdf" TargetMode="External"/><Relationship Id="rId2" Type="http://schemas.openxmlformats.org/officeDocument/2006/relationships/hyperlink" Target="https://bank.gov.ua/ua/news/all/inflyatsiya-prishvidshitsya-u-drugomu-pivrichchi-ale-povernetsya-do-znijennya-nastupnogo-roku--inflyatsiyniy-zvit" TargetMode="Externa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ecb.europa.eu/press/projections/html/index.en.html" TargetMode="External"/><Relationship Id="rId2" Type="http://schemas.openxmlformats.org/officeDocument/2006/relationships/hyperlink" Target="https://ec.europa.eu/eurostat/databrowser/view/prc_hicp_minr/default/table" TargetMode="External"/><Relationship Id="rId3" Type="http://schemas.openxmlformats.org/officeDocument/2006/relationships/hyperlink" Target="https://db.nomics.world/EIA/PET/RBRTE.M" TargetMode="External"/><Relationship Id="rId4" Type="http://schemas.openxmlformats.org/officeDocument/2006/relationships/hyperlink" Target="https://finance.yahoo.com/quote/BZ%3DF/" TargetMode="External"/><Relationship Id="rId5" Type="http://schemas.openxmlformats.org/officeDocument/2006/relationships/image" Target="../media/image-4-1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news/all/komentar-natsionalnogo-banku-schodo-rivnya-inflyatsiyi-u-veresni-2026-roku" TargetMode="External"/><Relationship Id="rId2" Type="http://schemas.openxmlformats.org/officeDocument/2006/relationships/hyperlink" Target="https://bank.gov.ua/admin_uploads/article/Tables_Charts_2026-Q3.xlsx?v=19" TargetMode="External"/><Relationship Id="rId3" Type="http://schemas.openxmlformats.org/officeDocument/2006/relationships/hyperlink" Target="https://bank.gov.ua/ua/open-data/api-dev" TargetMode="External"/><Relationship Id="rId4" Type="http://schemas.openxmlformats.org/officeDocument/2006/relationships/image" Target="../media/image-5-1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admin_uploads/article/Tables_Charts_2026-Q3.xlsx?v=19" TargetMode="External"/><Relationship Id="rId2" Type="http://schemas.openxmlformats.org/officeDocument/2006/relationships/hyperlink" Target="https://minfin.com.ua/ua/2026/10/07/183076902/" TargetMode="External"/><Relationship Id="rId3" Type="http://schemas.openxmlformats.org/officeDocument/2006/relationships/hyperlink" Target="https://bank.gov.ua/ua/news/all/pidsumki-diskusiyi-chleniv-komitetu-z-monetarnoyi-politiki-natsionalnogo-banku-schodo-rivnya-oblikovoyi-stavki-16-veresnya-2026-roku" TargetMode="External"/><Relationship Id="rId4" Type="http://schemas.openxmlformats.org/officeDocument/2006/relationships/image" Target="../media/image-6-1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news/all/komentar-natsionalnogo-banku-schodo-zmini-realnogo-vvp-u-ii-kvartali-2026-roku" TargetMode="External"/><Relationship Id="rId2" Type="http://schemas.openxmlformats.org/officeDocument/2006/relationships/hyperlink" Target="https://minfin.com.ua/ua/2026/09/23/182198642/" TargetMode="External"/><Relationship Id="rId3" Type="http://schemas.openxmlformats.org/officeDocument/2006/relationships/hyperlink" Target="https://bank.gov.ua/ua/news/all/pidsumki-diskusiyi-chleniv-komitetu-z-monetarnoyi-politiki-natsionalnogo-banku-schodo-rivnya-oblikovoyi-stavki-16-veresnya-2026-roku" TargetMode="External"/><Relationship Id="rId4" Type="http://schemas.openxmlformats.org/officeDocument/2006/relationships/image" Target="../media/image-7-1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open-data/api-dev" TargetMode="External"/><Relationship Id="rId2" Type="http://schemas.openxmlformats.org/officeDocument/2006/relationships/hyperlink" Target="https://bank.gov.ua/ua/news/all/mijnarodni-rezervi-stanovili-471-mlrd-dol-ssha-za-pidsumkami-veresnya" TargetMode="External"/><Relationship Id="rId3" Type="http://schemas.openxmlformats.org/officeDocument/2006/relationships/hyperlink" Target="https://epravda.com.ua/finances/valyutniy-rinok-ukrajini-rezultati-troh-rokiv-rezhimu-kerovanoji-gnuchkosti-826509/" TargetMode="External"/><Relationship Id="rId4" Type="http://schemas.openxmlformats.org/officeDocument/2006/relationships/image" Target="../media/image-8-1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events.bank.gov.ua/uchallenge2026/files/nbu_challenge_model_2026.zip" TargetMode="External"/><Relationship Id="rId2" Type="http://schemas.openxmlformats.org/officeDocument/2006/relationships/hyperlink" Target="https://bank.gov.ua/ua/open-data/api-dev" TargetMode="External"/><Relationship Id="rId3" Type="http://schemas.openxmlformats.org/officeDocument/2006/relationships/hyperlink" Target="https://data.ecb.europa.eu/" TargetMode="External"/><Relationship Id="rId4" Type="http://schemas.openxmlformats.org/officeDocument/2006/relationships/hyperlink" Target="https://ec.europa.eu/eurostat/databrowser/view/prc_hicp_minr/default/table" TargetMode="External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open-data/api-dev" TargetMode="External"/><Relationship Id="rId2" Type="http://schemas.openxmlformats.org/officeDocument/2006/relationships/hyperlink" Target="https://bank.gov.ua/ua/news/all/komentar-natsionalnogo-banku-schodo-rivnya-inflyatsiyi-u-veresni-2026-roku" TargetMode="External"/><Relationship Id="rId3" Type="http://schemas.openxmlformats.org/officeDocument/2006/relationships/image" Target="../media/image-11-1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p4.bank.gov.ua/admin_uploads/article/MPG_2024-mt_eng.pdf" TargetMode="External"/><Relationship Id="rId2" Type="http://schemas.openxmlformats.org/officeDocument/2006/relationships/hyperlink" Target="https://bank.gov.ua/admin_uploads/article/Macroeconomic_Forecast_table_2026_07.xlsx?v=19" TargetMode="External"/><Relationship Id="rId3" Type="http://schemas.openxmlformats.org/officeDocument/2006/relationships/image" Target="../media/image-12-1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admin_uploads/article/Tables_Charts_2026-Q3.xlsx?v=19" TargetMode="External"/><Relationship Id="rId2" Type="http://schemas.openxmlformats.org/officeDocument/2006/relationships/hyperlink" Target="https://bank.gov.ua/admin_uploads/article/Macroeconomic_Forecast_table_2026_07.xlsx?v=19" TargetMode="External"/><Relationship Id="rId3" Type="http://schemas.openxmlformats.org/officeDocument/2006/relationships/hyperlink" Target="https://interfax.com.ua/news/economic/1211092.html" TargetMode="External"/><Relationship Id="rId4" Type="http://schemas.openxmlformats.org/officeDocument/2006/relationships/image" Target="../media/image-13-1.png"/><Relationship Id="rId5" Type="http://schemas.openxmlformats.org/officeDocument/2006/relationships/image" Target="../media/image-13-2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news/all/pidsumki-diskusiyi-chleniv-komitetu-z-monetarnoyi-politiki-natsionalnogo-banku-schodo-rivnya-oblikovoyi-stavki-16-veresnya-2026-roku" TargetMode="External"/><Relationship Id="rId2" Type="http://schemas.openxmlformats.org/officeDocument/2006/relationships/hyperlink" Target="https://finance.yahoo.com/quote/BZ%3DF/" TargetMode="External"/><Relationship Id="rId3" Type="http://schemas.openxmlformats.org/officeDocument/2006/relationships/hyperlink" Target="https://bank.gov.ua/admin_uploads/article/Macroeconomic_Forecast_table_2026_07.xlsx?v=19" TargetMode="External"/><Relationship Id="rId4" Type="http://schemas.openxmlformats.org/officeDocument/2006/relationships/image" Target="../media/image-14-1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hyperlink" Target="https://zakon.rada.gov.ua/laws/show/679-14" TargetMode="External"/><Relationship Id="rId2" Type="http://schemas.openxmlformats.org/officeDocument/2006/relationships/hyperlink" Target="https://p4.bank.gov.ua/admin_uploads/article/MPG_2024-mt_eng.pdf" TargetMode="External"/><Relationship Id="rId3" Type="http://schemas.openxmlformats.org/officeDocument/2006/relationships/hyperlink" Target="https://bank.gov.ua/ua/news/all/pidsumki-diskusiyi-chleniv-komitetu-z-monetarnoyi-politiki-natsionalnogo-banku-schodo-rivnya-oblikovoyi-stavki-16-veresnya-2026-roku" TargetMode="External"/><Relationship Id="rId4" Type="http://schemas.openxmlformats.org/officeDocument/2006/relationships/hyperlink" Target="https://bank.gov.ua/ua/news/all/nbu-informuye-pro-golovniy-printsip-viznachennya-obsyagiv-rozmischennya-trimisyachnih-depozitnih-sertifikativ" TargetMode="External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hyperlink" Target="https://p4.bank.gov.ua/admin_uploads/article/MPG_2024-mt_eng.pdf" TargetMode="External"/><Relationship Id="rId2" Type="http://schemas.openxmlformats.org/officeDocument/2006/relationships/image" Target="../media/image-17-1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news/all/natsionalniy-bank-ukrayini-pidvischiv-oblikovu-stavku-do-16" TargetMode="External"/><Relationship Id="rId2" Type="http://schemas.openxmlformats.org/officeDocument/2006/relationships/hyperlink" Target="https://bank.gov.ua/ua/news/all/pidsumki-diskusiyi-chleniv-komitetu-z-monetarnoyi-politiki-natsionalnogo-banku-schodo-rivnya-oblikovoyi-stavki-16-veresnya-2026-roku" TargetMode="External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news/all/mijnarodni-rezervi-stanovili-471-mlrd-dol-ssha-za-pidsumkami-veresnya" TargetMode="External"/><Relationship Id="rId2" Type="http://schemas.openxmlformats.org/officeDocument/2006/relationships/hyperlink" Target="https://epravda.com.ua/finances/valyutniy-rinok-ukrajini-rezultati-troh-rokiv-rezhimu-kerovanoji-gnuchkosti-826509/" TargetMode="External"/><Relationship Id="rId3" Type="http://schemas.openxmlformats.org/officeDocument/2006/relationships/hyperlink" Target="https://bank.gov.ua/admin_uploads/article/Macroeconomic_Forecast_table_2026_07.xlsx?v=19" TargetMode="External"/><Relationship Id="rId4" Type="http://schemas.openxmlformats.org/officeDocument/2006/relationships/image" Target="../media/image-19-1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news/all/nbu-vprovadjuye-paket-pomyakshennya-valyutnih-obmejen-z-osnovnim-fokusom-na-pidtrimtsi-naselennya" TargetMode="External"/><Relationship Id="rId2" Type="http://schemas.openxmlformats.org/officeDocument/2006/relationships/hyperlink" Target="https://bank.gov.ua/admin_uploads/article/Strategy_for_easing_FX_restrictions_07-07-2023.pdf?v=19" TargetMode="External"/><Relationship Id="rId3" Type="http://schemas.openxmlformats.org/officeDocument/2006/relationships/hyperlink" Target="https://bank.gov.ua/ua/open-data/api-dev" TargetMode="External"/><Relationship Id="rId4" Type="http://schemas.openxmlformats.org/officeDocument/2006/relationships/image" Target="../media/image-20-1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admin_uploads/article/Macroeconomic_Forecast_table_2026_07.xlsx?v=19" TargetMode="External"/><Relationship Id="rId2" Type="http://schemas.openxmlformats.org/officeDocument/2006/relationships/hyperlink" Target="https://bank.gov.ua/admin_uploads/article/Tables_Charts_2026-Q3.xlsx?v=19" TargetMode="External"/><Relationship Id="rId3" Type="http://schemas.openxmlformats.org/officeDocument/2006/relationships/image" Target="../media/image-23-1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admin_uploads/article/Macroeconomic_Forecast_table_2026_07.xlsx?v=19" TargetMode="External"/><Relationship Id="rId2" Type="http://schemas.openxmlformats.org/officeDocument/2006/relationships/hyperlink" Target="https://bank.gov.ua/admin_uploads/article/Tables_Charts_2026-Q3.xlsx?v=19" TargetMode="External"/><Relationship Id="rId3" Type="http://schemas.openxmlformats.org/officeDocument/2006/relationships/hyperlink" Target="https://bank.gov.ua/ua/news/all/rada-mvf-shvalila-pershiy-pereglyad-programi-rozshirenogo-finansuvannya-ta-zatverdila-vidilennya-transhu-obsyagom-690-mln-dol-ssha" TargetMode="External"/><Relationship Id="rId4" Type="http://schemas.openxmlformats.org/officeDocument/2006/relationships/image" Target="../media/image-24-1.png"/><Relationship Id="rId5" Type="http://schemas.openxmlformats.org/officeDocument/2006/relationships/slideLayout" Target="../slideLayouts/slideLayout6.xml"/><Relationship Id="rId6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files/macro/CCPI_m.xlsx" TargetMode="External"/><Relationship Id="rId2" Type="http://schemas.openxmlformats.org/officeDocument/2006/relationships/hyperlink" Target="https://db.nomics.world/EIA/PET/RBRTE.M" TargetMode="External"/><Relationship Id="rId3" Type="http://schemas.openxmlformats.org/officeDocument/2006/relationships/hyperlink" Target="https://finance.yahoo.com/quote/BZ%3DF/" TargetMode="External"/><Relationship Id="rId4" Type="http://schemas.openxmlformats.org/officeDocument/2006/relationships/image" Target="../media/image-25-1.png"/><Relationship Id="rId5" Type="http://schemas.openxmlformats.org/officeDocument/2006/relationships/slideLayout" Target="../slideLayouts/slideLayout6.xml"/><Relationship Id="rId6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news/all/inflyatsiya-prishvidshitsya-u-drugomu-pivrichchi-ale-povernetsya-do-znijennya-nastupnogo-roku--inflyatsiyniy-zvit" TargetMode="External"/><Relationship Id="rId2" Type="http://schemas.openxmlformats.org/officeDocument/2006/relationships/hyperlink" Target="https://bank.gov.ua/admin_uploads/article/Macroeconomic_Forecast_table_2026_07.xlsx?v=19" TargetMode="External"/><Relationship Id="rId3" Type="http://schemas.openxmlformats.org/officeDocument/2006/relationships/hyperlink" Target="https://bank.gov.ua/ua/news/all/pidsumki-diskusiyi-chleniv-komitetu-z-monetarnoyi-politiki-natsionalnogo-banku-schodo-rivnya-oblikovoyi-stavki-16-veresnya-2026-roku" TargetMode="External"/><Relationship Id="rId4" Type="http://schemas.openxmlformats.org/officeDocument/2006/relationships/hyperlink" Target="https://bank.gov.ua/ua/open-data/api-dev" TargetMode="External"/><Relationship Id="rId5" Type="http://schemas.openxmlformats.org/officeDocument/2006/relationships/hyperlink" Target="https://bank.gov.ua/ua/news/all/pidsumki-diskusiyi-chleniv-komitetu-z-monetarnoyi-politiki-natsionalnogo-banku-schodo-rivnya-oblikovoyi-stavki-16-veresnya-2026-roku" TargetMode="External"/><Relationship Id="rId6" Type="http://schemas.openxmlformats.org/officeDocument/2006/relationships/hyperlink" Target="https://bank.gov.ua/ua/news/all/pidsumki-diskusiyi-chleniv-komitetu-z-monetarnoyi-politiki-natsionalnogo-banku-schodo-rivnya-oblikovoyi-stavki-16-veresnya-2026-roku" TargetMode="External"/><Relationship Id="rId7" Type="http://schemas.openxmlformats.org/officeDocument/2006/relationships/hyperlink" Target="https://bank.gov.ua/admin_uploads/article/Macroeconomic_Forecast_table_2026_07.xlsx?v=19" TargetMode="External"/><Relationship Id="rId8" Type="http://schemas.openxmlformats.org/officeDocument/2006/relationships/hyperlink" Target="https://bank.gov.ua/ua/news/all/natsionalniy-bank-ukrayini-pidvischiv-oblikovu-stavku-do-16" TargetMode="External"/><Relationship Id="rId9" Type="http://schemas.openxmlformats.org/officeDocument/2006/relationships/hyperlink" Target="https://bank.gov.ua/admin_uploads/article/Macroeconomic_Forecast_table_2026_07.xlsx?v=19" TargetMode="External"/><Relationship Id="rId10" Type="http://schemas.openxmlformats.org/officeDocument/2006/relationships/hyperlink" Target="https://bank.gov.ua/admin_uploads/article/Macroeconomic_Forecast_table_2026_07.xlsx?v=19" TargetMode="External"/><Relationship Id="rId11" Type="http://schemas.openxmlformats.org/officeDocument/2006/relationships/hyperlink" Target="https://bank.gov.ua/ua/open-data/api-dev" TargetMode="External"/><Relationship Id="rId12" Type="http://schemas.openxmlformats.org/officeDocument/2006/relationships/hyperlink" Target="https://db.nomics.world/EIA/PET/RBRTE.M" TargetMode="External"/><Relationship Id="rId13" Type="http://schemas.openxmlformats.org/officeDocument/2006/relationships/hyperlink" Target="https://finance.yahoo.com/quote/BZ%3DF/" TargetMode="External"/><Relationship Id="rId14" Type="http://schemas.openxmlformats.org/officeDocument/2006/relationships/hyperlink" Target="https://www.ecb.europa.eu/press/projections/html/index.en.html" TargetMode="External"/><Relationship Id="rId15" Type="http://schemas.openxmlformats.org/officeDocument/2006/relationships/slideLayout" Target="../slideLayouts/slideLayout6.xml"/><Relationship Id="rId16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files/macro/CCPI_m.xlsx" TargetMode="External"/><Relationship Id="rId2" Type="http://schemas.openxmlformats.org/officeDocument/2006/relationships/hyperlink" Target="https://bank.gov.ua/admin_uploads/article/Macroeconomic_Forecast_table_2026_07.xlsx?v=19" TargetMode="External"/><Relationship Id="rId3" Type="http://schemas.openxmlformats.org/officeDocument/2006/relationships/image" Target="../media/image-27-1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news/all/pidsumki-diskusiyi-chleniv-komitetu-z-monetarnoyi-politiki-natsionalnogo-banku-schodo-rivnya-oblikovoyi-stavki-16-veresnya-2026-roku" TargetMode="External"/><Relationship Id="rId2" Type="http://schemas.openxmlformats.org/officeDocument/2006/relationships/hyperlink" Target="https://bank.gov.ua/ua/news/all/inflyatsiya-prishvidshitsya-u-drugomu-pivrichchi-ale-povernetsya-do-znijennya-nastupnogo-roku--inflyatsiyniy-zvit" TargetMode="External"/><Relationship Id="rId3" Type="http://schemas.openxmlformats.org/officeDocument/2006/relationships/slideLayout" Target="../slideLayouts/slideLayout6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news/all/natsionalniy-bank-ukrayini-pidvischiv-oblikovu-stavku-do-16" TargetMode="External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hyperlink" Target="https://interfax.com.ua/news/economic/1205936.html" TargetMode="External"/><Relationship Id="rId2" Type="http://schemas.openxmlformats.org/officeDocument/2006/relationships/hyperlink" Target="https://finance.yahoo.com/quote/BZ%3DF/" TargetMode="External"/><Relationship Id="rId3" Type="http://schemas.openxmlformats.org/officeDocument/2006/relationships/hyperlink" Target="https://bank.gov.ua/ua/news/all/pidsumki-diskusiyi-chleniv-komitetu-z-monetarnoyi-politiki-natsionalnogo-banku-schodo-rivnya-oblikovoyi-stavki-16-veresnya-2026-roku" TargetMode="External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hyperlink" Target="https://events.bank.gov.ua/uchallenge2026/files/nbu_challenge_model_2026.zip" TargetMode="External"/><Relationship Id="rId2" Type="http://schemas.openxmlformats.org/officeDocument/2006/relationships/hyperlink" Target="https://bank.gov.ua/ua/open-data/api-dev" TargetMode="External"/><Relationship Id="rId3" Type="http://schemas.openxmlformats.org/officeDocument/2006/relationships/hyperlink" Target="https://data.ecb.europa.eu/" TargetMode="External"/><Relationship Id="rId4" Type="http://schemas.openxmlformats.org/officeDocument/2006/relationships/hyperlink" Target="https://ec.europa.eu/eurostat/databrowser/view/prc_hicp_minr/default/table" TargetMode="External"/><Relationship Id="rId5" Type="http://schemas.openxmlformats.org/officeDocument/2006/relationships/slideLayout" Target="../slideLayouts/slideLayout6.xml"/><Relationship Id="rId6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hyperlink" Target="https://events.bank.gov.ua/uchallenge2026/files/nbu_challenge_model_2026.zip" TargetMode="External"/><Relationship Id="rId2" Type="http://schemas.openxmlformats.org/officeDocument/2006/relationships/image" Target="../media/image-33-1.png"/><Relationship Id="rId3" Type="http://schemas.openxmlformats.org/officeDocument/2006/relationships/slideLayout" Target="../slideLayouts/slideLayout6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hyperlink" Target="https://events.bank.gov.ua/uchallenge2026/files/nbu_challenge_model_2026.zip" TargetMode="External"/><Relationship Id="rId2" Type="http://schemas.openxmlformats.org/officeDocument/2006/relationships/image" Target="../media/image-34-1.png"/><Relationship Id="rId3" Type="http://schemas.openxmlformats.org/officeDocument/2006/relationships/slideLayout" Target="../slideLayouts/slideLayout6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open-data/api-dev" TargetMode="External"/><Relationship Id="rId2" Type="http://schemas.openxmlformats.org/officeDocument/2006/relationships/image" Target="../media/image-35-1.png"/><Relationship Id="rId3" Type="http://schemas.openxmlformats.org/officeDocument/2006/relationships/slideLayout" Target="../slideLayouts/slideLayout6.xml"/><Relationship Id="rId4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open-data/api-dev" TargetMode="External"/><Relationship Id="rId2" Type="http://schemas.openxmlformats.org/officeDocument/2006/relationships/hyperlink" Target="https://bank.gov.ua/files/macro/CCPI_m.xlsx" TargetMode="External"/><Relationship Id="rId3" Type="http://schemas.openxmlformats.org/officeDocument/2006/relationships/hyperlink" Target="https://bank.gov.ua/admin_uploads/article/Tables_Charts_2026-Q3.xlsx?v=19" TargetMode="External"/><Relationship Id="rId4" Type="http://schemas.openxmlformats.org/officeDocument/2006/relationships/hyperlink" Target="https://bank.gov.ua/ua/news/all/komentar-natsionalnogo-banku-schodo-rivnya-inflyatsiyi-u-veresni-2026-roku" TargetMode="External"/><Relationship Id="rId5" Type="http://schemas.openxmlformats.org/officeDocument/2006/relationships/hyperlink" Target="https://bank.gov.ua/ua/open-data/api-dev" TargetMode="External"/><Relationship Id="rId6" Type="http://schemas.openxmlformats.org/officeDocument/2006/relationships/hyperlink" Target="https://stat.gov.ua/" TargetMode="External"/><Relationship Id="rId7" Type="http://schemas.openxmlformats.org/officeDocument/2006/relationships/hyperlink" Target="https://bank.gov.ua/ua/news/all/komentar-natsionalnogo-banku-schodo-zmini-realnogo-vvp-u-ii-kvartali-2026-roku" TargetMode="External"/><Relationship Id="rId8" Type="http://schemas.openxmlformats.org/officeDocument/2006/relationships/hyperlink" Target="https://bank.gov.ua/files/macro/Wages_m.xlsx" TargetMode="External"/><Relationship Id="rId9" Type="http://schemas.openxmlformats.org/officeDocument/2006/relationships/hyperlink" Target="https://bank.gov.ua/files/macro/S_budget_m.xlsx" TargetMode="External"/><Relationship Id="rId10" Type="http://schemas.openxmlformats.org/officeDocument/2006/relationships/hyperlink" Target="https://bank.gov.ua/ua/news/all/inflyatsiya-prishvidshitsya-u-drugomu-pivrichchi-ale-povernetsya-do-znijennya-nastupnogo-roku--inflyatsiyniy-zvit" TargetMode="External"/><Relationship Id="rId11" Type="http://schemas.openxmlformats.org/officeDocument/2006/relationships/hyperlink" Target="https://bank.gov.ua/admin_uploads/article/Macroeconomic_Forecast_table_2026_07.xlsx?v=19" TargetMode="External"/><Relationship Id="rId12" Type="http://schemas.openxmlformats.org/officeDocument/2006/relationships/hyperlink" Target="https://bank.gov.ua/admin_uploads/article/Tables_Charts_2026-Q3.xlsx?v=19" TargetMode="External"/><Relationship Id="rId13" Type="http://schemas.openxmlformats.org/officeDocument/2006/relationships/hyperlink" Target="https://p4.bank.gov.ua/admin_uploads/article/MPG_2024-mt_eng.pdf" TargetMode="External"/><Relationship Id="rId14" Type="http://schemas.openxmlformats.org/officeDocument/2006/relationships/hyperlink" Target="https://ec.europa.eu/eurostat/databrowser/view/prc_hicp_minr/default/table" TargetMode="External"/><Relationship Id="rId15" Type="http://schemas.openxmlformats.org/officeDocument/2006/relationships/hyperlink" Target="https://data.ecb.europa.eu/" TargetMode="External"/><Relationship Id="rId16" Type="http://schemas.openxmlformats.org/officeDocument/2006/relationships/hyperlink" Target="https://www.ecb.europa.eu/press/projections/html/index.en.html" TargetMode="External"/><Relationship Id="rId17" Type="http://schemas.openxmlformats.org/officeDocument/2006/relationships/hyperlink" Target="https://db.nomics.world/EIA/PET/RBRTE.M" TargetMode="External"/><Relationship Id="rId18" Type="http://schemas.openxmlformats.org/officeDocument/2006/relationships/hyperlink" Target="https://finance.yahoo.com/quote/BZ%3DF/" TargetMode="External"/><Relationship Id="rId19" Type="http://schemas.openxmlformats.org/officeDocument/2006/relationships/hyperlink" Target="https://bank.gov.ua/ua/news/all/natsionalniy-bank-ukrayini-pidvischiv-oblikovu-stavku-do-16" TargetMode="External"/><Relationship Id="rId20" Type="http://schemas.openxmlformats.org/officeDocument/2006/relationships/hyperlink" Target="https://bank.gov.ua/ua/news/all/pidsumki-diskusiyi-chleniv-komitetu-z-monetarnoyi-politiki-natsionalnogo-banku-schodo-rivnya-oblikovoyi-stavki-16-veresnya-2026-roku" TargetMode="External"/><Relationship Id="rId21" Type="http://schemas.openxmlformats.org/officeDocument/2006/relationships/hyperlink" Target="https://bank.gov.ua/admin_uploads/article/Strategy_for_easing_FX_restrictions_07-07-2023.pdf?v=19" TargetMode="External"/><Relationship Id="rId22" Type="http://schemas.openxmlformats.org/officeDocument/2006/relationships/hyperlink" Target="https://bank.gov.ua/ua/news/all/nbu-vprovadjuye-paket-pomyakshennya-valyutnih-obmejen-z-osnovnim-fokusom-na-pidtrimtsi-naselennya" TargetMode="External"/><Relationship Id="rId23" Type="http://schemas.openxmlformats.org/officeDocument/2006/relationships/hyperlink" Target="https://bank.gov.ua/ua/news/all/rada-mvf-shvalila-pershiy-pereglyad-programi-rozshirenogo-finansuvannya-ta-zatverdila-vidilennya-transhu-obsyagom-690-mln-dol-ssha" TargetMode="External"/><Relationship Id="rId24" Type="http://schemas.openxmlformats.org/officeDocument/2006/relationships/hyperlink" Target="https://events.bank.gov.ua/uchallenge2026/files/nbu_challenge_model_2026.zip" TargetMode="External"/><Relationship Id="rId25" Type="http://schemas.openxmlformats.org/officeDocument/2006/relationships/slideLayout" Target="../slideLayouts/slideLayout6.xml"/><Relationship Id="rId26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Рекомендації щодо монетарної політики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70332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Рішення Правління НБУ 29 жовтня 2026 року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84632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Команда [назва]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[Університет, факультет]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NBU University Challenge 2026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Головне: ставка 17%, гнучкіший курс, пауза в лібералізації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p4.bank.gov.ua/admin_uploads/article/MPG_2024-mt_eng.pdf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Основні засади ГКП (2024)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ua/news/all/inflyatsiya-prishvidshitsya-u-drugomu-pivrichchi-ale-povernetsya-do-znijennya-nastupnogo-roku--inflyatsiyniy-zvit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НБУ, Інфляційний звіт (липень 2026)</a:t>
            </a:r>
            <a:endParaRPr lang="en-US" sz="900" dirty="0"/>
          </a:p>
        </p:txBody>
      </p:sp>
      <p:sp>
        <p:nvSpPr>
          <p:cNvPr id="5" name="card1"/>
          <p:cNvSpPr/>
          <p:nvPr/>
        </p:nvSpPr>
        <p:spPr>
          <a:xfrm>
            <a:off x="457200" y="1325880"/>
            <a:ext cx="3576218" cy="2148840"/>
          </a:xfrm>
          <a:prstGeom prst="roundRect">
            <a:avLst>
              <a:gd name="adj" fmla="val 3404"/>
            </a:avLst>
          </a:prstGeom>
          <a:solidFill>
            <a:srgbClr val="EAF1EF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85800" y="1490472"/>
            <a:ext cx="31190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6"/>
                </a:solidFill>
              </a:rPr>
              <a:t>ОБЛІКОВА СТАВКА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783080"/>
            <a:ext cx="31190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17%</a:t>
            </a:r>
            <a:pPr indent="0" marL="0">
              <a:buNone/>
            </a:pPr>
            <a:r>
              <a:rPr lang="en-US" sz="1500" b="1" dirty="0">
                <a:solidFill>
                  <a:srgbClr val="C98A00"/>
                </a:solidFill>
              </a:rPr>
              <a:t>  +1,0 в. п.</a:t>
            </a:r>
            <a:endParaRPr lang="en-US" sz="40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560320"/>
            <a:ext cx="31190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утримувати щонайменше до середини 2027; далі — зниження; інфляція нижче 5% з I кв. 2028, ≈5% у 2028</a:t>
            </a:r>
            <a:endParaRPr lang="en-US" sz="1300" dirty="0"/>
          </a:p>
        </p:txBody>
      </p:sp>
      <p:sp>
        <p:nvSpPr>
          <p:cNvPr id="9" name="card2"/>
          <p:cNvSpPr/>
          <p:nvPr/>
        </p:nvSpPr>
        <p:spPr>
          <a:xfrm>
            <a:off x="4307738" y="1325880"/>
            <a:ext cx="3576218" cy="2148840"/>
          </a:xfrm>
          <a:prstGeom prst="roundRect">
            <a:avLst>
              <a:gd name="adj" fmla="val 3404"/>
            </a:avLst>
          </a:prstGeom>
          <a:solidFill>
            <a:srgbClr val="EAF1E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4536338" y="1490472"/>
            <a:ext cx="31190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6"/>
                </a:solidFill>
              </a:rPr>
              <a:t>КУРС ГРИВНІ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4536338" y="1783080"/>
            <a:ext cx="31190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Гнучкий</a:t>
            </a:r>
            <a:pPr indent="0" marL="0">
              <a:buNone/>
            </a:pPr>
            <a:r>
              <a:rPr lang="en-US" sz="1500" b="1" dirty="0">
                <a:solidFill>
                  <a:srgbClr val="C98A00"/>
                </a:solidFill>
              </a:rPr>
              <a:t>  </a:t>
            </a:r>
            <a:endParaRPr lang="en-US" sz="4000" dirty="0"/>
          </a:p>
        </p:txBody>
      </p:sp>
      <p:sp>
        <p:nvSpPr>
          <p:cNvPr id="12" name="Text 9"/>
          <p:cNvSpPr txBox="1"/>
          <p:nvPr/>
        </p:nvSpPr>
        <p:spPr>
          <a:xfrm>
            <a:off x="4536338" y="2560320"/>
            <a:ext cx="31190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після плато ≈44,7 грн/$ (червень–вересень) у жовтні — до 45,08 (14.10, історичний мінімум гривні), 25.10 — 45,05; допускати двосторонні коливання, інтервенції лише згладжують; рівень не фіксувати</a:t>
            </a:r>
            <a:endParaRPr lang="en-US" sz="1300" dirty="0"/>
          </a:p>
        </p:txBody>
      </p:sp>
      <p:sp>
        <p:nvSpPr>
          <p:cNvPr id="13" name="card3"/>
          <p:cNvSpPr/>
          <p:nvPr/>
        </p:nvSpPr>
        <p:spPr>
          <a:xfrm>
            <a:off x="8158277" y="1325880"/>
            <a:ext cx="3576218" cy="2148840"/>
          </a:xfrm>
          <a:prstGeom prst="roundRect">
            <a:avLst>
              <a:gd name="adj" fmla="val 3404"/>
            </a:avLst>
          </a:prstGeom>
          <a:solidFill>
            <a:srgbClr val="EAF1E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386877" y="1490472"/>
            <a:ext cx="31190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6"/>
                </a:solidFill>
              </a:rPr>
              <a:t>ВАЛЮТНІ ОБМЕЖЕННЯ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386877" y="1783080"/>
            <a:ext cx="31190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Пауза</a:t>
            </a:r>
            <a:pPr indent="0" marL="0">
              <a:buNone/>
            </a:pPr>
            <a:r>
              <a:rPr lang="en-US" sz="1500" b="1" dirty="0">
                <a:solidFill>
                  <a:srgbClr val="C98A00"/>
                </a:solidFill>
              </a:rPr>
              <a:t>  етап III</a:t>
            </a:r>
            <a:endParaRPr lang="en-US" sz="4000" dirty="0"/>
          </a:p>
        </p:txBody>
      </p:sp>
      <p:sp>
        <p:nvSpPr>
          <p:cNvPr id="16" name="Text 13"/>
          <p:cNvSpPr txBox="1"/>
          <p:nvPr/>
        </p:nvSpPr>
        <p:spPr>
          <a:xfrm>
            <a:off x="8386877" y="2560320"/>
            <a:ext cx="31190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серпневий пакет зберегти; нові кроки — після відновлення резервів і допомоги</a:t>
            </a:r>
            <a:endParaRPr lang="en-US" sz="1300" dirty="0"/>
          </a:p>
        </p:txBody>
      </p:sp>
      <p:graphicFrame>
        <p:nvGraphicFramePr>
          <p:cNvPr id="3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794760"/>
          <a:ext cx="1127729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996364"/>
                <a:gridCol w="1996364"/>
                <a:gridCol w="1996364"/>
                <a:gridCol w="1996364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IV кв. 2026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IV кв. 2027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IV кв. 2028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IV кв. 2029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ІСЦ, % р/р*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11,2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5,4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4,8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4,8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Базова інфляція, % р/р*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9,3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4,2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3,4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4,7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Реальний ВВП, % (рік)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0,5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−0,2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2,4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3,2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Облікова ставка, %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17,0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13,1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10,5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10,5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Курс, грн/$ (модель)**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45,0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45,6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46,6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47,0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 14"/>
          <p:cNvSpPr txBox="1"/>
          <p:nvPr/>
        </p:nvSpPr>
        <p:spPr>
          <a:xfrm>
            <a:off x="457200" y="6281928"/>
            <a:ext cx="112772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* Середнє за квартал (SA); грудень 2026 — 12,1% (наукаст). ** Грн/€ з моделі ÷ EUR/USD 1,12 (жовтневий рівень); аналітики чекають ≈47 грн/$ через рік — курсовий ризик. Інфляція нижче 5% з I кв. 2028, ≈5% у 2028 (у 2028 — 3,8–4,8%). Дані на 25.10.2026.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Огляд економіки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28016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4904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E3DE"/>
                </a:solidFill>
              </a:rPr>
              <a:t>Інфляція прискорюється, резерви тануть, економіка сповільнюється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Зовнішнє середовище стало проінфляційним: нафта ≈$125, ЄЦБ підвищує ставку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www.ecb.europa.eu/press/projections/html/index.en.htm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прогноз ЄЦБ (вересень 2026)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ec.europa.eu/eurostat/databrowser/view/prc_hicp_minr/default/tabl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Eurostat HICP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db.nomics.world/EIA/PET/RBRTE.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EIA Brent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4" invalidUrl="" action="" tgtFrame="" tooltip="https://finance.yahoo.com/quote/BZ%3DF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ф'ючерси Brent</a:t>
            </a:r>
            <a:endParaRPr lang="en-US" sz="900" dirty="0"/>
          </a:p>
        </p:txBody>
      </p:sp>
      <p:pic>
        <p:nvPicPr>
          <p:cNvPr id="5" name="chart" descr="/home/user/nbu-challenge-2026/results/figures/ov_external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5120" y="1325880"/>
            <a:ext cx="10421455" cy="3703320"/>
          </a:xfrm>
          <a:prstGeom prst="rect">
            <a:avLst/>
          </a:prstGeom>
        </p:spPr>
      </p:pic>
      <p:sp>
        <p:nvSpPr>
          <p:cNvPr id="6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Війна на Близькому Сході (з 28.02.2026): Brent (спот) — в середньому $117 у квітні, $114 у вересні, ≈$125 за 1–20.10 (НБУ закладав $80–85); ф'ючерси — $87 наприкінці 2027</a:t>
            </a:r>
            <a:endParaRPr lang="en-US" sz="1300" dirty="0"/>
          </a:p>
        </p:txBody>
      </p:sp>
      <p:sp>
        <p:nvSpPr>
          <p:cNvPr id="9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ЄЦБ підвищив ставку до 2,5% (червень, вересень); його технічні припущення — ≈3% у 2027–2028</a:t>
            </a:r>
            <a:endParaRPr lang="en-US" sz="1300" dirty="0"/>
          </a:p>
        </p:txBody>
      </p:sp>
      <p:sp>
        <p:nvSpPr>
          <p:cNvPr id="12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Інфляція в єврозоні — 3,8% у вересні; ЄЦБ чекає пік ≈3,6% у IV кв. 2026 і 3,0% / 2,5% / 2,1% у середньому за 2026–2028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Інфляція у вересні — 10,0%: пальне, руйнування логістики, прискорення базової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news/all/komentar-natsionalnogo-banku-schodo-rivnya-inflyatsiyi-u-veresni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коментар НБУ: інфляція у вересні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admin_uploads/article/Tables_Charts_2026-Q3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дані графіків ІЗ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bank.gov.ua/ua/open-data/api-dev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API НБУ</a:t>
            </a:r>
            <a:endParaRPr lang="en-US" sz="900" dirty="0"/>
          </a:p>
        </p:txBody>
      </p:sp>
      <p:pic>
        <p:nvPicPr>
          <p:cNvPr id="5" name="chart" descr="/home/user/nbu-challenge-2026/results/figures/ov_inflatio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770" y="1325880"/>
            <a:ext cx="10436154" cy="3703320"/>
          </a:xfrm>
          <a:prstGeom prst="rect">
            <a:avLst/>
          </a:prstGeom>
        </p:spPr>
      </p:pic>
      <p:sp>
        <p:nvSpPr>
          <p:cNvPr id="6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+2,1% за місяць: пальне +46,2% р/р, адмінціни +13,6% (проїзд, вода, алкоголь), атаки на склади й логістику</a:t>
            </a:r>
            <a:endParaRPr lang="en-US" sz="1300" dirty="0"/>
          </a:p>
        </p:txBody>
      </p:sp>
      <p:sp>
        <p:nvSpPr>
          <p:cNvPr id="9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Базова інфляція 8,8% (з 8,1%): оброблені продукти +10,7%, послуги +13,7% (зарплати, оренда)</a:t>
            </a:r>
            <a:endParaRPr lang="en-US" sz="1300" dirty="0"/>
          </a:p>
        </p:txBody>
      </p:sp>
      <p:sp>
        <p:nvSpPr>
          <p:cNvPr id="12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Сирі продукти прискорилися до 6,7%: менші врожаї овочів, витрати на транспорт і зберігання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Очікування підвищені; реальна ставка від очікувань ≈8% — гривневі активи поки привабливі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admin_uploads/article/Tables_Charts_2026-Q3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дані графіків ІЗ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minfin.com.ua/ua/2026/10/07/183076902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аукціон ОВДП 06.10.2026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bank.gov.ua/ua/news/all/pidsumki-diskusiyi-chleniv-komitetu-z-monetarnoyi-politiki-natsionalnogo-banku-schodo-rivnya-oblikovoyi-stavki-16-veresnya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підсумки дискусії КМП</a:t>
            </a:r>
            <a:endParaRPr lang="en-US" sz="900" dirty="0"/>
          </a:p>
        </p:txBody>
      </p:sp>
      <p:pic>
        <p:nvPicPr>
          <p:cNvPr id="5" name="chart" descr="/home/user/nbu-challenge-2026/results/figures/ov_rate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325880"/>
            <a:ext cx="11277295" cy="3148596"/>
          </a:xfrm>
          <a:prstGeom prst="rect">
            <a:avLst/>
          </a:prstGeom>
        </p:spPr>
      </p:pic>
      <p:sp>
        <p:nvSpPr>
          <p:cNvPr id="6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Очікування домогосподарств 10–14% — вище фактичної інфляції; аналітики підвищили до 7,9% (липень)</a:t>
            </a:r>
            <a:endParaRPr lang="en-US" sz="1300" dirty="0"/>
          </a:p>
        </p:txBody>
      </p:sp>
      <p:sp>
        <p:nvSpPr>
          <p:cNvPr id="9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Реальна ставка (як рахує НБУ — від липневих очікувань аналітиків): ≈8,1%; але депозитні ставки великих банків після липня й вересня майже не зросли — трансмісія слабка</a:t>
            </a:r>
            <a:endParaRPr lang="en-US" sz="1300" dirty="0"/>
          </a:p>
        </p:txBody>
      </p:sp>
      <p:sp>
        <p:nvSpPr>
          <p:cNvPr id="12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ОВДП (06.10): 1 рік — 15,1%, 2,5 року — 16,5% — ринок чекає високих ставок надовго, але не різкого посилення; кредити бізнесу +30% р/р (КМП)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Активність: врожай підтримав III кв., але промисловість і логістика слабкі, а зарплати +21–25%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news/all/komentar-natsionalnogo-banku-schodo-zmini-realnogo-vvp-u-ii-kvartali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коментар НБУ: ВВП II кв.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minfin.com.ua/ua/2026/09/23/182198642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ІЕД: ВВП у липні–серпні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bank.gov.ua/ua/news/all/pidsumki-diskusiyi-chleniv-komitetu-z-monetarnoyi-politiki-natsionalnogo-banku-schodo-rivnya-oblikovoyi-stavki-16-veresnya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підсумки дискусії КМП</a:t>
            </a:r>
            <a:endParaRPr lang="en-US" sz="900" dirty="0"/>
          </a:p>
        </p:txBody>
      </p:sp>
      <p:pic>
        <p:nvPicPr>
          <p:cNvPr id="5" name="chart" descr="/home/user/nbu-challenge-2026/results/figures/ov_activit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325880"/>
            <a:ext cx="11277295" cy="3357182"/>
          </a:xfrm>
          <a:prstGeom prst="rect">
            <a:avLst/>
          </a:prstGeom>
        </p:spPr>
      </p:pic>
      <p:sp>
        <p:nvSpPr>
          <p:cNvPr id="6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ВВП II кв.: +0,4% р/р; III кв. — ≈+1% р/р (ІЕД: липень +4%, серпень +1,2% — врожай), «суттєво гірше» за прогноз НБУ (+2,1%)</a:t>
            </a:r>
            <a:endParaRPr lang="en-US" sz="1300" dirty="0"/>
          </a:p>
        </p:txBody>
      </p:sp>
      <p:sp>
        <p:nvSpPr>
          <p:cNvPr id="9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Атаки б'ють і по попиту, і по потенціалу (енергетика, логістика, порти; −0,9 в. п. до ВВП-2026 за НБУ)</a:t>
            </a:r>
            <a:endParaRPr lang="en-US" sz="1300" dirty="0"/>
          </a:p>
        </p:txBody>
      </p:sp>
      <p:sp>
        <p:nvSpPr>
          <p:cNvPr id="12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Потенціал постраждав сильніше: дефіцит кадрів, зарплати +21–25% р/р у I пів., +23% у серпні — розрив ВВП додатний, послуги дорожчають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НБУ продає ≈$5,0 млрд на місяць — резерви впали до $47,1 млрд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open-data/api-dev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API НБУ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ua/news/all/mijnarodni-rezervi-stanovili-471-mlrd-dol-ssha-za-pidsumkami-veresnya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НБУ: резерви у вересні (USL $3,81 млрд)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epravda.com.ua/finances/valyutniy-rinok-ukrajini-rezultati-troh-rokiv-rezhimu-kerovanoji-gnuchkosti-826509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А. Пишний: три роки керованої гнучкості</a:t>
            </a:r>
            <a:endParaRPr lang="en-US" sz="900" dirty="0"/>
          </a:p>
        </p:txBody>
      </p:sp>
      <p:pic>
        <p:nvPicPr>
          <p:cNvPr id="5" name="chart" descr="/home/user/nbu-challenge-2026/results/figures/ov_fx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325880"/>
            <a:ext cx="11277295" cy="3144886"/>
          </a:xfrm>
          <a:prstGeom prst="rect">
            <a:avLst/>
          </a:prstGeom>
        </p:spPr>
      </p:pic>
      <p:sp>
        <p:nvSpPr>
          <p:cNvPr id="6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Чистий продаж валюти НБУ: $4,8 млрд у серпні, $5,5 млрд у вересні — рекорд року</a:t>
            </a:r>
            <a:endParaRPr lang="en-US" sz="1300" dirty="0"/>
          </a:p>
        </p:txBody>
      </p:sp>
      <p:sp>
        <p:nvSpPr>
          <p:cNvPr id="9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Резерви: $51,2 млрд (липень) → $47,1 млрд (вересень) проти $53,8 млрд у прогнозі НБУ на кінець III кв.</a:t>
            </a:r>
            <a:endParaRPr lang="en-US" sz="1300" dirty="0"/>
          </a:p>
        </p:txBody>
      </p:sp>
      <p:sp>
        <p:nvSpPr>
          <p:cNvPr id="12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Курс: ≈44,7 грн/$ з червня по вересень, у жовтні — до 45,08 (14.10, історичний мінімум гривні), 25.10 — 45,05 (за рік — +8%); продаж валюти здебільшого «доносить» допомогу: у вересні уряд конвертував $3,81 млрд оборонного траншу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Макроекономічний прогноз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28016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4904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E3DE"/>
                </a:solidFill>
              </a:rPr>
              <a:t>QPM НБУ на Python + короткостроковий прогноз + судження + сценарії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Модель: QPM НБУ з нашим розширенням — у Python і MATLAB/IRIS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events.bank.gov.ua/uchallenge2026/files/nbu_challenge_model_2026.zip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модель-шаблон НБУ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ua/open-data/api-dev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API НБУ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data.ecb.europa.eu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ЄЦБ Data Portal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4" invalidUrl="" action="" tgtFrame="" tooltip="https://ec.europa.eu/eurostat/databrowser/view/prc_hicp_minr/default/tabl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Eurostat HICP</a:t>
            </a:r>
            <a:endParaRPr lang="en-US" sz="900" dirty="0"/>
          </a:p>
        </p:txBody>
      </p:sp>
      <p:sp>
        <p:nvSpPr>
          <p:cNvPr id="5" name="step1"/>
          <p:cNvSpPr/>
          <p:nvPr/>
        </p:nvSpPr>
        <p:spPr>
          <a:xfrm>
            <a:off x="457200" y="1417320"/>
            <a:ext cx="2510714" cy="1600200"/>
          </a:xfrm>
          <a:prstGeom prst="roundRect">
            <a:avLst>
              <a:gd name="adj" fmla="val 4571"/>
            </a:avLst>
          </a:prstGeom>
          <a:solidFill>
            <a:srgbClr val="EAF1EF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40080" y="1581912"/>
            <a:ext cx="21449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Дані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057400"/>
            <a:ext cx="214495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API НБУ, Держстат, ЄЦБ, Eurostat, Brent; оновлення одним скриптом</a:t>
            </a:r>
            <a:endParaRPr lang="en-US" sz="1300" dirty="0"/>
          </a:p>
        </p:txBody>
      </p:sp>
      <p:sp>
        <p:nvSpPr>
          <p:cNvPr id="8" name="arrow1"/>
          <p:cNvSpPr/>
          <p:nvPr/>
        </p:nvSpPr>
        <p:spPr>
          <a:xfrm>
            <a:off x="3041066" y="2080260"/>
            <a:ext cx="265176" cy="274320"/>
          </a:xfrm>
          <a:prstGeom prst="rightArrow">
            <a:avLst/>
          </a:prstGeom>
          <a:solidFill>
            <a:srgbClr val="C98A00"/>
          </a:solidFill>
          <a:ln/>
        </p:spPr>
      </p:sp>
      <p:sp>
        <p:nvSpPr>
          <p:cNvPr id="9" name="step2"/>
          <p:cNvSpPr/>
          <p:nvPr/>
        </p:nvSpPr>
        <p:spPr>
          <a:xfrm>
            <a:off x="3379394" y="1417320"/>
            <a:ext cx="2510714" cy="1600200"/>
          </a:xfrm>
          <a:prstGeom prst="roundRect">
            <a:avLst>
              <a:gd name="adj" fmla="val 4571"/>
            </a:avLst>
          </a:prstGeom>
          <a:solidFill>
            <a:srgbClr val="EAF1E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3562274" y="1581912"/>
            <a:ext cx="21449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Фільтр Калмана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3562274" y="2057400"/>
            <a:ext cx="214495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розриви й тренди: ВВП, реальний курс, нейтральна ставка</a:t>
            </a:r>
            <a:endParaRPr lang="en-US" sz="1300" dirty="0"/>
          </a:p>
        </p:txBody>
      </p:sp>
      <p:sp>
        <p:nvSpPr>
          <p:cNvPr id="12" name="arrow2"/>
          <p:cNvSpPr/>
          <p:nvPr/>
        </p:nvSpPr>
        <p:spPr>
          <a:xfrm>
            <a:off x="5963260" y="2080260"/>
            <a:ext cx="265176" cy="274320"/>
          </a:xfrm>
          <a:prstGeom prst="rightArrow">
            <a:avLst/>
          </a:prstGeom>
          <a:solidFill>
            <a:srgbClr val="C98A00"/>
          </a:solidFill>
          <a:ln/>
        </p:spPr>
      </p:sp>
      <p:sp>
        <p:nvSpPr>
          <p:cNvPr id="13" name="step3"/>
          <p:cNvSpPr/>
          <p:nvPr/>
        </p:nvSpPr>
        <p:spPr>
          <a:xfrm>
            <a:off x="6301588" y="1417320"/>
            <a:ext cx="2510714" cy="1600200"/>
          </a:xfrm>
          <a:prstGeom prst="roundRect">
            <a:avLst>
              <a:gd name="adj" fmla="val 4571"/>
            </a:avLst>
          </a:prstGeom>
          <a:solidFill>
            <a:srgbClr val="EAF1E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484468" y="1581912"/>
            <a:ext cx="21449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Прогноз із планом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6484468" y="2057400"/>
            <a:ext cx="214495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наукаст ІСЦ, судження з джерелами, ф'ючерси на нафту, прогноз ЄЦБ</a:t>
            </a:r>
            <a:endParaRPr lang="en-US" sz="1300" dirty="0"/>
          </a:p>
        </p:txBody>
      </p:sp>
      <p:sp>
        <p:nvSpPr>
          <p:cNvPr id="16" name="arrow3"/>
          <p:cNvSpPr/>
          <p:nvPr/>
        </p:nvSpPr>
        <p:spPr>
          <a:xfrm>
            <a:off x="8885453" y="2080260"/>
            <a:ext cx="265176" cy="274320"/>
          </a:xfrm>
          <a:prstGeom prst="rightArrow">
            <a:avLst/>
          </a:prstGeom>
          <a:solidFill>
            <a:srgbClr val="C98A00"/>
          </a:solidFill>
          <a:ln/>
        </p:spPr>
      </p:sp>
      <p:sp>
        <p:nvSpPr>
          <p:cNvPr id="17" name="step4"/>
          <p:cNvSpPr/>
          <p:nvPr/>
        </p:nvSpPr>
        <p:spPr>
          <a:xfrm>
            <a:off x="9223781" y="1417320"/>
            <a:ext cx="2510714" cy="1600200"/>
          </a:xfrm>
          <a:prstGeom prst="roundRect">
            <a:avLst>
              <a:gd name="adj" fmla="val 4571"/>
            </a:avLst>
          </a:prstGeom>
          <a:solidFill>
            <a:srgbClr val="EAF1EF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9406661" y="1581912"/>
            <a:ext cx="21449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 Політика й ризики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9406661" y="2057400"/>
            <a:ext cx="214495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сценарії, віяло, оптимальна ставка; перевірка в MATLAB/IRIS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457200" y="3429000"/>
            <a:ext cx="35762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1e−13</a:t>
            </a:r>
            <a:endParaRPr lang="en-US" sz="3400" dirty="0"/>
          </a:p>
        </p:txBody>
      </p:sp>
      <p:sp>
        <p:nvSpPr>
          <p:cNvPr id="21" name="Text 18"/>
          <p:cNvSpPr txBox="1"/>
          <p:nvPr/>
        </p:nvSpPr>
        <p:spPr>
          <a:xfrm>
            <a:off x="457200" y="4251960"/>
            <a:ext cx="35762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похибка розв'язку рівнянь моделі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307738" y="3429000"/>
            <a:ext cx="35762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1e−5*</a:t>
            </a:r>
            <a:endParaRPr lang="en-US" sz="3400" dirty="0"/>
          </a:p>
        </p:txBody>
      </p:sp>
      <p:sp>
        <p:nvSpPr>
          <p:cNvPr id="23" name="Text 20"/>
          <p:cNvSpPr txBox="1"/>
          <p:nvPr/>
        </p:nvSpPr>
        <p:spPr>
          <a:xfrm>
            <a:off x="4307738" y="4251960"/>
            <a:ext cx="35762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розбіжність Python і MATLAB/IRIS на тому самому файлі моделі: фільтр і всі 5 сценаріїв (* звірка від 21.10 на попередніх даних; після оновлення 25.10 run_check.m треба перезапустити)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8158277" y="3429000"/>
            <a:ext cx="35762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0,4–1,8 в. п.</a:t>
            </a:r>
            <a:endParaRPr lang="en-US" sz="3400" dirty="0"/>
          </a:p>
        </p:txBody>
      </p:sp>
      <p:sp>
        <p:nvSpPr>
          <p:cNvPr id="25" name="Text 22"/>
          <p:cNvSpPr txBox="1"/>
          <p:nvPr/>
        </p:nvSpPr>
        <p:spPr>
          <a:xfrm>
            <a:off x="8158277" y="4251960"/>
            <a:ext cx="35762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помилка ІСЦ на 1–4 кв. уперед, 3 прогони 2025 р. із фактичними зовнішніми умовами («без змін»: 1,3–6,1)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457200" y="498348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Що ми додали до шаблону НБУ</a:t>
            </a:r>
            <a:endParaRPr lang="en-US" sz="1300" dirty="0"/>
          </a:p>
        </p:txBody>
      </p:sp>
      <p:sp>
        <p:nvSpPr>
          <p:cNvPr id="27" name="chip1"/>
          <p:cNvSpPr/>
          <p:nvPr/>
        </p:nvSpPr>
        <p:spPr>
          <a:xfrm>
            <a:off x="457200" y="5349240"/>
            <a:ext cx="2386584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57200" y="5349240"/>
            <a:ext cx="2386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Базова + небазова інфляція</a:t>
            </a:r>
            <a:endParaRPr lang="en-US" sz="1200" dirty="0"/>
          </a:p>
        </p:txBody>
      </p:sp>
      <p:sp>
        <p:nvSpPr>
          <p:cNvPr id="29" name="chip2"/>
          <p:cNvSpPr/>
          <p:nvPr/>
        </p:nvSpPr>
        <p:spPr>
          <a:xfrm>
            <a:off x="2980944" y="5349240"/>
            <a:ext cx="1687068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980944" y="5349240"/>
            <a:ext cx="16870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Канал нафти Brent</a:t>
            </a:r>
            <a:endParaRPr lang="en-US" sz="1200" dirty="0"/>
          </a:p>
        </p:txBody>
      </p:sp>
      <p:sp>
        <p:nvSpPr>
          <p:cNvPr id="31" name="chip3"/>
          <p:cNvSpPr/>
          <p:nvPr/>
        </p:nvSpPr>
        <p:spPr>
          <a:xfrm>
            <a:off x="4805172" y="5349240"/>
            <a:ext cx="1842516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805172" y="5349240"/>
            <a:ext cx="18425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Наукаст ІСЦ і курсу</a:t>
            </a:r>
            <a:endParaRPr lang="en-US" sz="1200" dirty="0"/>
          </a:p>
        </p:txBody>
      </p:sp>
      <p:sp>
        <p:nvSpPr>
          <p:cNvPr id="33" name="chip4"/>
          <p:cNvSpPr/>
          <p:nvPr/>
        </p:nvSpPr>
        <p:spPr>
          <a:xfrm>
            <a:off x="6784848" y="5349240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784848" y="534924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Судження з джерелами</a:t>
            </a:r>
            <a:endParaRPr lang="en-US" sz="1200" dirty="0"/>
          </a:p>
        </p:txBody>
      </p:sp>
      <p:sp>
        <p:nvSpPr>
          <p:cNvPr id="35" name="chip5"/>
          <p:cNvSpPr/>
          <p:nvPr/>
        </p:nvSpPr>
        <p:spPr>
          <a:xfrm>
            <a:off x="8842248" y="5349240"/>
            <a:ext cx="1531620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842248" y="5349240"/>
            <a:ext cx="15316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Віялові графіки</a:t>
            </a:r>
            <a:endParaRPr lang="en-US" sz="1200" dirty="0"/>
          </a:p>
        </p:txBody>
      </p:sp>
      <p:sp>
        <p:nvSpPr>
          <p:cNvPr id="37" name="chip6"/>
          <p:cNvSpPr/>
          <p:nvPr/>
        </p:nvSpPr>
        <p:spPr>
          <a:xfrm>
            <a:off x="457200" y="5806440"/>
            <a:ext cx="1687068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457200" y="5806440"/>
            <a:ext cx="16870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Оптимальна ставка</a:t>
            </a:r>
            <a:endParaRPr lang="en-US" sz="1200" dirty="0"/>
          </a:p>
        </p:txBody>
      </p:sp>
      <p:sp>
        <p:nvSpPr>
          <p:cNvPr id="39" name="chip7"/>
          <p:cNvSpPr/>
          <p:nvPr/>
        </p:nvSpPr>
        <p:spPr>
          <a:xfrm>
            <a:off x="2281428" y="5806440"/>
            <a:ext cx="909828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2281428" y="5806440"/>
            <a:ext cx="9098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Бектест</a:t>
            </a:r>
            <a:endParaRPr lang="en-US" sz="1200" dirty="0"/>
          </a:p>
        </p:txBody>
      </p:sp>
      <p:sp>
        <p:nvSpPr>
          <p:cNvPr id="41" name="chip8"/>
          <p:cNvSpPr/>
          <p:nvPr/>
        </p:nvSpPr>
        <p:spPr>
          <a:xfrm>
            <a:off x="3328416" y="5806440"/>
            <a:ext cx="909828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3328416" y="5806440"/>
            <a:ext cx="9098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Резерви</a:t>
            </a:r>
            <a:endParaRPr lang="en-US" sz="1200" dirty="0"/>
          </a:p>
        </p:txBody>
      </p:sp>
      <p:sp>
        <p:nvSpPr>
          <p:cNvPr id="43" name="chip9"/>
          <p:cNvSpPr/>
          <p:nvPr/>
        </p:nvSpPr>
        <p:spPr>
          <a:xfrm>
            <a:off x="4375404" y="5806440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4375404" y="580644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Звірка з MATLAB/IRIS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Короткостроковий прогноз: інфляція зросте до ≈12,1% у грудні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open-data/api-dev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API НБУ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ua/news/all/komentar-natsionalnogo-banku-schodo-rivnya-inflyatsiyi-u-veresni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коментар НБУ: інфляція у вересні</a:t>
            </a:r>
            <a:endParaRPr lang="en-US" sz="900" dirty="0"/>
          </a:p>
        </p:txBody>
      </p:sp>
      <p:pic>
        <p:nvPicPr>
          <p:cNvPr id="5" name="chart" descr="/home/user/nbu-challenge-2026/results/figures/fc_nowcas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25880"/>
            <a:ext cx="6309360" cy="3388891"/>
          </a:xfrm>
          <a:prstGeom prst="rect">
            <a:avLst/>
          </a:prstGeom>
        </p:spPr>
      </p:pic>
      <p:graphicFrame>
        <p:nvGraphicFramePr>
          <p:cNvPr id="12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86600" y="1325880"/>
          <a:ext cx="4647895" cy="914400"/>
        </p:xfrm>
        <a:graphic>
          <a:graphicData uri="http://schemas.openxmlformats.org/drawingml/2006/table">
            <a:tbl>
              <a:tblPr/>
              <a:tblGrid>
                <a:gridCol w="1024128"/>
                <a:gridCol w="685800"/>
                <a:gridCol w="731520"/>
                <a:gridCol w="960120"/>
                <a:gridCol w="640080"/>
                <a:gridCol w="603504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Місяць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Тренд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Сезон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Поправка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м/м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р/р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2026-10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1,19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0,24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1,33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2026-11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1,19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0,02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1,11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11,3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2026-12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1,19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−0,16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0,93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12,1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bullets"/>
          <p:cNvSpPr txBox="1"/>
          <p:nvPr/>
        </p:nvSpPr>
        <p:spPr>
          <a:xfrm>
            <a:off x="7086600" y="3054096"/>
            <a:ext cx="4647895" cy="3255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Ефект бази: у жовтні–грудні 2025 ціни зросли лише на 1,5% → річна інфляція механічно зростає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Тренд 1,19% на місяць (без сезонності) — це ≈15% у річному вимірі; вересневий стрибок частково разовий (−0,1 в. п./міс.)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Грудень 12,1% — вище липневого прогнозу НБУ (10%); базова тим самим методом — 9,6% (НБУ: 9,2%)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Інфляція досягне піку наприкінці 2026 і повернеться до цілі у 2028 — у межах горизонту політики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p4.bank.gov.ua/admin_uploads/article/MPG_2024-mt_eng.pdf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Основні засади ГКП (2024)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admin_uploads/article/Macroeconomic_Forecast_table_2026_07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макропрогноз НБУ</a:t>
            </a:r>
            <a:endParaRPr lang="en-US" sz="900" dirty="0"/>
          </a:p>
        </p:txBody>
      </p:sp>
      <p:pic>
        <p:nvPicPr>
          <p:cNvPr id="5" name="chart" descr="/home/user/nbu-challenge-2026/results/figures/fc_fa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9919" y="1325880"/>
            <a:ext cx="9931857" cy="3703320"/>
          </a:xfrm>
          <a:prstGeom prst="rect">
            <a:avLst/>
          </a:prstGeom>
        </p:spPr>
      </p:pic>
      <p:sp>
        <p:nvSpPr>
          <p:cNvPr id="6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Пік — IV кв. 2026: ≈11,2% у середньому за квартал (у грудні — ≈12,1% за місяць); 5,4% у IV кв. 2027 (НБУ: 6,9% у грудні); нижче 5% — з I кв. 2028, у 2028 — 3,8–4,8% (дешевша нафта, слабкий попит), ≈5% — у 2028</a:t>
            </a:r>
            <a:endParaRPr lang="en-US" sz="1300" dirty="0"/>
          </a:p>
        </p:txBody>
      </p:sp>
      <p:sp>
        <p:nvSpPr>
          <p:cNvPr id="9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Ставка: 17% до середини 2027 → 13,1% наприкінці 2027 → 10,5% — 2028 → 10,5% — 2029</a:t>
            </a:r>
            <a:endParaRPr lang="en-US" sz="1300" dirty="0"/>
          </a:p>
        </p:txBody>
      </p:sp>
      <p:sp>
        <p:nvSpPr>
          <p:cNvPr id="12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Невизначеність велика: з імовірністю 70% інфляція наприкінці 2027 — від 2,0 до 9,1%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Економіка слабка, але потенціал постраждав ще більше: розрив ≈0,7% зараз, ≈−1,0% у 2027 (НБУ: 1,4%)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admin_uploads/article/Tables_Charts_2026-Q3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дані графіків ІЗ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admin_uploads/article/Macroeconomic_Forecast_table_2026_07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макропрогноз НБУ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interfax.com.ua/news/economic/1211092.htm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Мінекономіки: прогноз ВВП</a:t>
            </a:r>
            <a:endParaRPr lang="en-US" sz="900" dirty="0"/>
          </a:p>
        </p:txBody>
      </p:sp>
      <p:pic>
        <p:nvPicPr>
          <p:cNvPr id="5" name="chart main" descr="/home/user/nbu-challenge-2026/results/figures/fc_gap_vs_nbu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325880"/>
            <a:ext cx="4964529" cy="2740914"/>
          </a:xfrm>
          <a:prstGeom prst="rect">
            <a:avLst/>
          </a:prstGeom>
        </p:spPr>
      </p:pic>
      <p:pic>
        <p:nvPicPr>
          <p:cNvPr id="6" name="chart side" descr="/home/user/nbu-challenge-2026/results/figures/fc_trend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4203954"/>
            <a:ext cx="6232002" cy="2105406"/>
          </a:xfrm>
          <a:prstGeom prst="rect">
            <a:avLst/>
          </a:prstGeom>
        </p:spPr>
      </p:pic>
      <p:sp>
        <p:nvSpPr>
          <p:cNvPr id="7" name="bullets"/>
          <p:cNvSpPr txBox="1"/>
          <p:nvPr/>
        </p:nvSpPr>
        <p:spPr>
          <a:xfrm>
            <a:off x="7818120" y="1417320"/>
            <a:ext cx="3916375" cy="4892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ВВП: 0,5% / −0,2% / 2,4% у 2026–2028 (НБУ: 1,8 / 2,8 / 3,0%)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Мінекономіки теж погіршує прогноз: ≈0,5% у 2026, 0,8–1% у 2027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Розрив додатний → послуги дорожчають; у 2027 висока реальна ставка охолоджує попит; бюджетного стимулу не закладаємо: дефіцит скорочується з 35 до 26% ВВП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Сценарії: головні ризики — дефіцит фінансування, курс і очікування, а не нафта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news/all/pidsumki-diskusiyi-chleniv-komitetu-z-monetarnoyi-politiki-natsionalnogo-banku-schodo-rivnya-oblikovoyi-stavki-16-veresnya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підсумки дискусії КМП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finance.yahoo.com/quote/BZ%3DF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ф'ючерси Brent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bank.gov.ua/admin_uploads/article/Macroeconomic_Forecast_table_2026_07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макропрогноз НБУ</a:t>
            </a:r>
            <a:endParaRPr lang="en-US" sz="900" dirty="0"/>
          </a:p>
        </p:txBody>
      </p:sp>
      <p:pic>
        <p:nvPicPr>
          <p:cNvPr id="5" name="chart" descr="/home/user/nbu-challenge-2026/results/figures/fc_scenario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0344" y="1280160"/>
            <a:ext cx="10191008" cy="2606040"/>
          </a:xfrm>
          <a:prstGeom prst="rect">
            <a:avLst/>
          </a:prstGeom>
        </p:spPr>
      </p:pic>
      <p:graphicFrame>
        <p:nvGraphicFramePr>
          <p:cNvPr id="15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069080"/>
          <a:ext cx="704088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877824"/>
                <a:gridCol w="877824"/>
                <a:gridCol w="877824"/>
                <a:gridCol w="877824"/>
                <a:gridCol w="877824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Сценарій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ІСЦ пік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ІСЦ IV кв. 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Ставка пік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грн/$ IV кв. 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ВВП 2027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Базовий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11,2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45,6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Важка зима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12,4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17,8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45,7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−1,1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Дефіцит фінансування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13,0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19,3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48,5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Сприятливий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10,8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45,1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Нафта $120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11,3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45,6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bullets"/>
          <p:cNvSpPr txBox="1"/>
          <p:nvPr/>
        </p:nvSpPr>
        <p:spPr>
          <a:xfrm>
            <a:off x="7818120" y="4114800"/>
            <a:ext cx="391637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Дефіцит фінансування: гривня на ≈6% слабша (≈48 грн/$) → інфляція до 13,0%, ставка до 19,3%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Важка зима: інфляція до 12,4%, ставка до 17,8%, ВВП 2027 — −1,1%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Нафта $120: +0,1 в. п. до піку інфляції, ставка майже не змінюється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Ще три ризики (додаток): курс, як чекає ринок → ІСЦ IV кв. 2027 ≈7%; розбалансування очікувань → ≈7%; ПДВ 21% → +0,7 в. п. до піку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Рекомендації для Правління НБУ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28016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4904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E3DE"/>
                </a:solidFill>
              </a:rPr>
              <a:t>Процентна політика, курс і валютні обмеження — як єдиний пакет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Рамка рішення: ціль 5% на горизонті до 3 років; у вересні КМП розділився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zakon.rada.gov.ua/laws/show/679-14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Закон «Про НБУ», ст. 6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p4.bank.gov.ua/admin_uploads/article/MPG_2024-mt_eng.pdf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Основні засади ГКП (2024)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bank.gov.ua/ua/news/all/pidsumki-diskusiyi-chleniv-komitetu-z-monetarnoyi-politiki-natsionalnogo-banku-schodo-rivnya-oblikovoyi-stavki-16-veresnya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підсумки дискусії КМП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4" invalidUrl="" action="" tgtFrame="" tooltip="https://bank.gov.ua/ua/news/all/nbu-informuye-pro-golovniy-printsip-viznachennya-obsyagiv-rozmischennya-trimisyachnih-depozitnih-sertifikativ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принцип обсягів 3-міс. ДС (НБУ)</a:t>
            </a:r>
            <a:endParaRPr lang="en-US" sz="900" dirty="0"/>
          </a:p>
        </p:txBody>
      </p:sp>
      <p:sp>
        <p:nvSpPr>
          <p:cNvPr id="5" name="press release"/>
          <p:cNvSpPr txBox="1"/>
          <p:nvPr/>
        </p:nvSpPr>
        <p:spPr>
          <a:xfrm>
            <a:off x="457200" y="4846320"/>
            <a:ext cx="11277295" cy="1463040"/>
          </a:xfrm>
          <a:prstGeom prst="rect">
            <a:avLst/>
          </a:prstGeom>
          <a:solidFill>
            <a:srgbClr val="FFFFFF"/>
          </a:solidFill>
          <a:ln w="15875">
            <a:solidFill>
              <a:srgbClr val="C98A00"/>
            </a:solidFill>
          </a:ln>
        </p:spPr>
        <p:txBody>
          <a:bodyPr wrap="square" lIns="76200" tIns="152400" rIns="152400" bIns="7620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1"/>
                </a:solidFill>
              </a:rPr>
              <a:t>Наша відповідь на питання конкурсу: облікова ставка — 17% з утриманням до середини 2027 р.; депсертифікати — обмежити обсяги тендерів, щоб підвищення дійшло до депозитних ставок; офіційний курс — не заморожувати, лише згладжувати коливання; валютні обмеження — серпневий пакет зберегти, III етап — після відновлення резервів.</a:t>
            </a:r>
            <a:endParaRPr lang="en-US" sz="1400" dirty="0"/>
          </a:p>
        </p:txBody>
      </p:sp>
      <p:sp>
        <p:nvSpPr>
          <p:cNvPr id="6" name="card1"/>
          <p:cNvSpPr/>
          <p:nvPr/>
        </p:nvSpPr>
        <p:spPr>
          <a:xfrm>
            <a:off x="457200" y="1325880"/>
            <a:ext cx="3576218" cy="3246120"/>
          </a:xfrm>
          <a:prstGeom prst="roundRect">
            <a:avLst>
              <a:gd name="adj" fmla="val 2254"/>
            </a:avLst>
          </a:prstGeom>
          <a:solidFill>
            <a:srgbClr val="EAF1EF"/>
          </a:solidFill>
          <a:ln/>
        </p:spPr>
      </p:sp>
      <p:sp>
        <p:nvSpPr>
          <p:cNvPr id="7" name="badge1"/>
          <p:cNvSpPr/>
          <p:nvPr/>
        </p:nvSpPr>
        <p:spPr>
          <a:xfrm>
            <a:off x="685800" y="1554480"/>
            <a:ext cx="457200" cy="457200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8580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280160" y="1554480"/>
            <a:ext cx="25703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Мета і режим</a:t>
            </a:r>
            <a:endParaRPr lang="en-US" sz="1700" dirty="0"/>
          </a:p>
        </p:txBody>
      </p:sp>
      <p:sp>
        <p:nvSpPr>
          <p:cNvPr id="10" name="bullets"/>
          <p:cNvSpPr txBox="1"/>
          <p:nvPr/>
        </p:nvSpPr>
        <p:spPr>
          <a:xfrm>
            <a:off x="731520" y="2240280"/>
            <a:ext cx="307329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Мета — цінова стабільність; також сприяння фінстабільності й зростанню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Ціль — 5% «на належному горизонті політики (до 3-х років)»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Гнучке ІТ з керованою гнучкістю курсу</a:t>
            </a:r>
            <a:endParaRPr lang="en-US" sz="1400" dirty="0"/>
          </a:p>
        </p:txBody>
      </p:sp>
      <p:sp>
        <p:nvSpPr>
          <p:cNvPr id="11" name="card2"/>
          <p:cNvSpPr/>
          <p:nvPr/>
        </p:nvSpPr>
        <p:spPr>
          <a:xfrm>
            <a:off x="4307738" y="1325880"/>
            <a:ext cx="3576218" cy="3246120"/>
          </a:xfrm>
          <a:prstGeom prst="roundRect">
            <a:avLst>
              <a:gd name="adj" fmla="val 2254"/>
            </a:avLst>
          </a:prstGeom>
          <a:solidFill>
            <a:srgbClr val="EAF1EF"/>
          </a:solidFill>
          <a:ln/>
        </p:spPr>
      </p:sp>
      <p:sp>
        <p:nvSpPr>
          <p:cNvPr id="12" name="badge2"/>
          <p:cNvSpPr/>
          <p:nvPr/>
        </p:nvSpPr>
        <p:spPr>
          <a:xfrm>
            <a:off x="4536338" y="1554480"/>
            <a:ext cx="457200" cy="457200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536338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5130698" y="1554480"/>
            <a:ext cx="25703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Інструменти</a:t>
            </a:r>
            <a:endParaRPr lang="en-US" sz="1700" dirty="0"/>
          </a:p>
        </p:txBody>
      </p:sp>
      <p:sp>
        <p:nvSpPr>
          <p:cNvPr id="15" name="bullets"/>
          <p:cNvSpPr txBox="1"/>
          <p:nvPr/>
        </p:nvSpPr>
        <p:spPr>
          <a:xfrm>
            <a:off x="4582058" y="2240280"/>
            <a:ext cx="307329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Облікова ставка; 3-міс. депсертифікати — з 07.08 через тендери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Обсяги ДС залежать від ліміту банків, прив'язаного до строкових депозитів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Інтервенції згладжують курс; обмеження — за Стратегією 2023</a:t>
            </a:r>
            <a:endParaRPr lang="en-US" sz="1400" dirty="0"/>
          </a:p>
        </p:txBody>
      </p:sp>
      <p:sp>
        <p:nvSpPr>
          <p:cNvPr id="16" name="card3"/>
          <p:cNvSpPr/>
          <p:nvPr/>
        </p:nvSpPr>
        <p:spPr>
          <a:xfrm>
            <a:off x="8158277" y="1325880"/>
            <a:ext cx="3576218" cy="3246120"/>
          </a:xfrm>
          <a:prstGeom prst="roundRect">
            <a:avLst>
              <a:gd name="adj" fmla="val 2254"/>
            </a:avLst>
          </a:prstGeom>
          <a:solidFill>
            <a:srgbClr val="EAF1EF"/>
          </a:solidFill>
          <a:ln/>
        </p:spPr>
      </p:sp>
      <p:sp>
        <p:nvSpPr>
          <p:cNvPr id="17" name="badge3"/>
          <p:cNvSpPr/>
          <p:nvPr/>
        </p:nvSpPr>
        <p:spPr>
          <a:xfrm>
            <a:off x="8386877" y="1554480"/>
            <a:ext cx="457200" cy="457200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8386877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8981237" y="1554480"/>
            <a:ext cx="25703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КМП у вересні</a:t>
            </a:r>
            <a:endParaRPr lang="en-US" sz="1700" dirty="0"/>
          </a:p>
        </p:txBody>
      </p:sp>
      <p:sp>
        <p:nvSpPr>
          <p:cNvPr id="20" name="bullets"/>
          <p:cNvSpPr txBox="1"/>
          <p:nvPr/>
        </p:nvSpPr>
        <p:spPr>
          <a:xfrm>
            <a:off x="8432597" y="2240280"/>
            <a:ext cx="307329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Рішення +0,5 в. п. до 16%; троє — за 15,5%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Далі: 7 — тримати 16%, 2 — ще одне підвищення, 1 — знижувати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Вересневий ІСЦ 10,0% — вище прогнозу НБУ: ми — за +1 в. п.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Варіанти рішення: мінімум втрат у моделі — 16–17%; обираємо 17% і готові йти далі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p4.bank.gov.ua/admin_uploads/article/MPG_2024-mt_eng.pdf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Основні засади ГКП (2024)</a:t>
            </a:r>
            <a:endParaRPr lang="en-US" sz="900" dirty="0"/>
          </a:p>
        </p:txBody>
      </p:sp>
      <p:pic>
        <p:nvPicPr>
          <p:cNvPr id="5" name="chart" descr="/home/user/nbu-challenge-2026/results/figures/fc_polic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5694" y="1280160"/>
            <a:ext cx="8640307" cy="2606040"/>
          </a:xfrm>
          <a:prstGeom prst="rect">
            <a:avLst/>
          </a:prstGeom>
        </p:spPr>
      </p:pic>
      <p:graphicFrame>
        <p:nvGraphicFramePr>
          <p:cNvPr id="18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069080"/>
          <a:ext cx="704088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877824"/>
                <a:gridCol w="877824"/>
                <a:gridCol w="877824"/>
                <a:gridCol w="877824"/>
                <a:gridCol w="877824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Рішення (до середини 2027)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Ставка IV кв. 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Ставка IV кв. 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ІСЦ IV кв. 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ВВП 2027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Втрати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Утримати 16%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16,0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13,3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5,8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Підвищити до 16,5%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16,5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13,2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Підвищити до 17% ★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13,1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Підвищити до 17,5%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13,1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Оптимальна (мін. втрат)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16,9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13,1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bullets"/>
          <p:cNvSpPr txBox="1"/>
          <p:nvPr/>
        </p:nvSpPr>
        <p:spPr>
          <a:xfrm>
            <a:off x="7818120" y="4114800"/>
            <a:ext cx="391637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Втрати: відхилення інфляції від 5%, розрив ВВП, різкі зміни ставки; адмінціни — з вагою 50% (вони ростуть щороку, але це перший раунд) — той самий принцип для рішення й усієї траєкторії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Оптимальна траєкторія: 16,9% зараз (16,4–17,7% залежно від згладжування), ≈16,9% у I кв. 2027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Під ризиками (10 сценаріїв, два набори ймовірностей) найменші очікувані втрати — 16,5–17%; 17% — серед них (різниця з мінімумом &lt; 0,5% втрат)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Наш вибір — 17% (+1 в. п., найбільший крок НБУ за 2025 р.) і готовність до +0,5 у грудні, коли буде жовтневий прогноз НБУ і дані за жовтень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Облікова ставка: підвищити до 17% і утримувати до середини 2027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news/all/natsionalniy-bank-ukrayini-pidvischiv-oblikovu-stavku-do-16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рішення НБУ 17.09.2026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ua/news/all/pidsumki-diskusiyi-chleniv-komitetu-z-monetarnoyi-politiki-natsionalnogo-banku-schodo-rivnya-oblikovoyi-stavki-16-veresnya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підсумки дискусії КМП</a:t>
            </a:r>
            <a:endParaRPr lang="en-US" sz="900" dirty="0"/>
          </a:p>
        </p:txBody>
      </p:sp>
      <p:sp>
        <p:nvSpPr>
          <p:cNvPr id="5" name="decision"/>
          <p:cNvSpPr/>
          <p:nvPr/>
        </p:nvSpPr>
        <p:spPr>
          <a:xfrm>
            <a:off x="457200" y="1325880"/>
            <a:ext cx="3108960" cy="4983480"/>
          </a:xfrm>
          <a:prstGeom prst="roundRect">
            <a:avLst>
              <a:gd name="adj" fmla="val 2941"/>
            </a:avLst>
          </a:prstGeom>
          <a:solidFill>
            <a:srgbClr val="0E3B43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31520" y="16916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FE3DE"/>
                </a:solidFill>
              </a:rPr>
              <a:t>ОБЛІКОВА СТАВКА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148840"/>
            <a:ext cx="2560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17%</a:t>
            </a:r>
            <a:endParaRPr lang="en-US" sz="66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347472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+1,0 в. п. з 30.10.2026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3931920" y="1325880"/>
            <a:ext cx="78025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Чому підвищити</a:t>
            </a:r>
            <a:endParaRPr lang="en-US" sz="1600" dirty="0"/>
          </a:p>
        </p:txBody>
      </p:sp>
      <p:sp>
        <p:nvSpPr>
          <p:cNvPr id="10" name="bullets"/>
          <p:cNvSpPr txBox="1"/>
          <p:nvPr/>
        </p:nvSpPr>
        <p:spPr>
          <a:xfrm>
            <a:off x="3931920" y="1709928"/>
            <a:ext cx="7802575" cy="1376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Вересень — 10,0%, значно вище прогнозу НБУ; у грудні — ≈12%; ризики зміщені вгору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Базова інфляція прискорилася до 8,8% і за наукастом сягне ≈9,6% у грудні — вторинні ефекти вже є; очікування домогосподарств 10–14%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Курс: якщо гривня слабшатиме, як чекає ринок, ІСЦ IV кв. 2027 — ≈7%; кожні +0,5 в. п. зараз знижують його на ≈0,2 в. п.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До депозитів: знизити коефіцієнт використання ліміту 3-міс. ДС (прив'язаного до строкових вкладів)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3931920" y="3131820"/>
            <a:ext cx="78025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Чому 17, а не 16,5 чи 17,5</a:t>
            </a:r>
            <a:endParaRPr lang="en-US" sz="1600" dirty="0"/>
          </a:p>
        </p:txBody>
      </p:sp>
      <p:sp>
        <p:nvSpPr>
          <p:cNvPr id="12" name="bullets"/>
          <p:cNvSpPr txBox="1"/>
          <p:nvPr/>
        </p:nvSpPr>
        <p:spPr>
          <a:xfrm>
            <a:off x="3931920" y="3515868"/>
            <a:ext cx="7802575" cy="1159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Модель: оптимум ≈16,9%, під ризиками — 16,5–17%; ринок (ОВДП, курсові очікування) не чекає різкого посилення — ми рішучіші за ринок, обережніші за модель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+1 в. п. — як у січні й березні 2025; +1,5 одразу — надмірний сигнал за слабкого ВВП і до оновленого прогнозу НБУ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16,5% — якби жовтневі дані показали сповільнення базової інфляції і стабільні очікування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3931920" y="4720590"/>
            <a:ext cx="78025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Орієнтири (forward guidance)</a:t>
            </a:r>
            <a:endParaRPr lang="en-US" sz="1600" dirty="0"/>
          </a:p>
        </p:txBody>
      </p:sp>
      <p:sp>
        <p:nvSpPr>
          <p:cNvPr id="14" name="bullets"/>
          <p:cNvSpPr txBox="1"/>
          <p:nvPr/>
        </p:nvSpPr>
        <p:spPr>
          <a:xfrm>
            <a:off x="3931920" y="5104638"/>
            <a:ext cx="7802575" cy="1159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Не знижувати щонайменше до III кв. 2027; за базовим прогнозом далі — ≈13,0% наприкінці 2027 і ≈10,5% — 2028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Наступний крок радше вгору: ще +0,5 у грудні, якщо базова без сезонності ≥ 0,6% м/м або посиляться курсові очікування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Швидше пом'якшення — якщо базова інфляція &lt; 7% і очікування знижуються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Курс і резерви: за надходжень липня–вересня резерви на кінець 2026 — $43 млрд (3,8 міс. імпорту)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news/all/mijnarodni-rezervi-stanovili-471-mlrd-dol-ssha-za-pidsumkami-veresnya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НБУ: резерви у вересні (USL $3,81 млрд)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epravda.com.ua/finances/valyutniy-rinok-ukrajini-rezultati-troh-rokiv-rezhimu-kerovanoji-gnuchkosti-826509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А. Пишний: три роки керованої гнучкості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bank.gov.ua/admin_uploads/article/Macroeconomic_Forecast_table_2026_07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макропрогноз НБУ</a:t>
            </a:r>
            <a:endParaRPr lang="en-US" sz="900" dirty="0"/>
          </a:p>
        </p:txBody>
      </p:sp>
      <p:pic>
        <p:nvPicPr>
          <p:cNvPr id="5" name="chart" descr="/home/user/nbu-challenge-2026/results/figures/fc_reserve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325880"/>
            <a:ext cx="7040880" cy="4798040"/>
          </a:xfrm>
          <a:prstGeom prst="rect">
            <a:avLst/>
          </a:prstGeom>
        </p:spPr>
      </p:pic>
      <p:sp>
        <p:nvSpPr>
          <p:cNvPr id="6" name="bullets"/>
          <p:cNvSpPr txBox="1"/>
          <p:nvPr/>
        </p:nvSpPr>
        <p:spPr>
          <a:xfrm>
            <a:off x="7818120" y="1417320"/>
            <a:ext cx="3916375" cy="4892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Продаж НБУ ≈$5,0 млрд/міс, надходження ≈$3,7 млрд/міс. НБУ (липень) чекав $69,7 млрд на кінець 2026 — для цього треба ≈$13 млрд/міс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Наші сценарії на кінець 2026: $56 / 43 / 38 млрд = 5,0 / 3,8 / 3,4 міс. імпорту 2027 р.; центральний — $43 млрд, надолуження — якщо Рада ухвалить закони під допомогу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Ринок чекає ≈47 грн/$ через рік (≈5% послаблення); модель — ≈45,3 грн/$ (≈1%; до євро ≈2% на рік); якщо правий ринок, ІСЦ IV кв. 2027 — ≈7%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Рекомендація: не фіксувати курс — жовтневе послаблення до 45,08 грн/$ показує, що амортизатор працює; інтервенції — лише згладжувати. Резерви залежать від ритму допомоги (продаж валюти її «доносить»), тому захищає їх пауза в лібералізації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Валютні обмеження: серпневий пакет зберегти, наступні кроки — на паузу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news/all/nbu-vprovadjuye-paket-pomyakshennya-valyutnih-obmejen-z-osnovnim-fokusom-na-pidtrimtsi-naselennya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пакет пом'якшення валютних обмежень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admin_uploads/article/Strategy_for_easing_FX_restrictions_07-07-2023.pdf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Стратегія пом'якшення валютних обмежень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bank.gov.ua/ua/open-data/api-dev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API НБУ</a:t>
            </a:r>
            <a:endParaRPr lang="en-US" sz="900" dirty="0"/>
          </a:p>
        </p:txBody>
      </p:sp>
      <p:pic>
        <p:nvPicPr>
          <p:cNvPr id="5" name="chart" descr="/home/user/nbu-challenge-2026/results/figures/ov_fx_household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325880"/>
            <a:ext cx="7040880" cy="4975330"/>
          </a:xfrm>
          <a:prstGeom prst="rect">
            <a:avLst/>
          </a:prstGeom>
        </p:spPr>
      </p:pic>
      <p:sp>
        <p:nvSpPr>
          <p:cNvPr id="6" name="bullets"/>
          <p:cNvSpPr txBox="1"/>
          <p:nvPr/>
        </p:nvSpPr>
        <p:spPr>
          <a:xfrm>
            <a:off x="7818120" y="1417320"/>
            <a:ext cx="3916375" cy="4892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Після підвищення ліміту (50 → 200 тис. грн/міс) купівля валюти населенням зросла з $0,39 до $0,58 млрд/міс (+49%) — керовано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Стратегія НБУ: кроки — за передумовами (резерви, очікування, реальна ставка), а не за календарем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Пауза для III етапу (капітальні операції, операції населення) до: резерви ≥ $50 млрд (≈4,5 міс. імпорту), ритмічна допомога, стабільні очікування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Продовжити стимулюючу лібералізацію (нові інвестиції, «додатковий» ліміт) — вона залучає валюту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Нові обмеження не запроваджувати: вони не замінюють макрокоригування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Підсумок</a:t>
            </a:r>
            <a:endParaRPr lang="en-US" sz="3600" dirty="0"/>
          </a:p>
        </p:txBody>
      </p:sp>
      <p:sp>
        <p:nvSpPr>
          <p:cNvPr id="3" name="n1"/>
          <p:cNvSpPr/>
          <p:nvPr/>
        </p:nvSpPr>
        <p:spPr>
          <a:xfrm>
            <a:off x="731520" y="1783080"/>
            <a:ext cx="566928" cy="566928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783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3B43"/>
                </a:solidFill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554480" y="1709928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Підвищити облікову ставку до 17% та утримувати щонайменше до середини 2027</a:t>
            </a:r>
            <a:endParaRPr lang="en-US" sz="2000" dirty="0"/>
          </a:p>
        </p:txBody>
      </p:sp>
      <p:sp>
        <p:nvSpPr>
          <p:cNvPr id="6" name="n2"/>
          <p:cNvSpPr/>
          <p:nvPr/>
        </p:nvSpPr>
        <p:spPr>
          <a:xfrm>
            <a:off x="731520" y="2834640"/>
            <a:ext cx="566928" cy="566928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31520" y="2834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3B43"/>
                </a:solidFill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554480" y="2761488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Не заморожувати курс; обмежити обсяги тендерів депсертифікатів, щоб підвищення дійшло до депозитів</a:t>
            </a:r>
            <a:endParaRPr lang="en-US" sz="2000" dirty="0"/>
          </a:p>
        </p:txBody>
      </p:sp>
      <p:sp>
        <p:nvSpPr>
          <p:cNvPr id="9" name="n3"/>
          <p:cNvSpPr/>
          <p:nvPr/>
        </p:nvSpPr>
        <p:spPr>
          <a:xfrm>
            <a:off x="731520" y="3886200"/>
            <a:ext cx="566928" cy="566928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31520" y="3886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3B43"/>
                </a:solidFill>
              </a:rPr>
              <a:t>3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554480" y="3813048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Пауза в лібералізації валютних обмежень до відновлення резервів і допомоги</a:t>
            </a:r>
            <a:endParaRPr lang="en-US" sz="2000" dirty="0"/>
          </a:p>
        </p:txBody>
      </p:sp>
      <p:sp>
        <p:nvSpPr>
          <p:cNvPr id="12" name="n4"/>
          <p:cNvSpPr/>
          <p:nvPr/>
        </p:nvSpPr>
        <p:spPr>
          <a:xfrm>
            <a:off x="731520" y="4937760"/>
            <a:ext cx="566928" cy="566928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31520" y="4937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3B43"/>
                </a:solidFill>
              </a:rPr>
              <a:t>4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554480" y="4864608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Базовий прогноз: інфляція ≈12,1% у грудні 2026, 5,4% у IV кв. 2027, нижче 5% з I кв. 2028, ≈5% у 2028</a:t>
            </a:r>
            <a:endParaRPr lang="en-US" sz="2000" dirty="0"/>
          </a:p>
        </p:txBody>
      </p:sp>
      <p:sp>
        <p:nvSpPr>
          <p:cNvPr id="16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Додатки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1. Платіжний баланс: імпорт у 2,6 раза більший за експорт — розрив покривають позики партнерів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admin_uploads/article/Macroeconomic_Forecast_table_2026_07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макропрогноз НБУ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admin_uploads/article/Tables_Charts_2026-Q3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дані графіків ІЗ</a:t>
            </a:r>
            <a:endParaRPr lang="en-US" sz="900" dirty="0"/>
          </a:p>
        </p:txBody>
      </p:sp>
      <p:pic>
        <p:nvPicPr>
          <p:cNvPr id="5" name="chart" descr="/home/user/nbu-challenge-2026/results/figures/ov_bo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25880"/>
            <a:ext cx="11277295" cy="3307218"/>
          </a:xfrm>
          <a:prstGeom prst="rect">
            <a:avLst/>
          </a:prstGeom>
        </p:spPr>
      </p:pic>
      <p:sp>
        <p:nvSpPr>
          <p:cNvPr id="6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2026: експорт $56 млрд, імпорт $145 млрд — дефіцит $89 млрд; приватні перекази — лише $7,6 млрд</a:t>
            </a:r>
            <a:endParaRPr lang="en-US" sz="1300" dirty="0"/>
          </a:p>
        </p:txBody>
      </p:sp>
      <p:sp>
        <p:nvSpPr>
          <p:cNvPr id="9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Поточний рахунок −$16 млрд фінансують партнери: ERA ($25,9 млрд у 2025), Ukraine Facility; у 2026 НБУ чекає ще $9,8 млрд позик</a:t>
            </a:r>
            <a:endParaRPr lang="en-US" sz="1300" dirty="0"/>
          </a:p>
        </p:txBody>
      </p:sp>
      <p:sp>
        <p:nvSpPr>
          <p:cNvPr id="12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2028: офіційне фінансування $87 → $33 млрд, поточний рахунок −$45 млрд, широкий баланс −$24 млрд → резерви — буфер, лібералізація — поступово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2. Бюджет залежить від допомоги: $87 млрд у 2026, але надходження затримуються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admin_uploads/article/Macroeconomic_Forecast_table_2026_07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макропрогноз НБУ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admin_uploads/article/Tables_Charts_2026-Q3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дані графіків ІЗ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bank.gov.ua/ua/news/all/rada-mvf-shvalila-pershiy-pereglyad-programi-rozshirenogo-finansuvannya-ta-zatverdila-vidilennya-transhu-obsyagom-690-mln-dol-ssha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Рада МВФ: перегляд програми</a:t>
            </a:r>
            <a:endParaRPr lang="en-US" sz="900" dirty="0"/>
          </a:p>
        </p:txBody>
      </p:sp>
      <p:pic>
        <p:nvPicPr>
          <p:cNvPr id="5" name="chart" descr="/home/user/nbu-challenge-2026/results/figures/ov_fisca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325880"/>
            <a:ext cx="11277295" cy="3638707"/>
          </a:xfrm>
          <a:prstGeom prst="rect">
            <a:avLst/>
          </a:prstGeom>
        </p:spPr>
      </p:pic>
      <p:sp>
        <p:nvSpPr>
          <p:cNvPr id="6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Дефіцит без грантів ≈35% ВВП у 2026; оборонна складова USL — $33,2 млрд (2026) і $16,7 млрд (2027)</a:t>
            </a:r>
            <a:endParaRPr lang="en-US" sz="1300" dirty="0"/>
          </a:p>
        </p:txBody>
      </p:sp>
      <p:sp>
        <p:nvSpPr>
          <p:cNvPr id="9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Бюджетна декларація 2027–2029: дефіцит держбюджету 17,7% ВВП у 2027 і 11,1% у 2028; уряд закладає інфляцію 8,9% на грудень 2027 (НБУ — 6,9%, ми — 5,4% у IV кв.)</a:t>
            </a:r>
            <a:endParaRPr lang="en-US" sz="1300" dirty="0"/>
          </a:p>
        </p:txBody>
      </p:sp>
      <p:sp>
        <p:nvSpPr>
          <p:cNvPr id="12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Частина допомоги прив'язана до ухвалення законів — ризик подальших затримок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3. Наше розширення QPM: нафта змінює небазові ціни, а ставка на нафтовий шок реагує слабко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files/macro/CCPI_m.xlsx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базовий ІСЦ (НБУ)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db.nomics.world/EIA/PET/RBRTE.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EIA Brent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finance.yahoo.com/quote/BZ%3DF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ф'ючерси Brent</a:t>
            </a:r>
            <a:endParaRPr lang="en-US" sz="900" dirty="0"/>
          </a:p>
        </p:txBody>
      </p:sp>
      <p:pic>
        <p:nvPicPr>
          <p:cNvPr id="5" name="chart" descr="/home/user/nbu-challenge-2026/results/figures/irf_res_dl_roil_bet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2552" y="1325880"/>
            <a:ext cx="5986592" cy="3703320"/>
          </a:xfrm>
          <a:prstGeom prst="rect">
            <a:avLst/>
          </a:prstGeom>
        </p:spPr>
      </p:pic>
      <p:sp>
        <p:nvSpPr>
          <p:cNvPr id="6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ІСЦ = базова інфляція + зміна відносних цін небазових товарів; крива Філіпса НБУ описує базову</a:t>
            </a:r>
            <a:endParaRPr lang="en-US" sz="1300" dirty="0"/>
          </a:p>
        </p:txBody>
      </p:sp>
      <p:sp>
        <p:nvSpPr>
          <p:cNvPr id="9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Brent +20% → ІСЦ +0,3 в. п. упродовж року; правило реагує на загальний ІСЦ, але ставка — лише +0,2 в. п.</a:t>
            </a:r>
            <a:endParaRPr lang="en-US" sz="1300" dirty="0"/>
          </a:p>
        </p:txBody>
      </p:sp>
      <p:sp>
        <p:nvSpPr>
          <p:cNvPr id="12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З вагою нафти 0 функції відгуку збігаються з шаблоном НБУ (тест); поділ на базову й небазову інфляцію лишається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4. Припущення та судження базового сценарію — кожне з джерелом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news/all/inflyatsiya-prishvidshitsya-u-drugomu-pivrichchi-ale-povernetsya-do-znijennya-nastupnogo-roku--inflyatsiyniy-zvit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НБУ, Інфляційний звіт (липень 2026)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admin_uploads/article/Macroeconomic_Forecast_table_2026_07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макропрогноз НБУ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bank.gov.ua/ua/news/all/pidsumki-diskusiyi-chleniv-komitetu-z-monetarnoyi-politiki-natsionalnogo-banku-schodo-rivnya-oblikovoyi-stavki-16-veresnya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підсумки дискусії КМП</a:t>
            </a:r>
            <a:endParaRPr lang="en-US" sz="900" dirty="0"/>
          </a:p>
        </p:txBody>
      </p:sp>
      <p:graphicFrame>
        <p:nvGraphicFramePr>
          <p:cNvPr id="27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7295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6858000"/>
                <a:gridCol w="2221992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Чинник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Що закладено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Джерело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Інфляція IV кв. 2026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Наукаст ІСЦ і базового ІСЦ (тренд + сезонність − 0,1 в. п.): грудень — 12,1% і 9,6% р/р; в IV кв. фіксуємо обидва ряди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u="sng" dirty="0">
                          <a:hlinkClick r:id="rId4" invalidUrl="" action="" tgtFrame="" tooltip="https://bank.gov.ua/ua/open-data/api-dev" history="1" highlightClick="0" endSnd="0"/>
                        </a:rPr>
                        <a:t>Держстат, API НБУ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ВВП III кв. 2026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+1,1% кв/кв SA (≈+1% р/р): ІЕД — липень +4%, серпень +1,2%; КМП — «суттєво гірше» за прогноз НБУ (+2,1%)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u="sng" dirty="0">
                          <a:hlinkClick r:id="rId5" invalidUrl="" action="" tgtFrame="" tooltip="https://bank.gov.ua/ua/news/all/pidsumki-diskusiyi-chleniv-komitetu-z-monetarnoyi-politiki-natsionalnogo-banku-schodo-rivnya-oblikovoyi-stavki-16-veresnya-2026-roku" history="1" highlightClick="0" endSnd="0"/>
                        </a:rPr>
                        <a:t>ІЕД, підсумки КМП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Шок витрат 2027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Вторинні ефекти атак на енергетику, логістику й виробництво в опалювальний сезон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u="sng" dirty="0">
                          <a:hlinkClick r:id="rId6" invalidUrl="" action="" tgtFrame="" tooltip="https://bank.gov.ua/ua/news/all/pidsumki-diskusiyi-chleniv-komitetu-z-monetarnoyi-politiki-natsionalnogo-banku-schodo-rivnya-oblikovoyi-stavki-16-veresnya-2026-roku" history="1" highlightClick="0" endSnd="0"/>
                        </a:rPr>
                        <a:t>Підсумки дискусії КМП, 28.09.2026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Адмінціни та акцизи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Тарифи після мораторію, наближення акцизів до мінімумів ЄС — загальна інфляція вища за базову на ≈1,7 в. п. на рік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u="sng" dirty="0">
                          <a:hlinkClick r:id="rId7" invalidUrl="" action="" tgtFrame="" tooltip="https://bank.gov.ua/admin_uploads/article/Macroeconomic_Forecast_table_2026_07.xlsx?v=19" history="1" highlightClick="0" endSnd="0"/>
                        </a:rPr>
                        <a:t>НБУ, макропрогноз липень 2026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Премія за ризик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Затримки офіційного фінансування в липні–вересні; резерви знизилися до $47,1 млрд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u="sng" dirty="0">
                          <a:hlinkClick r:id="rId8" invalidUrl="" action="" tgtFrame="" tooltip="https://bank.gov.ua/ua/news/all/natsionalniy-bank-ukrayini-pidvischiv-oblikovu-stavku-do-16" history="1" highlightClick="0" endSnd="0"/>
                        </a:rPr>
                        <a:t>Рішення НБУ 17.09.2026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Потенційний ВВП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Вищий потенціал: інвестиції в потужності ОПК і, за припущенням НБУ, чисте повернення мігрантів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u="sng" dirty="0">
                          <a:hlinkClick r:id="rId9" invalidUrl="" action="" tgtFrame="" tooltip="https://bank.gov.ua/admin_uploads/article/Macroeconomic_Forecast_table_2026_07.xlsx?v=19" history="1" highlightClick="0" endSnd="0"/>
                        </a:rPr>
                        <a:t>НБУ, припущення макропрогнозу, липень 2026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Бюджет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Без окремого імпульсу: дефіцит без грантів 35 → 26% ВВП, оборонна частина USL $33,2 → $16,7 млрд; локалізація ОПК коштом USL частково компенсує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u="sng" dirty="0">
                          <a:hlinkClick r:id="rId10" invalidUrl="" action="" tgtFrame="" tooltip="https://bank.gov.ua/admin_uploads/article/Macroeconomic_Forecast_table_2026_07.xlsx?v=19" history="1" highlightClick="0" endSnd="0"/>
                        </a:rPr>
                        <a:t>НБУ, макропрогноз липень 2026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Курс гривні до €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IV кв. 2026 — за фактом жовтня й останнім курсом (50,4 грн/€); далі допустиме послаблення (цільовий темп) 4% у 2027, 3% у 2028; фактичний — з моделі (≈2% на рік); EUR/USD 1,12 без змін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u="sng" dirty="0">
                          <a:hlinkClick r:id="rId11" invalidUrl="" action="" tgtFrame="" tooltip="https://bank.gov.ua/ua/open-data/api-dev" history="1" highlightClick="0" endSnd="0"/>
                        </a:rPr>
                        <a:t>Офіційний курс НБУ, ЄЦБ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Нафта Brent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Спот до вересня; IV кв. 2026 $119 (жовтень — спот, далі ф'ючерс); ф'ючерсна крива (25.10): $87 (кінець 2027) → $79 (кінець 2028)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u="sng" dirty="0">
                          <a:hlinkClick r:id="rId12" invalidUrl="" action="" tgtFrame="" tooltip="https://db.nomics.world/EIA/PET/RBRTE.M" history="1" highlightClick="0" endSnd="0"/>
                        </a:rPr>
                        <a:t>EIA Brent</a:t>
                      </a:r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, </a:t>
                      </a:r>
                      <a:pPr algn="l" indent="0" marL="0">
                        <a:buNone/>
                      </a:pPr>
                      <a:r>
                        <a:rPr lang="en-US" sz="1200" u="sng" dirty="0">
                          <a:hlinkClick r:id="rId13" invalidUrl="" action="" tgtFrame="" tooltip="https://finance.yahoo.com/quote/BZ%3DF/" history="1" highlightClick="0" endSnd="0"/>
                        </a:rPr>
                        <a:t>NYMEX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Єврозона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HICP 3,0 / 2,5 / 2,1%, ВВП 0,9 / 1,4 / 1,5%, ставка ЄЦБ ≈3% у 2027–2028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u="sng" dirty="0">
                          <a:hlinkClick r:id="rId14" invalidUrl="" action="" tgtFrame="" tooltip="https://www.ecb.europa.eu/press/projections/html/index.en.html" history="1" highlightClick="0" endSnd="0"/>
                        </a:rPr>
                        <a:t>ЄЦБ, вер. 2026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5. Базова інфляція у 2027 — нижча, ніж у НБУ: 4,2% у IV кв. (≈3,7% у грудні) проти 5,1% у НБУ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files/macro/CCPI_m.xlsx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базовий ІСЦ (НБУ)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admin_uploads/article/Macroeconomic_Forecast_table_2026_07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макропрогноз НБУ</a:t>
            </a:r>
            <a:endParaRPr lang="en-US" sz="900" dirty="0"/>
          </a:p>
        </p:txBody>
      </p:sp>
      <p:pic>
        <p:nvPicPr>
          <p:cNvPr id="5" name="chart" descr="/home/user/nbu-challenge-2026/results/figures/fc_cor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25880"/>
            <a:ext cx="7040880" cy="3887267"/>
          </a:xfrm>
          <a:prstGeom prst="rect">
            <a:avLst/>
          </a:prstGeom>
        </p:spPr>
      </p:pic>
      <p:sp>
        <p:nvSpPr>
          <p:cNvPr id="6" name="bullets"/>
          <p:cNvSpPr txBox="1"/>
          <p:nvPr/>
        </p:nvSpPr>
        <p:spPr>
          <a:xfrm>
            <a:off x="7818120" y="1417320"/>
            <a:ext cx="3916375" cy="4892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Наша базова — середнє за IV кв., у НБУ — грудень; для порівняння показуємо й грудневий еквівалент (інтерполяція)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Що її тримає в моделі: додатний розрив ВВП, перенесення вересневого шоку витрат і курсу; у 2027 — шок витрат опалювального сезону (судження за оцінкою НБУ)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Загальна: 5,4% у IV кв. 2027 (НБУ 6,9% у грудні) — тарифи й акцизи додають ≈1,7 в. п. на рік, дешевша нафта (ф'ючерси) — віднімає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2028: базова 3,4% (НБУ 3,3%) — слабкий попит → простір для зниження ставки з II пів. 2027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6. Матриця ризиків: баланс зміщений у бік вищої інфляції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news/all/pidsumki-diskusiyi-chleniv-komitetu-z-monetarnoyi-politiki-natsionalnogo-banku-schodo-rivnya-oblikovoyi-stavki-16-veresnya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підсумки дискусії КМП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ua/news/all/inflyatsiya-prishvidshitsya-u-drugomu-pivrichchi-ale-povernetsya-do-znijennya-nastupnogo-roku--inflyatsiyniy-zvit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НБУ, Інфляційний звіт (липень 2026)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371600"/>
            <a:ext cx="777240" cy="147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Високий</a:t>
            </a:r>
            <a:endParaRPr lang="en-US" sz="1200" dirty="0"/>
          </a:p>
        </p:txBody>
      </p:sp>
      <p:sp>
        <p:nvSpPr>
          <p:cNvPr id="6" name="cell Високий/Слабкий"/>
          <p:cNvSpPr/>
          <p:nvPr/>
        </p:nvSpPr>
        <p:spPr>
          <a:xfrm>
            <a:off x="1316736" y="1408176"/>
            <a:ext cx="3411626" cy="1405128"/>
          </a:xfrm>
          <a:prstGeom prst="rect">
            <a:avLst/>
          </a:prstGeom>
          <a:solidFill>
            <a:srgbClr val="CFE2DD"/>
          </a:solidFill>
          <a:ln/>
        </p:spPr>
      </p:sp>
      <p:sp>
        <p:nvSpPr>
          <p:cNvPr id="7" name="cell Високий/Помірний"/>
          <p:cNvSpPr/>
          <p:nvPr/>
        </p:nvSpPr>
        <p:spPr>
          <a:xfrm>
            <a:off x="4801514" y="1408176"/>
            <a:ext cx="3411626" cy="1405128"/>
          </a:xfrm>
          <a:prstGeom prst="rect">
            <a:avLst/>
          </a:prstGeom>
          <a:solidFill>
            <a:srgbClr val="B9D5C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4929530" y="1481328"/>
            <a:ext cx="3155594" cy="1258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Тривала нафта ≈$100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E8449"/>
                </a:solidFill>
              </a:rPr>
              <a:t>▼ Блокада портів: дешевше продовольство</a:t>
            </a:r>
            <a:endParaRPr lang="en-US" sz="1300" dirty="0"/>
          </a:p>
        </p:txBody>
      </p:sp>
      <p:sp>
        <p:nvSpPr>
          <p:cNvPr id="9" name="cell Високий/Сильний"/>
          <p:cNvSpPr/>
          <p:nvPr/>
        </p:nvSpPr>
        <p:spPr>
          <a:xfrm>
            <a:off x="8286293" y="1408176"/>
            <a:ext cx="3411626" cy="1405128"/>
          </a:xfrm>
          <a:prstGeom prst="rect">
            <a:avLst/>
          </a:prstGeom>
          <a:solidFill>
            <a:srgbClr val="A3C8B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414309" y="1481328"/>
            <a:ext cx="3155594" cy="1258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Атаки на енергетику взимку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Затримки допомоги, резерви &lt; $45 млрд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2849880"/>
            <a:ext cx="777240" cy="147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Середній</a:t>
            </a:r>
            <a:endParaRPr lang="en-US" sz="1200" dirty="0"/>
          </a:p>
        </p:txBody>
      </p:sp>
      <p:sp>
        <p:nvSpPr>
          <p:cNvPr id="12" name="cell Середній/Слабкий"/>
          <p:cNvSpPr/>
          <p:nvPr/>
        </p:nvSpPr>
        <p:spPr>
          <a:xfrm>
            <a:off x="1316736" y="2886456"/>
            <a:ext cx="3411626" cy="1405128"/>
          </a:xfrm>
          <a:prstGeom prst="rect">
            <a:avLst/>
          </a:prstGeom>
          <a:solidFill>
            <a:srgbClr val="E3EEEB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444752" y="2959608"/>
            <a:ext cx="3155594" cy="1258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E8449"/>
                </a:solidFill>
              </a:rPr>
              <a:t>▼ Зміцнення євро — дешевший імпорт з ЄС</a:t>
            </a:r>
            <a:endParaRPr lang="en-US" sz="1300" dirty="0"/>
          </a:p>
        </p:txBody>
      </p:sp>
      <p:sp>
        <p:nvSpPr>
          <p:cNvPr id="14" name="cell Середній/Помірний"/>
          <p:cNvSpPr/>
          <p:nvPr/>
        </p:nvSpPr>
        <p:spPr>
          <a:xfrm>
            <a:off x="4801514" y="2886456"/>
            <a:ext cx="3411626" cy="1405128"/>
          </a:xfrm>
          <a:prstGeom prst="rect">
            <a:avLst/>
          </a:prstGeom>
          <a:solidFill>
            <a:srgbClr val="CFE2DD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929530" y="2959608"/>
            <a:ext cx="3155594" cy="1258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Підвищення ПДВ / акцизів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E8449"/>
                </a:solidFill>
              </a:rPr>
              <a:t>▼ Охолодження попиту від обстрілів</a:t>
            </a:r>
            <a:endParaRPr lang="en-US" sz="1300" dirty="0"/>
          </a:p>
        </p:txBody>
      </p:sp>
      <p:sp>
        <p:nvSpPr>
          <p:cNvPr id="16" name="cell Середній/Сильний"/>
          <p:cNvSpPr/>
          <p:nvPr/>
        </p:nvSpPr>
        <p:spPr>
          <a:xfrm>
            <a:off x="8286293" y="2886456"/>
            <a:ext cx="3411626" cy="1405128"/>
          </a:xfrm>
          <a:prstGeom prst="rect">
            <a:avLst/>
          </a:prstGeom>
          <a:solidFill>
            <a:srgbClr val="B9D5CE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414309" y="2959608"/>
            <a:ext cx="3155594" cy="1258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Розбалансування очікувань домогосподарств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Зарплатна спіраль (дефіцит кадрів)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457200" y="4328160"/>
            <a:ext cx="777240" cy="147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Низький</a:t>
            </a:r>
            <a:endParaRPr lang="en-US" sz="1200" dirty="0"/>
          </a:p>
        </p:txBody>
      </p:sp>
      <p:sp>
        <p:nvSpPr>
          <p:cNvPr id="19" name="cell Низький/Слабкий"/>
          <p:cNvSpPr/>
          <p:nvPr/>
        </p:nvSpPr>
        <p:spPr>
          <a:xfrm>
            <a:off x="1316736" y="4364736"/>
            <a:ext cx="3411626" cy="1405128"/>
          </a:xfrm>
          <a:prstGeom prst="rect">
            <a:avLst/>
          </a:prstGeom>
          <a:solidFill>
            <a:srgbClr val="F4F8F7"/>
          </a:solidFill>
          <a:ln/>
        </p:spPr>
      </p:sp>
      <p:sp>
        <p:nvSpPr>
          <p:cNvPr id="20" name="cell Низький/Помірний"/>
          <p:cNvSpPr/>
          <p:nvPr/>
        </p:nvSpPr>
        <p:spPr>
          <a:xfrm>
            <a:off x="4801514" y="4364736"/>
            <a:ext cx="3411626" cy="1405128"/>
          </a:xfrm>
          <a:prstGeom prst="rect">
            <a:avLst/>
          </a:prstGeom>
          <a:solidFill>
            <a:srgbClr val="E3EEEB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4929530" y="4437888"/>
            <a:ext cx="3155594" cy="1258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Швидше підвищення ставок ЄЦБ</a:t>
            </a:r>
            <a:endParaRPr lang="en-US" sz="1300" dirty="0"/>
          </a:p>
        </p:txBody>
      </p:sp>
      <p:sp>
        <p:nvSpPr>
          <p:cNvPr id="22" name="cell Низький/Сильний"/>
          <p:cNvSpPr/>
          <p:nvPr/>
        </p:nvSpPr>
        <p:spPr>
          <a:xfrm>
            <a:off x="8286293" y="4364736"/>
            <a:ext cx="3411626" cy="1405128"/>
          </a:xfrm>
          <a:prstGeom prst="rect">
            <a:avLst/>
          </a:prstGeom>
          <a:solidFill>
            <a:srgbClr val="CFE2DD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8414309" y="4437888"/>
            <a:ext cx="3155594" cy="1258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E8449"/>
                </a:solidFill>
              </a:rPr>
              <a:t>▼ Перемир'я, повернення мігрантів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Ескалація, прорив фронту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1280160" y="5824728"/>
            <a:ext cx="3484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Слабкий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4764938" y="5824728"/>
            <a:ext cx="3484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Помірний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8249717" y="5824728"/>
            <a:ext cx="3484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Сильний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1280160" y="6099048"/>
            <a:ext cx="10454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Імовірність ↑   ·   Вплив на базовий сценарій →   ·   ▲ вища інфляція   ▼ нижча інфляція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7. Комунікація: «ставка — якір, курс — амортизатор»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news/all/natsionalniy-bank-ukrayini-pidvischiv-oblikovu-stavku-do-16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рішення НБУ 17.09.2026</a:t>
            </a:r>
            <a:endParaRPr lang="en-US" sz="900" dirty="0"/>
          </a:p>
        </p:txBody>
      </p:sp>
      <p:sp>
        <p:nvSpPr>
          <p:cNvPr id="5" name="press release"/>
          <p:cNvSpPr txBox="1"/>
          <p:nvPr/>
        </p:nvSpPr>
        <p:spPr>
          <a:xfrm>
            <a:off x="457200" y="4846320"/>
            <a:ext cx="11277295" cy="1463040"/>
          </a:xfrm>
          <a:prstGeom prst="rect">
            <a:avLst/>
          </a:prstGeom>
          <a:solidFill>
            <a:srgbClr val="FFFFFF"/>
          </a:solidFill>
          <a:ln w="15875">
            <a:solidFill>
              <a:srgbClr val="C98A00"/>
            </a:solidFill>
          </a:ln>
        </p:spPr>
        <p:txBody>
          <a:bodyPr wrap="square" lIns="76200" tIns="152400" rIns="152400" bIns="7620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1"/>
                </a:solidFill>
              </a:rPr>
              <a:t>Проєкт пресрелізу: «Правління НБУ ухвалило рішення підвищити облікову ставку до 17% з огляду на прискорення базової інфляції, зміщення ризиків угору й ризики для курсових очікувань. НБУ не знижуватиме ставку щонайменше до III кварталу 2027 року, готовий за потреби до подальших кроків і допускатиме більшу гнучкість курсу, згладжуючи надмірні коливання».</a:t>
            </a:r>
            <a:endParaRPr lang="en-US" sz="1400" dirty="0"/>
          </a:p>
        </p:txBody>
      </p:sp>
      <p:sp>
        <p:nvSpPr>
          <p:cNvPr id="6" name="card1"/>
          <p:cNvSpPr/>
          <p:nvPr/>
        </p:nvSpPr>
        <p:spPr>
          <a:xfrm>
            <a:off x="457200" y="1325880"/>
            <a:ext cx="3576218" cy="3246120"/>
          </a:xfrm>
          <a:prstGeom prst="roundRect">
            <a:avLst>
              <a:gd name="adj" fmla="val 2254"/>
            </a:avLst>
          </a:prstGeom>
          <a:solidFill>
            <a:srgbClr val="EAF1EF"/>
          </a:solidFill>
          <a:ln/>
        </p:spPr>
      </p:sp>
      <p:sp>
        <p:nvSpPr>
          <p:cNvPr id="7" name="badge1"/>
          <p:cNvSpPr/>
          <p:nvPr/>
        </p:nvSpPr>
        <p:spPr>
          <a:xfrm>
            <a:off x="685800" y="1554480"/>
            <a:ext cx="457200" cy="457200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8580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280160" y="1554480"/>
            <a:ext cx="25703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Ключові меседжі</a:t>
            </a:r>
            <a:endParaRPr lang="en-US" sz="1700" dirty="0"/>
          </a:p>
        </p:txBody>
      </p:sp>
      <p:sp>
        <p:nvSpPr>
          <p:cNvPr id="10" name="bullets"/>
          <p:cNvSpPr txBox="1"/>
          <p:nvPr/>
        </p:nvSpPr>
        <p:spPr>
          <a:xfrm>
            <a:off x="731520" y="2240280"/>
            <a:ext cx="307329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НБУ підвищує ставку на 1 в. п., щоб інфляція повернулася до цілі у 2028 році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Курс не заморожений: НБУ згладжує коливання, але не фіксує рівень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Обмежені обсяги депсертифікатів — щоб підвищення дійшло до ставок за депозитами</a:t>
            </a:r>
            <a:endParaRPr lang="en-US" sz="1400" dirty="0"/>
          </a:p>
        </p:txBody>
      </p:sp>
      <p:sp>
        <p:nvSpPr>
          <p:cNvPr id="11" name="card2"/>
          <p:cNvSpPr/>
          <p:nvPr/>
        </p:nvSpPr>
        <p:spPr>
          <a:xfrm>
            <a:off x="4307738" y="1325880"/>
            <a:ext cx="3576218" cy="3246120"/>
          </a:xfrm>
          <a:prstGeom prst="roundRect">
            <a:avLst>
              <a:gd name="adj" fmla="val 2254"/>
            </a:avLst>
          </a:prstGeom>
          <a:solidFill>
            <a:srgbClr val="EAF1EF"/>
          </a:solidFill>
          <a:ln/>
        </p:spPr>
      </p:sp>
      <p:sp>
        <p:nvSpPr>
          <p:cNvPr id="12" name="badge2"/>
          <p:cNvSpPr/>
          <p:nvPr/>
        </p:nvSpPr>
        <p:spPr>
          <a:xfrm>
            <a:off x="4536338" y="1554480"/>
            <a:ext cx="457200" cy="457200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536338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5130698" y="1554480"/>
            <a:ext cx="25703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Орієнтир для ринку</a:t>
            </a:r>
            <a:endParaRPr lang="en-US" sz="1700" dirty="0"/>
          </a:p>
        </p:txBody>
      </p:sp>
      <p:sp>
        <p:nvSpPr>
          <p:cNvPr id="15" name="bullets"/>
          <p:cNvSpPr txBox="1"/>
          <p:nvPr/>
        </p:nvSpPr>
        <p:spPr>
          <a:xfrm>
            <a:off x="4582058" y="2240280"/>
            <a:ext cx="307329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Утримання 17% щонайменше до середини 2027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Пом'якшення — з другого півріччя 2027, якщо інфляція й очікування знижуватимуться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Готовність до додаткових заходів, якщо резерви й курс опиняться під тиском</a:t>
            </a:r>
            <a:endParaRPr lang="en-US" sz="1400" dirty="0"/>
          </a:p>
        </p:txBody>
      </p:sp>
      <p:sp>
        <p:nvSpPr>
          <p:cNvPr id="16" name="card3"/>
          <p:cNvSpPr/>
          <p:nvPr/>
        </p:nvSpPr>
        <p:spPr>
          <a:xfrm>
            <a:off x="8158277" y="1325880"/>
            <a:ext cx="3576218" cy="3246120"/>
          </a:xfrm>
          <a:prstGeom prst="roundRect">
            <a:avLst>
              <a:gd name="adj" fmla="val 2254"/>
            </a:avLst>
          </a:prstGeom>
          <a:solidFill>
            <a:srgbClr val="EAF1EF"/>
          </a:solidFill>
          <a:ln/>
        </p:spPr>
      </p:sp>
      <p:sp>
        <p:nvSpPr>
          <p:cNvPr id="17" name="badge3"/>
          <p:cNvSpPr/>
          <p:nvPr/>
        </p:nvSpPr>
        <p:spPr>
          <a:xfrm>
            <a:off x="8386877" y="1554480"/>
            <a:ext cx="457200" cy="457200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8386877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8981237" y="1554480"/>
            <a:ext cx="25703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Чого уникати</a:t>
            </a:r>
            <a:endParaRPr lang="en-US" sz="1700" dirty="0"/>
          </a:p>
        </p:txBody>
      </p:sp>
      <p:sp>
        <p:nvSpPr>
          <p:cNvPr id="20" name="bullets"/>
          <p:cNvSpPr txBox="1"/>
          <p:nvPr/>
        </p:nvSpPr>
        <p:spPr>
          <a:xfrm>
            <a:off x="8432597" y="2240280"/>
            <a:ext cx="307329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Обіцянок конкретного курсу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Сигналів про швидке зниження ставки до стабілізації допомоги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8. Додаткові ризики: курс, очікування, ПДВ — ставка реагує за правилом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interfax.com.ua/news/economic/1205936.htm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НБУ про ПДВ 21% (Interfax)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finance.yahoo.com/quote/BZ%3DF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ф'ючерси Brent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bank.gov.ua/ua/news/all/pidsumki-diskusiyi-chleniv-komitetu-z-monetarnoyi-politiki-natsionalnogo-banku-schodo-rivnya-oblikovoyi-stavki-16-veresnya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підсумки дискусії КМП</a:t>
            </a:r>
            <a:endParaRPr lang="en-US" sz="900" dirty="0"/>
          </a:p>
        </p:txBody>
      </p:sp>
      <p:graphicFrame>
        <p:nvGraphicFramePr>
          <p:cNvPr id="31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7295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4480560"/>
                <a:gridCol w="1143000"/>
                <a:gridCol w="1051560"/>
                <a:gridCol w="1097280"/>
                <a:gridCol w="121615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Ризик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Що закладено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ІСЦ IV кв. 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ІСЦ пік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Ставка пік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грн/$ IV кв. 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Базовий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Рішення 17% і траєкторія повернення до цілі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11,2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45,6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Курс як чекає ринок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Гривня слабшає на 5,4% на рік до долара — як чекають аналітики (НБУ)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11,4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18,0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47,1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Розбалансування очікувань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Базова інфляція вища на 1 в. п. (кв/кв, у річному вимірі) щокварталу 2027 р.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12,4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18,2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45,3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ПДВ 21% з 2027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Разове підвищення цін на ≈0,5% (оцінка НБУ: +0,4–0,7 в. п. до інфляції)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11,9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45,6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9. Стійкість рішення: під ризиками найменші очікувані втрати — 16,5–17%</a:t>
            </a:r>
            <a:endParaRPr lang="en-US" sz="2600" dirty="0"/>
          </a:p>
        </p:txBody>
      </p:sp>
      <p:graphicFrame>
        <p:nvGraphicFramePr>
          <p:cNvPr id="32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729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947672"/>
                <a:gridCol w="1207008"/>
                <a:gridCol w="1207008"/>
                <a:gridCol w="1207008"/>
                <a:gridCol w="1207008"/>
                <a:gridCol w="1207008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Сценарій (втрати, λ = 1)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Ймовірн., % P1 / P2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16%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16,5%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17%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17,5%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18%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Базовий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33 / 40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106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105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106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108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112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Важка зима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15 / 10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171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168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167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167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169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Дефіцит фінансування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8 / 5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211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204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198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193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190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Сприятливий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8 / 10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70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71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73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77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82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Нафта $120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 / 5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116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115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115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117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121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Курс як чекає ринок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8 / 5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119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115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113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111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112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Розбалансування очікувань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8 / 5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217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213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210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209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210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ПДВ 21% з 2027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 / 5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144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143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143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145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148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Слабкий попит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8 / 10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105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106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109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112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118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Базова сповільнюється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 / 5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71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70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71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74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78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Очікувані втрати (P1)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131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129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129 ●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130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132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Очікувані втрати (P2)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121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120 ●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120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121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124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Максимальний жаль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21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14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 ●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12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10. Модель: QPM НБУ + розширення команди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events.bank.gov.ua/uchallenge2026/files/nbu_challenge_model_2026.zip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модель-шаблон НБУ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ua/open-data/api-dev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API НБУ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data.ecb.europa.eu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ЄЦБ Data Portal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4" invalidUrl="" action="" tgtFrame="" tooltip="https://ec.europa.eu/eurostat/databrowser/view/prc_hicp_minr/default/tabl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Eurostat HICP</a:t>
            </a:r>
            <a:endParaRPr lang="en-US" sz="900" dirty="0"/>
          </a:p>
        </p:txBody>
      </p:sp>
      <p:sp>
        <p:nvSpPr>
          <p:cNvPr id="5" name="eq1"/>
          <p:cNvSpPr/>
          <p:nvPr/>
        </p:nvSpPr>
        <p:spPr>
          <a:xfrm>
            <a:off x="457200" y="1325880"/>
            <a:ext cx="11277295" cy="749808"/>
          </a:xfrm>
          <a:prstGeom prst="roundRect">
            <a:avLst>
              <a:gd name="adj" fmla="val 7317"/>
            </a:avLst>
          </a:prstGeom>
          <a:solidFill>
            <a:srgbClr val="EAF1EF"/>
          </a:solidFill>
          <a:ln w="6350">
            <a:solidFill>
              <a:srgbClr val="C9D6D3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" y="1325880"/>
            <a:ext cx="3017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Попит (розрив ВВП)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3749040" y="1325880"/>
            <a:ext cx="780257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ŷₜ = 0,7·ŷₜ₋₁ − 0,4·MCIₜ + 0,3·ŷ*ₜ + εʸ;   MCI = −0,5·z̃ + 0,3·r̃ + 0,2·prem̃</a:t>
            </a:r>
            <a:endParaRPr lang="en-US" sz="1600" dirty="0"/>
          </a:p>
        </p:txBody>
      </p:sp>
      <p:sp>
        <p:nvSpPr>
          <p:cNvPr id="8" name="eq2"/>
          <p:cNvSpPr/>
          <p:nvPr/>
        </p:nvSpPr>
        <p:spPr>
          <a:xfrm>
            <a:off x="457200" y="2194560"/>
            <a:ext cx="11277295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6350">
            <a:solidFill>
              <a:srgbClr val="C9D6D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2194560"/>
            <a:ext cx="3017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Базова інфляція (Філіпс)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3749040" y="2194560"/>
            <a:ext cx="780257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πᶜₜ = 0,4·πᶜₜ₋₁ + 0,6·Eₜπᶜₜ₊₁ + 0,3·rmcₜ + εᶜ;   rmc = 0,6·ŷ + 0,4·z̃,  z = s − pᶜ + p*</a:t>
            </a:r>
            <a:endParaRPr lang="en-US" sz="1600" dirty="0"/>
          </a:p>
        </p:txBody>
      </p:sp>
      <p:sp>
        <p:nvSpPr>
          <p:cNvPr id="11" name="eq3"/>
          <p:cNvSpPr/>
          <p:nvPr/>
        </p:nvSpPr>
        <p:spPr>
          <a:xfrm>
            <a:off x="457200" y="3063240"/>
            <a:ext cx="11277295" cy="749808"/>
          </a:xfrm>
          <a:prstGeom prst="roundRect">
            <a:avLst>
              <a:gd name="adj" fmla="val 7317"/>
            </a:avLst>
          </a:prstGeom>
          <a:solidFill>
            <a:srgbClr val="EAF1EF"/>
          </a:solidFill>
          <a:ln w="6350">
            <a:solidFill>
              <a:srgbClr val="C9D6D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3063240"/>
            <a:ext cx="3017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Небазові ціни (наше)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3749040" y="3063240"/>
            <a:ext cx="780257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Δrncₜ = 0,3·Δrncₜ₋₁ + 0,016·(Δoilₜ + 4·Δzₜ) + εⁿᶜ;   πₜ = πᶜₜ + Δrncₜ</a:t>
            </a:r>
            <a:endParaRPr lang="en-US" sz="1600" dirty="0"/>
          </a:p>
        </p:txBody>
      </p:sp>
      <p:sp>
        <p:nvSpPr>
          <p:cNvPr id="14" name="eq4"/>
          <p:cNvSpPr/>
          <p:nvPr/>
        </p:nvSpPr>
        <p:spPr>
          <a:xfrm>
            <a:off x="457200" y="3931920"/>
            <a:ext cx="11277295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6350">
            <a:solidFill>
              <a:srgbClr val="C9D6D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85800" y="3931920"/>
            <a:ext cx="3017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Курс (керована гнучкість)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3749040" y="3931920"/>
            <a:ext cx="780257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sₜ = β·s̄ₜ + (1−β)·sᵘⁱᵖₜ,  β = 0,7;   sᵘⁱᵖ = Eₜsₜ₊₁ + (i* + prem − i)/4</a:t>
            </a:r>
            <a:endParaRPr lang="en-US" sz="1600" dirty="0"/>
          </a:p>
        </p:txBody>
      </p:sp>
      <p:sp>
        <p:nvSpPr>
          <p:cNvPr id="17" name="eq5"/>
          <p:cNvSpPr/>
          <p:nvPr/>
        </p:nvSpPr>
        <p:spPr>
          <a:xfrm>
            <a:off x="457200" y="4800600"/>
            <a:ext cx="11277295" cy="749808"/>
          </a:xfrm>
          <a:prstGeom prst="roundRect">
            <a:avLst>
              <a:gd name="adj" fmla="val 7317"/>
            </a:avLst>
          </a:prstGeom>
          <a:solidFill>
            <a:srgbClr val="EAF1EF"/>
          </a:solidFill>
          <a:ln w="6350">
            <a:solidFill>
              <a:srgbClr val="C9D6D3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4800600"/>
            <a:ext cx="3017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Ставка (правило Тейлора)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3749040" y="4800600"/>
            <a:ext cx="780257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iₜ = 0,8·iₜ₋₁ + 0,2·(r̄ₜ + Eπₜ₊₁ + (Eπₜ₊₃ − π*) + 0,5·ŷₜ) + εⁱ</a:t>
            </a:r>
            <a:endParaRPr lang="en-US" sz="1600" dirty="0"/>
          </a:p>
        </p:txBody>
      </p:sp>
      <p:sp>
        <p:nvSpPr>
          <p:cNvPr id="20" name="num1"/>
          <p:cNvSpPr/>
          <p:nvPr/>
        </p:nvSpPr>
        <p:spPr>
          <a:xfrm>
            <a:off x="457200" y="591616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457200" y="59161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22" name="point1"/>
          <p:cNvSpPr txBox="1"/>
          <p:nvPr/>
        </p:nvSpPr>
        <p:spPr>
          <a:xfrm>
            <a:off x="868680" y="5897880"/>
            <a:ext cx="31647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Калібрування — шаблон НБУ (Grui, Vdovychenko, 2019); вага нафти — наша</a:t>
            </a:r>
            <a:endParaRPr lang="en-US" sz="1300" dirty="0"/>
          </a:p>
        </p:txBody>
      </p:sp>
      <p:sp>
        <p:nvSpPr>
          <p:cNvPr id="23" name="num2"/>
          <p:cNvSpPr/>
          <p:nvPr/>
        </p:nvSpPr>
        <p:spPr>
          <a:xfrm>
            <a:off x="4307738" y="591616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4307738" y="59161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25" name="point2"/>
          <p:cNvSpPr txBox="1"/>
          <p:nvPr/>
        </p:nvSpPr>
        <p:spPr>
          <a:xfrm>
            <a:off x="4719218" y="5897880"/>
            <a:ext cx="31647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Темпи в моделі — 100·ln-різниці, на слайдах — % р/р: π* = 4,88 = 5% р/р</a:t>
            </a:r>
            <a:endParaRPr lang="en-US" sz="1300" dirty="0"/>
          </a:p>
        </p:txBody>
      </p:sp>
      <p:sp>
        <p:nvSpPr>
          <p:cNvPr id="26" name="num3"/>
          <p:cNvSpPr/>
          <p:nvPr/>
        </p:nvSpPr>
        <p:spPr>
          <a:xfrm>
            <a:off x="8158277" y="591616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8158277" y="59161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8" name="point3"/>
          <p:cNvSpPr txBox="1"/>
          <p:nvPr/>
        </p:nvSpPr>
        <p:spPr>
          <a:xfrm>
            <a:off x="8569757" y="5897880"/>
            <a:ext cx="31647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Тренди й розриви — фільтр Калмана, 2016–2026; злам 2022: шок потенційного ВВП, розрив −18% у II кв.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11. Реакція на шок ставки залежить від контролю над курсом (β)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events.bank.gov.ua/uchallenge2026/files/nbu_challenge_model_2026.zip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модель-шаблон НБУ</a:t>
            </a:r>
            <a:endParaRPr lang="en-US" sz="900" dirty="0"/>
          </a:p>
        </p:txBody>
      </p:sp>
      <p:pic>
        <p:nvPicPr>
          <p:cNvPr id="5" name="chart" descr="/home/user/nbu-challenge-2026/results/figures/irf_res_ir_tlr_bet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7832" y="1325880"/>
            <a:ext cx="8056031" cy="49834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12. Ставка має лишатися високою, доки прогноз інфляції вищий за ціль на 3–4 в. п.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events.bank.gov.ua/uchallenge2026/files/nbu_challenge_model_2026.zip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модель-шаблон НБУ</a:t>
            </a:r>
            <a:endParaRPr lang="en-US" sz="900" dirty="0"/>
          </a:p>
        </p:txBody>
      </p:sp>
      <p:pic>
        <p:nvPicPr>
          <p:cNvPr id="5" name="chart" descr="/home/user/nbu-challenge-2026/results/figures/fc_rate_driv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7040880" cy="2951754"/>
          </a:xfrm>
          <a:prstGeom prst="rect">
            <a:avLst/>
          </a:prstGeom>
        </p:spPr>
      </p:pic>
      <p:sp>
        <p:nvSpPr>
          <p:cNvPr id="6" name="bullets"/>
          <p:cNvSpPr txBox="1"/>
          <p:nvPr/>
        </p:nvSpPr>
        <p:spPr>
          <a:xfrm>
            <a:off x="7818120" y="1417320"/>
            <a:ext cx="3916375" cy="4892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Головний чинник — прогноз інфляції на 3 квартали вперед вище цілі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Внесок розриву ВВП у правило невеликий (вага 0,5) — головне прогноз інфляції; але додатний розрив підтримує ціни послуг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З другого півріччя 2027 внесок інфляції зменшується → простір для зниження ставки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Лінія — наша траєкторія ставки (повернення до цілі), стовпці — чинники правила Тейлора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13. Бектест: прогноз з даними до III кв. 2025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open-data/api-dev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API НБУ</a:t>
            </a:r>
            <a:endParaRPr lang="en-US" sz="900" dirty="0"/>
          </a:p>
        </p:txBody>
      </p:sp>
      <p:pic>
        <p:nvPicPr>
          <p:cNvPr id="5" name="chart" descr="/home/user/nbu-challenge-2026/results/figures/fc_backte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120" y="1325880"/>
            <a:ext cx="10421455" cy="3703320"/>
          </a:xfrm>
          <a:prstGeom prst="rect">
            <a:avLst/>
          </a:prstGeom>
        </p:spPr>
      </p:pic>
      <p:sp>
        <p:nvSpPr>
          <p:cNvPr id="6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Помилка прогнозу ІСЦ на 1–4 квартали вперед: 0,4–1,8 в. п. («без змін»: 1,3–6,1); лише 3 прогони, зовнішні умови — фактичні, тож це перевірка, а не доказ переваги над НБУ</a:t>
            </a:r>
            <a:endParaRPr lang="en-US" sz="1300" dirty="0"/>
          </a:p>
        </p:txBody>
      </p:sp>
      <p:sp>
        <p:nvSpPr>
          <p:cNvPr id="9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Ставку краще прогнозує «без змін»: НБУ змінює її рідко</a:t>
            </a:r>
            <a:endParaRPr lang="en-US" sz="1300" dirty="0"/>
          </a:p>
        </p:txBody>
      </p:sp>
      <p:sp>
        <p:nvSpPr>
          <p:cNvPr id="12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Курс грн/€ модель не прогнозує краще за наївний — залежить від EUR/USD (обмеження моделі)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14. Базовий прогноз по півріччях</a:t>
            </a:r>
            <a:endParaRPr lang="en-US" sz="2600" dirty="0"/>
          </a:p>
        </p:txBody>
      </p:sp>
      <p:graphicFrame>
        <p:nvGraphicFramePr>
          <p:cNvPr id="37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7295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193031"/>
                <a:gridCol w="1193031"/>
                <a:gridCol w="1193031"/>
                <a:gridCol w="1193031"/>
                <a:gridCol w="1193031"/>
                <a:gridCol w="1193031"/>
                <a:gridCol w="1193031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Показник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IV кв. 2026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II кв. 2027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IV кв. 2027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II кв. 2028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IV кв. 2028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II кв. 2029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IV кв. 2029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ІСЦ, % р/р (сер. за кв.)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11,2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3,8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4,8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4,8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Базова інфляція, % р/р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7,8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ВВП, % р/р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Облікова ставка, % (сер. за кв.)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13,1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11,0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Курс, грн/€ (сер. за кв.)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50,4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50,6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51,1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51,7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52,3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52,6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52,7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Курс, грн/$ (сер. за кв.)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45,0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45,1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45,6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46,1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46,6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46,9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47,0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Розрив ВВП, 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−1,5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−1,1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15. Джерела даних</a:t>
            </a:r>
            <a:endParaRPr lang="en-US" sz="2600" dirty="0"/>
          </a:p>
        </p:txBody>
      </p:sp>
      <p:graphicFrame>
        <p:nvGraphicFramePr>
          <p:cNvPr id="38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729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95528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Дані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Джерело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ІСЦ, базова інфляція, складові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u="sng" dirty="0">
                          <a:hlinkClick r:id="rId1" invalidUrl="" action="" tgtFrame="" tooltip="https://bank.gov.ua/ua/open-data/api-dev" history="1" highlightClick="0" endSnd="0"/>
                        </a:rPr>
                        <a:t>API НБУ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 (Держстат);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2" invalidUrl="" action="" tgtFrame="" tooltip="https://bank.gov.ua/files/macro/CCPI_m.xlsx" history="1" highlightClick="0" endSnd="0"/>
                        </a:rPr>
                        <a:t>базовий ІСЦ (НБУ)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3" invalidUrl="" action="" tgtFrame="" tooltip="https://bank.gov.ua/admin_uploads/article/Tables_Charts_2026-Q3.xlsx?v=19" history="1" highlightClick="0" endSnd="0"/>
                        </a:rPr>
                        <a:t>дані графіків ІЗ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4" invalidUrl="" action="" tgtFrame="" tooltip="https://bank.gov.ua/ua/news/all/komentar-natsionalnogo-banku-schodo-rivnya-inflyatsiyi-u-veresni-2026-roku" history="1" highlightClick="0" endSnd="0"/>
                        </a:rPr>
                        <a:t>коментар НБУ: інфляція у вересні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Облікова ставка, курси, інтервенції, резерви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u="sng" dirty="0">
                          <a:hlinkClick r:id="rId5" invalidUrl="" action="" tgtFrame="" tooltip="https://bank.gov.ua/ua/open-data/api-dev" history="1" highlightClick="0" endSnd="0"/>
                        </a:rPr>
                        <a:t>API НБУ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 (statdirectory/key, exchange, kursf, res)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Реальний ВВП, зарплати, бюджет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u="sng" dirty="0">
                          <a:hlinkClick r:id="rId6" invalidUrl="" action="" tgtFrame="" tooltip="https://stat.gov.ua/" history="1" highlightClick="0" endSnd="0"/>
                        </a:rPr>
                        <a:t>Держстат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7" invalidUrl="" action="" tgtFrame="" tooltip="https://bank.gov.ua/ua/news/all/komentar-natsionalnogo-banku-schodo-zmini-realnogo-vvp-u-ii-kvartali-2026-roku" history="1" highlightClick="0" endSnd="0"/>
                        </a:rPr>
                        <a:t>коментар НБУ: ВВП II кв.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8" invalidUrl="" action="" tgtFrame="" tooltip="https://bank.gov.ua/files/macro/Wages_m.xlsx" history="1" highlightClick="0" endSnd="0"/>
                        </a:rPr>
                        <a:t>зарплати (НБУ)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9" invalidUrl="" action="" tgtFrame="" tooltip="https://bank.gov.ua/files/macro/S_budget_m.xlsx" history="1" highlightClick="0" endSnd="0"/>
                        </a:rPr>
                        <a:t>бюджет (НБУ)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Прогноз і припущення НБУ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u="sng" dirty="0">
                          <a:hlinkClick r:id="rId10" invalidUrl="" action="" tgtFrame="" tooltip="https://bank.gov.ua/ua/news/all/inflyatsiya-prishvidshitsya-u-drugomu-pivrichchi-ale-povernetsya-do-znijennya-nastupnogo-roku--inflyatsiyniy-zvit" history="1" highlightClick="0" endSnd="0"/>
                        </a:rPr>
                        <a:t>НБУ, Інфляційний звіт (липень 2026)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11" invalidUrl="" action="" tgtFrame="" tooltip="https://bank.gov.ua/admin_uploads/article/Macroeconomic_Forecast_table_2026_07.xlsx?v=19" history="1" highlightClick="0" endSnd="0"/>
                        </a:rPr>
                        <a:t>макропрогноз НБУ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12" invalidUrl="" action="" tgtFrame="" tooltip="https://bank.gov.ua/admin_uploads/article/Tables_Charts_2026-Q3.xlsx?v=19" history="1" highlightClick="0" endSnd="0"/>
                        </a:rPr>
                        <a:t>дані графіків ІЗ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Ціль і горизонт політики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u="sng" dirty="0">
                          <a:hlinkClick r:id="rId13" invalidUrl="" action="" tgtFrame="" tooltip="https://p4.bank.gov.ua/admin_uploads/article/MPG_2024-mt_eng.pdf" history="1" highlightClick="0" endSnd="0"/>
                        </a:rPr>
                        <a:t>Основні засади ГКП (2024)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Єврозона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u="sng" dirty="0">
                          <a:hlinkClick r:id="rId14" invalidUrl="" action="" tgtFrame="" tooltip="https://ec.europa.eu/eurostat/databrowser/view/prc_hicp_minr/default/table" history="1" highlightClick="0" endSnd="0"/>
                        </a:rPr>
                        <a:t>Eurostat HICP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15" invalidUrl="" action="" tgtFrame="" tooltip="https://data.ecb.europa.eu/" history="1" highlightClick="0" endSnd="0"/>
                        </a:rPr>
                        <a:t>ЄЦБ Data Portal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16" invalidUrl="" action="" tgtFrame="" tooltip="https://www.ecb.europa.eu/press/projections/html/index.en.html" history="1" highlightClick="0" endSnd="0"/>
                        </a:rPr>
                        <a:t>прогноз ЄЦБ (вересень 2026)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Нафта Brent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u="sng" dirty="0">
                          <a:hlinkClick r:id="rId17" invalidUrl="" action="" tgtFrame="" tooltip="https://db.nomics.world/EIA/PET/RBRTE.M" history="1" highlightClick="0" endSnd="0"/>
                        </a:rPr>
                        <a:t>EIA Brent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 (DBnomics);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18" invalidUrl="" action="" tgtFrame="" tooltip="https://finance.yahoo.com/quote/BZ%3DF/" history="1" highlightClick="0" endSnd="0"/>
                        </a:rPr>
                        <a:t>ф'ючерси Brent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 (NYMEX BZ)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Рішення та дискусія КМП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u="sng" dirty="0">
                          <a:hlinkClick r:id="rId19" invalidUrl="" action="" tgtFrame="" tooltip="https://bank.gov.ua/ua/news/all/natsionalniy-bank-ukrayini-pidvischiv-oblikovu-stavku-do-16" history="1" highlightClick="0" endSnd="0"/>
                        </a:rPr>
                        <a:t>рішення НБУ 17.09.2026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20" invalidUrl="" action="" tgtFrame="" tooltip="https://bank.gov.ua/ua/news/all/pidsumki-diskusiyi-chleniv-komitetu-z-monetarnoyi-politiki-natsionalnogo-banku-schodo-rivnya-oblikovoyi-stavki-16-veresnya-2026-roku" history="1" highlightClick="0" endSnd="0"/>
                        </a:rPr>
                        <a:t>підсумки дискусії КМП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Валютні обмеження, МВФ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u="sng" dirty="0">
                          <a:hlinkClick r:id="rId21" invalidUrl="" action="" tgtFrame="" tooltip="https://bank.gov.ua/admin_uploads/article/Strategy_for_easing_FX_restrictions_07-07-2023.pdf?v=19" history="1" highlightClick="0" endSnd="0"/>
                        </a:rPr>
                        <a:t>Стратегія пом'якшення валютних обмежень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22" invalidUrl="" action="" tgtFrame="" tooltip="https://bank.gov.ua/ua/news/all/nbu-vprovadjuye-paket-pomyakshennya-valyutnih-obmejen-z-osnovnim-fokusom-na-pidtrimtsi-naselennya" history="1" highlightClick="0" endSnd="0"/>
                        </a:rPr>
                        <a:t>пакет пом'якшення валютних обмежень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23" invalidUrl="" action="" tgtFrame="" tooltip="https://bank.gov.ua/ua/news/all/rada-mvf-shvalila-pershiy-pereglyad-programi-rozshirenogo-finansuvannya-ta-zatverdila-vidilennya-transhu-obsyagom-690-mln-dol-ssha" history="1" highlightClick="0" endSnd="0"/>
                        </a:rPr>
                        <a:t>Рада МВФ: перегляд програми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Модель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u="sng" dirty="0">
                          <a:hlinkClick r:id="rId24" invalidUrl="" action="" tgtFrame="" tooltip="https://events.bank.gov.ua/uchallenge2026/files/nbu_challenge_model_2026.zip" history="1" highlightClick="0" endSnd="0"/>
                        </a:rPr>
                        <a:t>модель-шаблон НБУ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 + розширення команди; Python і MATLAB R2026b + IRIS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BU Challenge 2026">
  <a:themeElements>
    <a:clrScheme name="NBU Challenge 2026">
      <a:dk1>
        <a:srgbClr val="1B2326"/>
      </a:dk1>
      <a:lt1>
        <a:srgbClr val="FFFFFF"/>
      </a:lt1>
      <a:dk2>
        <a:srgbClr val="0E3B43"/>
      </a:dk2>
      <a:lt2>
        <a:srgbClr val="EAF1EF"/>
      </a:lt2>
      <a:accent1>
        <a:srgbClr val="0E3B43"/>
      </a:accent1>
      <a:accent2>
        <a:srgbClr val="C98A00"/>
      </a:accent2>
      <a:accent3>
        <a:srgbClr val="2A78D6"/>
      </a:accent3>
      <a:accent4>
        <a:srgbClr val="EB6834"/>
      </a:accent4>
      <a:accent5>
        <a:srgbClr val="1BAF7A"/>
      </a:accent5>
      <a:accent6>
        <a:srgbClr val="5F6B6D"/>
      </a:accent6>
      <a:hlink>
        <a:srgbClr val="2A78D6"/>
      </a:hlink>
      <a:folHlink>
        <a:srgbClr val="4A3AA7"/>
      </a:folHlink>
    </a:clrScheme>
    <a:fontScheme name="NBU Challenge 2026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Рекомендації щодо монетарної політики — NBU University Challenge 2026</dc:title>
  <dc:subject>PptxGenJS Presentation</dc:subject>
  <dc:creator>Команда [назва]</dc:creator>
  <cp:lastModifiedBy>Команда [назва]</cp:lastModifiedBy>
  <cp:revision>1</cp:revision>
  <dcterms:created xsi:type="dcterms:W3CDTF">2026-10-25T23:37:29Z</dcterms:created>
  <dcterms:modified xsi:type="dcterms:W3CDTF">2026-10-25T23:37:29Z</dcterms:modified>
</cp:coreProperties>
</file>