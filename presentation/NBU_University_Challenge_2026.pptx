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6449807e-f509-6aed-5a0b-bab0d5b34ede}">
          <p14:sldIdLst>
            <p14:sldId id="256"/>
            <p14:sldId id="257"/>
          </p14:sldIdLst>
        </p14:section>
        <p14:section name="Огляд" id="{7bcb1d96-743c-345f-faba-55f2f5a8a338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огноз" id="{259437ac-5ff9-e821-8ddd-f03b606b644e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Рекомендації" id="{bd1a6ba2-f1b8-1094-bdf7-4e2075d2e26c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Додатки" id="{cde132c7-fb3c-cae4-4d16-3e7d6a59bbc1}">
          <p14:sldIdLst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— Команда [назва]. Наша рекомендація — для засідання Правління НБУ 29 жовтня 2026 року, на якому НБУ оновить макропрогноз. Дані — станом на 7 жовтня 2026 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рішення. Перше — підвищити облікову ставку на 0,5 в. п. до 16,5%: інфляція прискорюється, ризики зміщені вгору, а оптимальна траєкторія за моделлю — близько 16,7%. Друге — дозволити гривні поступово слабшати, щоб не витрачати ~5 млрд дол. резервів щомісяця. Третє — поставити на паузу наступні кроки валютної лібералізації, доки не відновляться резерви й ритм міжнародної допомоги.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Зовнішній фон гірший, ніж у липневому прогнозі НБУ: дорожча нафта підживлює ціни на пальне в Україні, а підвищення ставок у світі зменшує простір для пом'якшення.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Інфляція в серпні — 8,1% р/р, трохи вище траєкторії НБУ. Шоки пропозиції (пальне, тарифи) поширюються на послуги через витрати бізнесу. Продовольство — дезінфляційний чинник.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Ризик — розбалансування очікувань: домогосподарства очікують інфляцію вище фактичної, а члени КМП звертають увагу на зростання очікувань фінансових аналітиків.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Ринок праці перегрітий через дефіцит працівників, тому навіть за слабкого ВВП фундаментальний ціновий тиск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Стабільність курсу зараз забезпечується інтервенціями, а надходження допомоги в липні–вересні були меншими за очікувані. Це ключовий аргумент для нашої курсової рекомендації.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Локалізація оборонного виробництва коштом USL — це водночас бюджетний імпульс (інфляційний) і додатковий попит на валюту для імпорту компонентів.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використали шаблон QPM від НБУ, але переписали його на Python: це дало змогу автоматизувати дані, додати віялові графіки, оптимальну політику та бектест. Коректність перевірена: на тих самих даних фільтр і прогноз збігаються з оригінальною MATLAB/IRIS-версією до п'ятого знака.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має лише чотири основні рівняння, тому все, чого в ній немає — енергетика, бюджет, допомога, — входить через явні судження. Кожне судження має кількісне обґрунтування та джерело.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поточного кварталу модель не потрібна: беремо трендовий темп і сезонність, поправка −0,1 в. п. — наше судження щодо продовольства. Після публікації вересневого ІСЦ (9–10 жовтня) прогноз оновиться автоматично.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Віяло побудоване стохастичними симуляціями з волатильністю шоків, оціненою на 2023–2026 роках. Широке віяло — чесне відображення воєнної невизначеності.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оцінка розриву ВВП близька до НБУ в історії, але на 2027 рік ми консервативніші: бюджетний імпульс частково нівелюється атаками і нестачею працівників.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Сценарії побудовано поверх базового: однакове рішення в жовтні, далі ставка за правилом. Висновок: головний ризик для інфляції — курс і резерви, а не пряма дія обстрілів.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↑ — ризик вищої інфляції, ↓ — нижчої. Більшість сильних і ймовірних ризиків — проінфляційні; це аргумент на користь превентивного підвищення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Втрати = сума квадратів відхилень інфляції від цілі плюс половина квадрата розриву ВВП за 2027–2028. Оптимальна траєкторія — розв'язок задачі найменших квадратів у лінійній моделі.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Рекомендація — помірне превентивне підвищення з чіткими умовами подальших дій.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Простий балансовий розрахунок: резерви = попередні + офіційні надходження − продаж валюти НБУ. Регресія інтервенцій на модельну змінну не дала значущого зв'язку, тому ми не використовували підхід «1% курсу = X млрд».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Рекомендація спирається на Стратегію пом'якшення валютних обмежень (2023): пріоритет поточних операцій над капітальними і можливість призупинення кроків за несприятливих умов.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Комунікація має пояснити логіку пакета: вища ставка дозволяє не витрачати резерви на утримання курсу.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Дякуємо! Готові до запитань.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курсу, r̃ — розрив реальної ставки, prem — премія за ризик.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Квартальні значення базового сценарію (рішення 16,5% у жовтні, далі — правило).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07.10.2026.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помірне посилення ставки, гнучкіший курс, пауза в лібералізації</a:t>
            </a:r>
            <a:endParaRPr lang="en-US" sz="2600" dirty="0"/>
          </a:p>
        </p:txBody>
      </p:sp>
      <p:sp>
        <p:nvSpPr>
          <p:cNvPr id="4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+0,5 в. п.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кінця I кв. 2027; зниження — з II кв. 2027 за базового сценарію</a:t>
            </a:r>
            <a:endParaRPr lang="en-US" sz="1300" dirty="0"/>
          </a:p>
        </p:txBody>
      </p:sp>
      <p:sp>
        <p:nvSpPr>
          <p:cNvPr id="8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у 2027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поступове послаблення, керована гнучкість: курс амортизує шоки, інтервенції лише згладжують коливання</a:t>
            </a:r>
            <a:endParaRPr lang="en-US" sz="1300" dirty="0"/>
          </a:p>
        </p:txBody>
      </p:sp>
      <p:sp>
        <p:nvSpPr>
          <p:cNvPr id="12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61818"/>
                <a:gridCol w="2661818"/>
                <a:gridCol w="266181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53,3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квартал, з урахуванням сезонності; на кінець грудня 2026 — 9,9% (наш короткостроковий прогноз). Повернення до цілі 5% — II кв. 2028. Дані станом на 07.10.2026.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≈$100, ЄЦБ підвищує ставку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≈$100 у вересні проти $80–85 у припущеннях НБУ на II пів. 2026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прискорилася до 8,1%: пальне й тарифи, базова — стабільно висока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Пальне +38,7% р/р, адмінрегульовані ціни +13,0% (вода, проїзд) — головні рушії серпня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8,1% три місяці поспіль: послуги +13,4% (зарплати, оренда, логістика)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Стримує: сирі продукти +1,0% — блокада Чорного моря тримає зерно й овочі на внутрішньому ринку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реальна ставка ≈7% — гривневі активи поки привабливі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≈7 в. п. (ex post); депозитні ставки реагують із лагом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Липневе й вересневе підвищення підтримали попит на гривневі депозити та ОВДП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Липень–серпень: менше офіційного фінансування → стриманіші видатки, падіння резервів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НБУ, перенесена на Python і перевірена на історії</a:t>
            </a:r>
            <a:endParaRPr lang="en-US" sz="2600" dirty="0"/>
          </a:p>
        </p:txBody>
      </p:sp>
      <p:sp>
        <p:nvSpPr>
          <p:cNvPr id="4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Eurostat; оновлення одним скриптом</a:t>
            </a:r>
            <a:endParaRPr lang="en-US" sz="1300" dirty="0"/>
          </a:p>
        </p:txBody>
      </p:sp>
      <p:sp>
        <p:nvSpPr>
          <p:cNvPr id="7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8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1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2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судження, зовнішні припущення ЄЦБ</a:t>
            </a:r>
            <a:endParaRPr lang="en-US" sz="1300" dirty="0"/>
          </a:p>
        </p:txBody>
      </p:sp>
      <p:sp>
        <p:nvSpPr>
          <p:cNvPr id="15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6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траєкторія ставки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з оригінальною моделлю НБУ в MATLAB/IRIS (фільтр і прогноз)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0,6–0,9 в. п.</a:t>
            </a:r>
            <a:endParaRPr lang="en-US" sz="3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1,2–5,3)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6" name="chip1"/>
          <p:cNvSpPr/>
          <p:nvPr/>
        </p:nvSpPr>
        <p:spPr>
          <a:xfrm>
            <a:off x="457200" y="5349240"/>
            <a:ext cx="207568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534924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Автоматичні дані з API</a:t>
            </a:r>
            <a:endParaRPr lang="en-US" sz="1200" dirty="0"/>
          </a:p>
        </p:txBody>
      </p:sp>
      <p:sp>
        <p:nvSpPr>
          <p:cNvPr id="28" name="chip2"/>
          <p:cNvSpPr/>
          <p:nvPr/>
        </p:nvSpPr>
        <p:spPr>
          <a:xfrm>
            <a:off x="2670048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70048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0" name="chip3"/>
          <p:cNvSpPr/>
          <p:nvPr/>
        </p:nvSpPr>
        <p:spPr>
          <a:xfrm>
            <a:off x="4027932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027932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2" name="chip4"/>
          <p:cNvSpPr/>
          <p:nvPr/>
        </p:nvSpPr>
        <p:spPr>
          <a:xfrm>
            <a:off x="6085332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085332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4" name="chip5"/>
          <p:cNvSpPr/>
          <p:nvPr/>
        </p:nvSpPr>
        <p:spPr>
          <a:xfrm>
            <a:off x="7754112" y="5349240"/>
            <a:ext cx="2542032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54112" y="53492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траєкторія ставки</a:t>
            </a:r>
            <a:endParaRPr lang="en-US" sz="1200" dirty="0"/>
          </a:p>
        </p:txBody>
      </p:sp>
      <p:sp>
        <p:nvSpPr>
          <p:cNvPr id="36" name="chip6"/>
          <p:cNvSpPr/>
          <p:nvPr/>
        </p:nvSpPr>
        <p:spPr>
          <a:xfrm>
            <a:off x="10433304" y="53492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433304" y="53492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38" name="chip7"/>
          <p:cNvSpPr/>
          <p:nvPr/>
        </p:nvSpPr>
        <p:spPr>
          <a:xfrm>
            <a:off x="457200" y="58064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" y="58064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Розрахунок резервів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Наукаст: тренд 0,65%/міс + сезонність − 0,1 в. п. (продовольство) → грудень 9,9%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Держстат,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Підсумки КМП 28.09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Вторинні ефекти атак на енергетику й логістику та дорожчого пального в опалювальний сезон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Підсумки дискусії КМП, 28.09.2026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НБУ, Інфляційний звіт і макропрогноз,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Рішення НБУ 17.09.2026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НБУ, припущення макропрогнозу,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Поступове послаблення ≈4% (2027) і 3% (2028): EUR/USD за НБУ + керована гнучкість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ЄЦБ, вер.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≈9,9% у грудні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−0,01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086600" y="338328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вересні–грудні 2025 ціни зросли лише на 1,8%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0,65% на місяць (з урахуванням сезонності) — це ≈8% у річному вимірі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прогноз грудня близький до НБУ (10%): тиск пального компенсує дешевше продовольство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у II кв. 2028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≈8,9% у I кв. 2027; 6,6% наприкінці 2027 (НБУ, липень: 6,9% на грудень)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16,5% → 13,9% наприкінці 2027 → 10,2% наприкінці 2028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імовірність потрапити в 5±1% наприкінці 2027 — лише 21%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≈0,3% проти 1,4%</a:t>
            </a:r>
            <a:endParaRPr lang="en-US" sz="2600" dirty="0"/>
          </a:p>
        </p:txBody>
      </p:sp>
      <p:pic>
        <p:nvPicPr>
          <p:cNvPr id="4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5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1,0% / 1,1%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(≈7–8%) вища за нейтральну (≈6%) — політика вже стримувальна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правилом ставка має лишатися ≈16,5% до весни: інфляція вище цілі на 3–4 в. п.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2027 внесок інфляції зменшується → простір для зниження ставки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важка зима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980" y="1280160"/>
            <a:ext cx="10205735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шок витрат + падіння попиту → ставку змінювати не треба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за базовий (≈55 грн/€) → ставка до ≈18%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зниження премії за ризик → пом'якшення вже з I кв. 2027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5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6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8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1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3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5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8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19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1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кожні +0,5 в. п. знижують втрати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Варіант (далі — правило)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Знизити до 15,5%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49,6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 (мін. втрат) — 16,7% зараз, 17,0% у I кв. 2027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Чутливість: за сильнішого згладжування — 16,1%, за слабшого — 17,4%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Обираємо 16,5%: більша частина виграшу за меншої ціни для ВВП; крок у 0,5 в. п. — поступовість за невизначеності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16,5% і утримувати до весни</a:t>
            </a:r>
            <a:endParaRPr lang="en-US" sz="2600" dirty="0"/>
          </a:p>
        </p:txBody>
      </p:sp>
      <p:sp>
        <p:nvSpPr>
          <p:cNvPr id="4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+0,5 в. п. з 30.10.2026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9" name="bullets"/>
          <p:cNvSpPr txBox="1"/>
          <p:nvPr/>
        </p:nvSpPr>
        <p:spPr>
          <a:xfrm>
            <a:off x="3931920" y="170992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Інфляція зросте до ≈10% у грудні; ризики зміщені вгору (нафта, тарифи, зарплати,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31318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3931920" y="3515868"/>
            <a:ext cx="7802575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реальна ставка вже ≈7% — вище нейтральної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45034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3" name="bullets"/>
          <p:cNvSpPr txBox="1"/>
          <p:nvPr/>
        </p:nvSpPr>
        <p:spPr>
          <a:xfrm>
            <a:off x="3931920" y="488746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2027; зниження з II кв. 2027 до ≈14% наприкінці року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Підвищення до 17–18%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 (липень–вересень)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Кінець 2026: $56 / 43 / 38 млрд = 4,6 / 3,6 / 3,1 міс. імпорту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поступове послаблення гривні до € ≈4% у 2027, інтервенції лише для згладжування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фіксувати й не захищати рівень: це прямий шлях до втрати резервів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16,5% з огляду на прискорення інфляції, зміщення ризиків угору та зниження міжнародних резервів. НБУ утримуватиме ставку щонайменше до кінця I кварталу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6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9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превентивно, щоб інфляція повернулася до 5% на початку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0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1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4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II кв.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5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6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19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16,5% та утримувати щонайменше до кінця I кв.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≈9,9% у грудні 2026, 6,6% наприкінці 2027, ціль — II кв. 2028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Квартальна прогнозна модель (QPM НБУ)</a:t>
            </a:r>
            <a:endParaRPr lang="en-US" sz="2600" dirty="0"/>
          </a:p>
        </p:txBody>
      </p:sp>
      <p:sp>
        <p:nvSpPr>
          <p:cNvPr id="4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7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Інфляція (крива Філіпса)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πₜ = 0,4·πₜ₋₁ + 0,6·Eₜπₜ₊₁ + 0,3·rmcₜ + εᵖ;   rmc = 0,6·ŷ + 0,4·z̃</a:t>
            </a:r>
            <a:endParaRPr lang="en-US" sz="1600" dirty="0"/>
          </a:p>
        </p:txBody>
      </p:sp>
      <p:sp>
        <p:nvSpPr>
          <p:cNvPr id="10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3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− 5) + 0,5·ŷₜ) + εⁱ</a:t>
            </a:r>
            <a:endParaRPr lang="en-US" sz="1600" dirty="0"/>
          </a:p>
        </p:txBody>
      </p:sp>
      <p:sp>
        <p:nvSpPr>
          <p:cNvPr id="16" name="num1"/>
          <p:cNvSpPr/>
          <p:nvPr/>
        </p:nvSpPr>
        <p:spPr>
          <a:xfrm>
            <a:off x="457200" y="50474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8" name="point1"/>
          <p:cNvSpPr txBox="1"/>
          <p:nvPr/>
        </p:nvSpPr>
        <p:spPr>
          <a:xfrm>
            <a:off x="868680" y="5029200"/>
            <a:ext cx="31647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(NBU University Challenge 2026), Grui &amp; Vdovychenko (2019)</a:t>
            </a:r>
            <a:endParaRPr lang="en-US" sz="1300" dirty="0"/>
          </a:p>
        </p:txBody>
      </p:sp>
      <p:sp>
        <p:nvSpPr>
          <p:cNvPr id="19" name="num2"/>
          <p:cNvSpPr/>
          <p:nvPr/>
        </p:nvSpPr>
        <p:spPr>
          <a:xfrm>
            <a:off x="4307738" y="50474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07738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point2"/>
          <p:cNvSpPr txBox="1"/>
          <p:nvPr/>
        </p:nvSpPr>
        <p:spPr>
          <a:xfrm>
            <a:off x="4719218" y="5029200"/>
            <a:ext cx="31647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Зовнішній сектор — єврозона; тренди та розриви — фільтр Калмана, 2016–2026</a:t>
            </a:r>
            <a:endParaRPr lang="en-US" sz="1300" dirty="0"/>
          </a:p>
        </p:txBody>
      </p:sp>
      <p:sp>
        <p:nvSpPr>
          <p:cNvPr id="22" name="num3"/>
          <p:cNvSpPr/>
          <p:nvPr/>
        </p:nvSpPr>
        <p:spPr>
          <a:xfrm>
            <a:off x="8158277" y="50474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58277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point3"/>
          <p:cNvSpPr txBox="1"/>
          <p:nvPr/>
        </p:nvSpPr>
        <p:spPr>
          <a:xfrm>
            <a:off x="8569757" y="5029200"/>
            <a:ext cx="31647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Злам 2022 року: шок рівня потенційного ВВП + коригування розриву −18% у II кв. 2022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irf_res_ir_tlr_b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8196" y="1325880"/>
            <a:ext cx="8075304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Бектест: прогноз з даними до III кв. 2025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0,6–0,9 в. п. (наївний прогноз: 1,2–5,3)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Базовий прогноз по кварталах</a:t>
            </a:r>
            <a:endParaRPr lang="en-US" sz="26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2026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53,0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53,3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Джерела даних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через API НБУ; Інфляційний звіт НБУ (липень 2026); коментарі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API НБУ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(сезонно скоригований), коментар НБУ 17.09.2026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Інфляційний звіт і таблиця макропрогнозу,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Eurostat (HICP, prc_hicp_minr), ЄЦБ (ВВП EA21, депозитна ставка), прогноз ЄЦБ вересень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Пресреліз 17.09.2026, підсумки дискусії КМП 28.09.2026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Стратегія НБУ (2023), пакет пом'якшення 10.08.2026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Шаблон QPM NBU University Challenge 2026; код: github-репозиторій команди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2026-10-07T18:20:01Z</dcterms:created>
  <dcterms:modified xsi:type="dcterms:W3CDTF">2026-10-07T18:20:01Z</dcterms:modified>
</cp:coreProperties>
</file>