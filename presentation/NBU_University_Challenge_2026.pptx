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4558f1a8-d001-6588-b31d-c7cc627e8a66}">
          <p14:sldIdLst>
            <p14:sldId id="256"/>
            <p14:sldId id="257"/>
          </p14:sldIdLst>
        </p14:section>
        <p14:section name="Огляд" id="{5d68b1f8-c230-f6c9-5904-cb096bf2166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огноз" id="{ecf150a5-b719-7fd5-3d60-e41dcaf34b5c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комендації" id="{bf6b9561-81e6-7807-9efe-eeda79c76b84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Додатки" id="{2fceb1ac-0a6e-2456-0ac7-bb3717483852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24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12%. Друге — не заморожувати курс: у жовтні гривня послабилася до 45,1 за долар, і це правильно —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5,4% у четвертому кварталі 2027 року і повернеться до цілі у 2029 році — у межах трирічного горизонту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коштувала в середньому 117 доларів за барель, у вересні — 114, а в жовтні — близько 125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ставка, якщо рахувати як НБУ — від очікувань, — близько 8%, тож гривневі активи поки привабливі. Але великі банки майже не підняли депозитні ставки — трансмісія слабка,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у третьому — близько 1%, і то завдяки врожаю: це суттєво гірше прогнозу НБУ. Але атаки й дефіцит кадрів б'ють по потенціалу ще сильніше, ніж по попиту. Ринок праці напружений: номінальні зарплати цього року зростають на 21–25%.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Курс чотири місяці стояв біля 44,7 гривні за долар, а в жовтні НБУ допустив послаблення до 45,1.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Наше розширення — окремо базова й небазова інфляція і канал світових цін на нафту: нафта на 20% дорожча додає 0,3 пункта до інфляції, а ставка реагує слабко. Той самий файл моделі, дані й плани ми проганяємо в MATLAB з IRIS для звірки: розбіжність — у п'ятому знаку.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1,19%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 Базову інфляцію рахуємо тим самим методом: у грудні — 9,6%.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11,2% — наприкінці 2026 року; у місячному вимірі це близько 12% у грудні. Далі вона знизиться до 5,4% у четвертому кварталі 2027-го, у 2028 році опуститься нижче цілі — до 3,8–4,8%, бо нафта дешевшає за ф'ючерсами, а попит слабкий, — і стабілізується біля 5% у 2029 році. Базова інфляція в нас нижча, ніж у НБУ: 4,2% у середньому за четвертий квартал 2027 року, у грудневому вимірі — близько 3,7%, проти 5,1% у НБУ. Ставка — 17% до середини 2027 року, далі поступово знижується до 10,5% наприкінці 2028-го. Невизначеність велика — це показує віяло.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попит. ВВП ми бачимо слабшим, ніж НБУ в липні: 0,5% цього року, −0,2% у 2027-му і 2,4% у 2028-му. Мінекономіки теж погіршує прогноз — до 0,8–1% на 2027 рік. Але потенціал економіки постраждав ще більше: атаки й дефіцит кадрів. Тому розрив ВВП зараз додатний, і ціни послуг ростуть. Бюджетного стимулу ми не закладаємо: дефіцит скорочується з 35 до 26% ВВП. У 2027 році висока реальна ставка охолоджує попит, і розрив закривається — це ціна повернення інфляції до цілі.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сценарії. Найнебезпечніший — дефіцит фінансування: якщо допомога затримається, гривня буде приблизно на 6% слабшою, інфляція зросте до 13,0%, а ставку доведеться підняти до 19,3%. Важка зима з ударами по енергетиці підніме інфляцію до 12,4% і майже зупинить зростання ВВП. Натомість нафта по 120 доларів додає лише 0,1 пункта до піку інфляції, і ставка майже не реагує — це шок першого раунду. Ще два ризики для інфляції 2027 року — курс і очікування: якщо гривня слабшатиме так, як чекає ринок, інфляція наприкінці 2027 року буде близько 7% замість 5%, розбалансування очікувань дало б близько 7%, а ПДВ 21% — ще 0,3 пункта до піку.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Мінімум втрат — від 16 до 17% залежно від ваги згладжування, за центральної — 16,5%; оптимальна траєкторія починається з 16,9% і в першому кварталі 2027-го підіймається до 16,9%. Ми перевірили рішення на десяти сценаріях: найменші очікувані втрати — на 16,5 і 17%, і 17% — серед них. Тому ми обираємо пункт зараз і готовність до ще пів пункта в грудні, коли буде оновлений прогноз НБУ, а не півтора пункта одразу.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курсові ризики високі, а гнучкіший курс потребує сильного якоря для очікувань. Ринок не чекає різкого посилення, але ризики зміщені вгору, і НБУ вже робив крок у пункт — у січні й березні 2025 року. Чому не більше: економіка слабка, а півтора пункта одразу — надмірний сигнал до оновленого прогнозу НБУ. Щоб підвищення дійшло до депозитів, обсяги тендерів депсертифікатів варто обмежити. Орієнтир: не знижувати ставку щонайменше до третього кварталу 2027 року, а наступний крок — радше вгору: ще пів пункта в грудні, якщо базова інфляція не сповільниться або посиляться курсові очікування.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Структурно попит на валюту високий: імпорт у 2,6 раза більший за експорт, а офіційне фінансування скоротиться з 87 до 33 мільярдів у 2028 році. Водночас продаж валюти здебільшого «доносить» допомогу до ринку, тож резерви визначає її ритм, а не курс. Наша рекомендація щодо курсу інша: не фіксувати його. Чотири місяці гривня стояла біля 44,7 за долар, а в жовтні послабилася до 45,1 — за рік це плюс 8%, і це нормальна робота амортизатора. Курс має поглинати шоки, а НБУ — лише згладжувати коливання.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Формула комунікації — «ставка — якір, курс — амортизатор». За такої політики інфляція повернеться до цілі у 2029 році.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підтримує попит через локалізацію ОПК і водночас створює попит на валюту, але загалом дефіцит скорочується, тож окремого бюджетного стимулу ми не закладаємо.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нафтового каналу функції відгуку моделі збігаються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Окремо про базову інфляцію. Наша оцінка на четвертий квартал 2027 року — 4,2% у середньому за квартал, тобто близько 3,7% у грудні, проти 5,1% у НБУ — нижча, ніж у НБУ. У моделі її тримають додатний розрив ВВП, перенесення вересневого шоку витрат і курсу та шок витрат опалювального сезону. Загальна інфляція при цьому близька до НБУ: тарифи й акцизи додають близько 1,7 пункта на рік, а дешевша нафта частково це компенсує.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Розраховано поверх базового сценарію, як і основні сценарії: правило Тейлора реагує на нові шоки. Найсильніший — курс: модель передає послаблення гривні в ціни швидко (перенос у шаблоні ≈0,75 за рік — верхня межа; в останні роки фактичний перенос був нижчим), тому реальний ефект, імовірно, менший.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варіант: рішення в жовтні й утримання, далі траєкторія повернення до цілі; у ризикових сценаріях правило реагує навколо траєкторії варіанта. Втрати — функція оптимізації (λ = 1). P1 — ризики зміщені вгору, P2 — збалансовані; «Слабкий попит» і «Базова сповільнюється» — дезінфляційні противаги. Максимальний жаль — найбільше відставання від найкращого варіанта в будь-якому сценарії. ● — найкращий варіант у рядку.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побудовано в Python; з вагою нафти 0 вони збігаються з опублікованими MATLAB-результатами шаблону (тест).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сезонне згладжування й фільтр бачать лише дані до дати прогнозу, судження й наукасти не використовувалися, зовнішні змінні — фактичні; «факт» — лише опубліковані дані (IV кв. 2026 не оцінюється).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24.10.2026.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minfin.com.ua/ua/2026/09/23/18219864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interfax.com.ua/news/economic/1211092.html" TargetMode="External"/><Relationship Id="rId4" Type="http://schemas.openxmlformats.org/officeDocument/2006/relationships/image" Target="../media/image-13-1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24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natsionalniy-bank-ukrayini-pidvischiv-oblikovu-stavku-do-16" TargetMode="External"/><Relationship Id="rId9" Type="http://schemas.openxmlformats.org/officeDocument/2006/relationships/hyperlink" Target="https://bank.gov.ua/admin_uploads/article/Macroeconomic_Forecast_table_2026_07.xlsx?v=19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ua/open-data/api-dev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6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27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interfax.com.ua/news/economic/1205936.html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зниження; інфляція нижче 5% з I кв. 2028, ≈5% у 2029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після плато ≈44,7 грн/$ (червень–вересень) у жовтні — до 45,08 (14.10, історичний мінімум гривні), 25.10 — 45,05; допускати двосторонні коливання, інтервенції лише згладжують; рівень не фіксувати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грн/$ (модель)**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** Грн/€ з моделі ÷ EUR/USD 1,12 (жовтневий рівень); аналітики чекають ≈47 грн/$ через рік — курсовий ризик. Інфляція нижче 5% з I кв. 2028, ≈5% у 2029 (у 2028 — 3,8–4,8%). Дані на 24.10.2026.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≈$125,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(спот) — в середньому $117 у квітні, $114 у вересні, ≈$125 за 1–20.10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його технічні припущення — ≈3% у 2027–2028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3,8% у вересні; ЄЦБ чекає пік ≈3,6% у IV кв. 2026 і 3,0% / 2,5% / 2,1% у середньому за 2026–2028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від очікувань ≈8%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/home/user/nbu-challenge-2026/results/figures/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859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ставка (як рахує НБУ — від липневих очікувань аналітиків): ≈8,1%; але депозитні ставки великих банків після липня й вересня майже не зросли — трансмісія слабка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 (06.10): 1 рік — 15,1%, 2,5 року — 16,5% — ринок чекає високих ставок надовго, але не різкого посилення; кредити бізнесу +30% р/р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Активність: врожай підтримав III кв., але промисловість і логістика слабкі, а зарплати +21–25%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09/23/18219864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ІЕД: ВВП у липні–серпні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/home/user/nbu-challenge-2026/results/figures/ov_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5718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+0,4% р/р; III кв. — ≈+1% р/р (ІЕД: липень +4%, серпень +1,2% — врожай), «суттєво гірше» за прогноз НБУ (+2,1%)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б'ють і по попиту, і по потенціалу (енергетика, логістика, порти; −0,9 в. п. до ВВП-2026 за 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Потенціал постраждав сильніше: дефіцит кадрів, зарплати +21–25% р/р у I пів., +23% у серпні — розрив ВВП додатний, послуги дорожчають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en-US" sz="900" dirty="0"/>
          </a:p>
        </p:txBody>
      </p:sp>
      <p:pic>
        <p:nvPicPr>
          <p:cNvPr id="5" name="chart" descr="/home/user/nbu-challenge-2026/results/figures/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488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Курс: ≈44,7 грн/$ з червня по вересень, у жовтні — до 45,08 (14.10, історичний мінімум гривні), 25.10 — 45,05 (за рік — +8%); продаж валюти здебільшого «доносить» допомогу: у вересні уряд конвертував $3,81 млрд оборонного траншу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1e−5*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 на тому самому файлі моделі: фільтр і всі 5 сценаріїв (* звірка від 21.10 на попередніх даних; після оновлення 25.10 run_check.m треба перезапустити)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0,4–1,8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ІСЦ на 1–4 кв. уперед, 3 прогони 2025 р. із фактичними зовнішніми умовами («без змін»: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842516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 і курсу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784848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784848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842248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42248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457200" y="58064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7200" y="58064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228142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28142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3328416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28416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4375404" y="58064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375404" y="5806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Звірка з 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/home/user/nbu-challenge-2026/results/figures/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388891"/>
          </a:xfrm>
          <a:prstGeom prst="rect">
            <a:avLst/>
          </a:prstGeom>
        </p:spPr>
      </p:pic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1,19% на місяць (без сезонності) — це ≈15%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(10%); базова тим самим методом — 9,6% (НБУ: 9,2%)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наприкінці 2026 і повернеться до цілі у 2029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919" y="1325880"/>
            <a:ext cx="9931857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— IV кв. 2026: ≈11,2% у середньому за квартал (у грудні — ≈12,1% за місяць); 5,4% у IV кв. 2027 (НБУ: 6,9% у грудні); нижче 5% — з I кв. 2028, у 2028 — 3,8–4,8% (дешевша нафта, слабкий попит), ≈5% — у 2029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13,1% наприкінці 2027 → 10,5% — 2028 → 10,5%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2,0 до 9,1%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слабка, але потенціал постраждав ще більше: розрив ≈0,7% зараз, ≈−1,0% у 2027 (НБУ: 1,4%)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interfax.com.ua/news/economic/1211092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Мінекономіки: прогноз ВВП</a:t>
            </a:r>
            <a:endParaRPr lang="en-US" sz="900" dirty="0"/>
          </a:p>
        </p:txBody>
      </p:sp>
      <p:pic>
        <p:nvPicPr>
          <p:cNvPr id="5" name="chart main" descr="/home/user/nbu-challenge-2026/results/figures/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64529" cy="2740914"/>
          </a:xfrm>
          <a:prstGeom prst="rect">
            <a:avLst/>
          </a:prstGeom>
        </p:spPr>
      </p:pic>
      <p:pic>
        <p:nvPicPr>
          <p:cNvPr id="6" name="chart side" descr="/home/user/nbu-challenge-2026/results/figures/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32002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0,5% / −0,2% / 2,4%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Мінекономіки теж погіршує прогноз: ≈0,5% у 2026, 0,8–1% у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додатний → послуги дорожчають; у 2027 висока реальна ставка охолоджує попит; бюджетного стимулу не закладаємо: дефіцит скорочується з 35 до 26% ВВП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головні ризики — дефіцит фінансування, курс і очікування, а не нафта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44" y="1280160"/>
            <a:ext cx="10191008" cy="2606040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(≈48 грн/$) → інфляція до 13,0%, ставка до 19,3%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12,4%, ставка до 17,8%, ВВП 2027 — −1,1%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+0,1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Ще три ризики (додаток): курс, як чекає ринок → ІСЦ IV кв. 2027 ≈7%; розбалансування очікувань → ≈7%; ПДВ 21% → +0,3 в. п. до піку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— 5% «на належному горизонті політики (до 3-х років)»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рішення: мінімум втрат у моделі — 16–17%; обираємо 17% і готові йти далі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/home/user/nbu-challenge-2026/results/figures/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694" y="1280160"/>
            <a:ext cx="8640307" cy="260604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Втрати: відхилення інфляції від 5%, розрив ВВП, різкі зміни ставки; адмінціни — з вагою 50% (вони ростуть щороку, але це перший раунд) — той самий принцип для рішення й усієї траєкторії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траєкторія: 16,9% зараз (16,4–17,7% залежно від згладжування), ≈16,9% у I кв. 2027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Під ризиками (10 сценаріїв, два набори ймовірностей) найменші очікувані втрати — 16,5–17%; 17% — серед них (різниця з мінімумом &lt; 0,5% втрат)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вибір — 17% (+1 в. п., найбільший крок НБУ за 2025 р.) і готовність до +0,5 у грудні, коли буде жовтневий прогноз НБУ і дані за жовтень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прискорилася до 8,8% і за наукастом сягне ≈9,6% у грудні — вторинні ефекти вже є; очікування домогосподарств 10–14%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Курс: якщо гривня слабшатиме, як чекає ринок, ІСЦ IV кв. 2027 — ≈7%; кожні +0,5 в. п. зараз знижують його на ≈0,2 в. п.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До депозитів: знизити коефіцієнт використання ліміту 3-міс. ДС (прив'язаного до строкових вкладів)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13182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17, а не 16,5 чи 17,5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51586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Модель: оптимум ≈16,9%, під ризиками — 16,5–17%; ринок (ОВДП, курсові очікування) не чекає різкого посилення — ми рішучіші за ринок, обережніші за модель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+1 в. п. — як у січні й березні 2025; +1,5 одразу — надмірний сигнал за слабкого ВВП і до оновленого прогнозу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16,5% — якби жовтневі дані показали сповільнення базової інфляції і стабільні очікування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72059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510463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знижувати щонайменше до III кв. 2027; за базовим прогнозом далі — ≈13,0% наприкінці 2027 і ≈10,5% — 2028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Наступний крок радше вгору: ще +0,5 у грудні, якщо базова без сезонності ≥ 0,6% м/м або посиляться курсові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за надходжень липня–вересня резерви на кінець 2026 — $43 млрд (3,8 міс. імпорту)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79804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р.; центральний — $43 млрд, надолуження — якщо Рада ухвалить закони під допомогу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Ринок чекає ≈47 грн/$ через рік (≈5% послаблення); модель — ≈45,3 грн/$ (≈1%; до євро ≈2% на рік); якщо правий ринок, ІСЦ IV кв. 2027 — ≈7%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не фіксувати курс — жовтневе послаблення до 45,08 грн/$ показує, що амортизатор працює;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97533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5,4% у IV кв. 2027, нижче 5% з I кв. 2028, ≈5% у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/home/user/nbu-challenge-2026/results/figures/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07218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/home/user/nbu-challenge-2026/results/figures/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638707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5,4%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Наше розширення QPM: нафта змінює небазові ціни, а ставка на нафтовий шок реагує слабко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irf_res_dl_roil_b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552" y="1325880"/>
            <a:ext cx="5986592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року; правило реагує на загальний ІСЦ, але ставка — лише +0,2 в. п.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функції відгуку збігаються з шаблоном НБУ (тест); поділ на базову й небазову інфляцію лишається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 ІСЦ і базового ІСЦ (тренд + сезонність − 0,1 в. п.): грудень — 12,1% і 9,6% р/р; в IV кв. фіксуємо обидва ряди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+1,1% кв/кв SA (≈+1% р/р): ІЕД — липень +4%, серпень +1,2%; КМП — «суттєво гірше» за прогноз НБУ (+2,1%)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ІЕД, підсумки КМП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Без окремого імпульсу: дефіцит без грантів 35 → 26% ВВП, оборонна частина USL $33,2 → $16,7 млрд; локалізація ОПК коштом USL частково компенсує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IV кв. 2026 — за фактом жовтня й останнім курсом (50,4 грн/€); далі допустиме послаблення (цільовий темп) 4% у 2027, 3% у 2028; фактичний — з моделі (≈2% на рік); EUR/USD 1,12 без змін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ua/open-data/api-dev" history="1" highlightClick="0" endSnd="0"/>
                        </a:rPr>
                        <a:t>Офіційний курс НБУ, ЄЦБ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Спот до вересня; IV кв. 2026 $119 (жовтень — спот, далі ф'ючерс); ф'ючерсна крива (24.10):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≈3% у 2027–2028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Базова інфляція у 2027 — нижча, ніж у НБУ: 4,2% у IV кв. (≈3,7% у грудні) проти 5,1% у НБУ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7267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Наша базова — середнє за IV кв., у НБУ — грудень; для порівняння показуємо й грудневий еквівалент (інтерполяція)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Що її тримає в моделі: додатний розрив ВВП, перенесення вересневого шоку витрат і курсу; у 2027 — шок витрат опалювального сезону (судження за оцінкою НБУ)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5,4%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3,4% (НБУ 3,3%) — слабкий попит → простір для зниження ставки з II пів. 2027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базової інфляції, зміщення ризиків угору й ризики для курсових очікувань. НБУ не знижуватиме ставку щонайменше до III кварталу 2027 року, готовий за потреби до подальших кроків і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цілі у 2029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8. Додаткові ризики: курс, очікування, ПДВ — ставка реагує за правилом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interfax.com.ua/news/economic/1205936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 про ПДВ 21% (Interfax)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143000"/>
                <a:gridCol w="1051560"/>
                <a:gridCol w="109728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17% і траєкторія повернення до цілі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Гривня слабшає на 5,4% на рік до долара — як чекають аналітики (НБУ)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Базова інфляція вища на 1 в. п. (кв/кв, у річному вимірі) щокварталу 2027 р.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Разове підвищення цін на ≈0,5% (оцінка НБУ: +0,4–0,7 в. п. до інфляції)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9. Стійкість рішення: під ризиками найменші очікувані втрати — 16,5–17%</a:t>
            </a:r>
            <a:endParaRPr lang="en-US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7672"/>
                <a:gridCol w="1207008"/>
                <a:gridCol w="1207008"/>
                <a:gridCol w="1207008"/>
                <a:gridCol w="1207008"/>
                <a:gridCol w="1207008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Сценарій (втрати, λ = 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Ймовірн., % P1 / P2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33 / 40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Слабкий попит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Базова сповільнюється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128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(P2)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119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Максимальний жаль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10.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+ 4·Δzₜ)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11.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irf_res_ir_tlr_b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832" y="1325880"/>
            <a:ext cx="8056031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12.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51754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Внесок розриву ВВП у правило невеликий (вага 0,5) — головне прогноз інфляції; але додатний розрив підтримує ціни послуг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— наша траєкторія ставки (повернення до цілі), стовпці — чинники правила Тейлора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13.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1–4 квартали вперед: 0,4–1,8 в. п. («без змін»: 1,3–6,1); лише 3 прогони, зовнішні умови — фактичні, тож це перевірка, а не доказ переваги над НБУ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14. Базовий прогноз по півріччях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грн/$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15. Джерела даних</a:t>
            </a:r>
            <a:endParaRPr lang="en-US" sz="26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2026-10-25T23:18:59Z</dcterms:created>
  <dcterms:modified xsi:type="dcterms:W3CDTF">2026-10-25T23:18:59Z</dcterms:modified>
</cp:coreProperties>
</file>