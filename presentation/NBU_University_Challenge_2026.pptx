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slideMasters/slideMaster28.xml" ContentType="application/vnd.openxmlformats-officedocument.presentationml.slideMaster+xml"/>
  <Override PartName="/ppt/slides/slide28.xml" ContentType="application/vnd.openxmlformats-officedocument.presentationml.slide+xml"/>
  <Override PartName="/ppt/slideMasters/slideMaster29.xml" ContentType="application/vnd.openxmlformats-officedocument.presentationml.slideMaster+xml"/>
  <Override PartName="/ppt/slides/slide29.xml" ContentType="application/vnd.openxmlformats-officedocument.presentationml.slide+xml"/>
  <Override PartName="/ppt/slideMasters/slideMaster30.xml" ContentType="application/vnd.openxmlformats-officedocument.presentationml.slideMaster+xml"/>
  <Override PartName="/ppt/slides/slide30.xml" ContentType="application/vnd.openxmlformats-officedocument.presentationml.slide+xml"/>
  <Override PartName="/ppt/slideMasters/slideMaster31.xml" ContentType="application/vnd.openxmlformats-officedocument.presentationml.slideMaster+xml"/>
  <Override PartName="/ppt/slides/slide31.xml" ContentType="application/vnd.openxmlformats-officedocument.presentationml.slide+xml"/>
  <Override PartName="/ppt/slideMasters/slideMaster32.xml" ContentType="application/vnd.openxmlformats-officedocument.presentationml.slideMaster+xml"/>
  <Override PartName="/ppt/slides/slide32.xml" ContentType="application/vnd.openxmlformats-officedocument.presentationml.slide+xml"/>
  <Override PartName="/ppt/slideMasters/slideMaster33.xml" ContentType="application/vnd.openxmlformats-officedocument.presentationml.slideMaster+xml"/>
  <Override PartName="/ppt/slides/slide33.xml" ContentType="application/vnd.openxmlformats-officedocument.presentationml.slide+xml"/>
  <Override PartName="/ppt/slideMasters/slideMaster34.xml" ContentType="application/vnd.openxmlformats-officedocument.presentationml.slideMaster+xml"/>
  <Override PartName="/ppt/slides/slide34.xml" ContentType="application/vnd.openxmlformats-officedocument.presentationml.slide+xml"/>
  <Override PartName="/ppt/slideMasters/slideMaster35.xml" ContentType="application/vnd.openxmlformats-officedocument.presentationml.slideMaster+xml"/>
  <Override PartName="/ppt/slides/slide35.xml" ContentType="application/vnd.openxmlformats-officedocument.presentationml.slide+xml"/>
  <Override PartName="/ppt/slideMasters/slideMaster36.xml" ContentType="application/vnd.openxmlformats-officedocument.presentationml.slideMaster+xml"/>
  <Override PartName="/ppt/slides/slide36.xml" ContentType="application/vnd.openxmlformats-officedocument.presentationml.slide+xml"/>
  <Override PartName="/ppt/slideMasters/slideMaster37.xml" ContentType="application/vnd.openxmlformats-officedocument.presentationml.slideMaster+xml"/>
  <Override PartName="/ppt/slides/slide37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  <p:sldId id="291" r:id="rId37"/>
    <p:sldId id="292" r:id="rId38"/>
  </p:sldIdLst>
  <p:notesMasterIdLst>
    <p:notesMasterId r:id="rId39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Вступ" id="{53dd830b-5c7d-203b-5736-a8804c6c3d1a}">
          <p14:sldIdLst>
            <p14:sldId id="256"/>
            <p14:sldId id="257"/>
          </p14:sldIdLst>
        </p14:section>
        <p14:section name="Огляд" id="{3ad81732-794f-86f7-d3ba-a7c8214b3cc6}">
          <p14:sldIdLst>
            <p14:sldId id="258"/>
            <p14:sldId id="259"/>
            <p14:sldId id="260"/>
            <p14:sldId id="261"/>
            <p14:sldId id="262"/>
            <p14:sldId id="263"/>
          </p14:sldIdLst>
        </p14:section>
        <p14:section name="Прогноз" id="{b65c1975-cadd-7cda-86e6-bf57d488b7d8}">
          <p14:sldIdLst>
            <p14:sldId id="264"/>
            <p14:sldId id="265"/>
            <p14:sldId id="266"/>
            <p14:sldId id="267"/>
            <p14:sldId id="268"/>
            <p14:sldId id="269"/>
          </p14:sldIdLst>
        </p14:section>
        <p14:section name="Рекомендації" id="{53ef9e76-956e-0c52-6995-f0baa6234667}">
          <p14:sldIdLst>
            <p14:sldId id="270"/>
            <p14:sldId id="271"/>
            <p14:sldId id="272"/>
            <p14:sldId id="273"/>
            <p14:sldId id="274"/>
            <p14:sldId id="275"/>
            <p14:sldId id="276"/>
          </p14:sldIdLst>
        </p14:section>
        <p14:section name="Додатки" id="{b4047815-d0f1-aa57-9691-f67bb39fff62}">
          <p14:sldIdLst>
            <p14:sldId id="277"/>
            <p14:sldId id="278"/>
            <p14:sldId id="279"/>
            <p14:sldId id="280"/>
            <p14:sldId id="281"/>
            <p14:sldId id="282"/>
            <p14:sldId id="283"/>
            <p14:sldId id="284"/>
            <p14:sldId id="285"/>
            <p14:sldId id="286"/>
            <p14:sldId id="287"/>
            <p14:sldId id="288"/>
            <p14:sldId id="289"/>
            <p14:sldId id="290"/>
            <p14:sldId id="291"/>
            <p14:sldId id="292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slide" Target="slides/slide29.xml"/><Relationship Id="rId31" Type="http://schemas.openxmlformats.org/officeDocument/2006/relationships/slide" Target="slides/slide30.xml"/><Relationship Id="rId32" Type="http://schemas.openxmlformats.org/officeDocument/2006/relationships/slide" Target="slides/slide31.xml"/><Relationship Id="rId33" Type="http://schemas.openxmlformats.org/officeDocument/2006/relationships/slide" Target="slides/slide32.xml"/><Relationship Id="rId34" Type="http://schemas.openxmlformats.org/officeDocument/2006/relationships/slide" Target="slides/slide33.xml"/><Relationship Id="rId35" Type="http://schemas.openxmlformats.org/officeDocument/2006/relationships/slide" Target="slides/slide34.xml"/><Relationship Id="rId36" Type="http://schemas.openxmlformats.org/officeDocument/2006/relationships/slide" Target="slides/slide35.xml"/><Relationship Id="rId37" Type="http://schemas.openxmlformats.org/officeDocument/2006/relationships/slide" Target="slides/slide36.xml"/><Relationship Id="rId38" Type="http://schemas.openxmlformats.org/officeDocument/2006/relationships/slide" Target="slides/slide37.xml"/><Relationship Id="rId39" Type="http://schemas.openxmlformats.org/officeDocument/2006/relationships/notesMaster" Target="notesMasters/notesMaster1.xml"/><Relationship Id="rId40" Type="http://schemas.openxmlformats.org/officeDocument/2006/relationships/presProps" Target="presProps.xml"/><Relationship Id="rId41" Type="http://schemas.openxmlformats.org/officeDocument/2006/relationships/viewProps" Target="viewProps.xml"/><Relationship Id="rId42" Type="http://schemas.openxmlformats.org/officeDocument/2006/relationships/theme" Target="theme/theme1.xml"/><Relationship Id="rId43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_rels/notesSlide2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8.xml"/>
		</Relationships>
</file>

<file path=ppt/notesSlides/_rels/notesSlide2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9.xml"/>
		</Relationships>
</file>

<file path=ppt/notesSlides/_rels/notesSlide3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0.xml"/>
		</Relationships>
</file>

<file path=ppt/notesSlides/_rels/notesSlide3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1.xml"/>
		</Relationships>
</file>

<file path=ppt/notesSlides/_rels/notesSlide3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2.xml"/>
		</Relationships>
</file>

<file path=ppt/notesSlides/_rels/notesSlide3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3.xml"/>
		</Relationships>
</file>

<file path=ppt/notesSlides/_rels/notesSlide3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4.xml"/>
		</Relationships>
</file>

<file path=ppt/notesSlides/_rels/notesSlide3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5.xml"/>
		</Relationships>
</file>

<file path=ppt/notesSlides/_rels/notesSlide3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6.xml"/>
		</Relationships>
</file>

<file path=ppt/notesSlides/_rels/notesSlide3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7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Добрий день, шановні члени журі. Ми — Команда [назва]. Сьогодні представимо наші рекомендації для засідання Правління НБУ 29 жовтня 2026 року. Усі дані — станом на 20 жовтня.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Почнемо з головного. Ми пропонуємо три рішення, які працюють як єдиний пакет. Перше — підвищити облікову ставку на 1 пункт, до 17%, і утримувати її щонайменше до середини 2027 року: у вересні інфляція сягнула 10%, у грудні буде близько 12%. Друге — не заморожувати курс: з червня гривня стоїть біля 45 за долар, а курс має поглинати шоки. І обмежити обсяги тендерів депсертифікатів, щоб підвищення дійшло до депозитів. Третє — поставити на паузу наступні кроки валютної лібералізації, доки не відновляться резерви. За такої політики інфляція знизиться до 6,9% у четвертому кварталі 2027 року і повернеться до близько 5% у 2028 році — у межах трирічного горизонту НБУ.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Зовнішнє середовище стало помітно проінфляційним. Через війну на Близькому Сході нафта Brent у квітні коштувала в середньому 117 доларів за барель, а у вересні–жовтні знову перевищила 100 — тоді як НБУ в липні закладав 80–85. Ринок очікує здешевлення: ф'ючерси вказують на 87 доларів наприкінці 2027 року, і саме цю криву ми беремо в прогноз. Водночас ЄЦБ підвищує ставку, тож простору для пом'якшення в Україні менше.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У вересні інфляція стрибнула до 10% — ціни за місяць зросли на 2,1%. Пальне подорожчало на 46% за рік, атаки на склади й логістику здорожчили доставку. Але більше нас турбує базова інфляція: вона прискорилася до 8,8%, послуги дорожчають на 14%. І навіть продовольство, яке досі стримувало ціни, почало дорожчати.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Інфляційні очікування підвищені: домогосподарства чекають 10–14% — більше, ніж фактична інфляція, а фінансові аналітики підвищили свої очікування до 7,9%. Реальна ставка, якщо рахувати як НБУ — від очікувань, — близько 8%, тож гривневі активи поки привабливі. Але великі банки майже не підняли депозитні ставки — трансмісія слабка, і ризик розбалансування очікувань реальний.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Економіка тим часом сповільнюється. ВВП у другому кварталі зріс лише на 0,4% за рік, у третьому — близько 1%, і то завдяки врожаю: це суттєво гірше прогнозу НБУ. Але атаки й дефіцит кадрів б'ють по потенціалу ще сильніше, ніж по попиту. Тому ринок праці перегрітий: номінальні зарплати цього року зростають на 21–25%. Тож навіть за слабкого ВВП тиск на ціни послуг зберігається.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Найгостріша проблема — валютний ринок. НБУ продає в середньому близько 5,0 мільярда доларів на місяць, у вересні — рекордні 5,5 мільярда. Резерви за два місяці скоротилися з 51,2 до 47,1 мільярда, тоді як НБУ очікував 53,8. Але важливо: продаж валюти здебільшого «доносить» допомогу на ринок — у вересні уряд конвертував 3,81 мільярда оборонного траншу. Тож резерви падають через ритм допомоги. А курс із червня фактично заморожений — близько 44,7 гривні за долар.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Тепер — прогноз. Ми взяли квартальну прогнозну модель НБУ, переписали її на Python і розширили. Дані завантажуються автоматично, фільтр Калмана оцінює розриви й тренди, далі — прогноз із судженнями й аналіз політики. Наше розширення — окремо базова й небазова інфляція і канал світових цін на нафту: нафта на 20% дорожча додає 0,3 пункта до інфляції, а ставка реагує слабко. Той самий файл моделі ми проганяємо в MATLAB з IRIS: розбіжність — у п'ятому знаку, а графіки сценаріїв у презентації побудовані в MATLAB.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Для найближчих місяців ми будуємо короткостроковий прогноз: трендовий темп цін, сезонність і поправка на разовість вересневого стрибка. Тренд — 0,86% на місяць. До того ж діє ефект бази: у жовтні–грудні 2025 ціни зросли лише на 1,5%. Тому річна інфляція підніметься до 12,1% у грудні — помітно вище, ніж НБУ прогнозував у липні. Базову інфляцію рахуємо тим самим методом: у грудні — 9,2%.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Базовий прогноз. Нагадаю: ціль НБУ — 5% без діапазону відхилень, і повернути інфляцію до неї треба на горизонті до трьох років. У середньому за квартал інфляція досягне піку — близько 11,3% — на початку 2027 року; у місячному вимірі це близько 12% у грудні. Далі вона знизиться до 6,9% у четвертому кварталі 2027-го, повернеться до близько 5% у 2028 році і далі триматиметься в межах 4,6–5,1%. Базова інфляція в нас стійкіша, ніж у НБУ: 5,7% наприкінці 2027 року проти 5,1% — через перегрітий ринок праці й дорожчі послуги. Ставка — 17% до середини 2027 року, далі поступово знижується до 10,5% наприкінці 2028-го. Невизначеність велика — це показує віяло.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Тепер — попит. ВВП ми бачимо слабшим, ніж НБУ в липні: 0,6% цього року, 0,4% у 2027-му і 1,6% у 2028-му. Мінекономіки теж погіршує прогноз — до 0,8–1% на 2027 рік. Але потенціал економіки постраждав ще більше: атаки й дефіцит кадрів. Тому розрив ВВП зараз додатний, і ціни послуг ростуть. Бюджетного стимулу ми не закладаємо: дефіцит скорочується з 35 до 26% ВВП. У 2027 році висока реальна ставка охолоджує попит, і розрив закривається — це ціна повернення інфляції до цілі.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Ми розглянули чотири ризикові сценарії, розраховані в MATLAB. Найнебезпечніший — дефіцит фінансування: якщо допомога затримається, гривня буде приблизно на 6% слабшою, інфляція зросте до 13,3%, а ставку доведеться підняти до 19,3%. Важка зима з ударами по енергетиці підніме інфляцію до 12,7% і майже зупинить зростання ВВП. Натомість нафта по 120 доларів додає лише 0,4 пункта до піку інфляції, і ставка майже не реагує — це шок першого раунду. Головний ризик — курс: якщо гривня слабшатиме так, як чекає ринок, інфляція наприкінці 2027 року сягне близько 13%. Розбалансування очікувань дало б близько 9%, а ПДВ 21% — плюс пів пункта.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Переходимо до рекомендацій. Спершу — рамка. Головна мета НБУ — цінова стабільність: ціль 5%, і повернути до неї інфляцію треба на горизонті до трьох років. Інструменти — облікова ставка, депозитні сертифікати, які з серпня розміщуються на тендерах, валютні інтервенції та обмеження. У вересні КМП підвищив ставку до 16%, але думки розділилися: семеро вважають, що цього достатньо, двоє чекають ще одного підвищення, один — зниження. Ми — за підвищення, і ось чому.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Ми порівняли чотири варіанти рішення — від утримання 16% до підвищення до 17,5%. У кожному ставка утримується до середини 2027 року, а далі знижується так, щоб інфляція повернулася саме до 5%. Критерій — втрати: відхилення інфляції від цілі, розрив ВВП і різкі зміни ставки. Адмінціни ми враховуємо наполовину: вони ростуть щороку, але це перший раунд. Мінімум втрат — від 16,5 до 17,5% залежно від ваги згладжування, за центральної — 17%; оптимальна траєкторія починається з 16,8%. Але різниця між сусідніми варіантами — у межах похибки. Тому крок у пункт ми обираємо за ризиками: якщо гривня слабшатиме, як чекає ринок, інфляція наприкінці 2027 року буде близько 13%, а не 7.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Тому перша рекомендація — підвищити облікову ставку до 17%. Чому підвищити: інфляція в грудні сягне близько 12%, базова інфляція прискорюється, курсові ризики високі, а гнучкіший курс потребує сильного якоря для очікувань. Чому саме 17: 16,5% ми підтримали б, якби жовтневі дані показали сповільнення базової інфляції, а 17,5% — якщо тиск на курс почне розхитувати очікування. І щоб підвищення дійшло до депозитів, обсяги тендерів депсертифікатів варто тримати обмеженими. Орієнтир: утримувати 17% щонайменше до середини 2027 року, далі знижувати — до близько 14,5% наприкінці 2027-го і 10,5% наприкінці 2028-го. Якщо тиск на курс почне розхитувати очікування — готові підвищувати далі; якщо базова інфляція опуститься нижче 7% — знижувати швидше.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Друга рекомендація — щодо курсу. НБУ продає близько 5,0 мільярда доларів на місяць, а надходить близько 3,7. Якщо так і залишиться, на кінець року резерви становитимуть 43 мільярди. Структурно попит на валюту високий: імпорт у 2,6 раза більший за експорт, а офіційне фінансування скоротиться з 87 до 33 мільярдів у 2028 році. Водночас продаж валюти здебільшого «доносить» допомогу до ринку, тож резерви визначає її ритм, а не курс. Наша рекомендація щодо курсу інша: не заморожувати його. З червня гривня стоїть біля 44,7 за долар, хоча за рік до того послабилася на 8%. Курс має поглинати шоки, а НБУ — лише згладжувати коливання.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Третя рекомендація — валютні обмеження. Серпневий пакет варто зберегти: купівля валюти населенням зросла з 0,39 до 0,58 мільярда доларів на місяць — помітно, але керовано. За Стратегією НБУ кроки робляться за передумовами, а не за календарем. Тому третій етап — операції населення й капітальні операції — пропонуємо відкласти, доки резерви не повернуться до 50 мільярдів, а допомога — до ритмічності. Нових обмежень не запроваджувати.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Підсумуємо. Перше — підвищити облікову ставку до 17% і утримувати щонайменше до середини 2027 року. Друге — не заморожувати курс і обмежити обсяги депсертифікатів. Третє — пауза в лібералізації валютних обмежень. Формула комунікації — «ставка — якір, курс — амортизатор». За такої політики інфляція повернеться до близько 5% у 2028 році. Дякуємо за увагу! Будемо раді відповісти на ваші запитання.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Звідки тиск на резерви — видно з платіжного балансу. Імпорт цього року в 2,6 раза більший за експорт, дефіцит — близько 89 мільярдів доларів. Поточний рахунок фінансують позики партнерів. Але офіційне фінансування скорочується з 87 мільярдів у 2026 році до 33 у 2028-му, і, за прогнозом НБУ, поточний рахунок тоді погіршиться до мінус 45 мільярдів. Тому резерви потрібні як буфер, а лібералізацію варто проводити поступово.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Причина — залежність бюджету від допомоги. Дефіцит без грантів — близько 35% ВВП, потреба у зовнішньому фінансуванні — 87 мільярдів доларів, а влітку надходження затрималися. Оборонний кредит USL — водночас бюджетний імпульс для попиту і додатковий попит на валюту. Уряд у Бюджетній декларації закладає інфляцію 8,9% наприкінці 2027 року — вище, ніж НБУ і ми.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Що ми змінили в моделі. У шаблоні одна крива Філіпса для всієї інфляції, тож нафтовий шок дає хибні коливання через курс. Ми розділили інфляцію на базову і небазову: небазові ціни реагують на нафту та курс. Нафта на 20% дорожча — це плюс 0,3 пункта до інфляції впродовж року, ставка зростає лише на 0,2 пункта, а базова інфляція не прискорюється. Без цього каналу модель точно збігається з шаблоном НБУ.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Модель не описує все — енергетику, бюджет, допомогу, тарифи. Тому ці чинники входять через явні судження, і кожне має кількісне обґрунтування та джерело. Наприклад, вторинні ефекти атак в опалювальний сезон ми калібруємо за оцінкою НБУ. Окремо закладаємо адмінціни й акцизи: у 2016–2026 роках загальна інфляція в середньому перевищувала базову на 1,7 пункта на рік, і НБУ закладає таку саму різницю на 2027–2028 роки.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Важлива відмінність від НБУ — базова інфляція. Ми вважаємо, що вона буде стійкішою: 5,7% наприкінці 2027 року проти 5,1% у НБУ. Причина — перегрітий ринок праці, дорожчі послуги й наслідки атак. Загальна інфляція при цьому близька до НБУ: тарифи й акцизи додають близько 1,7 пункта на рік, а дешевша нафта частково це компенсує. Висновок: підвищити ставку зараз, щоб швидше пом'якшити її пізніше.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Матриця ризиків підсумовує: більшість імовірних і сильних ризиків — проінфляційні. Це атаки на енергетику, затримки допомоги, розбалансування очікувань і зарплатна спіраль. Дезінфляційних менше — блокада портів, охолодження попиту, можливе перемир'я. Баланс зміщений угору.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Усе це має пояснити комунікація. Ключова формула — «ставка — якір, курс — амортизатор»: НБУ підвищує ставку рішуче, курс не заморожений, а обмежені обсяги депсертифікатів доносять підвищення до депозитних ставок. Чого уникати — обіцянок конкретного курсу і сигналів про швидке зниження ставки. На слайді — наш проєкт пресрелізу.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Розраховано поверх базового сценарію, як і основні сценарії: правило Тейлора реагує на нові шоки. Найсильніший — курс: модель передає послаблення гривні в ціни швидко, тому ринкове послаблення на ≈5% на рік підняло б інфляцію наприкінці 2027 року майже вдвічі.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ŷ — розрив ВВП, z̃ — розрив реального курсу (за базовими цінами), r̃ — розрив реальної ставки, prem — премія за ризик, oil — реальна ціна Brent у євро, rnc — відносна ціна небазових товарів. З вагою нафти 0 модель збігається з шаблоном НБУ.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Чим сильніше НБУ контролює курс (β → 1), тим слабше ставка впливає на курс і інфляцію — валютний канал головний. Функції відгуку розраховано в MATLAB/IRIS.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Графік показує, на скільки ставка має бути вищою за нейтральну за правилом Тейлора і чому.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Лінії — розрахунок у Python, кружки — у MATLAB R2026b з IRIS. Це підтверджує, що наш Python-порт і розширення моделі коректні, а графіки MATLAB у презентації відповідають тим самим цифрам.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Бектест квазіреальний: зовнішні змінні — фактичні, судження не використовувалися.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Значення базового сценарію в II і IV кварталах (рішення 17% у жовтні з утриманням до середини 2027, далі — траєкторія повернення до цілі). Усі квартали — results/tables/baseline_quarterly.csv.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Усі дані завантажуються скриптами; дата відсічення — 20.10.2026.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_intro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11277295" cy="91440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2600" b="1" dirty="0">
                <a:solidFill>
                  <a:schemeClr val="accent1"/>
                </a:solidFill>
                <a:latin typeface="Cambria" pitchFamily="34" charset="0"/>
                <a:ea typeface="Cambria" pitchFamily="34" charset="-122"/>
                <a:cs typeface="Cambria" pitchFamily="34" charset="-120"/>
              </a:defRPr>
            </a:lvl1pPr>
          </a:lstStyle>
          <a:p>
            <a:pPr algn="l" indent="0" marL="0">
              <a:buNone/>
            </a:pPr>
            <a:endParaRPr lang="en-US" sz="2600" dirty="0"/>
          </a:p>
        </p:txBody>
      </p:sp>
      <p:sp>
        <p:nvSpPr>
          <p:cNvPr id="3" name="Text 0"/>
          <p:cNvSpPr/>
          <p:nvPr/>
        </p:nvSpPr>
        <p:spPr>
          <a:xfrm>
            <a:off x="457200" y="6473952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F6B6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NBU University Challenge 2026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5855" y="6473952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6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1002</a:t>
            </a:fld>
            <a:endParaRPr 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_Огляд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11277295" cy="91440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2600" b="1" dirty="0">
                <a:solidFill>
                  <a:schemeClr val="accent1"/>
                </a:solidFill>
                <a:latin typeface="Cambria" pitchFamily="34" charset="0"/>
                <a:ea typeface="Cambria" pitchFamily="34" charset="-122"/>
                <a:cs typeface="Cambria" pitchFamily="34" charset="-120"/>
              </a:defRPr>
            </a:lvl1pPr>
          </a:lstStyle>
          <a:p>
            <a:pPr algn="l" indent="0" marL="0">
              <a:buNone/>
            </a:pPr>
            <a:endParaRPr lang="en-US" sz="2600" dirty="0"/>
          </a:p>
        </p:txBody>
      </p:sp>
      <p:sp>
        <p:nvSpPr>
          <p:cNvPr id="3" name="Text 0"/>
          <p:cNvSpPr/>
          <p:nvPr/>
        </p:nvSpPr>
        <p:spPr>
          <a:xfrm>
            <a:off x="457200" y="6473952"/>
            <a:ext cx="74066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0E3B4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 Огляд</a:t>
            </a:r>
            <a:endParaRPr lang="en-US" sz="1000" dirty="0"/>
          </a:p>
        </p:txBody>
      </p:sp>
      <p:sp>
        <p:nvSpPr>
          <p:cNvPr id="4" name="Text 1"/>
          <p:cNvSpPr/>
          <p:nvPr/>
        </p:nvSpPr>
        <p:spPr>
          <a:xfrm>
            <a:off x="1380744" y="6473952"/>
            <a:ext cx="88696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F6B6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 Прогноз</a:t>
            </a:r>
            <a:endParaRPr lang="en-US" sz="1000" dirty="0"/>
          </a:p>
        </p:txBody>
      </p:sp>
      <p:sp>
        <p:nvSpPr>
          <p:cNvPr id="5" name="Text 2"/>
          <p:cNvSpPr/>
          <p:nvPr/>
        </p:nvSpPr>
        <p:spPr>
          <a:xfrm>
            <a:off x="2450592" y="6473952"/>
            <a:ext cx="125272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F6B6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 Рекомендації</a:t>
            </a:r>
            <a:endParaRPr lang="en-US" sz="1000" dirty="0"/>
          </a:p>
        </p:txBody>
      </p:sp>
      <p:sp>
        <p:nvSpPr>
          <p:cNvPr id="6" name="Text 3"/>
          <p:cNvSpPr/>
          <p:nvPr/>
        </p:nvSpPr>
        <p:spPr>
          <a:xfrm>
            <a:off x="3886200" y="6473952"/>
            <a:ext cx="74066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F6B6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Додатки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5855" y="6473952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6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1003</a:t>
            </a:fld>
            <a:endParaRPr 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_Прогноз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11277295" cy="91440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2600" b="1" dirty="0">
                <a:solidFill>
                  <a:schemeClr val="accent1"/>
                </a:solidFill>
                <a:latin typeface="Cambria" pitchFamily="34" charset="0"/>
                <a:ea typeface="Cambria" pitchFamily="34" charset="-122"/>
                <a:cs typeface="Cambria" pitchFamily="34" charset="-120"/>
              </a:defRPr>
            </a:lvl1pPr>
          </a:lstStyle>
          <a:p>
            <a:pPr algn="l" indent="0" marL="0">
              <a:buNone/>
            </a:pPr>
            <a:endParaRPr lang="en-US" sz="2600" dirty="0"/>
          </a:p>
        </p:txBody>
      </p:sp>
      <p:sp>
        <p:nvSpPr>
          <p:cNvPr id="3" name="Text 0"/>
          <p:cNvSpPr/>
          <p:nvPr/>
        </p:nvSpPr>
        <p:spPr>
          <a:xfrm>
            <a:off x="457200" y="6473952"/>
            <a:ext cx="74066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F6B6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 Огляд</a:t>
            </a:r>
            <a:endParaRPr lang="en-US" sz="1000" dirty="0"/>
          </a:p>
        </p:txBody>
      </p:sp>
      <p:sp>
        <p:nvSpPr>
          <p:cNvPr id="4" name="Text 1"/>
          <p:cNvSpPr/>
          <p:nvPr/>
        </p:nvSpPr>
        <p:spPr>
          <a:xfrm>
            <a:off x="1380744" y="6473952"/>
            <a:ext cx="88696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0E3B4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 Прогноз</a:t>
            </a:r>
            <a:endParaRPr lang="en-US" sz="1000" dirty="0"/>
          </a:p>
        </p:txBody>
      </p:sp>
      <p:sp>
        <p:nvSpPr>
          <p:cNvPr id="5" name="Text 2"/>
          <p:cNvSpPr/>
          <p:nvPr/>
        </p:nvSpPr>
        <p:spPr>
          <a:xfrm>
            <a:off x="2450592" y="6473952"/>
            <a:ext cx="125272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F6B6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 Рекомендації</a:t>
            </a:r>
            <a:endParaRPr lang="en-US" sz="1000" dirty="0"/>
          </a:p>
        </p:txBody>
      </p:sp>
      <p:sp>
        <p:nvSpPr>
          <p:cNvPr id="6" name="Text 3"/>
          <p:cNvSpPr/>
          <p:nvPr/>
        </p:nvSpPr>
        <p:spPr>
          <a:xfrm>
            <a:off x="3886200" y="6473952"/>
            <a:ext cx="74066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F6B6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Додатки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5855" y="6473952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6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1004</a:t>
            </a:fld>
            <a:endParaRPr 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_Рекомендації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11277295" cy="91440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2600" b="1" dirty="0">
                <a:solidFill>
                  <a:schemeClr val="accent1"/>
                </a:solidFill>
                <a:latin typeface="Cambria" pitchFamily="34" charset="0"/>
                <a:ea typeface="Cambria" pitchFamily="34" charset="-122"/>
                <a:cs typeface="Cambria" pitchFamily="34" charset="-120"/>
              </a:defRPr>
            </a:lvl1pPr>
          </a:lstStyle>
          <a:p>
            <a:pPr algn="l" indent="0" marL="0">
              <a:buNone/>
            </a:pPr>
            <a:endParaRPr lang="en-US" sz="2600" dirty="0"/>
          </a:p>
        </p:txBody>
      </p:sp>
      <p:sp>
        <p:nvSpPr>
          <p:cNvPr id="3" name="Text 0"/>
          <p:cNvSpPr/>
          <p:nvPr/>
        </p:nvSpPr>
        <p:spPr>
          <a:xfrm>
            <a:off x="457200" y="6473952"/>
            <a:ext cx="74066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F6B6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 Огляд</a:t>
            </a:r>
            <a:endParaRPr lang="en-US" sz="1000" dirty="0"/>
          </a:p>
        </p:txBody>
      </p:sp>
      <p:sp>
        <p:nvSpPr>
          <p:cNvPr id="4" name="Text 1"/>
          <p:cNvSpPr/>
          <p:nvPr/>
        </p:nvSpPr>
        <p:spPr>
          <a:xfrm>
            <a:off x="1380744" y="6473952"/>
            <a:ext cx="88696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F6B6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 Прогноз</a:t>
            </a:r>
            <a:endParaRPr lang="en-US" sz="1000" dirty="0"/>
          </a:p>
        </p:txBody>
      </p:sp>
      <p:sp>
        <p:nvSpPr>
          <p:cNvPr id="5" name="Text 2"/>
          <p:cNvSpPr/>
          <p:nvPr/>
        </p:nvSpPr>
        <p:spPr>
          <a:xfrm>
            <a:off x="2450592" y="6473952"/>
            <a:ext cx="125272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0E3B4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 Рекомендації</a:t>
            </a:r>
            <a:endParaRPr lang="en-US" sz="1000" dirty="0"/>
          </a:p>
        </p:txBody>
      </p:sp>
      <p:sp>
        <p:nvSpPr>
          <p:cNvPr id="6" name="Text 3"/>
          <p:cNvSpPr/>
          <p:nvPr/>
        </p:nvSpPr>
        <p:spPr>
          <a:xfrm>
            <a:off x="3886200" y="6473952"/>
            <a:ext cx="74066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F6B6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Додатки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5855" y="6473952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6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1005</a:t>
            </a:fld>
            <a:endParaRPr lang="en-US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_Додатки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11277295" cy="91440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2600" b="1" dirty="0">
                <a:solidFill>
                  <a:schemeClr val="accent1"/>
                </a:solidFill>
                <a:latin typeface="Cambria" pitchFamily="34" charset="0"/>
                <a:ea typeface="Cambria" pitchFamily="34" charset="-122"/>
                <a:cs typeface="Cambria" pitchFamily="34" charset="-120"/>
              </a:defRPr>
            </a:lvl1pPr>
          </a:lstStyle>
          <a:p>
            <a:pPr algn="l" indent="0" marL="0">
              <a:buNone/>
            </a:pPr>
            <a:endParaRPr lang="en-US" sz="2600" dirty="0"/>
          </a:p>
        </p:txBody>
      </p:sp>
      <p:sp>
        <p:nvSpPr>
          <p:cNvPr id="3" name="Text 0"/>
          <p:cNvSpPr/>
          <p:nvPr/>
        </p:nvSpPr>
        <p:spPr>
          <a:xfrm>
            <a:off x="457200" y="6473952"/>
            <a:ext cx="74066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F6B6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 Огляд</a:t>
            </a:r>
            <a:endParaRPr lang="en-US" sz="1000" dirty="0"/>
          </a:p>
        </p:txBody>
      </p:sp>
      <p:sp>
        <p:nvSpPr>
          <p:cNvPr id="4" name="Text 1"/>
          <p:cNvSpPr/>
          <p:nvPr/>
        </p:nvSpPr>
        <p:spPr>
          <a:xfrm>
            <a:off x="1380744" y="6473952"/>
            <a:ext cx="88696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F6B6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 Прогноз</a:t>
            </a:r>
            <a:endParaRPr lang="en-US" sz="1000" dirty="0"/>
          </a:p>
        </p:txBody>
      </p:sp>
      <p:sp>
        <p:nvSpPr>
          <p:cNvPr id="5" name="Text 2"/>
          <p:cNvSpPr/>
          <p:nvPr/>
        </p:nvSpPr>
        <p:spPr>
          <a:xfrm>
            <a:off x="2450592" y="6473952"/>
            <a:ext cx="125272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F6B6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 Рекомендації</a:t>
            </a:r>
            <a:endParaRPr lang="en-US" sz="1000" dirty="0"/>
          </a:p>
        </p:txBody>
      </p:sp>
      <p:sp>
        <p:nvSpPr>
          <p:cNvPr id="6" name="Text 3"/>
          <p:cNvSpPr/>
          <p:nvPr/>
        </p:nvSpPr>
        <p:spPr>
          <a:xfrm>
            <a:off x="3886200" y="6473952"/>
            <a:ext cx="74066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0E3B4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Додатки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5855" y="6473952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6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1006</a:t>
            </a:fld>
            <a:endParaRPr lang="en-US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ARK">
    <p:bg>
      <p:bgPr>
        <a:solidFill>
          <a:srgbClr val="0E3B4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731520" y="2377440"/>
            <a:ext cx="10698480" cy="128016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4000" b="1" dirty="0">
                <a:solidFill>
                  <a:schemeClr val="bg1"/>
                </a:solidFill>
                <a:latin typeface="Cambria" pitchFamily="34" charset="0"/>
                <a:ea typeface="Cambria" pitchFamily="34" charset="-122"/>
                <a:cs typeface="Cambria" pitchFamily="34" charset="-120"/>
              </a:defRPr>
            </a:lvl1pPr>
          </a:lstStyle>
          <a:p>
            <a:pPr algn="l" indent="0" marL="0">
              <a:buNone/>
            </a:pPr>
            <a:endParaRPr lang="en-US" sz="4000" dirty="0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5855" y="6473952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6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null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hyperlink" Target="https://p4.bank.gov.ua/admin_uploads/article/MPG_2024-mt_eng.pdf" TargetMode="External"/><Relationship Id="rId2" Type="http://schemas.openxmlformats.org/officeDocument/2006/relationships/hyperlink" Target="https://bank.gov.ua/ua/news/all/inflyatsiya-prishvidshitsya-u-drugomu-pivrichchi-ale-povernetsya-do-znijennya-nastupnogo-roku--inflyatsiyniy-zvit" TargetMode="External"/><Relationship Id="rId3" Type="http://schemas.openxmlformats.org/officeDocument/2006/relationships/slideLayout" Target="../slideLayouts/slideLayout2.xml"/><Relationship Id="rId4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hyperlink" Target="https://www.ecb.europa.eu/press/projections/html/index.en.html" TargetMode="External"/><Relationship Id="rId2" Type="http://schemas.openxmlformats.org/officeDocument/2006/relationships/hyperlink" Target="https://ec.europa.eu/eurostat/databrowser/view/prc_hicp_minr/default/table" TargetMode="External"/><Relationship Id="rId3" Type="http://schemas.openxmlformats.org/officeDocument/2006/relationships/hyperlink" Target="https://db.nomics.world/EIA/PET/RBRTE.M" TargetMode="External"/><Relationship Id="rId4" Type="http://schemas.openxmlformats.org/officeDocument/2006/relationships/hyperlink" Target="https://finance.yahoo.com/quote/BZ%3DF/" TargetMode="External"/><Relationship Id="rId5" Type="http://schemas.openxmlformats.org/officeDocument/2006/relationships/image" Target="../media/image-4-1.png"/><Relationship Id="rId6" Type="http://schemas.openxmlformats.org/officeDocument/2006/relationships/slideLayout" Target="../slideLayouts/slideLayout3.xml"/><Relationship Id="rId7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hyperlink" Target="https://bank.gov.ua/ua/news/all/komentar-natsionalnogo-banku-schodo-rivnya-inflyatsiyi-u-veresni-2026-roku" TargetMode="External"/><Relationship Id="rId2" Type="http://schemas.openxmlformats.org/officeDocument/2006/relationships/hyperlink" Target="https://bank.gov.ua/admin_uploads/article/Tables_Charts_2026-Q3.xlsx?v=19" TargetMode="External"/><Relationship Id="rId3" Type="http://schemas.openxmlformats.org/officeDocument/2006/relationships/hyperlink" Target="https://bank.gov.ua/ua/open-data/api-dev" TargetMode="External"/><Relationship Id="rId4" Type="http://schemas.openxmlformats.org/officeDocument/2006/relationships/image" Target="../media/image-5-1.png"/><Relationship Id="rId5" Type="http://schemas.openxmlformats.org/officeDocument/2006/relationships/slideLayout" Target="../slideLayouts/slideLayout3.xml"/><Relationship Id="rId6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hyperlink" Target="https://bank.gov.ua/admin_uploads/article/Tables_Charts_2026-Q3.xlsx?v=19" TargetMode="External"/><Relationship Id="rId2" Type="http://schemas.openxmlformats.org/officeDocument/2006/relationships/hyperlink" Target="https://minfin.com.ua/ua/2026/10/07/183076902/" TargetMode="External"/><Relationship Id="rId3" Type="http://schemas.openxmlformats.org/officeDocument/2006/relationships/hyperlink" Target="https://bank.gov.ua/ua/news/all/pidsumki-diskusiyi-chleniv-komitetu-z-monetarnoyi-politiki-natsionalnogo-banku-schodo-rivnya-oblikovoyi-stavki-16-veresnya-2026-roku" TargetMode="External"/><Relationship Id="rId4" Type="http://schemas.openxmlformats.org/officeDocument/2006/relationships/image" Target="../media/image-6-1.png"/><Relationship Id="rId5" Type="http://schemas.openxmlformats.org/officeDocument/2006/relationships/slideLayout" Target="../slideLayouts/slideLayout3.xml"/><Relationship Id="rId6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hyperlink" Target="https://bank.gov.ua/ua/news/all/komentar-natsionalnogo-banku-schodo-zmini-realnogo-vvp-u-ii-kvartali-2026-roku" TargetMode="External"/><Relationship Id="rId2" Type="http://schemas.openxmlformats.org/officeDocument/2006/relationships/hyperlink" Target="https://minfin.com.ua/ua/2026/09/23/182198642/" TargetMode="External"/><Relationship Id="rId3" Type="http://schemas.openxmlformats.org/officeDocument/2006/relationships/hyperlink" Target="https://bank.gov.ua/ua/news/all/pidsumki-diskusiyi-chleniv-komitetu-z-monetarnoyi-politiki-natsionalnogo-banku-schodo-rivnya-oblikovoyi-stavki-16-veresnya-2026-roku" TargetMode="External"/><Relationship Id="rId4" Type="http://schemas.openxmlformats.org/officeDocument/2006/relationships/image" Target="../media/image-7-1.png"/><Relationship Id="rId5" Type="http://schemas.openxmlformats.org/officeDocument/2006/relationships/slideLayout" Target="../slideLayouts/slideLayout3.xml"/><Relationship Id="rId6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hyperlink" Target="https://bank.gov.ua/ua/open-data/api-dev" TargetMode="External"/><Relationship Id="rId2" Type="http://schemas.openxmlformats.org/officeDocument/2006/relationships/hyperlink" Target="https://bank.gov.ua/ua/news/all/mijnarodni-rezervi-stanovili-471-mlrd-dol-ssha-za-pidsumkami-veresnya" TargetMode="External"/><Relationship Id="rId3" Type="http://schemas.openxmlformats.org/officeDocument/2006/relationships/hyperlink" Target="https://epravda.com.ua/finances/valyutniy-rinok-ukrajini-rezultati-troh-rokiv-rezhimu-kerovanoji-gnuchkosti-826509/" TargetMode="External"/><Relationship Id="rId4" Type="http://schemas.openxmlformats.org/officeDocument/2006/relationships/image" Target="../media/image-8-1.png"/><Relationship Id="rId5" Type="http://schemas.openxmlformats.org/officeDocument/2006/relationships/slideLayout" Target="../slideLayouts/slideLayout3.xml"/><Relationship Id="rId6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hyperlink" Target="https://events.bank.gov.ua/uchallenge2026/files/nbu_challenge_model_2026.zip" TargetMode="External"/><Relationship Id="rId2" Type="http://schemas.openxmlformats.org/officeDocument/2006/relationships/hyperlink" Target="https://bank.gov.ua/ua/open-data/api-dev" TargetMode="External"/><Relationship Id="rId3" Type="http://schemas.openxmlformats.org/officeDocument/2006/relationships/hyperlink" Target="https://data.ecb.europa.eu/" TargetMode="External"/><Relationship Id="rId4" Type="http://schemas.openxmlformats.org/officeDocument/2006/relationships/hyperlink" Target="https://ec.europa.eu/eurostat/databrowser/view/prc_hicp_minr/default/table" TargetMode="External"/><Relationship Id="rId5" Type="http://schemas.openxmlformats.org/officeDocument/2006/relationships/slideLayout" Target="../slideLayouts/slideLayout4.xml"/><Relationship Id="rId6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hyperlink" Target="https://bank.gov.ua/ua/open-data/api-dev" TargetMode="External"/><Relationship Id="rId2" Type="http://schemas.openxmlformats.org/officeDocument/2006/relationships/hyperlink" Target="https://bank.gov.ua/ua/news/all/komentar-natsionalnogo-banku-schodo-rivnya-inflyatsiyi-u-veresni-2026-roku" TargetMode="External"/><Relationship Id="rId3" Type="http://schemas.openxmlformats.org/officeDocument/2006/relationships/image" Target="../media/image-11-1.png"/><Relationship Id="rId4" Type="http://schemas.openxmlformats.org/officeDocument/2006/relationships/slideLayout" Target="../slideLayouts/slideLayout4.xml"/><Relationship Id="rId5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hyperlink" Target="https://p4.bank.gov.ua/admin_uploads/article/MPG_2024-mt_eng.pdf" TargetMode="External"/><Relationship Id="rId2" Type="http://schemas.openxmlformats.org/officeDocument/2006/relationships/hyperlink" Target="https://bank.gov.ua/admin_uploads/article/Macroeconomic_Forecast_table_2026_07.xlsx?v=19" TargetMode="External"/><Relationship Id="rId3" Type="http://schemas.openxmlformats.org/officeDocument/2006/relationships/image" Target="../media/image-12-1.png"/><Relationship Id="rId4" Type="http://schemas.openxmlformats.org/officeDocument/2006/relationships/slideLayout" Target="../slideLayouts/slideLayout4.xml"/><Relationship Id="rId5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hyperlink" Target="https://bank.gov.ua/admin_uploads/article/Tables_Charts_2026-Q3.xlsx?v=19" TargetMode="External"/><Relationship Id="rId2" Type="http://schemas.openxmlformats.org/officeDocument/2006/relationships/hyperlink" Target="https://bank.gov.ua/admin_uploads/article/Macroeconomic_Forecast_table_2026_07.xlsx?v=19" TargetMode="External"/><Relationship Id="rId3" Type="http://schemas.openxmlformats.org/officeDocument/2006/relationships/hyperlink" Target="https://interfax.com.ua/news/economic/1211092.html" TargetMode="External"/><Relationship Id="rId4" Type="http://schemas.openxmlformats.org/officeDocument/2006/relationships/image" Target="../media/image-13-1.png"/><Relationship Id="rId5" Type="http://schemas.openxmlformats.org/officeDocument/2006/relationships/image" Target="../media/image-13-2.png"/><Relationship Id="rId6" Type="http://schemas.openxmlformats.org/officeDocument/2006/relationships/slideLayout" Target="../slideLayouts/slideLayout4.xml"/><Relationship Id="rId7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hyperlink" Target="https://bank.gov.ua/ua/news/all/pidsumki-diskusiyi-chleniv-komitetu-z-monetarnoyi-politiki-natsionalnogo-banku-schodo-rivnya-oblikovoyi-stavki-16-veresnya-2026-roku" TargetMode="External"/><Relationship Id="rId2" Type="http://schemas.openxmlformats.org/officeDocument/2006/relationships/hyperlink" Target="https://finance.yahoo.com/quote/BZ%3DF/" TargetMode="External"/><Relationship Id="rId3" Type="http://schemas.openxmlformats.org/officeDocument/2006/relationships/hyperlink" Target="https://bank.gov.ua/admin_uploads/article/Macroeconomic_Forecast_table_2026_07.xlsx?v=19" TargetMode="External"/><Relationship Id="rId4" Type="http://schemas.openxmlformats.org/officeDocument/2006/relationships/image" Target="../media/image-14-1.png"/><Relationship Id="rId5" Type="http://schemas.openxmlformats.org/officeDocument/2006/relationships/slideLayout" Target="../slideLayouts/slideLayout4.xml"/><Relationship Id="rId6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hyperlink" Target="https://zakon.rada.gov.ua/laws/show/679-14" TargetMode="External"/><Relationship Id="rId2" Type="http://schemas.openxmlformats.org/officeDocument/2006/relationships/hyperlink" Target="https://p4.bank.gov.ua/admin_uploads/article/MPG_2024-mt_eng.pdf" TargetMode="External"/><Relationship Id="rId3" Type="http://schemas.openxmlformats.org/officeDocument/2006/relationships/hyperlink" Target="https://bank.gov.ua/ua/news/all/pidsumki-diskusiyi-chleniv-komitetu-z-monetarnoyi-politiki-natsionalnogo-banku-schodo-rivnya-oblikovoyi-stavki-16-veresnya-2026-roku" TargetMode="External"/><Relationship Id="rId4" Type="http://schemas.openxmlformats.org/officeDocument/2006/relationships/hyperlink" Target="https://bank.gov.ua/ua/news/all/nbu-informuye-pro-golovniy-printsip-viznachennya-obsyagiv-rozmischennya-trimisyachnih-depozitnih-sertifikativ" TargetMode="External"/><Relationship Id="rId5" Type="http://schemas.openxmlformats.org/officeDocument/2006/relationships/slideLayout" Target="../slideLayouts/slideLayout5.xml"/><Relationship Id="rId6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hyperlink" Target="https://p4.bank.gov.ua/admin_uploads/article/MPG_2024-mt_eng.pdf" TargetMode="External"/><Relationship Id="rId2" Type="http://schemas.openxmlformats.org/officeDocument/2006/relationships/image" Target="../media/image-17-1.png"/><Relationship Id="rId3" Type="http://schemas.openxmlformats.org/officeDocument/2006/relationships/slideLayout" Target="../slideLayouts/slideLayout5.xml"/><Relationship Id="rId4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hyperlink" Target="https://bank.gov.ua/ua/news/all/natsionalniy-bank-ukrayini-pidvischiv-oblikovu-stavku-do-16" TargetMode="External"/><Relationship Id="rId2" Type="http://schemas.openxmlformats.org/officeDocument/2006/relationships/hyperlink" Target="https://bank.gov.ua/ua/news/all/pidsumki-diskusiyi-chleniv-komitetu-z-monetarnoyi-politiki-natsionalnogo-banku-schodo-rivnya-oblikovoyi-stavki-16-veresnya-2026-roku" TargetMode="External"/><Relationship Id="rId3" Type="http://schemas.openxmlformats.org/officeDocument/2006/relationships/slideLayout" Target="../slideLayouts/slideLayout5.xml"/><Relationship Id="rId4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hyperlink" Target="https://bank.gov.ua/ua/news/all/mijnarodni-rezervi-stanovili-471-mlrd-dol-ssha-za-pidsumkami-veresnya" TargetMode="External"/><Relationship Id="rId2" Type="http://schemas.openxmlformats.org/officeDocument/2006/relationships/hyperlink" Target="https://epravda.com.ua/finances/valyutniy-rinok-ukrajini-rezultati-troh-rokiv-rezhimu-kerovanoji-gnuchkosti-826509/" TargetMode="External"/><Relationship Id="rId3" Type="http://schemas.openxmlformats.org/officeDocument/2006/relationships/hyperlink" Target="https://bank.gov.ua/admin_uploads/article/Macroeconomic_Forecast_table_2026_07.xlsx?v=19" TargetMode="External"/><Relationship Id="rId4" Type="http://schemas.openxmlformats.org/officeDocument/2006/relationships/image" Target="../media/image-19-1.png"/><Relationship Id="rId5" Type="http://schemas.openxmlformats.org/officeDocument/2006/relationships/slideLayout" Target="../slideLayouts/slideLayout5.xml"/><Relationship Id="rId6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hyperlink" Target="https://bank.gov.ua/ua/news/all/nbu-vprovadjuye-paket-pomyakshennya-valyutnih-obmejen-z-osnovnim-fokusom-na-pidtrimtsi-naselennya" TargetMode="External"/><Relationship Id="rId2" Type="http://schemas.openxmlformats.org/officeDocument/2006/relationships/hyperlink" Target="https://bank.gov.ua/admin_uploads/article/Strategy_for_easing_FX_restrictions_07-07-2023.pdf?v=19" TargetMode="External"/><Relationship Id="rId3" Type="http://schemas.openxmlformats.org/officeDocument/2006/relationships/hyperlink" Target="https://bank.gov.ua/ua/open-data/api-dev" TargetMode="External"/><Relationship Id="rId4" Type="http://schemas.openxmlformats.org/officeDocument/2006/relationships/image" Target="../media/image-20-1.png"/><Relationship Id="rId5" Type="http://schemas.openxmlformats.org/officeDocument/2006/relationships/slideLayout" Target="../slideLayouts/slideLayout5.xml"/><Relationship Id="rId6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hyperlink" Target="https://bank.gov.ua/admin_uploads/article/Macroeconomic_Forecast_table_2026_07.xlsx?v=19" TargetMode="External"/><Relationship Id="rId2" Type="http://schemas.openxmlformats.org/officeDocument/2006/relationships/hyperlink" Target="https://bank.gov.ua/admin_uploads/article/Tables_Charts_2026-Q3.xlsx?v=19" TargetMode="External"/><Relationship Id="rId3" Type="http://schemas.openxmlformats.org/officeDocument/2006/relationships/image" Target="../media/image-23-1.png"/><Relationship Id="rId4" Type="http://schemas.openxmlformats.org/officeDocument/2006/relationships/slideLayout" Target="../slideLayouts/slideLayout6.xml"/><Relationship Id="rId5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hyperlink" Target="https://bank.gov.ua/admin_uploads/article/Macroeconomic_Forecast_table_2026_07.xlsx?v=19" TargetMode="External"/><Relationship Id="rId2" Type="http://schemas.openxmlformats.org/officeDocument/2006/relationships/hyperlink" Target="https://bank.gov.ua/admin_uploads/article/Tables_Charts_2026-Q3.xlsx?v=19" TargetMode="External"/><Relationship Id="rId3" Type="http://schemas.openxmlformats.org/officeDocument/2006/relationships/hyperlink" Target="https://bank.gov.ua/ua/news/all/rada-mvf-shvalila-pershiy-pereglyad-programi-rozshirenogo-finansuvannya-ta-zatverdila-vidilennya-transhu-obsyagom-690-mln-dol-ssha" TargetMode="External"/><Relationship Id="rId4" Type="http://schemas.openxmlformats.org/officeDocument/2006/relationships/image" Target="../media/image-24-1.png"/><Relationship Id="rId5" Type="http://schemas.openxmlformats.org/officeDocument/2006/relationships/slideLayout" Target="../slideLayouts/slideLayout6.xml"/><Relationship Id="rId6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hyperlink" Target="https://bank.gov.ua/files/macro/CCPI_m.xlsx" TargetMode="External"/><Relationship Id="rId2" Type="http://schemas.openxmlformats.org/officeDocument/2006/relationships/hyperlink" Target="https://db.nomics.world/EIA/PET/RBRTE.M" TargetMode="External"/><Relationship Id="rId3" Type="http://schemas.openxmlformats.org/officeDocument/2006/relationships/hyperlink" Target="https://finance.yahoo.com/quote/BZ%3DF/" TargetMode="External"/><Relationship Id="rId4" Type="http://schemas.openxmlformats.org/officeDocument/2006/relationships/image" Target="../media/image-25-1.png"/><Relationship Id="rId5" Type="http://schemas.openxmlformats.org/officeDocument/2006/relationships/slideLayout" Target="../slideLayouts/slideLayout6.xml"/><Relationship Id="rId6" Type="http://schemas.openxmlformats.org/officeDocument/2006/relationships/notesSlide" Target="../notesSlides/notesSlide25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hyperlink" Target="https://bank.gov.ua/ua/news/all/inflyatsiya-prishvidshitsya-u-drugomu-pivrichchi-ale-povernetsya-do-znijennya-nastupnogo-roku--inflyatsiyniy-zvit" TargetMode="External"/><Relationship Id="rId2" Type="http://schemas.openxmlformats.org/officeDocument/2006/relationships/hyperlink" Target="https://bank.gov.ua/admin_uploads/article/Macroeconomic_Forecast_table_2026_07.xlsx?v=19" TargetMode="External"/><Relationship Id="rId3" Type="http://schemas.openxmlformats.org/officeDocument/2006/relationships/hyperlink" Target="https://bank.gov.ua/ua/news/all/pidsumki-diskusiyi-chleniv-komitetu-z-monetarnoyi-politiki-natsionalnogo-banku-schodo-rivnya-oblikovoyi-stavki-16-veresnya-2026-roku" TargetMode="External"/><Relationship Id="rId4" Type="http://schemas.openxmlformats.org/officeDocument/2006/relationships/hyperlink" Target="https://bank.gov.ua/ua/open-data/api-dev" TargetMode="External"/><Relationship Id="rId5" Type="http://schemas.openxmlformats.org/officeDocument/2006/relationships/hyperlink" Target="https://bank.gov.ua/ua/news/all/pidsumki-diskusiyi-chleniv-komitetu-z-monetarnoyi-politiki-natsionalnogo-banku-schodo-rivnya-oblikovoyi-stavki-16-veresnya-2026-roku" TargetMode="External"/><Relationship Id="rId6" Type="http://schemas.openxmlformats.org/officeDocument/2006/relationships/hyperlink" Target="https://bank.gov.ua/ua/news/all/pidsumki-diskusiyi-chleniv-komitetu-z-monetarnoyi-politiki-natsionalnogo-banku-schodo-rivnya-oblikovoyi-stavki-16-veresnya-2026-roku" TargetMode="External"/><Relationship Id="rId7" Type="http://schemas.openxmlformats.org/officeDocument/2006/relationships/hyperlink" Target="https://bank.gov.ua/admin_uploads/article/Macroeconomic_Forecast_table_2026_07.xlsx?v=19" TargetMode="External"/><Relationship Id="rId8" Type="http://schemas.openxmlformats.org/officeDocument/2006/relationships/hyperlink" Target="https://bank.gov.ua/ua/news/all/natsionalniy-bank-ukrayini-pidvischiv-oblikovu-stavku-do-16" TargetMode="External"/><Relationship Id="rId9" Type="http://schemas.openxmlformats.org/officeDocument/2006/relationships/hyperlink" Target="https://bank.gov.ua/admin_uploads/article/Macroeconomic_Forecast_table_2026_07.xlsx?v=19" TargetMode="External"/><Relationship Id="rId10" Type="http://schemas.openxmlformats.org/officeDocument/2006/relationships/hyperlink" Target="https://bank.gov.ua/admin_uploads/article/Macroeconomic_Forecast_table_2026_07.xlsx?v=19" TargetMode="External"/><Relationship Id="rId11" Type="http://schemas.openxmlformats.org/officeDocument/2006/relationships/hyperlink" Target="https://bank.gov.ua/admin_uploads/article/Macroeconomic_Forecast_table_2026_07.xlsx?v=19" TargetMode="External"/><Relationship Id="rId12" Type="http://schemas.openxmlformats.org/officeDocument/2006/relationships/hyperlink" Target="https://db.nomics.world/EIA/PET/RBRTE.M" TargetMode="External"/><Relationship Id="rId13" Type="http://schemas.openxmlformats.org/officeDocument/2006/relationships/hyperlink" Target="https://finance.yahoo.com/quote/BZ%3DF/" TargetMode="External"/><Relationship Id="rId14" Type="http://schemas.openxmlformats.org/officeDocument/2006/relationships/hyperlink" Target="https://www.ecb.europa.eu/press/projections/html/index.en.html" TargetMode="External"/><Relationship Id="rId15" Type="http://schemas.openxmlformats.org/officeDocument/2006/relationships/slideLayout" Target="../slideLayouts/slideLayout6.xml"/><Relationship Id="rId16" Type="http://schemas.openxmlformats.org/officeDocument/2006/relationships/notesSlide" Target="../notesSlides/notesSlide26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hyperlink" Target="https://bank.gov.ua/files/macro/CCPI_m.xlsx" TargetMode="External"/><Relationship Id="rId2" Type="http://schemas.openxmlformats.org/officeDocument/2006/relationships/hyperlink" Target="https://bank.gov.ua/admin_uploads/article/Macroeconomic_Forecast_table_2026_07.xlsx?v=19" TargetMode="External"/><Relationship Id="rId3" Type="http://schemas.openxmlformats.org/officeDocument/2006/relationships/image" Target="../media/image-27-1.png"/><Relationship Id="rId4" Type="http://schemas.openxmlformats.org/officeDocument/2006/relationships/slideLayout" Target="../slideLayouts/slideLayout6.xml"/><Relationship Id="rId5" Type="http://schemas.openxmlformats.org/officeDocument/2006/relationships/notesSlide" Target="../notesSlides/notesSlide27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hyperlink" Target="https://bank.gov.ua/ua/news/all/pidsumki-diskusiyi-chleniv-komitetu-z-monetarnoyi-politiki-natsionalnogo-banku-schodo-rivnya-oblikovoyi-stavki-16-veresnya-2026-roku" TargetMode="External"/><Relationship Id="rId2" Type="http://schemas.openxmlformats.org/officeDocument/2006/relationships/hyperlink" Target="https://bank.gov.ua/ua/news/all/inflyatsiya-prishvidshitsya-u-drugomu-pivrichchi-ale-povernetsya-do-znijennya-nastupnogo-roku--inflyatsiyniy-zvit" TargetMode="External"/><Relationship Id="rId3" Type="http://schemas.openxmlformats.org/officeDocument/2006/relationships/slideLayout" Target="../slideLayouts/slideLayout6.xml"/><Relationship Id="rId4" Type="http://schemas.openxmlformats.org/officeDocument/2006/relationships/notesSlide" Target="../notesSlides/notesSlide28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hyperlink" Target="https://bank.gov.ua/ua/news/all/natsionalniy-bank-ukrayini-pidvischiv-oblikovu-stavku-do-16" TargetMode="External"/><Relationship Id="rId2" Type="http://schemas.openxmlformats.org/officeDocument/2006/relationships/slideLayout" Target="../slideLayouts/slideLayout6.xml"/><Relationship Id="rId3" Type="http://schemas.openxmlformats.org/officeDocument/2006/relationships/notesSlide" Target="../notesSlides/notesSlide29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hyperlink" Target="https://interfax.com.ua/news/economic/1205936.html" TargetMode="External"/><Relationship Id="rId2" Type="http://schemas.openxmlformats.org/officeDocument/2006/relationships/hyperlink" Target="https://finance.yahoo.com/quote/BZ%3DF/" TargetMode="External"/><Relationship Id="rId3" Type="http://schemas.openxmlformats.org/officeDocument/2006/relationships/hyperlink" Target="https://bank.gov.ua/ua/news/all/pidsumki-diskusiyi-chleniv-komitetu-z-monetarnoyi-politiki-natsionalnogo-banku-schodo-rivnya-oblikovoyi-stavki-16-veresnya-2026-roku" TargetMode="External"/><Relationship Id="rId4" Type="http://schemas.openxmlformats.org/officeDocument/2006/relationships/slideLayout" Target="../slideLayouts/slideLayout6.xml"/><Relationship Id="rId5" Type="http://schemas.openxmlformats.org/officeDocument/2006/relationships/notesSlide" Target="../notesSlides/notesSlide30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hyperlink" Target="https://events.bank.gov.ua/uchallenge2026/files/nbu_challenge_model_2026.zip" TargetMode="External"/><Relationship Id="rId2" Type="http://schemas.openxmlformats.org/officeDocument/2006/relationships/hyperlink" Target="https://bank.gov.ua/ua/open-data/api-dev" TargetMode="External"/><Relationship Id="rId3" Type="http://schemas.openxmlformats.org/officeDocument/2006/relationships/hyperlink" Target="https://data.ecb.europa.eu/" TargetMode="External"/><Relationship Id="rId4" Type="http://schemas.openxmlformats.org/officeDocument/2006/relationships/hyperlink" Target="https://ec.europa.eu/eurostat/databrowser/view/prc_hicp_minr/default/table" TargetMode="External"/><Relationship Id="rId5" Type="http://schemas.openxmlformats.org/officeDocument/2006/relationships/slideLayout" Target="../slideLayouts/slideLayout6.xml"/><Relationship Id="rId6" Type="http://schemas.openxmlformats.org/officeDocument/2006/relationships/notesSlide" Target="../notesSlides/notesSlide31.xml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hyperlink" Target="https://events.bank.gov.ua/uchallenge2026/files/nbu_challenge_model_2026.zip" TargetMode="External"/><Relationship Id="rId2" Type="http://schemas.openxmlformats.org/officeDocument/2006/relationships/image" Target="../media/image-32-1.png"/><Relationship Id="rId3" Type="http://schemas.openxmlformats.org/officeDocument/2006/relationships/slideLayout" Target="../slideLayouts/slideLayout6.xml"/><Relationship Id="rId4" Type="http://schemas.openxmlformats.org/officeDocument/2006/relationships/notesSlide" Target="../notesSlides/notesSlide32.xml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hyperlink" Target="https://events.bank.gov.ua/uchallenge2026/files/nbu_challenge_model_2026.zip" TargetMode="External"/><Relationship Id="rId2" Type="http://schemas.openxmlformats.org/officeDocument/2006/relationships/image" Target="../media/image-33-1.png"/><Relationship Id="rId3" Type="http://schemas.openxmlformats.org/officeDocument/2006/relationships/slideLayout" Target="../slideLayouts/slideLayout6.xml"/><Relationship Id="rId4" Type="http://schemas.openxmlformats.org/officeDocument/2006/relationships/notesSlide" Target="../notesSlides/notesSlide33.xml"/></Relationships>
</file>

<file path=ppt/slides/_rels/slide3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4-1.png"/><Relationship Id="rId2" Type="http://schemas.openxmlformats.org/officeDocument/2006/relationships/slideLayout" Target="../slideLayouts/slideLayout6.xml"/><Relationship Id="rId3" Type="http://schemas.openxmlformats.org/officeDocument/2006/relationships/notesSlide" Target="../notesSlides/notesSlide34.xml"/></Relationships>
</file>

<file path=ppt/slides/_rels/slide35.xml.rels><?xml version="1.0" encoding="UTF-8" standalone="yes"?>
<Relationships xmlns="http://schemas.openxmlformats.org/package/2006/relationships"><Relationship Id="rId1" Type="http://schemas.openxmlformats.org/officeDocument/2006/relationships/hyperlink" Target="https://bank.gov.ua/ua/open-data/api-dev" TargetMode="External"/><Relationship Id="rId2" Type="http://schemas.openxmlformats.org/officeDocument/2006/relationships/image" Target="../media/image-35-1.png"/><Relationship Id="rId3" Type="http://schemas.openxmlformats.org/officeDocument/2006/relationships/slideLayout" Target="../slideLayouts/slideLayout6.xml"/><Relationship Id="rId4" Type="http://schemas.openxmlformats.org/officeDocument/2006/relationships/notesSlide" Target="../notesSlides/notesSlide35.xml"/></Relationships>
</file>

<file path=ppt/slides/_rels/slide3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36.xml"/></Relationships>
</file>

<file path=ppt/slides/_rels/slide37.xml.rels><?xml version="1.0" encoding="UTF-8" standalone="yes"?>
<Relationships xmlns="http://schemas.openxmlformats.org/package/2006/relationships"><Relationship Id="rId1" Type="http://schemas.openxmlformats.org/officeDocument/2006/relationships/hyperlink" Target="https://bank.gov.ua/ua/open-data/api-dev" TargetMode="External"/><Relationship Id="rId2" Type="http://schemas.openxmlformats.org/officeDocument/2006/relationships/hyperlink" Target="https://bank.gov.ua/files/macro/CCPI_m.xlsx" TargetMode="External"/><Relationship Id="rId3" Type="http://schemas.openxmlformats.org/officeDocument/2006/relationships/hyperlink" Target="https://bank.gov.ua/admin_uploads/article/Tables_Charts_2026-Q3.xlsx?v=19" TargetMode="External"/><Relationship Id="rId4" Type="http://schemas.openxmlformats.org/officeDocument/2006/relationships/hyperlink" Target="https://bank.gov.ua/ua/news/all/komentar-natsionalnogo-banku-schodo-rivnya-inflyatsiyi-u-veresni-2026-roku" TargetMode="External"/><Relationship Id="rId5" Type="http://schemas.openxmlformats.org/officeDocument/2006/relationships/hyperlink" Target="https://bank.gov.ua/ua/open-data/api-dev" TargetMode="External"/><Relationship Id="rId6" Type="http://schemas.openxmlformats.org/officeDocument/2006/relationships/hyperlink" Target="https://stat.gov.ua/" TargetMode="External"/><Relationship Id="rId7" Type="http://schemas.openxmlformats.org/officeDocument/2006/relationships/hyperlink" Target="https://bank.gov.ua/ua/news/all/komentar-natsionalnogo-banku-schodo-zmini-realnogo-vvp-u-ii-kvartali-2026-roku" TargetMode="External"/><Relationship Id="rId8" Type="http://schemas.openxmlformats.org/officeDocument/2006/relationships/hyperlink" Target="https://bank.gov.ua/files/macro/Wages_m.xlsx" TargetMode="External"/><Relationship Id="rId9" Type="http://schemas.openxmlformats.org/officeDocument/2006/relationships/hyperlink" Target="https://bank.gov.ua/files/macro/S_budget_m.xlsx" TargetMode="External"/><Relationship Id="rId10" Type="http://schemas.openxmlformats.org/officeDocument/2006/relationships/hyperlink" Target="https://bank.gov.ua/ua/news/all/inflyatsiya-prishvidshitsya-u-drugomu-pivrichchi-ale-povernetsya-do-znijennya-nastupnogo-roku--inflyatsiyniy-zvit" TargetMode="External"/><Relationship Id="rId11" Type="http://schemas.openxmlformats.org/officeDocument/2006/relationships/hyperlink" Target="https://bank.gov.ua/admin_uploads/article/Macroeconomic_Forecast_table_2026_07.xlsx?v=19" TargetMode="External"/><Relationship Id="rId12" Type="http://schemas.openxmlformats.org/officeDocument/2006/relationships/hyperlink" Target="https://bank.gov.ua/admin_uploads/article/Tables_Charts_2026-Q3.xlsx?v=19" TargetMode="External"/><Relationship Id="rId13" Type="http://schemas.openxmlformats.org/officeDocument/2006/relationships/hyperlink" Target="https://p4.bank.gov.ua/admin_uploads/article/MPG_2024-mt_eng.pdf" TargetMode="External"/><Relationship Id="rId14" Type="http://schemas.openxmlformats.org/officeDocument/2006/relationships/hyperlink" Target="https://ec.europa.eu/eurostat/databrowser/view/prc_hicp_minr/default/table" TargetMode="External"/><Relationship Id="rId15" Type="http://schemas.openxmlformats.org/officeDocument/2006/relationships/hyperlink" Target="https://data.ecb.europa.eu/" TargetMode="External"/><Relationship Id="rId16" Type="http://schemas.openxmlformats.org/officeDocument/2006/relationships/hyperlink" Target="https://www.ecb.europa.eu/press/projections/html/index.en.html" TargetMode="External"/><Relationship Id="rId17" Type="http://schemas.openxmlformats.org/officeDocument/2006/relationships/hyperlink" Target="https://db.nomics.world/EIA/PET/RBRTE.M" TargetMode="External"/><Relationship Id="rId18" Type="http://schemas.openxmlformats.org/officeDocument/2006/relationships/hyperlink" Target="https://finance.yahoo.com/quote/BZ%3DF/" TargetMode="External"/><Relationship Id="rId19" Type="http://schemas.openxmlformats.org/officeDocument/2006/relationships/hyperlink" Target="https://bank.gov.ua/ua/news/all/natsionalniy-bank-ukrayini-pidvischiv-oblikovu-stavku-do-16" TargetMode="External"/><Relationship Id="rId20" Type="http://schemas.openxmlformats.org/officeDocument/2006/relationships/hyperlink" Target="https://bank.gov.ua/ua/news/all/pidsumki-diskusiyi-chleniv-komitetu-z-monetarnoyi-politiki-natsionalnogo-banku-schodo-rivnya-oblikovoyi-stavki-16-veresnya-2026-roku" TargetMode="External"/><Relationship Id="rId21" Type="http://schemas.openxmlformats.org/officeDocument/2006/relationships/hyperlink" Target="https://bank.gov.ua/admin_uploads/article/Strategy_for_easing_FX_restrictions_07-07-2023.pdf?v=19" TargetMode="External"/><Relationship Id="rId22" Type="http://schemas.openxmlformats.org/officeDocument/2006/relationships/hyperlink" Target="https://bank.gov.ua/ua/news/all/nbu-vprovadjuye-paket-pomyakshennya-valyutnih-obmejen-z-osnovnim-fokusom-na-pidtrimtsi-naselennya" TargetMode="External"/><Relationship Id="rId23" Type="http://schemas.openxmlformats.org/officeDocument/2006/relationships/hyperlink" Target="https://bank.gov.ua/ua/news/all/rada-mvf-shvalila-pershiy-pereglyad-programi-rozshirenogo-finansuvannya-ta-zatverdila-vidilennya-transhu-obsyagom-690-mln-dol-ssha" TargetMode="External"/><Relationship Id="rId24" Type="http://schemas.openxmlformats.org/officeDocument/2006/relationships/hyperlink" Target="https://events.bank.gov.ua/uchallenge2026/files/nbu_challenge_model_2026.zip" TargetMode="External"/><Relationship Id="rId25" Type="http://schemas.openxmlformats.org/officeDocument/2006/relationships/slideLayout" Target="../slideLayouts/slideLayout6.xml"/><Relationship Id="rId26" Type="http://schemas.openxmlformats.org/officeDocument/2006/relationships/notesSlide" Target="../notesSlides/notesSlide3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731520" y="2377440"/>
            <a:ext cx="1069848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000" b="1" dirty="0">
                <a:solidFill>
                  <a:schemeClr val="bg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Рекомендації щодо монетарної політики</a:t>
            </a:r>
            <a:endParaRPr lang="en-US" sz="4000" dirty="0"/>
          </a:p>
        </p:txBody>
      </p:sp>
      <p:sp>
        <p:nvSpPr>
          <p:cNvPr id="3" name="Text 1"/>
          <p:cNvSpPr txBox="1"/>
          <p:nvPr/>
        </p:nvSpPr>
        <p:spPr>
          <a:xfrm>
            <a:off x="731520" y="3703320"/>
            <a:ext cx="106984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C98A0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Рішення Правління НБУ 29 жовтня 2026 року</a:t>
            </a:r>
            <a:endParaRPr lang="en-US" sz="2200" dirty="0"/>
          </a:p>
        </p:txBody>
      </p:sp>
      <p:sp>
        <p:nvSpPr>
          <p:cNvPr id="4" name="Text 2"/>
          <p:cNvSpPr txBox="1"/>
          <p:nvPr/>
        </p:nvSpPr>
        <p:spPr>
          <a:xfrm>
            <a:off x="731520" y="4846320"/>
            <a:ext cx="1069848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400"/>
              </a:spcAft>
              <a:buNone/>
            </a:pPr>
            <a:r>
              <a:rPr lang="en-US" sz="1600" dirty="0">
                <a:solidFill>
                  <a:schemeClr val="bg1"/>
                </a:solidFill>
              </a:rPr>
              <a:t>Команда [назва]</a:t>
            </a:r>
            <a:endParaRPr lang="en-US" sz="16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600" dirty="0">
                <a:solidFill>
                  <a:schemeClr val="bg1"/>
                </a:solidFill>
              </a:rPr>
              <a:t>[Університет, факультет]</a:t>
            </a:r>
            <a:endParaRPr lang="en-US" sz="16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600" dirty="0">
                <a:solidFill>
                  <a:schemeClr val="bg1"/>
                </a:solidFill>
              </a:rPr>
              <a:t>NBU University Challenge 2026</a:t>
            </a:r>
            <a:endParaRPr lang="en-US" sz="16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11277295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600" b="1" dirty="0">
                <a:solidFill>
                  <a:schemeClr val="accent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Головне: ставка 17%, гнучкіший курс, пауза в лібералізації</a:t>
            </a:r>
            <a:endParaRPr lang="en-US" sz="2600" dirty="0"/>
          </a:p>
        </p:txBody>
      </p:sp>
      <p:sp>
        <p:nvSpPr>
          <p:cNvPr id="4" name="sources"/>
          <p:cNvSpPr txBox="1"/>
          <p:nvPr/>
        </p:nvSpPr>
        <p:spPr>
          <a:xfrm>
            <a:off x="4937760" y="6455664"/>
            <a:ext cx="611093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F6B6D"/>
                </a:solidFill>
              </a:rPr>
              <a:t>Джерела: </a:t>
            </a:r>
            <a:pPr indent="0" marL="0">
              <a:buNone/>
            </a:pPr>
            <a:r>
              <a:rPr lang="en-US" sz="900" u="sng" dirty="0">
                <a:solidFill>
                  <a:srgbClr val="5F6B6D"/>
                </a:solidFill>
                <a:hlinkClick r:id="rId1" invalidUrl="" action="" tgtFrame="" tooltip="https://p4.bank.gov.ua/admin_uploads/article/MPG_2024-mt_eng.pdf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Основні засади ГКП (2024)</a:t>
            </a:r>
            <a:pPr indent="0" marL="0">
              <a:buNone/>
            </a:pPr>
            <a:r>
              <a:rPr lang="en-US" sz="900" dirty="0">
                <a:solidFill>
                  <a:srgbClr val="5F6B6D"/>
                </a:solidFill>
              </a:rPr>
              <a:t> · </a:t>
            </a:r>
            <a:pPr indent="0" marL="0">
              <a:buNone/>
            </a:pPr>
            <a:r>
              <a:rPr lang="en-US" sz="900" u="sng" dirty="0">
                <a:solidFill>
                  <a:srgbClr val="5F6B6D"/>
                </a:solidFill>
                <a:hlinkClick r:id="rId2" invalidUrl="" action="" tgtFrame="" tooltip="https://bank.gov.ua/ua/news/all/inflyatsiya-prishvidshitsya-u-drugomu-pivrichchi-ale-povernetsya-do-znijennya-nastupnogo-roku--inflyatsiyniy-zvit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НБУ, Інфляційний звіт (липень 2026)</a:t>
            </a:r>
            <a:endParaRPr lang="en-US" sz="900" dirty="0"/>
          </a:p>
        </p:txBody>
      </p:sp>
      <p:sp>
        <p:nvSpPr>
          <p:cNvPr id="5" name="card1"/>
          <p:cNvSpPr/>
          <p:nvPr/>
        </p:nvSpPr>
        <p:spPr>
          <a:xfrm>
            <a:off x="457200" y="1325880"/>
            <a:ext cx="3576218" cy="2148840"/>
          </a:xfrm>
          <a:prstGeom prst="roundRect">
            <a:avLst>
              <a:gd name="adj" fmla="val 3404"/>
            </a:avLst>
          </a:prstGeom>
          <a:solidFill>
            <a:srgbClr val="EAF1EF"/>
          </a:solidFill>
          <a:ln/>
        </p:spPr>
      </p:sp>
      <p:sp>
        <p:nvSpPr>
          <p:cNvPr id="6" name="Text 3"/>
          <p:cNvSpPr txBox="1"/>
          <p:nvPr/>
        </p:nvSpPr>
        <p:spPr>
          <a:xfrm>
            <a:off x="685800" y="1490472"/>
            <a:ext cx="311901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chemeClr val="accent6"/>
                </a:solidFill>
              </a:rPr>
              <a:t>ОБЛІКОВА СТАВКА</a:t>
            </a:r>
            <a:endParaRPr lang="en-US" sz="1100" dirty="0"/>
          </a:p>
        </p:txBody>
      </p:sp>
      <p:sp>
        <p:nvSpPr>
          <p:cNvPr id="7" name="Text 4"/>
          <p:cNvSpPr txBox="1"/>
          <p:nvPr/>
        </p:nvSpPr>
        <p:spPr>
          <a:xfrm>
            <a:off x="685800" y="1783080"/>
            <a:ext cx="3119018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chemeClr val="accent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17%</a:t>
            </a:r>
            <a:pPr indent="0" marL="0">
              <a:buNone/>
            </a:pPr>
            <a:r>
              <a:rPr lang="en-US" sz="1500" b="1" dirty="0">
                <a:solidFill>
                  <a:srgbClr val="C98A00"/>
                </a:solidFill>
              </a:rPr>
              <a:t>  +1,0 в. п.</a:t>
            </a:r>
            <a:endParaRPr lang="en-US" sz="4000" dirty="0"/>
          </a:p>
        </p:txBody>
      </p:sp>
      <p:sp>
        <p:nvSpPr>
          <p:cNvPr id="8" name="Text 5"/>
          <p:cNvSpPr txBox="1"/>
          <p:nvPr/>
        </p:nvSpPr>
        <p:spPr>
          <a:xfrm>
            <a:off x="685800" y="2560320"/>
            <a:ext cx="3119018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утримувати щонайменше до середини 2027; далі — зниження; інфляція ≈5% з II кв. 2028</a:t>
            </a:r>
            <a:endParaRPr lang="en-US" sz="1300" dirty="0"/>
          </a:p>
        </p:txBody>
      </p:sp>
      <p:sp>
        <p:nvSpPr>
          <p:cNvPr id="9" name="card2"/>
          <p:cNvSpPr/>
          <p:nvPr/>
        </p:nvSpPr>
        <p:spPr>
          <a:xfrm>
            <a:off x="4307738" y="1325880"/>
            <a:ext cx="3576218" cy="2148840"/>
          </a:xfrm>
          <a:prstGeom prst="roundRect">
            <a:avLst>
              <a:gd name="adj" fmla="val 3404"/>
            </a:avLst>
          </a:prstGeom>
          <a:solidFill>
            <a:srgbClr val="EAF1EF"/>
          </a:solidFill>
          <a:ln/>
        </p:spPr>
      </p:sp>
      <p:sp>
        <p:nvSpPr>
          <p:cNvPr id="10" name="Text 7"/>
          <p:cNvSpPr txBox="1"/>
          <p:nvPr/>
        </p:nvSpPr>
        <p:spPr>
          <a:xfrm>
            <a:off x="4536338" y="1490472"/>
            <a:ext cx="311901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chemeClr val="accent6"/>
                </a:solidFill>
              </a:rPr>
              <a:t>КУРС ГРИВНІ</a:t>
            </a:r>
            <a:endParaRPr lang="en-US" sz="1100" dirty="0"/>
          </a:p>
        </p:txBody>
      </p:sp>
      <p:sp>
        <p:nvSpPr>
          <p:cNvPr id="11" name="Text 8"/>
          <p:cNvSpPr txBox="1"/>
          <p:nvPr/>
        </p:nvSpPr>
        <p:spPr>
          <a:xfrm>
            <a:off x="4536338" y="1783080"/>
            <a:ext cx="3119018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chemeClr val="accent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Гнучкий</a:t>
            </a:r>
            <a:pPr indent="0" marL="0">
              <a:buNone/>
            </a:pPr>
            <a:r>
              <a:rPr lang="en-US" sz="1500" b="1" dirty="0">
                <a:solidFill>
                  <a:srgbClr val="C98A00"/>
                </a:solidFill>
              </a:rPr>
              <a:t>  </a:t>
            </a:r>
            <a:endParaRPr lang="en-US" sz="4000" dirty="0"/>
          </a:p>
        </p:txBody>
      </p:sp>
      <p:sp>
        <p:nvSpPr>
          <p:cNvPr id="12" name="Text 9"/>
          <p:cNvSpPr txBox="1"/>
          <p:nvPr/>
        </p:nvSpPr>
        <p:spPr>
          <a:xfrm>
            <a:off x="4536338" y="2560320"/>
            <a:ext cx="3119018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з червня ≈44,7 грн/$ без змін; допускати двосторонні коливання, інтервенції лише згладжують; рівень не фіксувати</a:t>
            </a:r>
            <a:endParaRPr lang="en-US" sz="1300" dirty="0"/>
          </a:p>
        </p:txBody>
      </p:sp>
      <p:sp>
        <p:nvSpPr>
          <p:cNvPr id="13" name="card3"/>
          <p:cNvSpPr/>
          <p:nvPr/>
        </p:nvSpPr>
        <p:spPr>
          <a:xfrm>
            <a:off x="8158277" y="1325880"/>
            <a:ext cx="3576218" cy="2148840"/>
          </a:xfrm>
          <a:prstGeom prst="roundRect">
            <a:avLst>
              <a:gd name="adj" fmla="val 3404"/>
            </a:avLst>
          </a:prstGeom>
          <a:solidFill>
            <a:srgbClr val="EAF1EF"/>
          </a:solidFill>
          <a:ln/>
        </p:spPr>
      </p:sp>
      <p:sp>
        <p:nvSpPr>
          <p:cNvPr id="14" name="Text 11"/>
          <p:cNvSpPr txBox="1"/>
          <p:nvPr/>
        </p:nvSpPr>
        <p:spPr>
          <a:xfrm>
            <a:off x="8386877" y="1490472"/>
            <a:ext cx="311901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chemeClr val="accent6"/>
                </a:solidFill>
              </a:rPr>
              <a:t>ВАЛЮТНІ ОБМЕЖЕННЯ</a:t>
            </a:r>
            <a:endParaRPr lang="en-US" sz="1100" dirty="0"/>
          </a:p>
        </p:txBody>
      </p:sp>
      <p:sp>
        <p:nvSpPr>
          <p:cNvPr id="15" name="Text 12"/>
          <p:cNvSpPr txBox="1"/>
          <p:nvPr/>
        </p:nvSpPr>
        <p:spPr>
          <a:xfrm>
            <a:off x="8386877" y="1783080"/>
            <a:ext cx="3119018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chemeClr val="accent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Пауза</a:t>
            </a:r>
            <a:pPr indent="0" marL="0">
              <a:buNone/>
            </a:pPr>
            <a:r>
              <a:rPr lang="en-US" sz="1500" b="1" dirty="0">
                <a:solidFill>
                  <a:srgbClr val="C98A00"/>
                </a:solidFill>
              </a:rPr>
              <a:t>  етап III</a:t>
            </a:r>
            <a:endParaRPr lang="en-US" sz="4000" dirty="0"/>
          </a:p>
        </p:txBody>
      </p:sp>
      <p:sp>
        <p:nvSpPr>
          <p:cNvPr id="16" name="Text 13"/>
          <p:cNvSpPr txBox="1"/>
          <p:nvPr/>
        </p:nvSpPr>
        <p:spPr>
          <a:xfrm>
            <a:off x="8386877" y="2560320"/>
            <a:ext cx="3119018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серпневий пакет зберегти; нові кроки — після відновлення резервів і допомоги</a:t>
            </a:r>
            <a:endParaRPr lang="en-US" sz="1300" dirty="0"/>
          </a:p>
        </p:txBody>
      </p:sp>
      <p:graphicFrame>
        <p:nvGraphicFramePr>
          <p:cNvPr id="3" name="table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3794760"/>
          <a:ext cx="11277295" cy="914400"/>
        </p:xfrm>
        <a:graphic>
          <a:graphicData uri="http://schemas.openxmlformats.org/drawingml/2006/table">
            <a:tbl>
              <a:tblPr/>
              <a:tblGrid>
                <a:gridCol w="3291840"/>
                <a:gridCol w="1996364"/>
                <a:gridCol w="1996364"/>
                <a:gridCol w="1996364"/>
                <a:gridCol w="1996364"/>
              </a:tblGrid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5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3B43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chemeClr val="bg1"/>
                          </a:solidFill>
                        </a:rPr>
                        <a:t>IV кв. 2026</a:t>
                      </a:r>
                      <a:endParaRPr lang="en-US" sz="15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3B43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chemeClr val="bg1"/>
                          </a:solidFill>
                        </a:rPr>
                        <a:t>IV кв. 2027</a:t>
                      </a:r>
                      <a:endParaRPr lang="en-US" sz="15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3B43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chemeClr val="bg1"/>
                          </a:solidFill>
                        </a:rPr>
                        <a:t>IV кв. 2028</a:t>
                      </a:r>
                      <a:endParaRPr lang="en-US" sz="15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3B43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chemeClr val="bg1"/>
                          </a:solidFill>
                        </a:rPr>
                        <a:t>IV кв. 2029</a:t>
                      </a:r>
                      <a:endParaRPr lang="en-US" sz="15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3B43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500" b="1" dirty="0">
                          <a:solidFill>
                            <a:schemeClr val="tx1"/>
                          </a:solidFill>
                        </a:rPr>
                        <a:t>ІСЦ, % р/р*</a:t>
                      </a:r>
                      <a:endParaRPr lang="en-US" sz="15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dirty="0">
                          <a:solidFill>
                            <a:schemeClr val="tx1"/>
                          </a:solidFill>
                        </a:rPr>
                        <a:t>11,0</a:t>
                      </a:r>
                      <a:endParaRPr lang="en-US" sz="15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dirty="0">
                          <a:solidFill>
                            <a:schemeClr val="tx1"/>
                          </a:solidFill>
                        </a:rPr>
                        <a:t>6,9</a:t>
                      </a:r>
                      <a:endParaRPr lang="en-US" sz="15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dirty="0">
                          <a:solidFill>
                            <a:schemeClr val="tx1"/>
                          </a:solidFill>
                        </a:rPr>
                        <a:t>4,8</a:t>
                      </a:r>
                      <a:endParaRPr lang="en-US" sz="15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dirty="0">
                          <a:solidFill>
                            <a:schemeClr val="tx1"/>
                          </a:solidFill>
                        </a:rPr>
                        <a:t>4,9</a:t>
                      </a:r>
                      <a:endParaRPr lang="en-US" sz="15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500" b="1" dirty="0">
                          <a:solidFill>
                            <a:schemeClr val="tx1"/>
                          </a:solidFill>
                        </a:rPr>
                        <a:t>Базова інфляція, % р/р*</a:t>
                      </a:r>
                      <a:endParaRPr lang="en-US" sz="15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1E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dirty="0">
                          <a:solidFill>
                            <a:schemeClr val="tx1"/>
                          </a:solidFill>
                        </a:rPr>
                        <a:t>9,2</a:t>
                      </a:r>
                      <a:endParaRPr lang="en-US" sz="15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1E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dirty="0">
                          <a:solidFill>
                            <a:schemeClr val="tx1"/>
                          </a:solidFill>
                        </a:rPr>
                        <a:t>5,7</a:t>
                      </a:r>
                      <a:endParaRPr lang="en-US" sz="15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1E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dirty="0">
                          <a:solidFill>
                            <a:schemeClr val="tx1"/>
                          </a:solidFill>
                        </a:rPr>
                        <a:t>3,5</a:t>
                      </a:r>
                      <a:endParaRPr lang="en-US" sz="15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1E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dirty="0">
                          <a:solidFill>
                            <a:schemeClr val="tx1"/>
                          </a:solidFill>
                        </a:rPr>
                        <a:t>4,8</a:t>
                      </a:r>
                      <a:endParaRPr lang="en-US" sz="15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1E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500" b="1" dirty="0">
                          <a:solidFill>
                            <a:schemeClr val="tx1"/>
                          </a:solidFill>
                        </a:rPr>
                        <a:t>Реальний ВВП, % (рік)</a:t>
                      </a:r>
                      <a:endParaRPr lang="en-US" sz="15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dirty="0">
                          <a:solidFill>
                            <a:schemeClr val="tx1"/>
                          </a:solidFill>
                        </a:rPr>
                        <a:t>0,6</a:t>
                      </a:r>
                      <a:endParaRPr lang="en-US" sz="15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dirty="0">
                          <a:solidFill>
                            <a:schemeClr val="tx1"/>
                          </a:solidFill>
                        </a:rPr>
                        <a:t>0,4</a:t>
                      </a:r>
                      <a:endParaRPr lang="en-US" sz="15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dirty="0">
                          <a:solidFill>
                            <a:schemeClr val="tx1"/>
                          </a:solidFill>
                        </a:rPr>
                        <a:t>1,6</a:t>
                      </a:r>
                      <a:endParaRPr lang="en-US" sz="15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dirty="0">
                          <a:solidFill>
                            <a:schemeClr val="tx1"/>
                          </a:solidFill>
                        </a:rPr>
                        <a:t>3,1</a:t>
                      </a:r>
                      <a:endParaRPr lang="en-US" sz="15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500" b="1" dirty="0">
                          <a:solidFill>
                            <a:schemeClr val="tx1"/>
                          </a:solidFill>
                        </a:rPr>
                        <a:t>Облікова ставка, %</a:t>
                      </a:r>
                      <a:endParaRPr lang="en-US" sz="15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1E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dirty="0">
                          <a:solidFill>
                            <a:schemeClr val="tx1"/>
                          </a:solidFill>
                        </a:rPr>
                        <a:t>17,0</a:t>
                      </a:r>
                      <a:endParaRPr lang="en-US" sz="15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1E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dirty="0">
                          <a:solidFill>
                            <a:schemeClr val="tx1"/>
                          </a:solidFill>
                        </a:rPr>
                        <a:t>14,4</a:t>
                      </a:r>
                      <a:endParaRPr lang="en-US" sz="15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1E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dirty="0">
                          <a:solidFill>
                            <a:schemeClr val="tx1"/>
                          </a:solidFill>
                        </a:rPr>
                        <a:t>10,5</a:t>
                      </a:r>
                      <a:endParaRPr lang="en-US" sz="15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1E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dirty="0">
                          <a:solidFill>
                            <a:schemeClr val="tx1"/>
                          </a:solidFill>
                        </a:rPr>
                        <a:t>9,5</a:t>
                      </a:r>
                      <a:endParaRPr lang="en-US" sz="15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1E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500" b="1" dirty="0">
                          <a:solidFill>
                            <a:schemeClr val="tx1"/>
                          </a:solidFill>
                        </a:rPr>
                        <a:t>Курс, грн/$</a:t>
                      </a:r>
                      <a:endParaRPr lang="en-US" sz="15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dirty="0">
                          <a:solidFill>
                            <a:schemeClr val="tx1"/>
                          </a:solidFill>
                        </a:rPr>
                        <a:t>44,4</a:t>
                      </a:r>
                      <a:endParaRPr lang="en-US" sz="15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dirty="0">
                          <a:solidFill>
                            <a:schemeClr val="tx1"/>
                          </a:solidFill>
                        </a:rPr>
                        <a:t>44,0</a:t>
                      </a:r>
                      <a:endParaRPr lang="en-US" sz="15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dirty="0">
                          <a:solidFill>
                            <a:schemeClr val="tx1"/>
                          </a:solidFill>
                        </a:rPr>
                        <a:t>44,3</a:t>
                      </a:r>
                      <a:endParaRPr lang="en-US" sz="15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dirty="0">
                          <a:solidFill>
                            <a:schemeClr val="tx1"/>
                          </a:solidFill>
                        </a:rPr>
                        <a:t>44,9</a:t>
                      </a:r>
                      <a:endParaRPr lang="en-US" sz="15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8" name="Text 14"/>
          <p:cNvSpPr txBox="1"/>
          <p:nvPr/>
        </p:nvSpPr>
        <p:spPr>
          <a:xfrm>
            <a:off x="457200" y="6281928"/>
            <a:ext cx="11277295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i="1" dirty="0">
                <a:solidFill>
                  <a:schemeClr val="accent6"/>
                </a:solidFill>
              </a:rPr>
              <a:t>* Середнє за квартал (SA); грудень 2026 — 12,1% (наукаст). Ціль НБУ — 5% на горизонті до 3 років; ≈5% — з II кв. 2028, далі в межах 4,6–5,1%. Дані на 20.10.2026.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5855" y="6473952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6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2</a:t>
            </a:fld>
            <a:endParaRPr lang="en-US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731520" y="2377440"/>
            <a:ext cx="1069848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000" b="1" dirty="0">
                <a:solidFill>
                  <a:schemeClr val="bg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Огляд економіки</a:t>
            </a:r>
            <a:endParaRPr lang="en-US" sz="4000" dirty="0"/>
          </a:p>
        </p:txBody>
      </p:sp>
      <p:sp>
        <p:nvSpPr>
          <p:cNvPr id="3" name="Text 1"/>
          <p:cNvSpPr txBox="1"/>
          <p:nvPr/>
        </p:nvSpPr>
        <p:spPr>
          <a:xfrm>
            <a:off x="731520" y="1280160"/>
            <a:ext cx="274320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000" b="1" dirty="0">
                <a:solidFill>
                  <a:srgbClr val="C98A0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01</a:t>
            </a:r>
            <a:endParaRPr lang="en-US" sz="6000" dirty="0"/>
          </a:p>
        </p:txBody>
      </p:sp>
      <p:sp>
        <p:nvSpPr>
          <p:cNvPr id="4" name="Text 2"/>
          <p:cNvSpPr txBox="1"/>
          <p:nvPr/>
        </p:nvSpPr>
        <p:spPr>
          <a:xfrm>
            <a:off x="731520" y="3749040"/>
            <a:ext cx="10698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CFE3DE"/>
                </a:solidFill>
              </a:rPr>
              <a:t>Інфляція прискорюється, резерви тануть, економіка сповільнюється</a:t>
            </a:r>
            <a:endParaRPr lang="en-US" sz="18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11277295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600" b="1" dirty="0">
                <a:solidFill>
                  <a:schemeClr val="accent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Зовнішнє середовище стало проінфляційним: нафта ≈$105, ЄЦБ підвищує ставку</a:t>
            </a:r>
            <a:endParaRPr lang="en-US" sz="2600" dirty="0"/>
          </a:p>
        </p:txBody>
      </p:sp>
      <p:sp>
        <p:nvSpPr>
          <p:cNvPr id="4" name="sources"/>
          <p:cNvSpPr txBox="1"/>
          <p:nvPr/>
        </p:nvSpPr>
        <p:spPr>
          <a:xfrm>
            <a:off x="4937760" y="6455664"/>
            <a:ext cx="611093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F6B6D"/>
                </a:solidFill>
              </a:rPr>
              <a:t>Джерела: </a:t>
            </a:r>
            <a:pPr indent="0" marL="0">
              <a:buNone/>
            </a:pPr>
            <a:r>
              <a:rPr lang="en-US" sz="900" u="sng" dirty="0">
                <a:solidFill>
                  <a:srgbClr val="5F6B6D"/>
                </a:solidFill>
                <a:hlinkClick r:id="rId1" invalidUrl="" action="" tgtFrame="" tooltip="https://www.ecb.europa.eu/press/projections/html/index.en.html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прогноз ЄЦБ (вересень 2026)</a:t>
            </a:r>
            <a:pPr indent="0" marL="0">
              <a:buNone/>
            </a:pPr>
            <a:r>
              <a:rPr lang="en-US" sz="900" dirty="0">
                <a:solidFill>
                  <a:srgbClr val="5F6B6D"/>
                </a:solidFill>
              </a:rPr>
              <a:t> · </a:t>
            </a:r>
            <a:pPr indent="0" marL="0">
              <a:buNone/>
            </a:pPr>
            <a:r>
              <a:rPr lang="en-US" sz="900" u="sng" dirty="0">
                <a:solidFill>
                  <a:srgbClr val="5F6B6D"/>
                </a:solidFill>
                <a:hlinkClick r:id="rId2" invalidUrl="" action="" tgtFrame="" tooltip="https://ec.europa.eu/eurostat/databrowser/view/prc_hicp_minr/default/table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Eurostat HICP</a:t>
            </a:r>
            <a:pPr indent="0" marL="0">
              <a:buNone/>
            </a:pPr>
            <a:r>
              <a:rPr lang="en-US" sz="900" dirty="0">
                <a:solidFill>
                  <a:srgbClr val="5F6B6D"/>
                </a:solidFill>
              </a:rPr>
              <a:t> · </a:t>
            </a:r>
            <a:pPr indent="0" marL="0">
              <a:buNone/>
            </a:pPr>
            <a:r>
              <a:rPr lang="en-US" sz="900" u="sng" dirty="0">
                <a:solidFill>
                  <a:srgbClr val="5F6B6D"/>
                </a:solidFill>
                <a:hlinkClick r:id="rId3" invalidUrl="" action="" tgtFrame="" tooltip="https://db.nomics.world/EIA/PET/RBRTE.M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EIA Brent</a:t>
            </a:r>
            <a:pPr indent="0" marL="0">
              <a:buNone/>
            </a:pPr>
            <a:r>
              <a:rPr lang="en-US" sz="900" dirty="0">
                <a:solidFill>
                  <a:srgbClr val="5F6B6D"/>
                </a:solidFill>
              </a:rPr>
              <a:t> · </a:t>
            </a:r>
            <a:pPr indent="0" marL="0">
              <a:buNone/>
            </a:pPr>
            <a:r>
              <a:rPr lang="en-US" sz="900" u="sng" dirty="0">
                <a:solidFill>
                  <a:srgbClr val="5F6B6D"/>
                </a:solidFill>
                <a:hlinkClick r:id="rId4" invalidUrl="" action="" tgtFrame="" tooltip="https://finance.yahoo.com/quote/BZ%3DF/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ф'ючерси Brent</a:t>
            </a:r>
            <a:endParaRPr lang="en-US" sz="900" dirty="0"/>
          </a:p>
        </p:txBody>
      </p:sp>
      <p:pic>
        <p:nvPicPr>
          <p:cNvPr id="5" name="chart" descr="C:\Users\Lenovo\Documents\GitHub\nbu-challenge-2026\results\figures\ov_external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92449" y="1325880"/>
            <a:ext cx="10406798" cy="3703320"/>
          </a:xfrm>
          <a:prstGeom prst="rect">
            <a:avLst/>
          </a:prstGeom>
        </p:spPr>
      </p:pic>
      <p:sp>
        <p:nvSpPr>
          <p:cNvPr id="6" name="num1"/>
          <p:cNvSpPr/>
          <p:nvPr/>
        </p:nvSpPr>
        <p:spPr>
          <a:xfrm>
            <a:off x="457200" y="5276088"/>
            <a:ext cx="310896" cy="310896"/>
          </a:xfrm>
          <a:prstGeom prst="ellipse">
            <a:avLst/>
          </a:prstGeom>
          <a:solidFill>
            <a:srgbClr val="C98A00"/>
          </a:solidFill>
          <a:ln/>
        </p:spPr>
      </p:sp>
      <p:sp>
        <p:nvSpPr>
          <p:cNvPr id="7" name="Text 3"/>
          <p:cNvSpPr txBox="1"/>
          <p:nvPr/>
        </p:nvSpPr>
        <p:spPr>
          <a:xfrm>
            <a:off x="457200" y="5276088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bg1"/>
                </a:solidFill>
              </a:rPr>
              <a:t>1</a:t>
            </a:r>
            <a:endParaRPr lang="en-US" sz="1200" dirty="0"/>
          </a:p>
        </p:txBody>
      </p:sp>
      <p:sp>
        <p:nvSpPr>
          <p:cNvPr id="8" name="point1"/>
          <p:cNvSpPr txBox="1"/>
          <p:nvPr/>
        </p:nvSpPr>
        <p:spPr>
          <a:xfrm>
            <a:off x="868680" y="5257800"/>
            <a:ext cx="3164738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Війна на Близькому Сході (з 28.02.2026): Brent — в середньому $117 у квітні, $102 у вересні, ≈$105 у жовтні (НБУ закладав $80–85); ф'ючерси — $87 наприкінці 2027</a:t>
            </a:r>
            <a:endParaRPr lang="en-US" sz="1300" dirty="0"/>
          </a:p>
        </p:txBody>
      </p:sp>
      <p:sp>
        <p:nvSpPr>
          <p:cNvPr id="9" name="num2"/>
          <p:cNvSpPr/>
          <p:nvPr/>
        </p:nvSpPr>
        <p:spPr>
          <a:xfrm>
            <a:off x="4307738" y="5276088"/>
            <a:ext cx="310896" cy="310896"/>
          </a:xfrm>
          <a:prstGeom prst="ellipse">
            <a:avLst/>
          </a:prstGeom>
          <a:solidFill>
            <a:srgbClr val="C98A00"/>
          </a:solidFill>
          <a:ln/>
        </p:spPr>
      </p:sp>
      <p:sp>
        <p:nvSpPr>
          <p:cNvPr id="10" name="Text 6"/>
          <p:cNvSpPr txBox="1"/>
          <p:nvPr/>
        </p:nvSpPr>
        <p:spPr>
          <a:xfrm>
            <a:off x="4307738" y="5276088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bg1"/>
                </a:solidFill>
              </a:rPr>
              <a:t>2</a:t>
            </a:r>
            <a:endParaRPr lang="en-US" sz="1200" dirty="0"/>
          </a:p>
        </p:txBody>
      </p:sp>
      <p:sp>
        <p:nvSpPr>
          <p:cNvPr id="11" name="point2"/>
          <p:cNvSpPr txBox="1"/>
          <p:nvPr/>
        </p:nvSpPr>
        <p:spPr>
          <a:xfrm>
            <a:off x="4719218" y="5257800"/>
            <a:ext cx="3164738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ЄЦБ підвищив ставку до 2,5% (червень, вересень); ринок закладає ще ≈+0,5 в. п. до кінця 2027</a:t>
            </a:r>
            <a:endParaRPr lang="en-US" sz="1300" dirty="0"/>
          </a:p>
        </p:txBody>
      </p:sp>
      <p:sp>
        <p:nvSpPr>
          <p:cNvPr id="12" name="num3"/>
          <p:cNvSpPr/>
          <p:nvPr/>
        </p:nvSpPr>
        <p:spPr>
          <a:xfrm>
            <a:off x="8158277" y="5276088"/>
            <a:ext cx="310896" cy="310896"/>
          </a:xfrm>
          <a:prstGeom prst="ellipse">
            <a:avLst/>
          </a:prstGeom>
          <a:solidFill>
            <a:srgbClr val="C98A00"/>
          </a:solidFill>
          <a:ln/>
        </p:spPr>
      </p:sp>
      <p:sp>
        <p:nvSpPr>
          <p:cNvPr id="13" name="Text 9"/>
          <p:cNvSpPr txBox="1"/>
          <p:nvPr/>
        </p:nvSpPr>
        <p:spPr>
          <a:xfrm>
            <a:off x="8158277" y="5276088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bg1"/>
                </a:solidFill>
              </a:rPr>
              <a:t>3</a:t>
            </a:r>
            <a:endParaRPr lang="en-US" sz="1200" dirty="0"/>
          </a:p>
        </p:txBody>
      </p:sp>
      <p:sp>
        <p:nvSpPr>
          <p:cNvPr id="14" name="point3"/>
          <p:cNvSpPr txBox="1"/>
          <p:nvPr/>
        </p:nvSpPr>
        <p:spPr>
          <a:xfrm>
            <a:off x="8569757" y="5257800"/>
            <a:ext cx="3164738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Інфляція в єврозоні — пік ≈3,7% наприкінці 2026 (прогноз ЄЦБ: 3,0% / 2,5% / 2,1% у 2026–2028)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5855" y="6473952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6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4</a:t>
            </a:fld>
            <a:endParaRPr lang="en-US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11277295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600" b="1" dirty="0">
                <a:solidFill>
                  <a:schemeClr val="accent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Інфляція у вересні — 10,0%: пальне, руйнування логістики, прискорення базової</a:t>
            </a:r>
            <a:endParaRPr lang="en-US" sz="2600" dirty="0"/>
          </a:p>
        </p:txBody>
      </p:sp>
      <p:sp>
        <p:nvSpPr>
          <p:cNvPr id="4" name="sources"/>
          <p:cNvSpPr txBox="1"/>
          <p:nvPr/>
        </p:nvSpPr>
        <p:spPr>
          <a:xfrm>
            <a:off x="4937760" y="6455664"/>
            <a:ext cx="611093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F6B6D"/>
                </a:solidFill>
              </a:rPr>
              <a:t>Джерела: </a:t>
            </a:r>
            <a:pPr indent="0" marL="0">
              <a:buNone/>
            </a:pPr>
            <a:r>
              <a:rPr lang="en-US" sz="900" u="sng" dirty="0">
                <a:solidFill>
                  <a:srgbClr val="5F6B6D"/>
                </a:solidFill>
                <a:hlinkClick r:id="rId1" invalidUrl="" action="" tgtFrame="" tooltip="https://bank.gov.ua/ua/news/all/komentar-natsionalnogo-banku-schodo-rivnya-inflyatsiyi-u-veresni-2026-roku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коментар НБУ: інфляція у вересні</a:t>
            </a:r>
            <a:pPr indent="0" marL="0">
              <a:buNone/>
            </a:pPr>
            <a:r>
              <a:rPr lang="en-US" sz="900" dirty="0">
                <a:solidFill>
                  <a:srgbClr val="5F6B6D"/>
                </a:solidFill>
              </a:rPr>
              <a:t> · </a:t>
            </a:r>
            <a:pPr indent="0" marL="0">
              <a:buNone/>
            </a:pPr>
            <a:r>
              <a:rPr lang="en-US" sz="900" u="sng" dirty="0">
                <a:solidFill>
                  <a:srgbClr val="5F6B6D"/>
                </a:solidFill>
                <a:hlinkClick r:id="rId2" invalidUrl="" action="" tgtFrame="" tooltip="https://bank.gov.ua/admin_uploads/article/Tables_Charts_2026-Q3.xlsx?v=19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дані графіків ІЗ</a:t>
            </a:r>
            <a:pPr indent="0" marL="0">
              <a:buNone/>
            </a:pPr>
            <a:r>
              <a:rPr lang="en-US" sz="900" dirty="0">
                <a:solidFill>
                  <a:srgbClr val="5F6B6D"/>
                </a:solidFill>
              </a:rPr>
              <a:t> · </a:t>
            </a:r>
            <a:pPr indent="0" marL="0">
              <a:buNone/>
            </a:pPr>
            <a:r>
              <a:rPr lang="en-US" sz="900" u="sng" dirty="0">
                <a:solidFill>
                  <a:srgbClr val="5F6B6D"/>
                </a:solidFill>
                <a:hlinkClick r:id="rId3" invalidUrl="" action="" tgtFrame="" tooltip="https://bank.gov.ua/ua/open-data/api-dev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API НБУ</a:t>
            </a:r>
            <a:endParaRPr lang="en-US" sz="900" dirty="0"/>
          </a:p>
        </p:txBody>
      </p:sp>
      <p:pic>
        <p:nvPicPr>
          <p:cNvPr id="5" name="chart" descr="C:\Users\Lenovo\Documents\GitHub\nbu-challenge-2026\results\figures\ov_inflation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77770" y="1325880"/>
            <a:ext cx="10436154" cy="3703320"/>
          </a:xfrm>
          <a:prstGeom prst="rect">
            <a:avLst/>
          </a:prstGeom>
        </p:spPr>
      </p:pic>
      <p:sp>
        <p:nvSpPr>
          <p:cNvPr id="6" name="num1"/>
          <p:cNvSpPr/>
          <p:nvPr/>
        </p:nvSpPr>
        <p:spPr>
          <a:xfrm>
            <a:off x="457200" y="5276088"/>
            <a:ext cx="310896" cy="310896"/>
          </a:xfrm>
          <a:prstGeom prst="ellipse">
            <a:avLst/>
          </a:prstGeom>
          <a:solidFill>
            <a:srgbClr val="C98A00"/>
          </a:solidFill>
          <a:ln/>
        </p:spPr>
      </p:sp>
      <p:sp>
        <p:nvSpPr>
          <p:cNvPr id="7" name="Text 3"/>
          <p:cNvSpPr txBox="1"/>
          <p:nvPr/>
        </p:nvSpPr>
        <p:spPr>
          <a:xfrm>
            <a:off x="457200" y="5276088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bg1"/>
                </a:solidFill>
              </a:rPr>
              <a:t>1</a:t>
            </a:r>
            <a:endParaRPr lang="en-US" sz="1200" dirty="0"/>
          </a:p>
        </p:txBody>
      </p:sp>
      <p:sp>
        <p:nvSpPr>
          <p:cNvPr id="8" name="point1"/>
          <p:cNvSpPr txBox="1"/>
          <p:nvPr/>
        </p:nvSpPr>
        <p:spPr>
          <a:xfrm>
            <a:off x="868680" y="5257800"/>
            <a:ext cx="3164738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+2,1% за місяць: пальне +46,2% р/р, адмінціни +13,6% (проїзд, вода, алкоголь), атаки на склади й логістику</a:t>
            </a:r>
            <a:endParaRPr lang="en-US" sz="1300" dirty="0"/>
          </a:p>
        </p:txBody>
      </p:sp>
      <p:sp>
        <p:nvSpPr>
          <p:cNvPr id="9" name="num2"/>
          <p:cNvSpPr/>
          <p:nvPr/>
        </p:nvSpPr>
        <p:spPr>
          <a:xfrm>
            <a:off x="4307738" y="5276088"/>
            <a:ext cx="310896" cy="310896"/>
          </a:xfrm>
          <a:prstGeom prst="ellipse">
            <a:avLst/>
          </a:prstGeom>
          <a:solidFill>
            <a:srgbClr val="C98A00"/>
          </a:solidFill>
          <a:ln/>
        </p:spPr>
      </p:sp>
      <p:sp>
        <p:nvSpPr>
          <p:cNvPr id="10" name="Text 6"/>
          <p:cNvSpPr txBox="1"/>
          <p:nvPr/>
        </p:nvSpPr>
        <p:spPr>
          <a:xfrm>
            <a:off x="4307738" y="5276088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bg1"/>
                </a:solidFill>
              </a:rPr>
              <a:t>2</a:t>
            </a:r>
            <a:endParaRPr lang="en-US" sz="1200" dirty="0"/>
          </a:p>
        </p:txBody>
      </p:sp>
      <p:sp>
        <p:nvSpPr>
          <p:cNvPr id="11" name="point2"/>
          <p:cNvSpPr txBox="1"/>
          <p:nvPr/>
        </p:nvSpPr>
        <p:spPr>
          <a:xfrm>
            <a:off x="4719218" y="5257800"/>
            <a:ext cx="3164738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Базова інфляція 8,8% (з 8,1%): оброблені продукти +10,7%, послуги +13,7% (зарплати, оренда)</a:t>
            </a:r>
            <a:endParaRPr lang="en-US" sz="1300" dirty="0"/>
          </a:p>
        </p:txBody>
      </p:sp>
      <p:sp>
        <p:nvSpPr>
          <p:cNvPr id="12" name="num3"/>
          <p:cNvSpPr/>
          <p:nvPr/>
        </p:nvSpPr>
        <p:spPr>
          <a:xfrm>
            <a:off x="8158277" y="5276088"/>
            <a:ext cx="310896" cy="310896"/>
          </a:xfrm>
          <a:prstGeom prst="ellipse">
            <a:avLst/>
          </a:prstGeom>
          <a:solidFill>
            <a:srgbClr val="C98A00"/>
          </a:solidFill>
          <a:ln/>
        </p:spPr>
      </p:sp>
      <p:sp>
        <p:nvSpPr>
          <p:cNvPr id="13" name="Text 9"/>
          <p:cNvSpPr txBox="1"/>
          <p:nvPr/>
        </p:nvSpPr>
        <p:spPr>
          <a:xfrm>
            <a:off x="8158277" y="5276088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bg1"/>
                </a:solidFill>
              </a:rPr>
              <a:t>3</a:t>
            </a:r>
            <a:endParaRPr lang="en-US" sz="1200" dirty="0"/>
          </a:p>
        </p:txBody>
      </p:sp>
      <p:sp>
        <p:nvSpPr>
          <p:cNvPr id="14" name="point3"/>
          <p:cNvSpPr txBox="1"/>
          <p:nvPr/>
        </p:nvSpPr>
        <p:spPr>
          <a:xfrm>
            <a:off x="8569757" y="5257800"/>
            <a:ext cx="3164738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Сирі продукти прискорилися до 6,7%: менші врожаї овочів, витрати на транспорт і зберігання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5855" y="6473952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6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5</a:t>
            </a:fld>
            <a:endParaRPr lang="en-US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11277295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600" b="1" dirty="0">
                <a:solidFill>
                  <a:schemeClr val="accent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Очікування підвищені; реальна ставка від очікувань ≈8% — гривневі активи поки привабливі</a:t>
            </a:r>
            <a:endParaRPr lang="en-US" sz="2600" dirty="0"/>
          </a:p>
        </p:txBody>
      </p:sp>
      <p:sp>
        <p:nvSpPr>
          <p:cNvPr id="4" name="sources"/>
          <p:cNvSpPr txBox="1"/>
          <p:nvPr/>
        </p:nvSpPr>
        <p:spPr>
          <a:xfrm>
            <a:off x="4937760" y="6455664"/>
            <a:ext cx="611093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F6B6D"/>
                </a:solidFill>
              </a:rPr>
              <a:t>Джерела: </a:t>
            </a:r>
            <a:pPr indent="0" marL="0">
              <a:buNone/>
            </a:pPr>
            <a:r>
              <a:rPr lang="en-US" sz="900" u="sng" dirty="0">
                <a:solidFill>
                  <a:srgbClr val="5F6B6D"/>
                </a:solidFill>
                <a:hlinkClick r:id="rId1" invalidUrl="" action="" tgtFrame="" tooltip="https://bank.gov.ua/admin_uploads/article/Tables_Charts_2026-Q3.xlsx?v=19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дані графіків ІЗ</a:t>
            </a:r>
            <a:pPr indent="0" marL="0">
              <a:buNone/>
            </a:pPr>
            <a:r>
              <a:rPr lang="en-US" sz="900" dirty="0">
                <a:solidFill>
                  <a:srgbClr val="5F6B6D"/>
                </a:solidFill>
              </a:rPr>
              <a:t> · </a:t>
            </a:r>
            <a:pPr indent="0" marL="0">
              <a:buNone/>
            </a:pPr>
            <a:r>
              <a:rPr lang="en-US" sz="900" u="sng" dirty="0">
                <a:solidFill>
                  <a:srgbClr val="5F6B6D"/>
                </a:solidFill>
                <a:hlinkClick r:id="rId2" invalidUrl="" action="" tgtFrame="" tooltip="https://minfin.com.ua/ua/2026/10/07/183076902/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аукціон ОВДП 06.10.2026</a:t>
            </a:r>
            <a:pPr indent="0" marL="0">
              <a:buNone/>
            </a:pPr>
            <a:r>
              <a:rPr lang="en-US" sz="900" dirty="0">
                <a:solidFill>
                  <a:srgbClr val="5F6B6D"/>
                </a:solidFill>
              </a:rPr>
              <a:t> · </a:t>
            </a:r>
            <a:pPr indent="0" marL="0">
              <a:buNone/>
            </a:pPr>
            <a:r>
              <a:rPr lang="en-US" sz="900" u="sng" dirty="0">
                <a:solidFill>
                  <a:srgbClr val="5F6B6D"/>
                </a:solidFill>
                <a:hlinkClick r:id="rId3" invalidUrl="" action="" tgtFrame="" tooltip="https://bank.gov.ua/ua/news/all/pidsumki-diskusiyi-chleniv-komitetu-z-monetarnoyi-politiki-natsionalnogo-banku-schodo-rivnya-oblikovoyi-stavki-16-veresnya-2026-roku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підсумки дискусії КМП</a:t>
            </a:r>
            <a:endParaRPr lang="en-US" sz="900" dirty="0"/>
          </a:p>
        </p:txBody>
      </p:sp>
      <p:pic>
        <p:nvPicPr>
          <p:cNvPr id="5" name="chart" descr="C:\Users\Lenovo\Documents\GitHub\nbu-challenge-2026\results\figures\ov_rates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57200" y="1325880"/>
            <a:ext cx="11277295" cy="3152840"/>
          </a:xfrm>
          <a:prstGeom prst="rect">
            <a:avLst/>
          </a:prstGeom>
        </p:spPr>
      </p:pic>
      <p:sp>
        <p:nvSpPr>
          <p:cNvPr id="6" name="num1"/>
          <p:cNvSpPr/>
          <p:nvPr/>
        </p:nvSpPr>
        <p:spPr>
          <a:xfrm>
            <a:off x="457200" y="5276088"/>
            <a:ext cx="310896" cy="310896"/>
          </a:xfrm>
          <a:prstGeom prst="ellipse">
            <a:avLst/>
          </a:prstGeom>
          <a:solidFill>
            <a:srgbClr val="C98A00"/>
          </a:solidFill>
          <a:ln/>
        </p:spPr>
      </p:sp>
      <p:sp>
        <p:nvSpPr>
          <p:cNvPr id="7" name="Text 3"/>
          <p:cNvSpPr txBox="1"/>
          <p:nvPr/>
        </p:nvSpPr>
        <p:spPr>
          <a:xfrm>
            <a:off x="457200" y="5276088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bg1"/>
                </a:solidFill>
              </a:rPr>
              <a:t>1</a:t>
            </a:r>
            <a:endParaRPr lang="en-US" sz="1200" dirty="0"/>
          </a:p>
        </p:txBody>
      </p:sp>
      <p:sp>
        <p:nvSpPr>
          <p:cNvPr id="8" name="point1"/>
          <p:cNvSpPr txBox="1"/>
          <p:nvPr/>
        </p:nvSpPr>
        <p:spPr>
          <a:xfrm>
            <a:off x="868680" y="5257800"/>
            <a:ext cx="3164738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Очікування домогосподарств 10–14% — вище фактичної інфляції; аналітики підвищили до 7,9% (липень)</a:t>
            </a:r>
            <a:endParaRPr lang="en-US" sz="1300" dirty="0"/>
          </a:p>
        </p:txBody>
      </p:sp>
      <p:sp>
        <p:nvSpPr>
          <p:cNvPr id="9" name="num2"/>
          <p:cNvSpPr/>
          <p:nvPr/>
        </p:nvSpPr>
        <p:spPr>
          <a:xfrm>
            <a:off x="4307738" y="5276088"/>
            <a:ext cx="310896" cy="310896"/>
          </a:xfrm>
          <a:prstGeom prst="ellipse">
            <a:avLst/>
          </a:prstGeom>
          <a:solidFill>
            <a:srgbClr val="C98A00"/>
          </a:solidFill>
          <a:ln/>
        </p:spPr>
      </p:sp>
      <p:sp>
        <p:nvSpPr>
          <p:cNvPr id="10" name="Text 6"/>
          <p:cNvSpPr txBox="1"/>
          <p:nvPr/>
        </p:nvSpPr>
        <p:spPr>
          <a:xfrm>
            <a:off x="4307738" y="5276088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bg1"/>
                </a:solidFill>
              </a:rPr>
              <a:t>2</a:t>
            </a:r>
            <a:endParaRPr lang="en-US" sz="1200" dirty="0"/>
          </a:p>
        </p:txBody>
      </p:sp>
      <p:sp>
        <p:nvSpPr>
          <p:cNvPr id="11" name="point2"/>
          <p:cNvSpPr txBox="1"/>
          <p:nvPr/>
        </p:nvSpPr>
        <p:spPr>
          <a:xfrm>
            <a:off x="4719218" y="5257800"/>
            <a:ext cx="3164738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Реальна ставка (як рахує НБУ — від очікувань аналітиків): ≈8,1%; але депозитні ставки великих банків після липня й вересня майже не зросли — трансмісія слабка</a:t>
            </a:r>
            <a:endParaRPr lang="en-US" sz="1300" dirty="0"/>
          </a:p>
        </p:txBody>
      </p:sp>
      <p:sp>
        <p:nvSpPr>
          <p:cNvPr id="12" name="num3"/>
          <p:cNvSpPr/>
          <p:nvPr/>
        </p:nvSpPr>
        <p:spPr>
          <a:xfrm>
            <a:off x="8158277" y="5276088"/>
            <a:ext cx="310896" cy="310896"/>
          </a:xfrm>
          <a:prstGeom prst="ellipse">
            <a:avLst/>
          </a:prstGeom>
          <a:solidFill>
            <a:srgbClr val="C98A00"/>
          </a:solidFill>
          <a:ln/>
        </p:spPr>
      </p:sp>
      <p:sp>
        <p:nvSpPr>
          <p:cNvPr id="13" name="Text 9"/>
          <p:cNvSpPr txBox="1"/>
          <p:nvPr/>
        </p:nvSpPr>
        <p:spPr>
          <a:xfrm>
            <a:off x="8158277" y="5276088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bg1"/>
                </a:solidFill>
              </a:rPr>
              <a:t>3</a:t>
            </a:r>
            <a:endParaRPr lang="en-US" sz="1200" dirty="0"/>
          </a:p>
        </p:txBody>
      </p:sp>
      <p:sp>
        <p:nvSpPr>
          <p:cNvPr id="14" name="point3"/>
          <p:cNvSpPr txBox="1"/>
          <p:nvPr/>
        </p:nvSpPr>
        <p:spPr>
          <a:xfrm>
            <a:off x="8569757" y="5257800"/>
            <a:ext cx="3164738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ОВДП: 1 рік — 15,1%, 2,5 року — 16,5% (06.10): ринок не закладає швидкого зниження; гривневі кредити бізнесу +30% р/р — умови не надто жорсткі (КМП)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5855" y="6473952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6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6</a:t>
            </a:fld>
            <a:endParaRPr lang="en-US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11277295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600" b="1" dirty="0">
                <a:solidFill>
                  <a:schemeClr val="accent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Економіка сповільнюється, а ринок праці перегрітий: зарплати +21–25%</a:t>
            </a:r>
            <a:endParaRPr lang="en-US" sz="2600" dirty="0"/>
          </a:p>
        </p:txBody>
      </p:sp>
      <p:sp>
        <p:nvSpPr>
          <p:cNvPr id="4" name="sources"/>
          <p:cNvSpPr txBox="1"/>
          <p:nvPr/>
        </p:nvSpPr>
        <p:spPr>
          <a:xfrm>
            <a:off x="4937760" y="6455664"/>
            <a:ext cx="611093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F6B6D"/>
                </a:solidFill>
              </a:rPr>
              <a:t>Джерела: </a:t>
            </a:r>
            <a:pPr indent="0" marL="0">
              <a:buNone/>
            </a:pPr>
            <a:r>
              <a:rPr lang="en-US" sz="900" u="sng" dirty="0">
                <a:solidFill>
                  <a:srgbClr val="5F6B6D"/>
                </a:solidFill>
                <a:hlinkClick r:id="rId1" invalidUrl="" action="" tgtFrame="" tooltip="https://bank.gov.ua/ua/news/all/komentar-natsionalnogo-banku-schodo-zmini-realnogo-vvp-u-ii-kvartali-2026-roku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коментар НБУ: ВВП II кв.</a:t>
            </a:r>
            <a:pPr indent="0" marL="0">
              <a:buNone/>
            </a:pPr>
            <a:r>
              <a:rPr lang="en-US" sz="900" dirty="0">
                <a:solidFill>
                  <a:srgbClr val="5F6B6D"/>
                </a:solidFill>
              </a:rPr>
              <a:t> · </a:t>
            </a:r>
            <a:pPr indent="0" marL="0">
              <a:buNone/>
            </a:pPr>
            <a:r>
              <a:rPr lang="en-US" sz="900" u="sng" dirty="0">
                <a:solidFill>
                  <a:srgbClr val="5F6B6D"/>
                </a:solidFill>
                <a:hlinkClick r:id="rId2" invalidUrl="" action="" tgtFrame="" tooltip="https://minfin.com.ua/ua/2026/09/23/182198642/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ІЕД: ВВП у липні–серпні</a:t>
            </a:r>
            <a:pPr indent="0" marL="0">
              <a:buNone/>
            </a:pPr>
            <a:r>
              <a:rPr lang="en-US" sz="900" dirty="0">
                <a:solidFill>
                  <a:srgbClr val="5F6B6D"/>
                </a:solidFill>
              </a:rPr>
              <a:t> · </a:t>
            </a:r>
            <a:pPr indent="0" marL="0">
              <a:buNone/>
            </a:pPr>
            <a:r>
              <a:rPr lang="en-US" sz="900" u="sng" dirty="0">
                <a:solidFill>
                  <a:srgbClr val="5F6B6D"/>
                </a:solidFill>
                <a:hlinkClick r:id="rId3" invalidUrl="" action="" tgtFrame="" tooltip="https://bank.gov.ua/ua/news/all/pidsumki-diskusiyi-chleniv-komitetu-z-monetarnoyi-politiki-natsionalnogo-banku-schodo-rivnya-oblikovoyi-stavki-16-veresnya-2026-roku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підсумки дискусії КМП</a:t>
            </a:r>
            <a:endParaRPr lang="en-US" sz="900" dirty="0"/>
          </a:p>
        </p:txBody>
      </p:sp>
      <p:pic>
        <p:nvPicPr>
          <p:cNvPr id="5" name="chart" descr="C:\Users\Lenovo\Documents\GitHub\nbu-challenge-2026\results\figures\ov_activity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57200" y="1325880"/>
            <a:ext cx="11277295" cy="3362322"/>
          </a:xfrm>
          <a:prstGeom prst="rect">
            <a:avLst/>
          </a:prstGeom>
        </p:spPr>
      </p:pic>
      <p:sp>
        <p:nvSpPr>
          <p:cNvPr id="6" name="num1"/>
          <p:cNvSpPr/>
          <p:nvPr/>
        </p:nvSpPr>
        <p:spPr>
          <a:xfrm>
            <a:off x="457200" y="5276088"/>
            <a:ext cx="310896" cy="310896"/>
          </a:xfrm>
          <a:prstGeom prst="ellipse">
            <a:avLst/>
          </a:prstGeom>
          <a:solidFill>
            <a:srgbClr val="C98A00"/>
          </a:solidFill>
          <a:ln/>
        </p:spPr>
      </p:sp>
      <p:sp>
        <p:nvSpPr>
          <p:cNvPr id="7" name="Text 3"/>
          <p:cNvSpPr txBox="1"/>
          <p:nvPr/>
        </p:nvSpPr>
        <p:spPr>
          <a:xfrm>
            <a:off x="457200" y="5276088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bg1"/>
                </a:solidFill>
              </a:rPr>
              <a:t>1</a:t>
            </a:r>
            <a:endParaRPr lang="en-US" sz="1200" dirty="0"/>
          </a:p>
        </p:txBody>
      </p:sp>
      <p:sp>
        <p:nvSpPr>
          <p:cNvPr id="8" name="point1"/>
          <p:cNvSpPr txBox="1"/>
          <p:nvPr/>
        </p:nvSpPr>
        <p:spPr>
          <a:xfrm>
            <a:off x="868680" y="5257800"/>
            <a:ext cx="3164738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ВВП II кв.: +0,4% р/р; III кв. — ≈+1% р/р (ІЕД: липень +4%, серпень +1,2% — врожай), «суттєво гірше» за прогноз НБУ (+2,1%)</a:t>
            </a:r>
            <a:endParaRPr lang="en-US" sz="1300" dirty="0"/>
          </a:p>
        </p:txBody>
      </p:sp>
      <p:sp>
        <p:nvSpPr>
          <p:cNvPr id="9" name="num2"/>
          <p:cNvSpPr/>
          <p:nvPr/>
        </p:nvSpPr>
        <p:spPr>
          <a:xfrm>
            <a:off x="4307738" y="5276088"/>
            <a:ext cx="310896" cy="310896"/>
          </a:xfrm>
          <a:prstGeom prst="ellipse">
            <a:avLst/>
          </a:prstGeom>
          <a:solidFill>
            <a:srgbClr val="C98A00"/>
          </a:solidFill>
          <a:ln/>
        </p:spPr>
      </p:sp>
      <p:sp>
        <p:nvSpPr>
          <p:cNvPr id="10" name="Text 6"/>
          <p:cNvSpPr txBox="1"/>
          <p:nvPr/>
        </p:nvSpPr>
        <p:spPr>
          <a:xfrm>
            <a:off x="4307738" y="5276088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bg1"/>
                </a:solidFill>
              </a:rPr>
              <a:t>2</a:t>
            </a:r>
            <a:endParaRPr lang="en-US" sz="1200" dirty="0"/>
          </a:p>
        </p:txBody>
      </p:sp>
      <p:sp>
        <p:nvSpPr>
          <p:cNvPr id="11" name="point2"/>
          <p:cNvSpPr txBox="1"/>
          <p:nvPr/>
        </p:nvSpPr>
        <p:spPr>
          <a:xfrm>
            <a:off x="4719218" y="5257800"/>
            <a:ext cx="3164738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Атаки б'ють і по попиту, і по потенціалу (енергетика, логістика, порти; −0,9 в. п. до ВВП-2026 за НБУ)</a:t>
            </a:r>
            <a:endParaRPr lang="en-US" sz="1300" dirty="0"/>
          </a:p>
        </p:txBody>
      </p:sp>
      <p:sp>
        <p:nvSpPr>
          <p:cNvPr id="12" name="num3"/>
          <p:cNvSpPr/>
          <p:nvPr/>
        </p:nvSpPr>
        <p:spPr>
          <a:xfrm>
            <a:off x="8158277" y="5276088"/>
            <a:ext cx="310896" cy="310896"/>
          </a:xfrm>
          <a:prstGeom prst="ellipse">
            <a:avLst/>
          </a:prstGeom>
          <a:solidFill>
            <a:srgbClr val="C98A00"/>
          </a:solidFill>
          <a:ln/>
        </p:spPr>
      </p:sp>
      <p:sp>
        <p:nvSpPr>
          <p:cNvPr id="13" name="Text 9"/>
          <p:cNvSpPr txBox="1"/>
          <p:nvPr/>
        </p:nvSpPr>
        <p:spPr>
          <a:xfrm>
            <a:off x="8158277" y="5276088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bg1"/>
                </a:solidFill>
              </a:rPr>
              <a:t>3</a:t>
            </a:r>
            <a:endParaRPr lang="en-US" sz="1200" dirty="0"/>
          </a:p>
        </p:txBody>
      </p:sp>
      <p:sp>
        <p:nvSpPr>
          <p:cNvPr id="14" name="point3"/>
          <p:cNvSpPr txBox="1"/>
          <p:nvPr/>
        </p:nvSpPr>
        <p:spPr>
          <a:xfrm>
            <a:off x="8569757" y="5257800"/>
            <a:ext cx="3164738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Потенціал постраждав сильніше: дефіцит кадрів, зарплати +21–25% р/р у I пів., +23% у серпні — розрив ВВП додатний, послуги дорожчають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5855" y="6473952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6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7</a:t>
            </a:fld>
            <a:endParaRPr lang="en-US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11277295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600" b="1" dirty="0">
                <a:solidFill>
                  <a:schemeClr val="accent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НБУ продає ≈$5,0 млрд на місяць — резерви впали до $47,1 млрд</a:t>
            </a:r>
            <a:endParaRPr lang="en-US" sz="2600" dirty="0"/>
          </a:p>
        </p:txBody>
      </p:sp>
      <p:sp>
        <p:nvSpPr>
          <p:cNvPr id="4" name="sources"/>
          <p:cNvSpPr txBox="1"/>
          <p:nvPr/>
        </p:nvSpPr>
        <p:spPr>
          <a:xfrm>
            <a:off x="4937760" y="6455664"/>
            <a:ext cx="611093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F6B6D"/>
                </a:solidFill>
              </a:rPr>
              <a:t>Джерела: </a:t>
            </a:r>
            <a:pPr indent="0" marL="0">
              <a:buNone/>
            </a:pPr>
            <a:r>
              <a:rPr lang="en-US" sz="900" u="sng" dirty="0">
                <a:solidFill>
                  <a:srgbClr val="5F6B6D"/>
                </a:solidFill>
                <a:hlinkClick r:id="rId1" invalidUrl="" action="" tgtFrame="" tooltip="https://bank.gov.ua/ua/open-data/api-dev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API НБУ</a:t>
            </a:r>
            <a:pPr indent="0" marL="0">
              <a:buNone/>
            </a:pPr>
            <a:r>
              <a:rPr lang="en-US" sz="900" dirty="0">
                <a:solidFill>
                  <a:srgbClr val="5F6B6D"/>
                </a:solidFill>
              </a:rPr>
              <a:t> · </a:t>
            </a:r>
            <a:pPr indent="0" marL="0">
              <a:buNone/>
            </a:pPr>
            <a:r>
              <a:rPr lang="en-US" sz="900" u="sng" dirty="0">
                <a:solidFill>
                  <a:srgbClr val="5F6B6D"/>
                </a:solidFill>
                <a:hlinkClick r:id="rId2" invalidUrl="" action="" tgtFrame="" tooltip="https://bank.gov.ua/ua/news/all/mijnarodni-rezervi-stanovili-471-mlrd-dol-ssha-za-pidsumkami-veresnya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НБУ: резерви у вересні (USL $3,81 млрд)</a:t>
            </a:r>
            <a:pPr indent="0" marL="0">
              <a:buNone/>
            </a:pPr>
            <a:r>
              <a:rPr lang="en-US" sz="900" dirty="0">
                <a:solidFill>
                  <a:srgbClr val="5F6B6D"/>
                </a:solidFill>
              </a:rPr>
              <a:t> · </a:t>
            </a:r>
            <a:pPr indent="0" marL="0">
              <a:buNone/>
            </a:pPr>
            <a:r>
              <a:rPr lang="en-US" sz="900" u="sng" dirty="0">
                <a:solidFill>
                  <a:srgbClr val="5F6B6D"/>
                </a:solidFill>
                <a:hlinkClick r:id="rId3" invalidUrl="" action="" tgtFrame="" tooltip="https://epravda.com.ua/finances/valyutniy-rinok-ukrajini-rezultati-troh-rokiv-rezhimu-kerovanoji-gnuchkosti-826509/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А. Пишний: три роки керованої гнучкості</a:t>
            </a:r>
            <a:endParaRPr lang="en-US" sz="900" dirty="0"/>
          </a:p>
        </p:txBody>
      </p:sp>
      <p:pic>
        <p:nvPicPr>
          <p:cNvPr id="5" name="chart" descr="C:\Users\Lenovo\Documents\GitHub\nbu-challenge-2026\results\figures\ov_fx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57200" y="1325880"/>
            <a:ext cx="11277295" cy="3327036"/>
          </a:xfrm>
          <a:prstGeom prst="rect">
            <a:avLst/>
          </a:prstGeom>
        </p:spPr>
      </p:pic>
      <p:sp>
        <p:nvSpPr>
          <p:cNvPr id="6" name="num1"/>
          <p:cNvSpPr/>
          <p:nvPr/>
        </p:nvSpPr>
        <p:spPr>
          <a:xfrm>
            <a:off x="457200" y="5276088"/>
            <a:ext cx="310896" cy="310896"/>
          </a:xfrm>
          <a:prstGeom prst="ellipse">
            <a:avLst/>
          </a:prstGeom>
          <a:solidFill>
            <a:srgbClr val="C98A00"/>
          </a:solidFill>
          <a:ln/>
        </p:spPr>
      </p:sp>
      <p:sp>
        <p:nvSpPr>
          <p:cNvPr id="7" name="Text 3"/>
          <p:cNvSpPr txBox="1"/>
          <p:nvPr/>
        </p:nvSpPr>
        <p:spPr>
          <a:xfrm>
            <a:off x="457200" y="5276088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bg1"/>
                </a:solidFill>
              </a:rPr>
              <a:t>1</a:t>
            </a:r>
            <a:endParaRPr lang="en-US" sz="1200" dirty="0"/>
          </a:p>
        </p:txBody>
      </p:sp>
      <p:sp>
        <p:nvSpPr>
          <p:cNvPr id="8" name="point1"/>
          <p:cNvSpPr txBox="1"/>
          <p:nvPr/>
        </p:nvSpPr>
        <p:spPr>
          <a:xfrm>
            <a:off x="868680" y="5257800"/>
            <a:ext cx="3164738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Чистий продаж валюти НБУ: $4,8 млрд у серпні, $5,5 млрд у вересні — рекорд року</a:t>
            </a:r>
            <a:endParaRPr lang="en-US" sz="1300" dirty="0"/>
          </a:p>
        </p:txBody>
      </p:sp>
      <p:sp>
        <p:nvSpPr>
          <p:cNvPr id="9" name="num2"/>
          <p:cNvSpPr/>
          <p:nvPr/>
        </p:nvSpPr>
        <p:spPr>
          <a:xfrm>
            <a:off x="4307738" y="5276088"/>
            <a:ext cx="310896" cy="310896"/>
          </a:xfrm>
          <a:prstGeom prst="ellipse">
            <a:avLst/>
          </a:prstGeom>
          <a:solidFill>
            <a:srgbClr val="C98A00"/>
          </a:solidFill>
          <a:ln/>
        </p:spPr>
      </p:sp>
      <p:sp>
        <p:nvSpPr>
          <p:cNvPr id="10" name="Text 6"/>
          <p:cNvSpPr txBox="1"/>
          <p:nvPr/>
        </p:nvSpPr>
        <p:spPr>
          <a:xfrm>
            <a:off x="4307738" y="5276088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bg1"/>
                </a:solidFill>
              </a:rPr>
              <a:t>2</a:t>
            </a:r>
            <a:endParaRPr lang="en-US" sz="1200" dirty="0"/>
          </a:p>
        </p:txBody>
      </p:sp>
      <p:sp>
        <p:nvSpPr>
          <p:cNvPr id="11" name="point2"/>
          <p:cNvSpPr txBox="1"/>
          <p:nvPr/>
        </p:nvSpPr>
        <p:spPr>
          <a:xfrm>
            <a:off x="4719218" y="5257800"/>
            <a:ext cx="3164738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Резерви: $51,2 млрд (липень) → $47,1 млрд (вересень) проти $53,8 млрд у прогнозі НБУ на кінець III кв.</a:t>
            </a:r>
            <a:endParaRPr lang="en-US" sz="1300" dirty="0"/>
          </a:p>
        </p:txBody>
      </p:sp>
      <p:sp>
        <p:nvSpPr>
          <p:cNvPr id="12" name="num3"/>
          <p:cNvSpPr/>
          <p:nvPr/>
        </p:nvSpPr>
        <p:spPr>
          <a:xfrm>
            <a:off x="8158277" y="5276088"/>
            <a:ext cx="310896" cy="310896"/>
          </a:xfrm>
          <a:prstGeom prst="ellipse">
            <a:avLst/>
          </a:prstGeom>
          <a:solidFill>
            <a:srgbClr val="C98A00"/>
          </a:solidFill>
          <a:ln/>
        </p:spPr>
      </p:sp>
      <p:sp>
        <p:nvSpPr>
          <p:cNvPr id="13" name="Text 9"/>
          <p:cNvSpPr txBox="1"/>
          <p:nvPr/>
        </p:nvSpPr>
        <p:spPr>
          <a:xfrm>
            <a:off x="8158277" y="5276088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bg1"/>
                </a:solidFill>
              </a:rPr>
              <a:t>3</a:t>
            </a:r>
            <a:endParaRPr lang="en-US" sz="1200" dirty="0"/>
          </a:p>
        </p:txBody>
      </p:sp>
      <p:sp>
        <p:nvSpPr>
          <p:cNvPr id="14" name="point3"/>
          <p:cNvSpPr txBox="1"/>
          <p:nvPr/>
        </p:nvSpPr>
        <p:spPr>
          <a:xfrm>
            <a:off x="8569757" y="5257800"/>
            <a:ext cx="3164738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Курс заморожений: ≈44,7 грн/$ з червня (за рік до того — +8%); продаж валюти здебільшого «доносить» допомогу: у вересні уряд конвертував $3,81 млрд оборонного траншу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5855" y="6473952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6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8</a:t>
            </a:fld>
            <a:endParaRPr lang="en-US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731520" y="2377440"/>
            <a:ext cx="1069848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000" b="1" dirty="0">
                <a:solidFill>
                  <a:schemeClr val="bg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Макроекономічний прогноз</a:t>
            </a:r>
            <a:endParaRPr lang="en-US" sz="4000" dirty="0"/>
          </a:p>
        </p:txBody>
      </p:sp>
      <p:sp>
        <p:nvSpPr>
          <p:cNvPr id="3" name="Text 1"/>
          <p:cNvSpPr txBox="1"/>
          <p:nvPr/>
        </p:nvSpPr>
        <p:spPr>
          <a:xfrm>
            <a:off x="731520" y="1280160"/>
            <a:ext cx="274320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000" b="1" dirty="0">
                <a:solidFill>
                  <a:srgbClr val="C98A0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02</a:t>
            </a:r>
            <a:endParaRPr lang="en-US" sz="6000" dirty="0"/>
          </a:p>
        </p:txBody>
      </p:sp>
      <p:sp>
        <p:nvSpPr>
          <p:cNvPr id="4" name="Text 2"/>
          <p:cNvSpPr txBox="1"/>
          <p:nvPr/>
        </p:nvSpPr>
        <p:spPr>
          <a:xfrm>
            <a:off x="731520" y="3749040"/>
            <a:ext cx="10698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CFE3DE"/>
                </a:solidFill>
              </a:rPr>
              <a:t>QPM НБУ на Python + короткостроковий прогноз + судження + сценарії</a:t>
            </a:r>
            <a:endParaRPr lang="en-US" sz="18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11277295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600" b="1" dirty="0">
                <a:solidFill>
                  <a:schemeClr val="accent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Модель: QPM НБУ з нашим розширенням — у Python і MATLAB/IRIS</a:t>
            </a:r>
            <a:endParaRPr lang="en-US" sz="2600" dirty="0"/>
          </a:p>
        </p:txBody>
      </p:sp>
      <p:sp>
        <p:nvSpPr>
          <p:cNvPr id="4" name="sources"/>
          <p:cNvSpPr txBox="1"/>
          <p:nvPr/>
        </p:nvSpPr>
        <p:spPr>
          <a:xfrm>
            <a:off x="4937760" y="6455664"/>
            <a:ext cx="611093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F6B6D"/>
                </a:solidFill>
              </a:rPr>
              <a:t>Джерела: </a:t>
            </a:r>
            <a:pPr indent="0" marL="0">
              <a:buNone/>
            </a:pPr>
            <a:r>
              <a:rPr lang="en-US" sz="900" u="sng" dirty="0">
                <a:solidFill>
                  <a:srgbClr val="5F6B6D"/>
                </a:solidFill>
                <a:hlinkClick r:id="rId1" invalidUrl="" action="" tgtFrame="" tooltip="https://events.bank.gov.ua/uchallenge2026/files/nbu_challenge_model_2026.zip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модель-шаблон НБУ</a:t>
            </a:r>
            <a:pPr indent="0" marL="0">
              <a:buNone/>
            </a:pPr>
            <a:r>
              <a:rPr lang="en-US" sz="900" dirty="0">
                <a:solidFill>
                  <a:srgbClr val="5F6B6D"/>
                </a:solidFill>
              </a:rPr>
              <a:t> · </a:t>
            </a:r>
            <a:pPr indent="0" marL="0">
              <a:buNone/>
            </a:pPr>
            <a:r>
              <a:rPr lang="en-US" sz="900" u="sng" dirty="0">
                <a:solidFill>
                  <a:srgbClr val="5F6B6D"/>
                </a:solidFill>
                <a:hlinkClick r:id="rId2" invalidUrl="" action="" tgtFrame="" tooltip="https://bank.gov.ua/ua/open-data/api-dev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API НБУ</a:t>
            </a:r>
            <a:pPr indent="0" marL="0">
              <a:buNone/>
            </a:pPr>
            <a:r>
              <a:rPr lang="en-US" sz="900" dirty="0">
                <a:solidFill>
                  <a:srgbClr val="5F6B6D"/>
                </a:solidFill>
              </a:rPr>
              <a:t> · </a:t>
            </a:r>
            <a:pPr indent="0" marL="0">
              <a:buNone/>
            </a:pPr>
            <a:r>
              <a:rPr lang="en-US" sz="900" u="sng" dirty="0">
                <a:solidFill>
                  <a:srgbClr val="5F6B6D"/>
                </a:solidFill>
                <a:hlinkClick r:id="rId3" invalidUrl="" action="" tgtFrame="" tooltip="https://data.ecb.europa.eu/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ЄЦБ Data Portal</a:t>
            </a:r>
            <a:pPr indent="0" marL="0">
              <a:buNone/>
            </a:pPr>
            <a:r>
              <a:rPr lang="en-US" sz="900" dirty="0">
                <a:solidFill>
                  <a:srgbClr val="5F6B6D"/>
                </a:solidFill>
              </a:rPr>
              <a:t> · </a:t>
            </a:r>
            <a:pPr indent="0" marL="0">
              <a:buNone/>
            </a:pPr>
            <a:r>
              <a:rPr lang="en-US" sz="900" u="sng" dirty="0">
                <a:solidFill>
                  <a:srgbClr val="5F6B6D"/>
                </a:solidFill>
                <a:hlinkClick r:id="rId4" invalidUrl="" action="" tgtFrame="" tooltip="https://ec.europa.eu/eurostat/databrowser/view/prc_hicp_minr/default/table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Eurostat HICP</a:t>
            </a:r>
            <a:endParaRPr lang="en-US" sz="900" dirty="0"/>
          </a:p>
        </p:txBody>
      </p:sp>
      <p:sp>
        <p:nvSpPr>
          <p:cNvPr id="5" name="step1"/>
          <p:cNvSpPr/>
          <p:nvPr/>
        </p:nvSpPr>
        <p:spPr>
          <a:xfrm>
            <a:off x="457200" y="1417320"/>
            <a:ext cx="2510714" cy="1600200"/>
          </a:xfrm>
          <a:prstGeom prst="roundRect">
            <a:avLst>
              <a:gd name="adj" fmla="val 4571"/>
            </a:avLst>
          </a:prstGeom>
          <a:solidFill>
            <a:srgbClr val="EAF1EF"/>
          </a:solidFill>
          <a:ln/>
        </p:spPr>
      </p:sp>
      <p:sp>
        <p:nvSpPr>
          <p:cNvPr id="6" name="Text 3"/>
          <p:cNvSpPr txBox="1"/>
          <p:nvPr/>
        </p:nvSpPr>
        <p:spPr>
          <a:xfrm>
            <a:off x="640080" y="1581912"/>
            <a:ext cx="2144954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chemeClr val="accent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1. Дані</a:t>
            </a:r>
            <a:endParaRPr lang="en-US" sz="1700" dirty="0"/>
          </a:p>
        </p:txBody>
      </p:sp>
      <p:sp>
        <p:nvSpPr>
          <p:cNvPr id="7" name="Text 4"/>
          <p:cNvSpPr txBox="1"/>
          <p:nvPr/>
        </p:nvSpPr>
        <p:spPr>
          <a:xfrm>
            <a:off x="640080" y="2057400"/>
            <a:ext cx="2144954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API НБУ, Держстат, ЄЦБ, Eurostat, Brent; оновлення одним скриптом</a:t>
            </a:r>
            <a:endParaRPr lang="en-US" sz="1300" dirty="0"/>
          </a:p>
        </p:txBody>
      </p:sp>
      <p:sp>
        <p:nvSpPr>
          <p:cNvPr id="8" name="arrow1"/>
          <p:cNvSpPr/>
          <p:nvPr/>
        </p:nvSpPr>
        <p:spPr>
          <a:xfrm>
            <a:off x="3041066" y="2080260"/>
            <a:ext cx="265176" cy="274320"/>
          </a:xfrm>
          <a:prstGeom prst="rightArrow">
            <a:avLst/>
          </a:prstGeom>
          <a:solidFill>
            <a:srgbClr val="C98A00"/>
          </a:solidFill>
          <a:ln/>
        </p:spPr>
      </p:sp>
      <p:sp>
        <p:nvSpPr>
          <p:cNvPr id="9" name="step2"/>
          <p:cNvSpPr/>
          <p:nvPr/>
        </p:nvSpPr>
        <p:spPr>
          <a:xfrm>
            <a:off x="3379394" y="1417320"/>
            <a:ext cx="2510714" cy="1600200"/>
          </a:xfrm>
          <a:prstGeom prst="roundRect">
            <a:avLst>
              <a:gd name="adj" fmla="val 4571"/>
            </a:avLst>
          </a:prstGeom>
          <a:solidFill>
            <a:srgbClr val="EAF1EF"/>
          </a:solidFill>
          <a:ln/>
        </p:spPr>
      </p:sp>
      <p:sp>
        <p:nvSpPr>
          <p:cNvPr id="10" name="Text 7"/>
          <p:cNvSpPr txBox="1"/>
          <p:nvPr/>
        </p:nvSpPr>
        <p:spPr>
          <a:xfrm>
            <a:off x="3562274" y="1581912"/>
            <a:ext cx="2144954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chemeClr val="accent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2. Фільтр Калмана</a:t>
            </a:r>
            <a:endParaRPr lang="en-US" sz="1700" dirty="0"/>
          </a:p>
        </p:txBody>
      </p:sp>
      <p:sp>
        <p:nvSpPr>
          <p:cNvPr id="11" name="Text 8"/>
          <p:cNvSpPr txBox="1"/>
          <p:nvPr/>
        </p:nvSpPr>
        <p:spPr>
          <a:xfrm>
            <a:off x="3562274" y="2057400"/>
            <a:ext cx="2144954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розриви й тренди: ВВП, реальний курс, нейтральна ставка</a:t>
            </a:r>
            <a:endParaRPr lang="en-US" sz="1300" dirty="0"/>
          </a:p>
        </p:txBody>
      </p:sp>
      <p:sp>
        <p:nvSpPr>
          <p:cNvPr id="12" name="arrow2"/>
          <p:cNvSpPr/>
          <p:nvPr/>
        </p:nvSpPr>
        <p:spPr>
          <a:xfrm>
            <a:off x="5963260" y="2080260"/>
            <a:ext cx="265176" cy="274320"/>
          </a:xfrm>
          <a:prstGeom prst="rightArrow">
            <a:avLst/>
          </a:prstGeom>
          <a:solidFill>
            <a:srgbClr val="C98A00"/>
          </a:solidFill>
          <a:ln/>
        </p:spPr>
      </p:sp>
      <p:sp>
        <p:nvSpPr>
          <p:cNvPr id="13" name="step3"/>
          <p:cNvSpPr/>
          <p:nvPr/>
        </p:nvSpPr>
        <p:spPr>
          <a:xfrm>
            <a:off x="6301588" y="1417320"/>
            <a:ext cx="2510714" cy="1600200"/>
          </a:xfrm>
          <a:prstGeom prst="roundRect">
            <a:avLst>
              <a:gd name="adj" fmla="val 4571"/>
            </a:avLst>
          </a:prstGeom>
          <a:solidFill>
            <a:srgbClr val="EAF1EF"/>
          </a:solidFill>
          <a:ln/>
        </p:spPr>
      </p:sp>
      <p:sp>
        <p:nvSpPr>
          <p:cNvPr id="14" name="Text 11"/>
          <p:cNvSpPr txBox="1"/>
          <p:nvPr/>
        </p:nvSpPr>
        <p:spPr>
          <a:xfrm>
            <a:off x="6484468" y="1581912"/>
            <a:ext cx="2144954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chemeClr val="accent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3. Прогноз із планом</a:t>
            </a:r>
            <a:endParaRPr lang="en-US" sz="1700" dirty="0"/>
          </a:p>
        </p:txBody>
      </p:sp>
      <p:sp>
        <p:nvSpPr>
          <p:cNvPr id="15" name="Text 12"/>
          <p:cNvSpPr txBox="1"/>
          <p:nvPr/>
        </p:nvSpPr>
        <p:spPr>
          <a:xfrm>
            <a:off x="6484468" y="2057400"/>
            <a:ext cx="2144954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наукаст ІСЦ, судження з джерелами, ф'ючерси на нафту, прогноз ЄЦБ</a:t>
            </a:r>
            <a:endParaRPr lang="en-US" sz="1300" dirty="0"/>
          </a:p>
        </p:txBody>
      </p:sp>
      <p:sp>
        <p:nvSpPr>
          <p:cNvPr id="16" name="arrow3"/>
          <p:cNvSpPr/>
          <p:nvPr/>
        </p:nvSpPr>
        <p:spPr>
          <a:xfrm>
            <a:off x="8885453" y="2080260"/>
            <a:ext cx="265176" cy="274320"/>
          </a:xfrm>
          <a:prstGeom prst="rightArrow">
            <a:avLst/>
          </a:prstGeom>
          <a:solidFill>
            <a:srgbClr val="C98A00"/>
          </a:solidFill>
          <a:ln/>
        </p:spPr>
      </p:sp>
      <p:sp>
        <p:nvSpPr>
          <p:cNvPr id="17" name="step4"/>
          <p:cNvSpPr/>
          <p:nvPr/>
        </p:nvSpPr>
        <p:spPr>
          <a:xfrm>
            <a:off x="9223781" y="1417320"/>
            <a:ext cx="2510714" cy="1600200"/>
          </a:xfrm>
          <a:prstGeom prst="roundRect">
            <a:avLst>
              <a:gd name="adj" fmla="val 4571"/>
            </a:avLst>
          </a:prstGeom>
          <a:solidFill>
            <a:srgbClr val="EAF1EF"/>
          </a:solidFill>
          <a:ln/>
        </p:spPr>
      </p:sp>
      <p:sp>
        <p:nvSpPr>
          <p:cNvPr id="18" name="Text 15"/>
          <p:cNvSpPr txBox="1"/>
          <p:nvPr/>
        </p:nvSpPr>
        <p:spPr>
          <a:xfrm>
            <a:off x="9406661" y="1581912"/>
            <a:ext cx="2144954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chemeClr val="accent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4. Політика й ризики</a:t>
            </a:r>
            <a:endParaRPr lang="en-US" sz="1700" dirty="0"/>
          </a:p>
        </p:txBody>
      </p:sp>
      <p:sp>
        <p:nvSpPr>
          <p:cNvPr id="19" name="Text 16"/>
          <p:cNvSpPr txBox="1"/>
          <p:nvPr/>
        </p:nvSpPr>
        <p:spPr>
          <a:xfrm>
            <a:off x="9406661" y="2057400"/>
            <a:ext cx="2144954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сценарії, віяло, оптимальна ставка; перевірка в MATLAB/IRIS</a:t>
            </a:r>
            <a:endParaRPr lang="en-US" sz="1300" dirty="0"/>
          </a:p>
        </p:txBody>
      </p:sp>
      <p:sp>
        <p:nvSpPr>
          <p:cNvPr id="20" name="Text 17"/>
          <p:cNvSpPr txBox="1"/>
          <p:nvPr/>
        </p:nvSpPr>
        <p:spPr>
          <a:xfrm>
            <a:off x="457200" y="3429000"/>
            <a:ext cx="3576218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C98A0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1e−13</a:t>
            </a:r>
            <a:endParaRPr lang="en-US" sz="3400" dirty="0"/>
          </a:p>
        </p:txBody>
      </p:sp>
      <p:sp>
        <p:nvSpPr>
          <p:cNvPr id="21" name="Text 18"/>
          <p:cNvSpPr txBox="1"/>
          <p:nvPr/>
        </p:nvSpPr>
        <p:spPr>
          <a:xfrm>
            <a:off x="457200" y="4251960"/>
            <a:ext cx="3576218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похибка розв'язку рівнянь моделі</a:t>
            </a:r>
            <a:endParaRPr lang="en-US" sz="1400" dirty="0"/>
          </a:p>
        </p:txBody>
      </p:sp>
      <p:sp>
        <p:nvSpPr>
          <p:cNvPr id="22" name="Text 19"/>
          <p:cNvSpPr txBox="1"/>
          <p:nvPr/>
        </p:nvSpPr>
        <p:spPr>
          <a:xfrm>
            <a:off x="4307738" y="3429000"/>
            <a:ext cx="3576218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C98A0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~1e−5</a:t>
            </a:r>
            <a:endParaRPr lang="en-US" sz="3400" dirty="0"/>
          </a:p>
        </p:txBody>
      </p:sp>
      <p:sp>
        <p:nvSpPr>
          <p:cNvPr id="23" name="Text 20"/>
          <p:cNvSpPr txBox="1"/>
          <p:nvPr/>
        </p:nvSpPr>
        <p:spPr>
          <a:xfrm>
            <a:off x="4307738" y="4251960"/>
            <a:ext cx="3576218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розбіжність Python і MATLAB/IRIS: фільтр і всі 5 сценаріїв</a:t>
            </a:r>
            <a:endParaRPr lang="en-US" sz="1400" dirty="0"/>
          </a:p>
        </p:txBody>
      </p:sp>
      <p:sp>
        <p:nvSpPr>
          <p:cNvPr id="24" name="Text 21"/>
          <p:cNvSpPr txBox="1"/>
          <p:nvPr/>
        </p:nvSpPr>
        <p:spPr>
          <a:xfrm>
            <a:off x="8158277" y="3429000"/>
            <a:ext cx="3576218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C98A0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0,8–1,0 в. п.</a:t>
            </a:r>
            <a:endParaRPr lang="en-US" sz="3400" dirty="0"/>
          </a:p>
        </p:txBody>
      </p:sp>
      <p:sp>
        <p:nvSpPr>
          <p:cNvPr id="25" name="Text 22"/>
          <p:cNvSpPr txBox="1"/>
          <p:nvPr/>
        </p:nvSpPr>
        <p:spPr>
          <a:xfrm>
            <a:off x="8158277" y="4251960"/>
            <a:ext cx="3576218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помилка ІСЦ на рік уперед, 3 прогони 2025 р. із фактичними зовнішніми умовами («без змін»: 1,3–6,1)</a:t>
            </a:r>
            <a:endParaRPr lang="en-US" sz="1400" dirty="0"/>
          </a:p>
        </p:txBody>
      </p:sp>
      <p:sp>
        <p:nvSpPr>
          <p:cNvPr id="26" name="Text 23"/>
          <p:cNvSpPr txBox="1"/>
          <p:nvPr/>
        </p:nvSpPr>
        <p:spPr>
          <a:xfrm>
            <a:off x="457200" y="4983480"/>
            <a:ext cx="5486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chemeClr val="accent1"/>
                </a:solidFill>
              </a:rPr>
              <a:t>Що ми додали до шаблону НБУ</a:t>
            </a:r>
            <a:endParaRPr lang="en-US" sz="1300" dirty="0"/>
          </a:p>
        </p:txBody>
      </p:sp>
      <p:sp>
        <p:nvSpPr>
          <p:cNvPr id="27" name="chip1"/>
          <p:cNvSpPr/>
          <p:nvPr/>
        </p:nvSpPr>
        <p:spPr>
          <a:xfrm>
            <a:off x="457200" y="5349240"/>
            <a:ext cx="2386584" cy="365760"/>
          </a:xfrm>
          <a:prstGeom prst="roundRect">
            <a:avLst>
              <a:gd name="adj" fmla="val 50000"/>
            </a:avLst>
          </a:prstGeom>
          <a:solidFill>
            <a:srgbClr val="EAF1EF"/>
          </a:solidFill>
          <a:ln w="9525">
            <a:solidFill>
              <a:srgbClr val="0E3B43"/>
            </a:solidFill>
            <a:prstDash val="solid"/>
          </a:ln>
        </p:spPr>
      </p:sp>
      <p:sp>
        <p:nvSpPr>
          <p:cNvPr id="28" name="Text 25"/>
          <p:cNvSpPr txBox="1"/>
          <p:nvPr/>
        </p:nvSpPr>
        <p:spPr>
          <a:xfrm>
            <a:off x="457200" y="5349240"/>
            <a:ext cx="238658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chemeClr val="accent1"/>
                </a:solidFill>
              </a:rPr>
              <a:t>Базова + небазова інфляція</a:t>
            </a:r>
            <a:endParaRPr lang="en-US" sz="1200" dirty="0"/>
          </a:p>
        </p:txBody>
      </p:sp>
      <p:sp>
        <p:nvSpPr>
          <p:cNvPr id="29" name="chip2"/>
          <p:cNvSpPr/>
          <p:nvPr/>
        </p:nvSpPr>
        <p:spPr>
          <a:xfrm>
            <a:off x="2980944" y="5349240"/>
            <a:ext cx="1687068" cy="365760"/>
          </a:xfrm>
          <a:prstGeom prst="roundRect">
            <a:avLst>
              <a:gd name="adj" fmla="val 50000"/>
            </a:avLst>
          </a:prstGeom>
          <a:solidFill>
            <a:srgbClr val="EAF1EF"/>
          </a:solidFill>
          <a:ln w="9525">
            <a:solidFill>
              <a:srgbClr val="0E3B43"/>
            </a:solidFill>
            <a:prstDash val="solid"/>
          </a:ln>
        </p:spPr>
      </p:sp>
      <p:sp>
        <p:nvSpPr>
          <p:cNvPr id="30" name="Text 27"/>
          <p:cNvSpPr txBox="1"/>
          <p:nvPr/>
        </p:nvSpPr>
        <p:spPr>
          <a:xfrm>
            <a:off x="2980944" y="5349240"/>
            <a:ext cx="168706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chemeClr val="accent1"/>
                </a:solidFill>
              </a:rPr>
              <a:t>Канал нафти Brent</a:t>
            </a:r>
            <a:endParaRPr lang="en-US" sz="1200" dirty="0"/>
          </a:p>
        </p:txBody>
      </p:sp>
      <p:sp>
        <p:nvSpPr>
          <p:cNvPr id="31" name="chip3"/>
          <p:cNvSpPr/>
          <p:nvPr/>
        </p:nvSpPr>
        <p:spPr>
          <a:xfrm>
            <a:off x="4805172" y="5349240"/>
            <a:ext cx="1220724" cy="365760"/>
          </a:xfrm>
          <a:prstGeom prst="roundRect">
            <a:avLst>
              <a:gd name="adj" fmla="val 50000"/>
            </a:avLst>
          </a:prstGeom>
          <a:solidFill>
            <a:srgbClr val="EAF1EF"/>
          </a:solidFill>
          <a:ln w="9525">
            <a:solidFill>
              <a:srgbClr val="0E3B43"/>
            </a:solidFill>
            <a:prstDash val="solid"/>
          </a:ln>
        </p:spPr>
      </p:sp>
      <p:sp>
        <p:nvSpPr>
          <p:cNvPr id="32" name="Text 29"/>
          <p:cNvSpPr txBox="1"/>
          <p:nvPr/>
        </p:nvSpPr>
        <p:spPr>
          <a:xfrm>
            <a:off x="4805172" y="5349240"/>
            <a:ext cx="122072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chemeClr val="accent1"/>
                </a:solidFill>
              </a:rPr>
              <a:t>Наукаст ІСЦ</a:t>
            </a:r>
            <a:endParaRPr lang="en-US" sz="1200" dirty="0"/>
          </a:p>
        </p:txBody>
      </p:sp>
      <p:sp>
        <p:nvSpPr>
          <p:cNvPr id="33" name="chip4"/>
          <p:cNvSpPr/>
          <p:nvPr/>
        </p:nvSpPr>
        <p:spPr>
          <a:xfrm>
            <a:off x="6163056" y="5349240"/>
            <a:ext cx="1920240" cy="365760"/>
          </a:xfrm>
          <a:prstGeom prst="roundRect">
            <a:avLst>
              <a:gd name="adj" fmla="val 50000"/>
            </a:avLst>
          </a:prstGeom>
          <a:solidFill>
            <a:srgbClr val="EAF1EF"/>
          </a:solidFill>
          <a:ln w="9525">
            <a:solidFill>
              <a:srgbClr val="0E3B43"/>
            </a:solidFill>
            <a:prstDash val="solid"/>
          </a:ln>
        </p:spPr>
      </p:sp>
      <p:sp>
        <p:nvSpPr>
          <p:cNvPr id="34" name="Text 31"/>
          <p:cNvSpPr txBox="1"/>
          <p:nvPr/>
        </p:nvSpPr>
        <p:spPr>
          <a:xfrm>
            <a:off x="6163056" y="5349240"/>
            <a:ext cx="1920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chemeClr val="accent1"/>
                </a:solidFill>
              </a:rPr>
              <a:t>Судження з джерелами</a:t>
            </a:r>
            <a:endParaRPr lang="en-US" sz="1200" dirty="0"/>
          </a:p>
        </p:txBody>
      </p:sp>
      <p:sp>
        <p:nvSpPr>
          <p:cNvPr id="35" name="chip5"/>
          <p:cNvSpPr/>
          <p:nvPr/>
        </p:nvSpPr>
        <p:spPr>
          <a:xfrm>
            <a:off x="8220456" y="5349240"/>
            <a:ext cx="1531620" cy="365760"/>
          </a:xfrm>
          <a:prstGeom prst="roundRect">
            <a:avLst>
              <a:gd name="adj" fmla="val 50000"/>
            </a:avLst>
          </a:prstGeom>
          <a:solidFill>
            <a:srgbClr val="EAF1EF"/>
          </a:solidFill>
          <a:ln w="9525">
            <a:solidFill>
              <a:srgbClr val="0E3B43"/>
            </a:solidFill>
            <a:prstDash val="solid"/>
          </a:ln>
        </p:spPr>
      </p:sp>
      <p:sp>
        <p:nvSpPr>
          <p:cNvPr id="36" name="Text 33"/>
          <p:cNvSpPr txBox="1"/>
          <p:nvPr/>
        </p:nvSpPr>
        <p:spPr>
          <a:xfrm>
            <a:off x="8220456" y="5349240"/>
            <a:ext cx="15316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chemeClr val="accent1"/>
                </a:solidFill>
              </a:rPr>
              <a:t>Віялові графіки</a:t>
            </a:r>
            <a:endParaRPr lang="en-US" sz="1200" dirty="0"/>
          </a:p>
        </p:txBody>
      </p:sp>
      <p:sp>
        <p:nvSpPr>
          <p:cNvPr id="37" name="chip6"/>
          <p:cNvSpPr/>
          <p:nvPr/>
        </p:nvSpPr>
        <p:spPr>
          <a:xfrm>
            <a:off x="9889236" y="5349240"/>
            <a:ext cx="1687068" cy="365760"/>
          </a:xfrm>
          <a:prstGeom prst="roundRect">
            <a:avLst>
              <a:gd name="adj" fmla="val 50000"/>
            </a:avLst>
          </a:prstGeom>
          <a:solidFill>
            <a:srgbClr val="EAF1EF"/>
          </a:solidFill>
          <a:ln w="9525">
            <a:solidFill>
              <a:srgbClr val="0E3B43"/>
            </a:solidFill>
            <a:prstDash val="solid"/>
          </a:ln>
        </p:spPr>
      </p:sp>
      <p:sp>
        <p:nvSpPr>
          <p:cNvPr id="38" name="Text 35"/>
          <p:cNvSpPr txBox="1"/>
          <p:nvPr/>
        </p:nvSpPr>
        <p:spPr>
          <a:xfrm>
            <a:off x="9889236" y="5349240"/>
            <a:ext cx="168706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chemeClr val="accent1"/>
                </a:solidFill>
              </a:rPr>
              <a:t>Оптимальна ставка</a:t>
            </a:r>
            <a:endParaRPr lang="en-US" sz="1200" dirty="0"/>
          </a:p>
        </p:txBody>
      </p:sp>
      <p:sp>
        <p:nvSpPr>
          <p:cNvPr id="39" name="chip7"/>
          <p:cNvSpPr/>
          <p:nvPr/>
        </p:nvSpPr>
        <p:spPr>
          <a:xfrm>
            <a:off x="457200" y="5806440"/>
            <a:ext cx="909828" cy="365760"/>
          </a:xfrm>
          <a:prstGeom prst="roundRect">
            <a:avLst>
              <a:gd name="adj" fmla="val 50000"/>
            </a:avLst>
          </a:prstGeom>
          <a:solidFill>
            <a:srgbClr val="EAF1EF"/>
          </a:solidFill>
          <a:ln w="9525">
            <a:solidFill>
              <a:srgbClr val="0E3B43"/>
            </a:solidFill>
            <a:prstDash val="solid"/>
          </a:ln>
        </p:spPr>
      </p:sp>
      <p:sp>
        <p:nvSpPr>
          <p:cNvPr id="40" name="Text 37"/>
          <p:cNvSpPr txBox="1"/>
          <p:nvPr/>
        </p:nvSpPr>
        <p:spPr>
          <a:xfrm>
            <a:off x="457200" y="5806440"/>
            <a:ext cx="90982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chemeClr val="accent1"/>
                </a:solidFill>
              </a:rPr>
              <a:t>Бектест</a:t>
            </a:r>
            <a:endParaRPr lang="en-US" sz="1200" dirty="0"/>
          </a:p>
        </p:txBody>
      </p:sp>
      <p:sp>
        <p:nvSpPr>
          <p:cNvPr id="41" name="chip8"/>
          <p:cNvSpPr/>
          <p:nvPr/>
        </p:nvSpPr>
        <p:spPr>
          <a:xfrm>
            <a:off x="1504188" y="5806440"/>
            <a:ext cx="909828" cy="365760"/>
          </a:xfrm>
          <a:prstGeom prst="roundRect">
            <a:avLst>
              <a:gd name="adj" fmla="val 50000"/>
            </a:avLst>
          </a:prstGeom>
          <a:solidFill>
            <a:srgbClr val="EAF1EF"/>
          </a:solidFill>
          <a:ln w="9525">
            <a:solidFill>
              <a:srgbClr val="0E3B43"/>
            </a:solidFill>
            <a:prstDash val="solid"/>
          </a:ln>
        </p:spPr>
      </p:sp>
      <p:sp>
        <p:nvSpPr>
          <p:cNvPr id="42" name="Text 39"/>
          <p:cNvSpPr txBox="1"/>
          <p:nvPr/>
        </p:nvSpPr>
        <p:spPr>
          <a:xfrm>
            <a:off x="1504188" y="5806440"/>
            <a:ext cx="90982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chemeClr val="accent1"/>
                </a:solidFill>
              </a:rPr>
              <a:t>Резерви</a:t>
            </a:r>
            <a:endParaRPr lang="en-US" sz="1200" dirty="0"/>
          </a:p>
        </p:txBody>
      </p:sp>
      <p:sp>
        <p:nvSpPr>
          <p:cNvPr id="43" name="chip9"/>
          <p:cNvSpPr/>
          <p:nvPr/>
        </p:nvSpPr>
        <p:spPr>
          <a:xfrm>
            <a:off x="2551176" y="5806440"/>
            <a:ext cx="1220724" cy="365760"/>
          </a:xfrm>
          <a:prstGeom prst="roundRect">
            <a:avLst>
              <a:gd name="adj" fmla="val 50000"/>
            </a:avLst>
          </a:prstGeom>
          <a:solidFill>
            <a:srgbClr val="EAF1EF"/>
          </a:solidFill>
          <a:ln w="9525">
            <a:solidFill>
              <a:srgbClr val="0E3B43"/>
            </a:solidFill>
            <a:prstDash val="solid"/>
          </a:ln>
        </p:spPr>
      </p:sp>
      <p:sp>
        <p:nvSpPr>
          <p:cNvPr id="44" name="Text 41"/>
          <p:cNvSpPr txBox="1"/>
          <p:nvPr/>
        </p:nvSpPr>
        <p:spPr>
          <a:xfrm>
            <a:off x="2551176" y="5806440"/>
            <a:ext cx="122072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chemeClr val="accent1"/>
                </a:solidFill>
              </a:rPr>
              <a:t>MATLAB/IRIS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5855" y="6473952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6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10</a:t>
            </a:fld>
            <a:endParaRPr lang="en-US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11277295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600" b="1" dirty="0">
                <a:solidFill>
                  <a:schemeClr val="accent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Короткостроковий прогноз: інфляція зросте до ≈12,1% у грудні</a:t>
            </a:r>
            <a:endParaRPr lang="en-US" sz="2600" dirty="0"/>
          </a:p>
        </p:txBody>
      </p:sp>
      <p:sp>
        <p:nvSpPr>
          <p:cNvPr id="4" name="sources"/>
          <p:cNvSpPr txBox="1"/>
          <p:nvPr/>
        </p:nvSpPr>
        <p:spPr>
          <a:xfrm>
            <a:off x="4937760" y="6455664"/>
            <a:ext cx="611093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F6B6D"/>
                </a:solidFill>
              </a:rPr>
              <a:t>Джерела: </a:t>
            </a:r>
            <a:pPr indent="0" marL="0">
              <a:buNone/>
            </a:pPr>
            <a:r>
              <a:rPr lang="en-US" sz="900" u="sng" dirty="0">
                <a:solidFill>
                  <a:srgbClr val="5F6B6D"/>
                </a:solidFill>
                <a:hlinkClick r:id="rId1" invalidUrl="" action="" tgtFrame="" tooltip="https://bank.gov.ua/ua/open-data/api-dev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API НБУ</a:t>
            </a:r>
            <a:pPr indent="0" marL="0">
              <a:buNone/>
            </a:pPr>
            <a:r>
              <a:rPr lang="en-US" sz="900" dirty="0">
                <a:solidFill>
                  <a:srgbClr val="5F6B6D"/>
                </a:solidFill>
              </a:rPr>
              <a:t> · </a:t>
            </a:r>
            <a:pPr indent="0" marL="0">
              <a:buNone/>
            </a:pPr>
            <a:r>
              <a:rPr lang="en-US" sz="900" u="sng" dirty="0">
                <a:solidFill>
                  <a:srgbClr val="5F6B6D"/>
                </a:solidFill>
                <a:hlinkClick r:id="rId2" invalidUrl="" action="" tgtFrame="" tooltip="https://bank.gov.ua/ua/news/all/komentar-natsionalnogo-banku-schodo-rivnya-inflyatsiyi-u-veresni-2026-roku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коментар НБУ: інфляція у вересні</a:t>
            </a:r>
            <a:endParaRPr lang="en-US" sz="900" dirty="0"/>
          </a:p>
        </p:txBody>
      </p:sp>
      <p:pic>
        <p:nvPicPr>
          <p:cNvPr id="5" name="chart" descr="C:\Users\Lenovo\Documents\GitHub\nbu-challenge-2026\results\figures\fc_nowcast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200" y="1325880"/>
            <a:ext cx="6309360" cy="3406958"/>
          </a:xfrm>
          <a:prstGeom prst="rect">
            <a:avLst/>
          </a:prstGeom>
        </p:spPr>
      </p:pic>
      <p:graphicFrame>
        <p:nvGraphicFramePr>
          <p:cNvPr id="12" name="table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7086600" y="1325880"/>
          <a:ext cx="4647895" cy="914400"/>
        </p:xfrm>
        <a:graphic>
          <a:graphicData uri="http://schemas.openxmlformats.org/drawingml/2006/table">
            <a:tbl>
              <a:tblPr/>
              <a:tblGrid>
                <a:gridCol w="1024128"/>
                <a:gridCol w="685800"/>
                <a:gridCol w="731520"/>
                <a:gridCol w="960120"/>
                <a:gridCol w="640080"/>
                <a:gridCol w="603504"/>
              </a:tblGrid>
              <a:tr h="32918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chemeClr val="bg1"/>
                          </a:solidFill>
                        </a:rPr>
                        <a:t>Місяць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3B43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chemeClr val="bg1"/>
                          </a:solidFill>
                        </a:rPr>
                        <a:t>Тренд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3B43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chemeClr val="bg1"/>
                          </a:solidFill>
                        </a:rPr>
                        <a:t>Сезон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3B43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chemeClr val="bg1"/>
                          </a:solidFill>
                        </a:rPr>
                        <a:t>Поправка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3B43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chemeClr val="bg1"/>
                          </a:solidFill>
                        </a:rPr>
                        <a:t>м/м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3B43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chemeClr val="bg1"/>
                          </a:solidFill>
                        </a:rPr>
                        <a:t>р/р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3B43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chemeClr val="tx1"/>
                          </a:solidFill>
                        </a:rPr>
                        <a:t>2026-10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0,86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0,17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−0,1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0,93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10,0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chemeClr val="tx1"/>
                          </a:solidFill>
                        </a:rPr>
                        <a:t>2026-11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1E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0,86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1E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0,34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1E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−0,1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1E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1,10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1E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10,8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1EF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chemeClr val="tx1"/>
                          </a:solidFill>
                        </a:rPr>
                        <a:t>2026-12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0,86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0,61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−0,1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1,36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12,1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7" name="bullets"/>
          <p:cNvSpPr txBox="1"/>
          <p:nvPr/>
        </p:nvSpPr>
        <p:spPr>
          <a:xfrm>
            <a:off x="7086600" y="3054096"/>
            <a:ext cx="4647895" cy="32552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300" dirty="0">
                <a:solidFill>
                  <a:schemeClr val="tx1"/>
                </a:solidFill>
              </a:rPr>
              <a:t>Ефект бази: у жовтні–грудні 2025 ціни зросли лише на 1,5% → річна інфляція механічно зростає</a:t>
            </a:r>
            <a:endParaRPr lang="en-US" sz="130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300" dirty="0">
                <a:solidFill>
                  <a:schemeClr val="tx1"/>
                </a:solidFill>
              </a:rPr>
              <a:t>Тренд 0,86% на місяць (з урахуванням сезонності) — це ≈11% у річному вимірі; вересневий стрибок частково разовий (−0,1 в. п./міс.)</a:t>
            </a:r>
            <a:endParaRPr lang="en-US" sz="130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300" dirty="0">
                <a:solidFill>
                  <a:schemeClr val="tx1"/>
                </a:solidFill>
              </a:rPr>
              <a:t>Грудень 12,1% — вище липневого прогнозу НБУ (10%); базова тим самим методом — 9,2% (НБУ: 9,2%)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5855" y="6473952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6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11</a:t>
            </a:fld>
            <a:endParaRPr lang="en-US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11277295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600" b="1" dirty="0">
                <a:solidFill>
                  <a:schemeClr val="accent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Інфляція досягне піку на початку 2027 і повернеться до ≈5% у 2028 — у межах горизонту політики</a:t>
            </a:r>
            <a:endParaRPr lang="en-US" sz="2600" dirty="0"/>
          </a:p>
        </p:txBody>
      </p:sp>
      <p:sp>
        <p:nvSpPr>
          <p:cNvPr id="4" name="sources"/>
          <p:cNvSpPr txBox="1"/>
          <p:nvPr/>
        </p:nvSpPr>
        <p:spPr>
          <a:xfrm>
            <a:off x="4937760" y="6455664"/>
            <a:ext cx="611093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F6B6D"/>
                </a:solidFill>
              </a:rPr>
              <a:t>Джерела: </a:t>
            </a:r>
            <a:pPr indent="0" marL="0">
              <a:buNone/>
            </a:pPr>
            <a:r>
              <a:rPr lang="en-US" sz="900" u="sng" dirty="0">
                <a:solidFill>
                  <a:srgbClr val="5F6B6D"/>
                </a:solidFill>
                <a:hlinkClick r:id="rId1" invalidUrl="" action="" tgtFrame="" tooltip="https://p4.bank.gov.ua/admin_uploads/article/MPG_2024-mt_eng.pdf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Основні засади ГКП (2024)</a:t>
            </a:r>
            <a:pPr indent="0" marL="0">
              <a:buNone/>
            </a:pPr>
            <a:r>
              <a:rPr lang="en-US" sz="900" dirty="0">
                <a:solidFill>
                  <a:srgbClr val="5F6B6D"/>
                </a:solidFill>
              </a:rPr>
              <a:t> · </a:t>
            </a:r>
            <a:pPr indent="0" marL="0">
              <a:buNone/>
            </a:pPr>
            <a:r>
              <a:rPr lang="en-US" sz="900" u="sng" dirty="0">
                <a:solidFill>
                  <a:srgbClr val="5F6B6D"/>
                </a:solidFill>
                <a:hlinkClick r:id="rId2" invalidUrl="" action="" tgtFrame="" tooltip="https://bank.gov.ua/admin_uploads/article/Macroeconomic_Forecast_table_2026_07.xlsx?v=19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макропрогноз НБУ</a:t>
            </a:r>
            <a:endParaRPr lang="en-US" sz="900" dirty="0"/>
          </a:p>
        </p:txBody>
      </p:sp>
      <p:pic>
        <p:nvPicPr>
          <p:cNvPr id="5" name="chart" descr="C:\Users\Lenovo\Documents\GitHub\nbu-challenge-2026\results\figures\fc_fan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23245" y="1325880"/>
            <a:ext cx="9945206" cy="3703320"/>
          </a:xfrm>
          <a:prstGeom prst="rect">
            <a:avLst/>
          </a:prstGeom>
        </p:spPr>
      </p:pic>
      <p:sp>
        <p:nvSpPr>
          <p:cNvPr id="6" name="num1"/>
          <p:cNvSpPr/>
          <p:nvPr/>
        </p:nvSpPr>
        <p:spPr>
          <a:xfrm>
            <a:off x="457200" y="5276088"/>
            <a:ext cx="310896" cy="310896"/>
          </a:xfrm>
          <a:prstGeom prst="ellipse">
            <a:avLst/>
          </a:prstGeom>
          <a:solidFill>
            <a:srgbClr val="C98A00"/>
          </a:solidFill>
          <a:ln/>
        </p:spPr>
      </p:sp>
      <p:sp>
        <p:nvSpPr>
          <p:cNvPr id="7" name="Text 3"/>
          <p:cNvSpPr txBox="1"/>
          <p:nvPr/>
        </p:nvSpPr>
        <p:spPr>
          <a:xfrm>
            <a:off x="457200" y="5276088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bg1"/>
                </a:solidFill>
              </a:rPr>
              <a:t>1</a:t>
            </a:r>
            <a:endParaRPr lang="en-US" sz="1200" dirty="0"/>
          </a:p>
        </p:txBody>
      </p:sp>
      <p:sp>
        <p:nvSpPr>
          <p:cNvPr id="8" name="point1"/>
          <p:cNvSpPr txBox="1"/>
          <p:nvPr/>
        </p:nvSpPr>
        <p:spPr>
          <a:xfrm>
            <a:off x="868680" y="5257800"/>
            <a:ext cx="3164738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Пік — I кв. 2027: ≈11,3% у середньому за квартал (у грудні — ≈12,1% за місяць); 6,9% у IV кв. 2027 (НБУ: 6,9% у грудні); ≈5% — з II кв. 2028, далі 4,6–5,1%</a:t>
            </a:r>
            <a:endParaRPr lang="en-US" sz="1300" dirty="0"/>
          </a:p>
        </p:txBody>
      </p:sp>
      <p:sp>
        <p:nvSpPr>
          <p:cNvPr id="9" name="num2"/>
          <p:cNvSpPr/>
          <p:nvPr/>
        </p:nvSpPr>
        <p:spPr>
          <a:xfrm>
            <a:off x="4307738" y="5276088"/>
            <a:ext cx="310896" cy="310896"/>
          </a:xfrm>
          <a:prstGeom prst="ellipse">
            <a:avLst/>
          </a:prstGeom>
          <a:solidFill>
            <a:srgbClr val="C98A00"/>
          </a:solidFill>
          <a:ln/>
        </p:spPr>
      </p:sp>
      <p:sp>
        <p:nvSpPr>
          <p:cNvPr id="10" name="Text 6"/>
          <p:cNvSpPr txBox="1"/>
          <p:nvPr/>
        </p:nvSpPr>
        <p:spPr>
          <a:xfrm>
            <a:off x="4307738" y="5276088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bg1"/>
                </a:solidFill>
              </a:rPr>
              <a:t>2</a:t>
            </a:r>
            <a:endParaRPr lang="en-US" sz="1200" dirty="0"/>
          </a:p>
        </p:txBody>
      </p:sp>
      <p:sp>
        <p:nvSpPr>
          <p:cNvPr id="11" name="point2"/>
          <p:cNvSpPr txBox="1"/>
          <p:nvPr/>
        </p:nvSpPr>
        <p:spPr>
          <a:xfrm>
            <a:off x="4719218" y="5257800"/>
            <a:ext cx="3164738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Ставка: 17% до середини 2027 → 14,4% наприкінці 2027 → 10,5% — 2028 → 9,5% — 2029</a:t>
            </a:r>
            <a:endParaRPr lang="en-US" sz="1300" dirty="0"/>
          </a:p>
        </p:txBody>
      </p:sp>
      <p:sp>
        <p:nvSpPr>
          <p:cNvPr id="12" name="num3"/>
          <p:cNvSpPr/>
          <p:nvPr/>
        </p:nvSpPr>
        <p:spPr>
          <a:xfrm>
            <a:off x="8158277" y="5276088"/>
            <a:ext cx="310896" cy="310896"/>
          </a:xfrm>
          <a:prstGeom prst="ellipse">
            <a:avLst/>
          </a:prstGeom>
          <a:solidFill>
            <a:srgbClr val="C98A00"/>
          </a:solidFill>
          <a:ln/>
        </p:spPr>
      </p:sp>
      <p:sp>
        <p:nvSpPr>
          <p:cNvPr id="13" name="Text 9"/>
          <p:cNvSpPr txBox="1"/>
          <p:nvPr/>
        </p:nvSpPr>
        <p:spPr>
          <a:xfrm>
            <a:off x="8158277" y="5276088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bg1"/>
                </a:solidFill>
              </a:rPr>
              <a:t>3</a:t>
            </a:r>
            <a:endParaRPr lang="en-US" sz="1200" dirty="0"/>
          </a:p>
        </p:txBody>
      </p:sp>
      <p:sp>
        <p:nvSpPr>
          <p:cNvPr id="14" name="point3"/>
          <p:cNvSpPr txBox="1"/>
          <p:nvPr/>
        </p:nvSpPr>
        <p:spPr>
          <a:xfrm>
            <a:off x="8569757" y="5257800"/>
            <a:ext cx="3164738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Невизначеність велика: з імовірністю 70% інфляція наприкінці 2027 — від 3,4 до 10,5%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5855" y="6473952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6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12</a:t>
            </a:fld>
            <a:endParaRPr lang="en-US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11277295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600" b="1" dirty="0">
                <a:solidFill>
                  <a:schemeClr val="accent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Економіка слабка, але потенціал постраждав ще більше: розрив ≈1,2% зараз, ≈−0,2% у 2027 (НБУ: 1,4%)</a:t>
            </a:r>
            <a:endParaRPr lang="en-US" sz="2600" dirty="0"/>
          </a:p>
        </p:txBody>
      </p:sp>
      <p:sp>
        <p:nvSpPr>
          <p:cNvPr id="4" name="sources"/>
          <p:cNvSpPr txBox="1"/>
          <p:nvPr/>
        </p:nvSpPr>
        <p:spPr>
          <a:xfrm>
            <a:off x="4937760" y="6455664"/>
            <a:ext cx="611093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F6B6D"/>
                </a:solidFill>
              </a:rPr>
              <a:t>Джерела: </a:t>
            </a:r>
            <a:pPr indent="0" marL="0">
              <a:buNone/>
            </a:pPr>
            <a:r>
              <a:rPr lang="en-US" sz="900" u="sng" dirty="0">
                <a:solidFill>
                  <a:srgbClr val="5F6B6D"/>
                </a:solidFill>
                <a:hlinkClick r:id="rId1" invalidUrl="" action="" tgtFrame="" tooltip="https://bank.gov.ua/admin_uploads/article/Tables_Charts_2026-Q3.xlsx?v=19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дані графіків ІЗ</a:t>
            </a:r>
            <a:pPr indent="0" marL="0">
              <a:buNone/>
            </a:pPr>
            <a:r>
              <a:rPr lang="en-US" sz="900" dirty="0">
                <a:solidFill>
                  <a:srgbClr val="5F6B6D"/>
                </a:solidFill>
              </a:rPr>
              <a:t> · </a:t>
            </a:r>
            <a:pPr indent="0" marL="0">
              <a:buNone/>
            </a:pPr>
            <a:r>
              <a:rPr lang="en-US" sz="900" u="sng" dirty="0">
                <a:solidFill>
                  <a:srgbClr val="5F6B6D"/>
                </a:solidFill>
                <a:hlinkClick r:id="rId2" invalidUrl="" action="" tgtFrame="" tooltip="https://bank.gov.ua/admin_uploads/article/Macroeconomic_Forecast_table_2026_07.xlsx?v=19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макропрогноз НБУ</a:t>
            </a:r>
            <a:pPr indent="0" marL="0">
              <a:buNone/>
            </a:pPr>
            <a:r>
              <a:rPr lang="en-US" sz="900" dirty="0">
                <a:solidFill>
                  <a:srgbClr val="5F6B6D"/>
                </a:solidFill>
              </a:rPr>
              <a:t> · </a:t>
            </a:r>
            <a:pPr indent="0" marL="0">
              <a:buNone/>
            </a:pPr>
            <a:r>
              <a:rPr lang="en-US" sz="900" u="sng" dirty="0">
                <a:solidFill>
                  <a:srgbClr val="5F6B6D"/>
                </a:solidFill>
                <a:hlinkClick r:id="rId3" invalidUrl="" action="" tgtFrame="" tooltip="https://interfax.com.ua/news/economic/1211092.html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Мінекономіки: прогноз ВВП</a:t>
            </a:r>
            <a:endParaRPr lang="en-US" sz="900" dirty="0"/>
          </a:p>
        </p:txBody>
      </p:sp>
      <p:pic>
        <p:nvPicPr>
          <p:cNvPr id="5" name="chart main" descr="C:\Users\Lenovo\Documents\GitHub\nbu-challenge-2026\results\figures\fc_gap_vs_nbu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57200" y="1325880"/>
            <a:ext cx="4971531" cy="2740914"/>
          </a:xfrm>
          <a:prstGeom prst="rect">
            <a:avLst/>
          </a:prstGeom>
        </p:spPr>
      </p:pic>
      <p:pic>
        <p:nvPicPr>
          <p:cNvPr id="6" name="chart side" descr="C:\Users\Lenovo\Documents\GitHub\nbu-challenge-2026\results\figures\fc_trends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57200" y="4203954"/>
            <a:ext cx="6241248" cy="2105406"/>
          </a:xfrm>
          <a:prstGeom prst="rect">
            <a:avLst/>
          </a:prstGeom>
        </p:spPr>
      </p:pic>
      <p:sp>
        <p:nvSpPr>
          <p:cNvPr id="7" name="bullets"/>
          <p:cNvSpPr txBox="1"/>
          <p:nvPr/>
        </p:nvSpPr>
        <p:spPr>
          <a:xfrm>
            <a:off x="7818120" y="1417320"/>
            <a:ext cx="3916375" cy="4892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chemeClr val="tx1"/>
                </a:solidFill>
              </a:rPr>
              <a:t>ВВП: 0,6% / 0,4% / 1,6% у 2026–2028 (НБУ: 1,8 / 2,8 / 3,0%)</a:t>
            </a:r>
            <a:endParaRPr lang="en-US" sz="140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chemeClr val="tx1"/>
                </a:solidFill>
              </a:rPr>
              <a:t>Мінекономіки теж погіршує прогноз: ≈0,5% у 2026, 0,8–1% у 2027</a:t>
            </a:r>
            <a:endParaRPr lang="en-US" sz="140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chemeClr val="tx1"/>
                </a:solidFill>
              </a:rPr>
              <a:t>Розрив додатний → послуги дорожчають; у 2027 висока реальна ставка охолоджує попит; бюджетного стимулу не закладаємо: дефіцит скорочується з 35 до 26% ВВП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5855" y="6473952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6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13</a:t>
            </a:fld>
            <a:endParaRPr lang="en-US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11277295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600" b="1" dirty="0">
                <a:solidFill>
                  <a:schemeClr val="accent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Сценарії: найнебезпечніший — дефіцит фінансування, а не зима чи нафта</a:t>
            </a:r>
            <a:endParaRPr lang="en-US" sz="2600" dirty="0"/>
          </a:p>
        </p:txBody>
      </p:sp>
      <p:sp>
        <p:nvSpPr>
          <p:cNvPr id="4" name="sources"/>
          <p:cNvSpPr txBox="1"/>
          <p:nvPr/>
        </p:nvSpPr>
        <p:spPr>
          <a:xfrm>
            <a:off x="4937760" y="6455664"/>
            <a:ext cx="611093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F6B6D"/>
                </a:solidFill>
              </a:rPr>
              <a:t>Джерела: </a:t>
            </a:r>
            <a:pPr indent="0" marL="0">
              <a:buNone/>
            </a:pPr>
            <a:r>
              <a:rPr lang="en-US" sz="900" u="sng" dirty="0">
                <a:solidFill>
                  <a:srgbClr val="5F6B6D"/>
                </a:solidFill>
                <a:hlinkClick r:id="rId1" invalidUrl="" action="" tgtFrame="" tooltip="https://bank.gov.ua/ua/news/all/pidsumki-diskusiyi-chleniv-komitetu-z-monetarnoyi-politiki-natsionalnogo-banku-schodo-rivnya-oblikovoyi-stavki-16-veresnya-2026-roku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підсумки дискусії КМП</a:t>
            </a:r>
            <a:pPr indent="0" marL="0">
              <a:buNone/>
            </a:pPr>
            <a:r>
              <a:rPr lang="en-US" sz="900" dirty="0">
                <a:solidFill>
                  <a:srgbClr val="5F6B6D"/>
                </a:solidFill>
              </a:rPr>
              <a:t> · </a:t>
            </a:r>
            <a:pPr indent="0" marL="0">
              <a:buNone/>
            </a:pPr>
            <a:r>
              <a:rPr lang="en-US" sz="900" u="sng" dirty="0">
                <a:solidFill>
                  <a:srgbClr val="5F6B6D"/>
                </a:solidFill>
                <a:hlinkClick r:id="rId2" invalidUrl="" action="" tgtFrame="" tooltip="https://finance.yahoo.com/quote/BZ%3DF/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ф'ючерси Brent</a:t>
            </a:r>
            <a:pPr indent="0" marL="0">
              <a:buNone/>
            </a:pPr>
            <a:r>
              <a:rPr lang="en-US" sz="900" dirty="0">
                <a:solidFill>
                  <a:srgbClr val="5F6B6D"/>
                </a:solidFill>
              </a:rPr>
              <a:t> · </a:t>
            </a:r>
            <a:pPr indent="0" marL="0">
              <a:buNone/>
            </a:pPr>
            <a:r>
              <a:rPr lang="en-US" sz="900" u="sng" dirty="0">
                <a:solidFill>
                  <a:srgbClr val="5F6B6D"/>
                </a:solidFill>
                <a:hlinkClick r:id="rId3" invalidUrl="" action="" tgtFrame="" tooltip="https://bank.gov.ua/admin_uploads/article/Macroeconomic_Forecast_table_2026_07.xlsx?v=19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макропрогноз НБУ</a:t>
            </a:r>
            <a:endParaRPr lang="en-US" sz="900" dirty="0"/>
          </a:p>
        </p:txBody>
      </p:sp>
      <p:pic>
        <p:nvPicPr>
          <p:cNvPr id="5" name="chart" descr="C:\Users\Lenovo\Documents\GitHub\nbu-challenge-2026\results\figures\ml_scenarios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736038" y="1280160"/>
            <a:ext cx="8719619" cy="2606040"/>
          </a:xfrm>
          <a:prstGeom prst="rect">
            <a:avLst/>
          </a:prstGeom>
        </p:spPr>
      </p:pic>
      <p:graphicFrame>
        <p:nvGraphicFramePr>
          <p:cNvPr id="15" name="table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4069080"/>
          <a:ext cx="7040880" cy="914400"/>
        </p:xfrm>
        <a:graphic>
          <a:graphicData uri="http://schemas.openxmlformats.org/drawingml/2006/table">
            <a:tbl>
              <a:tblPr/>
              <a:tblGrid>
                <a:gridCol w="2651760"/>
                <a:gridCol w="877824"/>
                <a:gridCol w="877824"/>
                <a:gridCol w="877824"/>
                <a:gridCol w="877824"/>
                <a:gridCol w="877824"/>
              </a:tblGrid>
              <a:tr h="31089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chemeClr val="bg1"/>
                          </a:solidFill>
                        </a:rPr>
                        <a:t>Сценарій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3B43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chemeClr val="bg1"/>
                          </a:solidFill>
                        </a:rPr>
                        <a:t>ІСЦ пік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3B43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chemeClr val="bg1"/>
                          </a:solidFill>
                        </a:rPr>
                        <a:t>ІСЦ IV кв. 27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3B43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chemeClr val="bg1"/>
                          </a:solidFill>
                        </a:rPr>
                        <a:t>Ставка пік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3B43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chemeClr val="bg1"/>
                          </a:solidFill>
                        </a:rPr>
                        <a:t>грн/$ IV кв. 27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3B43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chemeClr val="bg1"/>
                          </a:solidFill>
                        </a:rPr>
                        <a:t>ВВП 2027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3B43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chemeClr val="tx1"/>
                          </a:solidFill>
                        </a:rPr>
                        <a:t>Базовий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11,3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6,9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17,0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44,0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0,4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chemeClr val="tx1"/>
                          </a:solidFill>
                        </a:rPr>
                        <a:t>Важка зима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1E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12,7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1E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8,7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1E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17,8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1E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44,1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1E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−0,5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1EF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chemeClr val="tx1"/>
                          </a:solidFill>
                        </a:rPr>
                        <a:t>Дефіцит фінансування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13,3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10,7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19,3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46,8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0,1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chemeClr val="tx1"/>
                          </a:solidFill>
                        </a:rPr>
                        <a:t>Сприятливий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1E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10,5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1E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5,7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1E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17,0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1E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43,5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1E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1,2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1EF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chemeClr val="tx1"/>
                          </a:solidFill>
                        </a:rPr>
                        <a:t>Нафта $120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11,7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6,9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17,1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44,0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0,4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7" name="bullets"/>
          <p:cNvSpPr txBox="1"/>
          <p:nvPr/>
        </p:nvSpPr>
        <p:spPr>
          <a:xfrm>
            <a:off x="7818120" y="4114800"/>
            <a:ext cx="3916375" cy="2194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300" dirty="0">
                <a:solidFill>
                  <a:schemeClr val="tx1"/>
                </a:solidFill>
              </a:rPr>
              <a:t>Дефіцит фінансування: гривня на ≈6% слабша (≈47 грн/$) → інфляція до 13,3%, ставка до 19,3%</a:t>
            </a:r>
            <a:endParaRPr lang="en-US" sz="130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300" dirty="0">
                <a:solidFill>
                  <a:schemeClr val="tx1"/>
                </a:solidFill>
              </a:rPr>
              <a:t>Важка зима: інфляція до 12,7%, ставка до 17,8%, ВВП 2027 — −0,5%</a:t>
            </a:r>
            <a:endParaRPr lang="en-US" sz="130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300" dirty="0">
                <a:solidFill>
                  <a:schemeClr val="tx1"/>
                </a:solidFill>
              </a:rPr>
              <a:t>Нафта $120: +0,4 в. п. до піку інфляції, ставка майже не змінюється</a:t>
            </a:r>
            <a:endParaRPr lang="en-US" sz="130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300" dirty="0">
                <a:solidFill>
                  <a:schemeClr val="tx1"/>
                </a:solidFill>
              </a:rPr>
              <a:t>Ще три ризики (додаток): курс, як чекає ринок → ІСЦ IV кв. 2027 ≈13%; розбалансування очікувань → ≈9%; ПДВ 21% → +0,5 в. п.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5855" y="6473952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6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14</a:t>
            </a:fld>
            <a:endParaRPr lang="en-US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731520" y="2377440"/>
            <a:ext cx="1069848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000" b="1" dirty="0">
                <a:solidFill>
                  <a:schemeClr val="bg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Рекомендації для Правління НБУ</a:t>
            </a:r>
            <a:endParaRPr lang="en-US" sz="4000" dirty="0"/>
          </a:p>
        </p:txBody>
      </p:sp>
      <p:sp>
        <p:nvSpPr>
          <p:cNvPr id="3" name="Text 1"/>
          <p:cNvSpPr txBox="1"/>
          <p:nvPr/>
        </p:nvSpPr>
        <p:spPr>
          <a:xfrm>
            <a:off x="731520" y="1280160"/>
            <a:ext cx="274320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000" b="1" dirty="0">
                <a:solidFill>
                  <a:srgbClr val="C98A0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03</a:t>
            </a:r>
            <a:endParaRPr lang="en-US" sz="6000" dirty="0"/>
          </a:p>
        </p:txBody>
      </p:sp>
      <p:sp>
        <p:nvSpPr>
          <p:cNvPr id="4" name="Text 2"/>
          <p:cNvSpPr txBox="1"/>
          <p:nvPr/>
        </p:nvSpPr>
        <p:spPr>
          <a:xfrm>
            <a:off x="731520" y="3749040"/>
            <a:ext cx="10698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CFE3DE"/>
                </a:solidFill>
              </a:rPr>
              <a:t>Процентна політика, курс і валютні обмеження — як єдиний пакет</a:t>
            </a:r>
            <a:endParaRPr lang="en-US" sz="18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11277295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600" b="1" dirty="0">
                <a:solidFill>
                  <a:schemeClr val="accent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Рамка рішення: ціль 5% на горизонті до 3 років; у вересні КМП розділився</a:t>
            </a:r>
            <a:endParaRPr lang="en-US" sz="2600" dirty="0"/>
          </a:p>
        </p:txBody>
      </p:sp>
      <p:sp>
        <p:nvSpPr>
          <p:cNvPr id="4" name="sources"/>
          <p:cNvSpPr txBox="1"/>
          <p:nvPr/>
        </p:nvSpPr>
        <p:spPr>
          <a:xfrm>
            <a:off x="4937760" y="6455664"/>
            <a:ext cx="611093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F6B6D"/>
                </a:solidFill>
              </a:rPr>
              <a:t>Джерела: </a:t>
            </a:r>
            <a:pPr indent="0" marL="0">
              <a:buNone/>
            </a:pPr>
            <a:r>
              <a:rPr lang="en-US" sz="900" u="sng" dirty="0">
                <a:solidFill>
                  <a:srgbClr val="5F6B6D"/>
                </a:solidFill>
                <a:hlinkClick r:id="rId1" invalidUrl="" action="" tgtFrame="" tooltip="https://zakon.rada.gov.ua/laws/show/679-14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Закон «Про НБУ», ст. 6</a:t>
            </a:r>
            <a:pPr indent="0" marL="0">
              <a:buNone/>
            </a:pPr>
            <a:r>
              <a:rPr lang="en-US" sz="900" dirty="0">
                <a:solidFill>
                  <a:srgbClr val="5F6B6D"/>
                </a:solidFill>
              </a:rPr>
              <a:t> · </a:t>
            </a:r>
            <a:pPr indent="0" marL="0">
              <a:buNone/>
            </a:pPr>
            <a:r>
              <a:rPr lang="en-US" sz="900" u="sng" dirty="0">
                <a:solidFill>
                  <a:srgbClr val="5F6B6D"/>
                </a:solidFill>
                <a:hlinkClick r:id="rId2" invalidUrl="" action="" tgtFrame="" tooltip="https://p4.bank.gov.ua/admin_uploads/article/MPG_2024-mt_eng.pdf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Основні засади ГКП (2024)</a:t>
            </a:r>
            <a:pPr indent="0" marL="0">
              <a:buNone/>
            </a:pPr>
            <a:r>
              <a:rPr lang="en-US" sz="900" dirty="0">
                <a:solidFill>
                  <a:srgbClr val="5F6B6D"/>
                </a:solidFill>
              </a:rPr>
              <a:t> · </a:t>
            </a:r>
            <a:pPr indent="0" marL="0">
              <a:buNone/>
            </a:pPr>
            <a:r>
              <a:rPr lang="en-US" sz="900" u="sng" dirty="0">
                <a:solidFill>
                  <a:srgbClr val="5F6B6D"/>
                </a:solidFill>
                <a:hlinkClick r:id="rId3" invalidUrl="" action="" tgtFrame="" tooltip="https://bank.gov.ua/ua/news/all/pidsumki-diskusiyi-chleniv-komitetu-z-monetarnoyi-politiki-natsionalnogo-banku-schodo-rivnya-oblikovoyi-stavki-16-veresnya-2026-roku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підсумки дискусії КМП</a:t>
            </a:r>
            <a:pPr indent="0" marL="0">
              <a:buNone/>
            </a:pPr>
            <a:r>
              <a:rPr lang="en-US" sz="900" dirty="0">
                <a:solidFill>
                  <a:srgbClr val="5F6B6D"/>
                </a:solidFill>
              </a:rPr>
              <a:t> · </a:t>
            </a:r>
            <a:pPr indent="0" marL="0">
              <a:buNone/>
            </a:pPr>
            <a:r>
              <a:rPr lang="en-US" sz="900" u="sng" dirty="0">
                <a:solidFill>
                  <a:srgbClr val="5F6B6D"/>
                </a:solidFill>
                <a:hlinkClick r:id="rId4" invalidUrl="" action="" tgtFrame="" tooltip="https://bank.gov.ua/ua/news/all/nbu-informuye-pro-golovniy-printsip-viznachennya-obsyagiv-rozmischennya-trimisyachnih-depozitnih-sertifikativ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принцип обсягів 3-міс. ДС (НБУ)</a:t>
            </a:r>
            <a:endParaRPr lang="en-US" sz="900" dirty="0"/>
          </a:p>
        </p:txBody>
      </p:sp>
      <p:sp>
        <p:nvSpPr>
          <p:cNvPr id="5" name="press release"/>
          <p:cNvSpPr txBox="1"/>
          <p:nvPr/>
        </p:nvSpPr>
        <p:spPr>
          <a:xfrm>
            <a:off x="457200" y="4846320"/>
            <a:ext cx="11277295" cy="1463040"/>
          </a:xfrm>
          <a:prstGeom prst="rect">
            <a:avLst/>
          </a:prstGeom>
          <a:solidFill>
            <a:srgbClr val="FFFFFF"/>
          </a:solidFill>
          <a:ln w="15875">
            <a:solidFill>
              <a:srgbClr val="C98A00"/>
            </a:solidFill>
          </a:ln>
        </p:spPr>
        <p:txBody>
          <a:bodyPr wrap="square" lIns="76200" tIns="152400" rIns="152400" bIns="76200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chemeClr val="accent1"/>
                </a:solidFill>
              </a:rPr>
              <a:t>Наша відповідь на питання конкурсу: облікова ставка — 17% з утриманням до середини 2027 р.; депсертифікати — обмежити обсяги тендерів, щоб підвищення дійшло до депозитних ставок; офіційний курс — не заморожувати, лише згладжувати коливання; валютні обмеження — серпневий пакет зберегти, III етап — після відновлення резервів.</a:t>
            </a:r>
            <a:endParaRPr lang="en-US" sz="1400" dirty="0"/>
          </a:p>
        </p:txBody>
      </p:sp>
      <p:sp>
        <p:nvSpPr>
          <p:cNvPr id="6" name="card1"/>
          <p:cNvSpPr/>
          <p:nvPr/>
        </p:nvSpPr>
        <p:spPr>
          <a:xfrm>
            <a:off x="457200" y="1325880"/>
            <a:ext cx="3576218" cy="3246120"/>
          </a:xfrm>
          <a:prstGeom prst="roundRect">
            <a:avLst>
              <a:gd name="adj" fmla="val 2254"/>
            </a:avLst>
          </a:prstGeom>
          <a:solidFill>
            <a:srgbClr val="EAF1EF"/>
          </a:solidFill>
          <a:ln/>
        </p:spPr>
      </p:sp>
      <p:sp>
        <p:nvSpPr>
          <p:cNvPr id="7" name="badge1"/>
          <p:cNvSpPr/>
          <p:nvPr/>
        </p:nvSpPr>
        <p:spPr>
          <a:xfrm>
            <a:off x="685800" y="1554480"/>
            <a:ext cx="457200" cy="457200"/>
          </a:xfrm>
          <a:prstGeom prst="ellipse">
            <a:avLst/>
          </a:prstGeom>
          <a:solidFill>
            <a:srgbClr val="C98A00"/>
          </a:solidFill>
          <a:ln/>
        </p:spPr>
      </p:sp>
      <p:sp>
        <p:nvSpPr>
          <p:cNvPr id="8" name="Text 5"/>
          <p:cNvSpPr txBox="1"/>
          <p:nvPr/>
        </p:nvSpPr>
        <p:spPr>
          <a:xfrm>
            <a:off x="685800" y="155448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chemeClr val="bg1"/>
                </a:solidFill>
              </a:rPr>
              <a:t>1</a:t>
            </a:r>
            <a:endParaRPr lang="en-US" sz="1800" dirty="0"/>
          </a:p>
        </p:txBody>
      </p:sp>
      <p:sp>
        <p:nvSpPr>
          <p:cNvPr id="9" name="Text 6"/>
          <p:cNvSpPr txBox="1"/>
          <p:nvPr/>
        </p:nvSpPr>
        <p:spPr>
          <a:xfrm>
            <a:off x="1280160" y="1554480"/>
            <a:ext cx="257037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chemeClr val="accent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Мета і режим</a:t>
            </a:r>
            <a:endParaRPr lang="en-US" sz="1700" dirty="0"/>
          </a:p>
        </p:txBody>
      </p:sp>
      <p:sp>
        <p:nvSpPr>
          <p:cNvPr id="10" name="bullets"/>
          <p:cNvSpPr txBox="1"/>
          <p:nvPr/>
        </p:nvSpPr>
        <p:spPr>
          <a:xfrm>
            <a:off x="731520" y="2240280"/>
            <a:ext cx="3073298" cy="2148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chemeClr val="tx1"/>
                </a:solidFill>
              </a:rPr>
              <a:t>Мета — цінова стабільність; також сприяння фінстабільності й зростанню</a:t>
            </a:r>
            <a:endParaRPr lang="en-US" sz="140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chemeClr val="tx1"/>
                </a:solidFill>
              </a:rPr>
              <a:t>Ціль — 5% «на належному горизонті політики (до 3-х років)»</a:t>
            </a:r>
            <a:endParaRPr lang="en-US" sz="140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chemeClr val="tx1"/>
                </a:solidFill>
              </a:rPr>
              <a:t>Гнучке ІТ з керованою гнучкістю курсу</a:t>
            </a:r>
            <a:endParaRPr lang="en-US" sz="1400" dirty="0"/>
          </a:p>
        </p:txBody>
      </p:sp>
      <p:sp>
        <p:nvSpPr>
          <p:cNvPr id="11" name="card2"/>
          <p:cNvSpPr/>
          <p:nvPr/>
        </p:nvSpPr>
        <p:spPr>
          <a:xfrm>
            <a:off x="4307738" y="1325880"/>
            <a:ext cx="3576218" cy="3246120"/>
          </a:xfrm>
          <a:prstGeom prst="roundRect">
            <a:avLst>
              <a:gd name="adj" fmla="val 2254"/>
            </a:avLst>
          </a:prstGeom>
          <a:solidFill>
            <a:srgbClr val="EAF1EF"/>
          </a:solidFill>
          <a:ln/>
        </p:spPr>
      </p:sp>
      <p:sp>
        <p:nvSpPr>
          <p:cNvPr id="12" name="badge2"/>
          <p:cNvSpPr/>
          <p:nvPr/>
        </p:nvSpPr>
        <p:spPr>
          <a:xfrm>
            <a:off x="4536338" y="1554480"/>
            <a:ext cx="457200" cy="457200"/>
          </a:xfrm>
          <a:prstGeom prst="ellipse">
            <a:avLst/>
          </a:prstGeom>
          <a:solidFill>
            <a:srgbClr val="C98A00"/>
          </a:solidFill>
          <a:ln/>
        </p:spPr>
      </p:sp>
      <p:sp>
        <p:nvSpPr>
          <p:cNvPr id="13" name="Text 10"/>
          <p:cNvSpPr txBox="1"/>
          <p:nvPr/>
        </p:nvSpPr>
        <p:spPr>
          <a:xfrm>
            <a:off x="4536338" y="155448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chemeClr val="bg1"/>
                </a:solidFill>
              </a:rPr>
              <a:t>2</a:t>
            </a:r>
            <a:endParaRPr lang="en-US" sz="1800" dirty="0"/>
          </a:p>
        </p:txBody>
      </p:sp>
      <p:sp>
        <p:nvSpPr>
          <p:cNvPr id="14" name="Text 11"/>
          <p:cNvSpPr txBox="1"/>
          <p:nvPr/>
        </p:nvSpPr>
        <p:spPr>
          <a:xfrm>
            <a:off x="5130698" y="1554480"/>
            <a:ext cx="257037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chemeClr val="accent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Інструменти</a:t>
            </a:r>
            <a:endParaRPr lang="en-US" sz="1700" dirty="0"/>
          </a:p>
        </p:txBody>
      </p:sp>
      <p:sp>
        <p:nvSpPr>
          <p:cNvPr id="15" name="bullets"/>
          <p:cNvSpPr txBox="1"/>
          <p:nvPr/>
        </p:nvSpPr>
        <p:spPr>
          <a:xfrm>
            <a:off x="4582058" y="2240280"/>
            <a:ext cx="3073298" cy="2148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chemeClr val="tx1"/>
                </a:solidFill>
              </a:rPr>
              <a:t>Облікова ставка; 3-міс. депсертифікати — з 07.08 через тендери</a:t>
            </a:r>
            <a:endParaRPr lang="en-US" sz="140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chemeClr val="tx1"/>
                </a:solidFill>
              </a:rPr>
              <a:t>Обсяги ДС залежать від ліміту банків, прив'язаного до строкових депозитів</a:t>
            </a:r>
            <a:endParaRPr lang="en-US" sz="140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chemeClr val="tx1"/>
                </a:solidFill>
              </a:rPr>
              <a:t>Інтервенції згладжують курс; обмеження — за Стратегією 2023</a:t>
            </a:r>
            <a:endParaRPr lang="en-US" sz="1400" dirty="0"/>
          </a:p>
        </p:txBody>
      </p:sp>
      <p:sp>
        <p:nvSpPr>
          <p:cNvPr id="16" name="card3"/>
          <p:cNvSpPr/>
          <p:nvPr/>
        </p:nvSpPr>
        <p:spPr>
          <a:xfrm>
            <a:off x="8158277" y="1325880"/>
            <a:ext cx="3576218" cy="3246120"/>
          </a:xfrm>
          <a:prstGeom prst="roundRect">
            <a:avLst>
              <a:gd name="adj" fmla="val 2254"/>
            </a:avLst>
          </a:prstGeom>
          <a:solidFill>
            <a:srgbClr val="EAF1EF"/>
          </a:solidFill>
          <a:ln/>
        </p:spPr>
      </p:sp>
      <p:sp>
        <p:nvSpPr>
          <p:cNvPr id="17" name="badge3"/>
          <p:cNvSpPr/>
          <p:nvPr/>
        </p:nvSpPr>
        <p:spPr>
          <a:xfrm>
            <a:off x="8386877" y="1554480"/>
            <a:ext cx="457200" cy="457200"/>
          </a:xfrm>
          <a:prstGeom prst="ellipse">
            <a:avLst/>
          </a:prstGeom>
          <a:solidFill>
            <a:srgbClr val="C98A00"/>
          </a:solidFill>
          <a:ln/>
        </p:spPr>
      </p:sp>
      <p:sp>
        <p:nvSpPr>
          <p:cNvPr id="18" name="Text 15"/>
          <p:cNvSpPr txBox="1"/>
          <p:nvPr/>
        </p:nvSpPr>
        <p:spPr>
          <a:xfrm>
            <a:off x="8386877" y="155448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chemeClr val="bg1"/>
                </a:solidFill>
              </a:rPr>
              <a:t>3</a:t>
            </a:r>
            <a:endParaRPr lang="en-US" sz="1800" dirty="0"/>
          </a:p>
        </p:txBody>
      </p:sp>
      <p:sp>
        <p:nvSpPr>
          <p:cNvPr id="19" name="Text 16"/>
          <p:cNvSpPr txBox="1"/>
          <p:nvPr/>
        </p:nvSpPr>
        <p:spPr>
          <a:xfrm>
            <a:off x="8981237" y="1554480"/>
            <a:ext cx="257037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chemeClr val="accent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КМП у вересні</a:t>
            </a:r>
            <a:endParaRPr lang="en-US" sz="1700" dirty="0"/>
          </a:p>
        </p:txBody>
      </p:sp>
      <p:sp>
        <p:nvSpPr>
          <p:cNvPr id="20" name="bullets"/>
          <p:cNvSpPr txBox="1"/>
          <p:nvPr/>
        </p:nvSpPr>
        <p:spPr>
          <a:xfrm>
            <a:off x="8432597" y="2240280"/>
            <a:ext cx="3073298" cy="2148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chemeClr val="tx1"/>
                </a:solidFill>
              </a:rPr>
              <a:t>Рішення +0,5 в. п. до 16%; троє — за 15,5%</a:t>
            </a:r>
            <a:endParaRPr lang="en-US" sz="140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chemeClr val="tx1"/>
                </a:solidFill>
              </a:rPr>
              <a:t>Далі: 7 — тримати 16%, 2 — ще одне підвищення, 1 — знижувати</a:t>
            </a:r>
            <a:endParaRPr lang="en-US" sz="140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chemeClr val="tx1"/>
                </a:solidFill>
              </a:rPr>
              <a:t>Вересневий ІСЦ 10,0% — вище прогнозу НБУ: ми — за +1 в. п.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5855" y="6473952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6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16</a:t>
            </a:fld>
            <a:endParaRPr lang="en-US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11277295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600" b="1" dirty="0">
                <a:solidFill>
                  <a:schemeClr val="accent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Варіанти рішення: мінімум втрат — 16,5–17,5% залежно від ваг; крок обираємо за ризиками</a:t>
            </a:r>
            <a:endParaRPr lang="en-US" sz="2600" dirty="0"/>
          </a:p>
        </p:txBody>
      </p:sp>
      <p:sp>
        <p:nvSpPr>
          <p:cNvPr id="4" name="sources"/>
          <p:cNvSpPr txBox="1"/>
          <p:nvPr/>
        </p:nvSpPr>
        <p:spPr>
          <a:xfrm>
            <a:off x="4937760" y="6455664"/>
            <a:ext cx="611093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F6B6D"/>
                </a:solidFill>
              </a:rPr>
              <a:t>Джерела: </a:t>
            </a:r>
            <a:pPr indent="0" marL="0">
              <a:buNone/>
            </a:pPr>
            <a:r>
              <a:rPr lang="en-US" sz="900" u="sng" dirty="0">
                <a:solidFill>
                  <a:srgbClr val="5F6B6D"/>
                </a:solidFill>
                <a:hlinkClick r:id="rId1" invalidUrl="" action="" tgtFrame="" tooltip="https://p4.bank.gov.ua/admin_uploads/article/MPG_2024-mt_eng.pdf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Основні засади ГКП (2024)</a:t>
            </a:r>
            <a:endParaRPr lang="en-US" sz="900" dirty="0"/>
          </a:p>
        </p:txBody>
      </p:sp>
      <p:pic>
        <p:nvPicPr>
          <p:cNvPr id="5" name="chart" descr="C:\Users\Lenovo\Documents\GitHub\nbu-challenge-2026\results\figures\fc_policy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769601" y="1280160"/>
            <a:ext cx="8652494" cy="2606040"/>
          </a:xfrm>
          <a:prstGeom prst="rect">
            <a:avLst/>
          </a:prstGeom>
        </p:spPr>
      </p:pic>
      <p:graphicFrame>
        <p:nvGraphicFramePr>
          <p:cNvPr id="18" name="table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4069080"/>
          <a:ext cx="7040880" cy="914400"/>
        </p:xfrm>
        <a:graphic>
          <a:graphicData uri="http://schemas.openxmlformats.org/drawingml/2006/table">
            <a:tbl>
              <a:tblPr/>
              <a:tblGrid>
                <a:gridCol w="2651760"/>
                <a:gridCol w="877824"/>
                <a:gridCol w="877824"/>
                <a:gridCol w="877824"/>
                <a:gridCol w="877824"/>
                <a:gridCol w="877824"/>
              </a:tblGrid>
              <a:tr h="31089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chemeClr val="bg1"/>
                          </a:solidFill>
                        </a:rPr>
                        <a:t>Рішення (до середини 2027)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3B43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chemeClr val="bg1"/>
                          </a:solidFill>
                        </a:rPr>
                        <a:t>Ставка IV кв. 26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3B43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chemeClr val="bg1"/>
                          </a:solidFill>
                        </a:rPr>
                        <a:t>Ставка IV кв. 27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3B43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chemeClr val="bg1"/>
                          </a:solidFill>
                        </a:rPr>
                        <a:t>ІСЦ IV кв. 27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3B43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chemeClr val="bg1"/>
                          </a:solidFill>
                        </a:rPr>
                        <a:t>ВВП 2027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3B43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chemeClr val="bg1"/>
                          </a:solidFill>
                        </a:rPr>
                        <a:t>Втрати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3B43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chemeClr val="tx1"/>
                          </a:solidFill>
                        </a:rPr>
                        <a:t>Утримати 16%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16,0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14,6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7,4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0,7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108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chemeClr val="tx1"/>
                          </a:solidFill>
                        </a:rPr>
                        <a:t>Підвищити до 16,5%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1E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16,5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1E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14,5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1E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7,1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1E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0,5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1E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107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1EF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chemeClr val="tx1"/>
                          </a:solidFill>
                        </a:rPr>
                        <a:t>Підвищити до 17% ★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17,0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14,4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6,9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0,4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107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chemeClr val="tx1"/>
                          </a:solidFill>
                        </a:rPr>
                        <a:t>Підвищити до 17,5%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1E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17,5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1E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14,3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1E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6,6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1E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0,2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1E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108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1EF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chemeClr val="tx1"/>
                          </a:solidFill>
                        </a:rPr>
                        <a:t>Оптимальна (мін. втрат)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16,8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14,4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6,9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0,4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106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7" name="bullets"/>
          <p:cNvSpPr txBox="1"/>
          <p:nvPr/>
        </p:nvSpPr>
        <p:spPr>
          <a:xfrm>
            <a:off x="7818120" y="4114800"/>
            <a:ext cx="3916375" cy="2194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300" dirty="0">
                <a:solidFill>
                  <a:schemeClr val="tx1"/>
                </a:solidFill>
              </a:rPr>
              <a:t>Втрати: відхилення інфляції від 5%, розрив ВВП, різкі зміни ставки; адмінціни — з вагою 50% (вони ростуть щороку, але це перший раунд) — той самий принцип для рішення й усієї траєкторії</a:t>
            </a:r>
            <a:endParaRPr lang="en-US" sz="130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300" dirty="0">
                <a:solidFill>
                  <a:schemeClr val="tx1"/>
                </a:solidFill>
              </a:rPr>
              <a:t>Оптимальна траєкторія починається з 16,8% (16,3–17,3% залежно від згладжування); різниця втрат між 16,5 і 17,5% — у межах похибки</a:t>
            </a:r>
            <a:endParaRPr lang="en-US" sz="130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300" dirty="0">
                <a:solidFill>
                  <a:schemeClr val="tx1"/>
                </a:solidFill>
              </a:rPr>
              <a:t>+1 в. п. — судження через ризики для курсу й очікувань: якщо гривня слабшатиме, як чекає ринок (≈5% на рік до долара), ІСЦ IV кв. 2027 — ≈13% замість 6,9%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5855" y="6473952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6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17</a:t>
            </a:fld>
            <a:endParaRPr lang="en-US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11277295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600" b="1" dirty="0">
                <a:solidFill>
                  <a:schemeClr val="accent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Облікова ставка: підвищити до 17% і утримувати до середини 2027</a:t>
            </a:r>
            <a:endParaRPr lang="en-US" sz="2600" dirty="0"/>
          </a:p>
        </p:txBody>
      </p:sp>
      <p:sp>
        <p:nvSpPr>
          <p:cNvPr id="4" name="sources"/>
          <p:cNvSpPr txBox="1"/>
          <p:nvPr/>
        </p:nvSpPr>
        <p:spPr>
          <a:xfrm>
            <a:off x="4937760" y="6455664"/>
            <a:ext cx="611093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F6B6D"/>
                </a:solidFill>
              </a:rPr>
              <a:t>Джерела: </a:t>
            </a:r>
            <a:pPr indent="0" marL="0">
              <a:buNone/>
            </a:pPr>
            <a:r>
              <a:rPr lang="en-US" sz="900" u="sng" dirty="0">
                <a:solidFill>
                  <a:srgbClr val="5F6B6D"/>
                </a:solidFill>
                <a:hlinkClick r:id="rId1" invalidUrl="" action="" tgtFrame="" tooltip="https://bank.gov.ua/ua/news/all/natsionalniy-bank-ukrayini-pidvischiv-oblikovu-stavku-do-16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рішення НБУ 17.09.2026</a:t>
            </a:r>
            <a:pPr indent="0" marL="0">
              <a:buNone/>
            </a:pPr>
            <a:r>
              <a:rPr lang="en-US" sz="900" dirty="0">
                <a:solidFill>
                  <a:srgbClr val="5F6B6D"/>
                </a:solidFill>
              </a:rPr>
              <a:t> · </a:t>
            </a:r>
            <a:pPr indent="0" marL="0">
              <a:buNone/>
            </a:pPr>
            <a:r>
              <a:rPr lang="en-US" sz="900" u="sng" dirty="0">
                <a:solidFill>
                  <a:srgbClr val="5F6B6D"/>
                </a:solidFill>
                <a:hlinkClick r:id="rId2" invalidUrl="" action="" tgtFrame="" tooltip="https://bank.gov.ua/ua/news/all/pidsumki-diskusiyi-chleniv-komitetu-z-monetarnoyi-politiki-natsionalnogo-banku-schodo-rivnya-oblikovoyi-stavki-16-veresnya-2026-roku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підсумки дискусії КМП</a:t>
            </a:r>
            <a:endParaRPr lang="en-US" sz="900" dirty="0"/>
          </a:p>
        </p:txBody>
      </p:sp>
      <p:sp>
        <p:nvSpPr>
          <p:cNvPr id="5" name="decision"/>
          <p:cNvSpPr/>
          <p:nvPr/>
        </p:nvSpPr>
        <p:spPr>
          <a:xfrm>
            <a:off x="457200" y="1325880"/>
            <a:ext cx="3108960" cy="4983480"/>
          </a:xfrm>
          <a:prstGeom prst="roundRect">
            <a:avLst>
              <a:gd name="adj" fmla="val 2941"/>
            </a:avLst>
          </a:prstGeom>
          <a:solidFill>
            <a:srgbClr val="0E3B43"/>
          </a:solidFill>
          <a:ln/>
        </p:spPr>
      </p:sp>
      <p:sp>
        <p:nvSpPr>
          <p:cNvPr id="6" name="Text 3"/>
          <p:cNvSpPr txBox="1"/>
          <p:nvPr/>
        </p:nvSpPr>
        <p:spPr>
          <a:xfrm>
            <a:off x="731520" y="1691640"/>
            <a:ext cx="25603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100" kern="0" dirty="0">
                <a:solidFill>
                  <a:srgbClr val="CFE3DE"/>
                </a:solidFill>
              </a:rPr>
              <a:t>ОБЛІКОВА СТАВКА</a:t>
            </a:r>
            <a:endParaRPr lang="en-US" sz="1300" dirty="0"/>
          </a:p>
        </p:txBody>
      </p:sp>
      <p:sp>
        <p:nvSpPr>
          <p:cNvPr id="7" name="Text 4"/>
          <p:cNvSpPr txBox="1"/>
          <p:nvPr/>
        </p:nvSpPr>
        <p:spPr>
          <a:xfrm>
            <a:off x="731520" y="2148840"/>
            <a:ext cx="256032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600" b="1" dirty="0">
                <a:solidFill>
                  <a:srgbClr val="C98A0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17%</a:t>
            </a:r>
            <a:endParaRPr lang="en-US" sz="6600" dirty="0"/>
          </a:p>
        </p:txBody>
      </p:sp>
      <p:sp>
        <p:nvSpPr>
          <p:cNvPr id="8" name="Text 5"/>
          <p:cNvSpPr txBox="1"/>
          <p:nvPr/>
        </p:nvSpPr>
        <p:spPr>
          <a:xfrm>
            <a:off x="731520" y="3474720"/>
            <a:ext cx="25603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chemeClr val="bg1"/>
                </a:solidFill>
              </a:rPr>
              <a:t>+1,0 в. п. з 30.10.2026</a:t>
            </a:r>
            <a:endParaRPr lang="en-US" sz="1600" dirty="0"/>
          </a:p>
        </p:txBody>
      </p:sp>
      <p:sp>
        <p:nvSpPr>
          <p:cNvPr id="9" name="Text 6"/>
          <p:cNvSpPr txBox="1"/>
          <p:nvPr/>
        </p:nvSpPr>
        <p:spPr>
          <a:xfrm>
            <a:off x="3931920" y="1325880"/>
            <a:ext cx="7802575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accent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Чому підвищити</a:t>
            </a:r>
            <a:endParaRPr lang="en-US" sz="1600" dirty="0"/>
          </a:p>
        </p:txBody>
      </p:sp>
      <p:sp>
        <p:nvSpPr>
          <p:cNvPr id="10" name="bullets"/>
          <p:cNvSpPr txBox="1"/>
          <p:nvPr/>
        </p:nvSpPr>
        <p:spPr>
          <a:xfrm>
            <a:off x="3931920" y="1709928"/>
            <a:ext cx="7802575" cy="12313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chemeClr val="tx1"/>
                </a:solidFill>
              </a:rPr>
              <a:t>Вересень — 10,0%, значно вище прогнозу НБУ; у грудні — ≈12%; ризики зміщені вгору</a:t>
            </a:r>
            <a:endParaRPr lang="en-US" sz="140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chemeClr val="tx1"/>
                </a:solidFill>
              </a:rPr>
              <a:t>Базова інфляція наприкінці 2027 — 5,7% (НБУ: 5,1%): ринок праці перегрітий</a:t>
            </a:r>
            <a:endParaRPr lang="en-US" sz="140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chemeClr val="tx1"/>
                </a:solidFill>
              </a:rPr>
              <a:t>Курс і очікування: якщо гривня слабшатиме, як чекає ринок, інфляція IV кв. 2027 — ≈13%</a:t>
            </a:r>
            <a:endParaRPr lang="en-US" sz="140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chemeClr val="tx1"/>
                </a:solidFill>
              </a:rPr>
              <a:t>Щоб підвищення дійшло до депозитів — обмежити обсяги тендерів 3-міс. ДС</a:t>
            </a:r>
            <a:endParaRPr lang="en-US" sz="1400" dirty="0"/>
          </a:p>
        </p:txBody>
      </p:sp>
      <p:sp>
        <p:nvSpPr>
          <p:cNvPr id="11" name="Text 8"/>
          <p:cNvSpPr txBox="1"/>
          <p:nvPr/>
        </p:nvSpPr>
        <p:spPr>
          <a:xfrm>
            <a:off x="3931920" y="2987040"/>
            <a:ext cx="7802575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accent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Чому 17, а не 16,5 чи 17,5</a:t>
            </a:r>
            <a:endParaRPr lang="en-US" sz="1600" dirty="0"/>
          </a:p>
        </p:txBody>
      </p:sp>
      <p:sp>
        <p:nvSpPr>
          <p:cNvPr id="12" name="bullets"/>
          <p:cNvSpPr txBox="1"/>
          <p:nvPr/>
        </p:nvSpPr>
        <p:spPr>
          <a:xfrm>
            <a:off x="3931920" y="3371088"/>
            <a:ext cx="7802575" cy="9418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chemeClr val="tx1"/>
                </a:solidFill>
              </a:rPr>
              <a:t>Оптимальна траєкторія моделі — ≈16,8% (адмінціни враховуємо на 50%); крок — судження</a:t>
            </a:r>
            <a:endParaRPr lang="en-US" sz="140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chemeClr val="tx1"/>
                </a:solidFill>
              </a:rPr>
              <a:t>16,5% — якби жовтневі дані показали сповільнення базової інфляції і стабільні очікування</a:t>
            </a:r>
            <a:endParaRPr lang="en-US" sz="140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chemeClr val="tx1"/>
                </a:solidFill>
              </a:rPr>
              <a:t>17,5% і вище — якщо тиск на курс почне розхитувати очікування; але ВВП слабкий</a:t>
            </a:r>
            <a:endParaRPr lang="en-US" sz="1400" dirty="0"/>
          </a:p>
        </p:txBody>
      </p:sp>
      <p:sp>
        <p:nvSpPr>
          <p:cNvPr id="13" name="Text 10"/>
          <p:cNvSpPr txBox="1"/>
          <p:nvPr/>
        </p:nvSpPr>
        <p:spPr>
          <a:xfrm>
            <a:off x="3931920" y="4358640"/>
            <a:ext cx="7802575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accent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Орієнтири (forward guidance)</a:t>
            </a:r>
            <a:endParaRPr lang="en-US" sz="1600" dirty="0"/>
          </a:p>
        </p:txBody>
      </p:sp>
      <p:sp>
        <p:nvSpPr>
          <p:cNvPr id="14" name="bullets"/>
          <p:cNvSpPr txBox="1"/>
          <p:nvPr/>
        </p:nvSpPr>
        <p:spPr>
          <a:xfrm>
            <a:off x="3931920" y="4742688"/>
            <a:ext cx="7802575" cy="15209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chemeClr val="tx1"/>
                </a:solidFill>
              </a:rPr>
              <a:t>Утримання 17% щонайменше до середини 2027; далі зниження до ≈14,5% наприкінці 2027 і ≈10,5% — 2028: інфляція ≈5% з II кв. 2028</a:t>
            </a:r>
            <a:endParaRPr lang="en-US" sz="140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chemeClr val="tx1"/>
                </a:solidFill>
              </a:rPr>
              <a:t>Подальше підвищення (до ≈19%) — якщо тиск на курс загрожує очікуванням (зростають девальваційні й інфляційні очікування)</a:t>
            </a:r>
            <a:endParaRPr lang="en-US" sz="140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chemeClr val="tx1"/>
                </a:solidFill>
              </a:rPr>
              <a:t>Швидше пом'якшення — якщо базова інфляція &lt; 7% і очікування знижуються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5855" y="6473952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6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18</a:t>
            </a:fld>
            <a:endParaRPr lang="en-US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11277295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600" b="1" dirty="0">
                <a:solidFill>
                  <a:schemeClr val="accent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Курс і резерви: без допомоги резерви наблизяться до 3 місяців імпорту</a:t>
            </a:r>
            <a:endParaRPr lang="en-US" sz="2600" dirty="0"/>
          </a:p>
        </p:txBody>
      </p:sp>
      <p:sp>
        <p:nvSpPr>
          <p:cNvPr id="4" name="sources"/>
          <p:cNvSpPr txBox="1"/>
          <p:nvPr/>
        </p:nvSpPr>
        <p:spPr>
          <a:xfrm>
            <a:off x="4937760" y="6455664"/>
            <a:ext cx="611093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F6B6D"/>
                </a:solidFill>
              </a:rPr>
              <a:t>Джерела: </a:t>
            </a:r>
            <a:pPr indent="0" marL="0">
              <a:buNone/>
            </a:pPr>
            <a:r>
              <a:rPr lang="en-US" sz="900" u="sng" dirty="0">
                <a:solidFill>
                  <a:srgbClr val="5F6B6D"/>
                </a:solidFill>
                <a:hlinkClick r:id="rId1" invalidUrl="" action="" tgtFrame="" tooltip="https://bank.gov.ua/ua/news/all/mijnarodni-rezervi-stanovili-471-mlrd-dol-ssha-za-pidsumkami-veresnya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НБУ: резерви у вересні (USL $3,81 млрд)</a:t>
            </a:r>
            <a:pPr indent="0" marL="0">
              <a:buNone/>
            </a:pPr>
            <a:r>
              <a:rPr lang="en-US" sz="900" dirty="0">
                <a:solidFill>
                  <a:srgbClr val="5F6B6D"/>
                </a:solidFill>
              </a:rPr>
              <a:t> · </a:t>
            </a:r>
            <a:pPr indent="0" marL="0">
              <a:buNone/>
            </a:pPr>
            <a:r>
              <a:rPr lang="en-US" sz="900" u="sng" dirty="0">
                <a:solidFill>
                  <a:srgbClr val="5F6B6D"/>
                </a:solidFill>
                <a:hlinkClick r:id="rId2" invalidUrl="" action="" tgtFrame="" tooltip="https://epravda.com.ua/finances/valyutniy-rinok-ukrajini-rezultati-troh-rokiv-rezhimu-kerovanoji-gnuchkosti-826509/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А. Пишний: три роки керованої гнучкості</a:t>
            </a:r>
            <a:pPr indent="0" marL="0">
              <a:buNone/>
            </a:pPr>
            <a:r>
              <a:rPr lang="en-US" sz="900" dirty="0">
                <a:solidFill>
                  <a:srgbClr val="5F6B6D"/>
                </a:solidFill>
              </a:rPr>
              <a:t> · </a:t>
            </a:r>
            <a:pPr indent="0" marL="0">
              <a:buNone/>
            </a:pPr>
            <a:r>
              <a:rPr lang="en-US" sz="900" u="sng" dirty="0">
                <a:solidFill>
                  <a:srgbClr val="5F6B6D"/>
                </a:solidFill>
                <a:hlinkClick r:id="rId3" invalidUrl="" action="" tgtFrame="" tooltip="https://bank.gov.ua/admin_uploads/article/Macroeconomic_Forecast_table_2026_07.xlsx?v=19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макропрогноз НБУ</a:t>
            </a:r>
            <a:endParaRPr lang="en-US" sz="900" dirty="0"/>
          </a:p>
        </p:txBody>
      </p:sp>
      <p:pic>
        <p:nvPicPr>
          <p:cNvPr id="5" name="chart" descr="C:\Users\Lenovo\Documents\GitHub\nbu-challenge-2026\results\figures\fc_reserves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57200" y="1325880"/>
            <a:ext cx="7040880" cy="4808281"/>
          </a:xfrm>
          <a:prstGeom prst="rect">
            <a:avLst/>
          </a:prstGeom>
        </p:spPr>
      </p:pic>
      <p:sp>
        <p:nvSpPr>
          <p:cNvPr id="6" name="bullets"/>
          <p:cNvSpPr txBox="1"/>
          <p:nvPr/>
        </p:nvSpPr>
        <p:spPr>
          <a:xfrm>
            <a:off x="7818120" y="1417320"/>
            <a:ext cx="3916375" cy="4892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chemeClr val="tx1"/>
                </a:solidFill>
              </a:rPr>
              <a:t>Продаж НБУ ≈$5,0 млрд/міс, надходження ≈$3,7 млрд/міс. НБУ (липень) чекав $69,7 млрд на кінець 2026 — для цього треба ≈$13 млрд/міс</a:t>
            </a:r>
            <a:endParaRPr lang="en-US" sz="140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chemeClr val="tx1"/>
                </a:solidFill>
              </a:rPr>
              <a:t>Наші сценарії на кінець 2026: $56 / 43 / 38 млрд = 5,0 / 3,8 / 3,4 міс. імпорту 2027 р.; центральний — $43 млрд, надолуження — якщо Рада ухвалить закони під допомогу</a:t>
            </a:r>
            <a:endParaRPr lang="en-US" sz="140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chemeClr val="tx1"/>
                </a:solidFill>
              </a:rPr>
              <a:t>Ринок чекає ≈47 грн/$ через рік (≈5% послаблення), модель — ≈1% на рік; якщо правий ринок, ІСЦ IV кв. 2027 — ≈13%</a:t>
            </a:r>
            <a:endParaRPr lang="en-US" sz="140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chemeClr val="tx1"/>
                </a:solidFill>
              </a:rPr>
              <a:t>Рекомендація: не заморожувати курс (≈44,7 грн/$ з червня); інтервенції — лише згладжувати. Резерви залежать від ритму допомоги (продаж валюти її «доносить»), тому захищає їх пауза в лібералізації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5855" y="6473952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6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19</a:t>
            </a:fld>
            <a:endParaRPr lang="en-US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11277295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600" b="1" dirty="0">
                <a:solidFill>
                  <a:schemeClr val="accent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Валютні обмеження: серпневий пакет зберегти, наступні кроки — на паузу</a:t>
            </a:r>
            <a:endParaRPr lang="en-US" sz="2600" dirty="0"/>
          </a:p>
        </p:txBody>
      </p:sp>
      <p:sp>
        <p:nvSpPr>
          <p:cNvPr id="4" name="sources"/>
          <p:cNvSpPr txBox="1"/>
          <p:nvPr/>
        </p:nvSpPr>
        <p:spPr>
          <a:xfrm>
            <a:off x="4937760" y="6455664"/>
            <a:ext cx="611093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F6B6D"/>
                </a:solidFill>
              </a:rPr>
              <a:t>Джерела: </a:t>
            </a:r>
            <a:pPr indent="0" marL="0">
              <a:buNone/>
            </a:pPr>
            <a:r>
              <a:rPr lang="en-US" sz="900" u="sng" dirty="0">
                <a:solidFill>
                  <a:srgbClr val="5F6B6D"/>
                </a:solidFill>
                <a:hlinkClick r:id="rId1" invalidUrl="" action="" tgtFrame="" tooltip="https://bank.gov.ua/ua/news/all/nbu-vprovadjuye-paket-pomyakshennya-valyutnih-obmejen-z-osnovnim-fokusom-na-pidtrimtsi-naselennya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пакет пом'якшення валютних обмежень</a:t>
            </a:r>
            <a:pPr indent="0" marL="0">
              <a:buNone/>
            </a:pPr>
            <a:r>
              <a:rPr lang="en-US" sz="900" dirty="0">
                <a:solidFill>
                  <a:srgbClr val="5F6B6D"/>
                </a:solidFill>
              </a:rPr>
              <a:t> · </a:t>
            </a:r>
            <a:pPr indent="0" marL="0">
              <a:buNone/>
            </a:pPr>
            <a:r>
              <a:rPr lang="en-US" sz="900" u="sng" dirty="0">
                <a:solidFill>
                  <a:srgbClr val="5F6B6D"/>
                </a:solidFill>
                <a:hlinkClick r:id="rId2" invalidUrl="" action="" tgtFrame="" tooltip="https://bank.gov.ua/admin_uploads/article/Strategy_for_easing_FX_restrictions_07-07-2023.pdf?v=19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Стратегія пом'якшення валютних обмежень</a:t>
            </a:r>
            <a:pPr indent="0" marL="0">
              <a:buNone/>
            </a:pPr>
            <a:r>
              <a:rPr lang="en-US" sz="900" dirty="0">
                <a:solidFill>
                  <a:srgbClr val="5F6B6D"/>
                </a:solidFill>
              </a:rPr>
              <a:t> · </a:t>
            </a:r>
            <a:pPr indent="0" marL="0">
              <a:buNone/>
            </a:pPr>
            <a:r>
              <a:rPr lang="en-US" sz="900" u="sng" dirty="0">
                <a:solidFill>
                  <a:srgbClr val="5F6B6D"/>
                </a:solidFill>
                <a:hlinkClick r:id="rId3" invalidUrl="" action="" tgtFrame="" tooltip="https://bank.gov.ua/ua/open-data/api-dev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API НБУ</a:t>
            </a:r>
            <a:endParaRPr lang="en-US" sz="900" dirty="0"/>
          </a:p>
        </p:txBody>
      </p:sp>
      <p:pic>
        <p:nvPicPr>
          <p:cNvPr id="5" name="chart" descr="C:\Users\Lenovo\Documents\GitHub\nbu-challenge-2026\results\figures\ov_fx_households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57200" y="1325880"/>
            <a:ext cx="6732760" cy="4983480"/>
          </a:xfrm>
          <a:prstGeom prst="rect">
            <a:avLst/>
          </a:prstGeom>
        </p:spPr>
      </p:pic>
      <p:sp>
        <p:nvSpPr>
          <p:cNvPr id="6" name="bullets"/>
          <p:cNvSpPr txBox="1"/>
          <p:nvPr/>
        </p:nvSpPr>
        <p:spPr>
          <a:xfrm>
            <a:off x="7818120" y="1417320"/>
            <a:ext cx="3916375" cy="4892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chemeClr val="tx1"/>
                </a:solidFill>
              </a:rPr>
              <a:t>Після підвищення ліміту (50 → 200 тис. грн/міс) купівля валюти населенням зросла з $0,39 до $0,58 млрд/міс (+49%) — керовано</a:t>
            </a:r>
            <a:endParaRPr lang="en-US" sz="140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chemeClr val="tx1"/>
                </a:solidFill>
              </a:rPr>
              <a:t>Стратегія НБУ: кроки — за передумовами (резерви, очікування, реальна ставка), а не за календарем</a:t>
            </a:r>
            <a:endParaRPr lang="en-US" sz="140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chemeClr val="tx1"/>
                </a:solidFill>
              </a:rPr>
              <a:t>Пауза для III етапу (капітальні операції, операції населення) до: резерви ≥ $50 млрд (≈4,5 міс. імпорту), ритмічна допомога, стабільні очікування</a:t>
            </a:r>
            <a:endParaRPr lang="en-US" sz="140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chemeClr val="tx1"/>
                </a:solidFill>
              </a:rPr>
              <a:t>Продовжити стимулюючу лібералізацію (нові інвестиції, «додатковий» ліміт) — вона залучає валюту</a:t>
            </a:r>
            <a:endParaRPr lang="en-US" sz="140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chemeClr val="tx1"/>
                </a:solidFill>
              </a:rPr>
              <a:t>Нові обмеження не запроваджувати: вони не замінюють макрокоригування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5855" y="6473952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6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20</a:t>
            </a:fld>
            <a:endParaRPr lang="en-US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31520" y="640080"/>
            <a:ext cx="106984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chemeClr val="bg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Підсумок</a:t>
            </a:r>
            <a:endParaRPr lang="en-US" sz="3600" dirty="0"/>
          </a:p>
        </p:txBody>
      </p:sp>
      <p:sp>
        <p:nvSpPr>
          <p:cNvPr id="3" name="n1"/>
          <p:cNvSpPr/>
          <p:nvPr/>
        </p:nvSpPr>
        <p:spPr>
          <a:xfrm>
            <a:off x="731520" y="1783080"/>
            <a:ext cx="566928" cy="566928"/>
          </a:xfrm>
          <a:prstGeom prst="ellipse">
            <a:avLst/>
          </a:prstGeom>
          <a:solidFill>
            <a:srgbClr val="C98A00"/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731520" y="1783080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0E3B43"/>
                </a:solidFill>
              </a:rPr>
              <a:t>1</a:t>
            </a:r>
            <a:endParaRPr lang="en-US" sz="2000" dirty="0"/>
          </a:p>
        </p:txBody>
      </p:sp>
      <p:sp>
        <p:nvSpPr>
          <p:cNvPr id="5" name="Text 3"/>
          <p:cNvSpPr txBox="1"/>
          <p:nvPr/>
        </p:nvSpPr>
        <p:spPr>
          <a:xfrm>
            <a:off x="1554480" y="1709928"/>
            <a:ext cx="98755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chemeClr val="bg1"/>
                </a:solidFill>
              </a:rPr>
              <a:t>Підвищити облікову ставку до 17% та утримувати щонайменше до середини 2027</a:t>
            </a:r>
            <a:endParaRPr lang="en-US" sz="2000" dirty="0"/>
          </a:p>
        </p:txBody>
      </p:sp>
      <p:sp>
        <p:nvSpPr>
          <p:cNvPr id="6" name="n2"/>
          <p:cNvSpPr/>
          <p:nvPr/>
        </p:nvSpPr>
        <p:spPr>
          <a:xfrm>
            <a:off x="731520" y="2834640"/>
            <a:ext cx="566928" cy="566928"/>
          </a:xfrm>
          <a:prstGeom prst="ellipse">
            <a:avLst/>
          </a:prstGeom>
          <a:solidFill>
            <a:srgbClr val="C98A00"/>
          </a:solidFill>
          <a:ln/>
        </p:spPr>
      </p:sp>
      <p:sp>
        <p:nvSpPr>
          <p:cNvPr id="7" name="Text 5"/>
          <p:cNvSpPr txBox="1"/>
          <p:nvPr/>
        </p:nvSpPr>
        <p:spPr>
          <a:xfrm>
            <a:off x="731520" y="2834640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0E3B43"/>
                </a:solidFill>
              </a:rPr>
              <a:t>2</a:t>
            </a:r>
            <a:endParaRPr lang="en-US" sz="2000" dirty="0"/>
          </a:p>
        </p:txBody>
      </p:sp>
      <p:sp>
        <p:nvSpPr>
          <p:cNvPr id="8" name="Text 6"/>
          <p:cNvSpPr txBox="1"/>
          <p:nvPr/>
        </p:nvSpPr>
        <p:spPr>
          <a:xfrm>
            <a:off x="1554480" y="2761488"/>
            <a:ext cx="98755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chemeClr val="bg1"/>
                </a:solidFill>
              </a:rPr>
              <a:t>Не заморожувати курс; обмежити обсяги тендерів депсертифікатів, щоб підвищення дійшло до депозитів</a:t>
            </a:r>
            <a:endParaRPr lang="en-US" sz="2000" dirty="0"/>
          </a:p>
        </p:txBody>
      </p:sp>
      <p:sp>
        <p:nvSpPr>
          <p:cNvPr id="9" name="n3"/>
          <p:cNvSpPr/>
          <p:nvPr/>
        </p:nvSpPr>
        <p:spPr>
          <a:xfrm>
            <a:off x="731520" y="3886200"/>
            <a:ext cx="566928" cy="566928"/>
          </a:xfrm>
          <a:prstGeom prst="ellipse">
            <a:avLst/>
          </a:prstGeom>
          <a:solidFill>
            <a:srgbClr val="C98A00"/>
          </a:solidFill>
          <a:ln/>
        </p:spPr>
      </p:sp>
      <p:sp>
        <p:nvSpPr>
          <p:cNvPr id="10" name="Text 8"/>
          <p:cNvSpPr txBox="1"/>
          <p:nvPr/>
        </p:nvSpPr>
        <p:spPr>
          <a:xfrm>
            <a:off x="731520" y="3886200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0E3B43"/>
                </a:solidFill>
              </a:rPr>
              <a:t>3</a:t>
            </a:r>
            <a:endParaRPr lang="en-US" sz="2000" dirty="0"/>
          </a:p>
        </p:txBody>
      </p:sp>
      <p:sp>
        <p:nvSpPr>
          <p:cNvPr id="11" name="Text 9"/>
          <p:cNvSpPr txBox="1"/>
          <p:nvPr/>
        </p:nvSpPr>
        <p:spPr>
          <a:xfrm>
            <a:off x="1554480" y="3813048"/>
            <a:ext cx="98755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chemeClr val="bg1"/>
                </a:solidFill>
              </a:rPr>
              <a:t>Пауза в лібералізації валютних обмежень до відновлення резервів і допомоги</a:t>
            </a:r>
            <a:endParaRPr lang="en-US" sz="2000" dirty="0"/>
          </a:p>
        </p:txBody>
      </p:sp>
      <p:sp>
        <p:nvSpPr>
          <p:cNvPr id="12" name="n4"/>
          <p:cNvSpPr/>
          <p:nvPr/>
        </p:nvSpPr>
        <p:spPr>
          <a:xfrm>
            <a:off x="731520" y="4937760"/>
            <a:ext cx="566928" cy="566928"/>
          </a:xfrm>
          <a:prstGeom prst="ellipse">
            <a:avLst/>
          </a:prstGeom>
          <a:solidFill>
            <a:srgbClr val="C98A00"/>
          </a:solidFill>
          <a:ln/>
        </p:spPr>
      </p:sp>
      <p:sp>
        <p:nvSpPr>
          <p:cNvPr id="13" name="Text 11"/>
          <p:cNvSpPr txBox="1"/>
          <p:nvPr/>
        </p:nvSpPr>
        <p:spPr>
          <a:xfrm>
            <a:off x="731520" y="4937760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0E3B43"/>
                </a:solidFill>
              </a:rPr>
              <a:t>4</a:t>
            </a:r>
            <a:endParaRPr lang="en-US" sz="2000" dirty="0"/>
          </a:p>
        </p:txBody>
      </p:sp>
      <p:sp>
        <p:nvSpPr>
          <p:cNvPr id="14" name="Text 12"/>
          <p:cNvSpPr txBox="1"/>
          <p:nvPr/>
        </p:nvSpPr>
        <p:spPr>
          <a:xfrm>
            <a:off x="1554480" y="4864608"/>
            <a:ext cx="98755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chemeClr val="bg1"/>
                </a:solidFill>
              </a:rPr>
              <a:t>Базовий прогноз: інфляція ≈12,1% у грудні 2026, 6,9% у IV кв. 2027, ≈5% — з II кв. 2028</a:t>
            </a:r>
            <a:endParaRPr lang="en-US" sz="2000" dirty="0"/>
          </a:p>
        </p:txBody>
      </p:sp>
      <p:sp>
        <p:nvSpPr>
          <p:cNvPr id="16" name="Text 0"/>
          <p:cNvSpPr/>
          <p:nvPr>
            <p:ph idx="100" type="title" hasCustomPrompt="1"/>
          </p:nvPr>
        </p:nvSpPr>
        <p:spPr>
          <a:xfrm>
            <a:off x="731520" y="2377440"/>
            <a:ext cx="1069848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endParaRPr lang="en-US" sz="4000" dirty="0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731520" y="2377440"/>
            <a:ext cx="1069848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000" b="1" dirty="0">
                <a:solidFill>
                  <a:schemeClr val="bg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Додатки</a:t>
            </a:r>
            <a:endParaRPr lang="en-US" sz="4000" dirty="0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11277295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600" b="1" dirty="0">
                <a:solidFill>
                  <a:schemeClr val="accent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Додаток 1. Платіжний баланс: імпорт у 2,6 раза більший за експорт — розрив покривають позики партнерів</a:t>
            </a:r>
            <a:endParaRPr lang="en-US" sz="2600" dirty="0"/>
          </a:p>
        </p:txBody>
      </p:sp>
      <p:sp>
        <p:nvSpPr>
          <p:cNvPr id="4" name="sources"/>
          <p:cNvSpPr txBox="1"/>
          <p:nvPr/>
        </p:nvSpPr>
        <p:spPr>
          <a:xfrm>
            <a:off x="4937760" y="6455664"/>
            <a:ext cx="611093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F6B6D"/>
                </a:solidFill>
              </a:rPr>
              <a:t>Джерела: </a:t>
            </a:r>
            <a:pPr indent="0" marL="0">
              <a:buNone/>
            </a:pPr>
            <a:r>
              <a:rPr lang="en-US" sz="900" u="sng" dirty="0">
                <a:solidFill>
                  <a:srgbClr val="5F6B6D"/>
                </a:solidFill>
                <a:hlinkClick r:id="rId1" invalidUrl="" action="" tgtFrame="" tooltip="https://bank.gov.ua/admin_uploads/article/Macroeconomic_Forecast_table_2026_07.xlsx?v=19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макропрогноз НБУ</a:t>
            </a:r>
            <a:pPr indent="0" marL="0">
              <a:buNone/>
            </a:pPr>
            <a:r>
              <a:rPr lang="en-US" sz="900" dirty="0">
                <a:solidFill>
                  <a:srgbClr val="5F6B6D"/>
                </a:solidFill>
              </a:rPr>
              <a:t> · </a:t>
            </a:r>
            <a:pPr indent="0" marL="0">
              <a:buNone/>
            </a:pPr>
            <a:r>
              <a:rPr lang="en-US" sz="900" u="sng" dirty="0">
                <a:solidFill>
                  <a:srgbClr val="5F6B6D"/>
                </a:solidFill>
                <a:hlinkClick r:id="rId2" invalidUrl="" action="" tgtFrame="" tooltip="https://bank.gov.ua/admin_uploads/article/Tables_Charts_2026-Q3.xlsx?v=19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дані графіків ІЗ</a:t>
            </a:r>
            <a:endParaRPr lang="en-US" sz="900" dirty="0"/>
          </a:p>
        </p:txBody>
      </p:sp>
      <p:pic>
        <p:nvPicPr>
          <p:cNvPr id="5" name="chart" descr="C:\Users\Lenovo\Documents\GitHub\nbu-challenge-2026\results\figures\ov_bop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200" y="1325880"/>
            <a:ext cx="11277295" cy="3384581"/>
          </a:xfrm>
          <a:prstGeom prst="rect">
            <a:avLst/>
          </a:prstGeom>
        </p:spPr>
      </p:pic>
      <p:sp>
        <p:nvSpPr>
          <p:cNvPr id="6" name="num1"/>
          <p:cNvSpPr/>
          <p:nvPr/>
        </p:nvSpPr>
        <p:spPr>
          <a:xfrm>
            <a:off x="457200" y="5276088"/>
            <a:ext cx="310896" cy="310896"/>
          </a:xfrm>
          <a:prstGeom prst="ellipse">
            <a:avLst/>
          </a:prstGeom>
          <a:solidFill>
            <a:srgbClr val="C98A00"/>
          </a:solidFill>
          <a:ln/>
        </p:spPr>
      </p:sp>
      <p:sp>
        <p:nvSpPr>
          <p:cNvPr id="7" name="Text 3"/>
          <p:cNvSpPr txBox="1"/>
          <p:nvPr/>
        </p:nvSpPr>
        <p:spPr>
          <a:xfrm>
            <a:off x="457200" y="5276088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bg1"/>
                </a:solidFill>
              </a:rPr>
              <a:t>1</a:t>
            </a:r>
            <a:endParaRPr lang="en-US" sz="1200" dirty="0"/>
          </a:p>
        </p:txBody>
      </p:sp>
      <p:sp>
        <p:nvSpPr>
          <p:cNvPr id="8" name="point1"/>
          <p:cNvSpPr txBox="1"/>
          <p:nvPr/>
        </p:nvSpPr>
        <p:spPr>
          <a:xfrm>
            <a:off x="868680" y="5257800"/>
            <a:ext cx="3164738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2026: експорт $56 млрд, імпорт $145 млрд — дефіцит $89 млрд; приватні перекази — лише $7,6 млрд</a:t>
            </a:r>
            <a:endParaRPr lang="en-US" sz="1300" dirty="0"/>
          </a:p>
        </p:txBody>
      </p:sp>
      <p:sp>
        <p:nvSpPr>
          <p:cNvPr id="9" name="num2"/>
          <p:cNvSpPr/>
          <p:nvPr/>
        </p:nvSpPr>
        <p:spPr>
          <a:xfrm>
            <a:off x="4307738" y="5276088"/>
            <a:ext cx="310896" cy="310896"/>
          </a:xfrm>
          <a:prstGeom prst="ellipse">
            <a:avLst/>
          </a:prstGeom>
          <a:solidFill>
            <a:srgbClr val="C98A00"/>
          </a:solidFill>
          <a:ln/>
        </p:spPr>
      </p:sp>
      <p:sp>
        <p:nvSpPr>
          <p:cNvPr id="10" name="Text 6"/>
          <p:cNvSpPr txBox="1"/>
          <p:nvPr/>
        </p:nvSpPr>
        <p:spPr>
          <a:xfrm>
            <a:off x="4307738" y="5276088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bg1"/>
                </a:solidFill>
              </a:rPr>
              <a:t>2</a:t>
            </a:r>
            <a:endParaRPr lang="en-US" sz="1200" dirty="0"/>
          </a:p>
        </p:txBody>
      </p:sp>
      <p:sp>
        <p:nvSpPr>
          <p:cNvPr id="11" name="point2"/>
          <p:cNvSpPr txBox="1"/>
          <p:nvPr/>
        </p:nvSpPr>
        <p:spPr>
          <a:xfrm>
            <a:off x="4719218" y="5257800"/>
            <a:ext cx="3164738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Поточний рахунок −$16 млрд фінансують партнери: ERA ($25,9 млрд у 2025), Ukraine Facility; у 2026 НБУ чекає ще $9,8 млрд позик</a:t>
            </a:r>
            <a:endParaRPr lang="en-US" sz="1300" dirty="0"/>
          </a:p>
        </p:txBody>
      </p:sp>
      <p:sp>
        <p:nvSpPr>
          <p:cNvPr id="12" name="num3"/>
          <p:cNvSpPr/>
          <p:nvPr/>
        </p:nvSpPr>
        <p:spPr>
          <a:xfrm>
            <a:off x="8158277" y="5276088"/>
            <a:ext cx="310896" cy="310896"/>
          </a:xfrm>
          <a:prstGeom prst="ellipse">
            <a:avLst/>
          </a:prstGeom>
          <a:solidFill>
            <a:srgbClr val="C98A00"/>
          </a:solidFill>
          <a:ln/>
        </p:spPr>
      </p:sp>
      <p:sp>
        <p:nvSpPr>
          <p:cNvPr id="13" name="Text 9"/>
          <p:cNvSpPr txBox="1"/>
          <p:nvPr/>
        </p:nvSpPr>
        <p:spPr>
          <a:xfrm>
            <a:off x="8158277" y="5276088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bg1"/>
                </a:solidFill>
              </a:rPr>
              <a:t>3</a:t>
            </a:r>
            <a:endParaRPr lang="en-US" sz="1200" dirty="0"/>
          </a:p>
        </p:txBody>
      </p:sp>
      <p:sp>
        <p:nvSpPr>
          <p:cNvPr id="14" name="point3"/>
          <p:cNvSpPr txBox="1"/>
          <p:nvPr/>
        </p:nvSpPr>
        <p:spPr>
          <a:xfrm>
            <a:off x="8569757" y="5257800"/>
            <a:ext cx="3164738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2028: офіційне фінансування $87 → $33 млрд, поточний рахунок −$45 млрд, широкий баланс −$24 млрд → резерви — буфер, лібералізація — поступово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5855" y="6473952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6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23</a:t>
            </a:fld>
            <a:endParaRPr lang="en-US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11277295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600" b="1" dirty="0">
                <a:solidFill>
                  <a:schemeClr val="accent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Додаток 2. Бюджет залежить від допомоги: $87 млрд у 2026, але надходження затримуються</a:t>
            </a:r>
            <a:endParaRPr lang="en-US" sz="2600" dirty="0"/>
          </a:p>
        </p:txBody>
      </p:sp>
      <p:sp>
        <p:nvSpPr>
          <p:cNvPr id="4" name="sources"/>
          <p:cNvSpPr txBox="1"/>
          <p:nvPr/>
        </p:nvSpPr>
        <p:spPr>
          <a:xfrm>
            <a:off x="4937760" y="6455664"/>
            <a:ext cx="611093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F6B6D"/>
                </a:solidFill>
              </a:rPr>
              <a:t>Джерела: </a:t>
            </a:r>
            <a:pPr indent="0" marL="0">
              <a:buNone/>
            </a:pPr>
            <a:r>
              <a:rPr lang="en-US" sz="900" u="sng" dirty="0">
                <a:solidFill>
                  <a:srgbClr val="5F6B6D"/>
                </a:solidFill>
                <a:hlinkClick r:id="rId1" invalidUrl="" action="" tgtFrame="" tooltip="https://bank.gov.ua/admin_uploads/article/Macroeconomic_Forecast_table_2026_07.xlsx?v=19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макропрогноз НБУ</a:t>
            </a:r>
            <a:pPr indent="0" marL="0">
              <a:buNone/>
            </a:pPr>
            <a:r>
              <a:rPr lang="en-US" sz="900" dirty="0">
                <a:solidFill>
                  <a:srgbClr val="5F6B6D"/>
                </a:solidFill>
              </a:rPr>
              <a:t> · </a:t>
            </a:r>
            <a:pPr indent="0" marL="0">
              <a:buNone/>
            </a:pPr>
            <a:r>
              <a:rPr lang="en-US" sz="900" u="sng" dirty="0">
                <a:solidFill>
                  <a:srgbClr val="5F6B6D"/>
                </a:solidFill>
                <a:hlinkClick r:id="rId2" invalidUrl="" action="" tgtFrame="" tooltip="https://bank.gov.ua/admin_uploads/article/Tables_Charts_2026-Q3.xlsx?v=19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дані графіків ІЗ</a:t>
            </a:r>
            <a:pPr indent="0" marL="0">
              <a:buNone/>
            </a:pPr>
            <a:r>
              <a:rPr lang="en-US" sz="900" dirty="0">
                <a:solidFill>
                  <a:srgbClr val="5F6B6D"/>
                </a:solidFill>
              </a:rPr>
              <a:t> · </a:t>
            </a:r>
            <a:pPr indent="0" marL="0">
              <a:buNone/>
            </a:pPr>
            <a:r>
              <a:rPr lang="en-US" sz="900" u="sng" dirty="0">
                <a:solidFill>
                  <a:srgbClr val="5F6B6D"/>
                </a:solidFill>
                <a:hlinkClick r:id="rId3" invalidUrl="" action="" tgtFrame="" tooltip="https://bank.gov.ua/ua/news/all/rada-mvf-shvalila-pershiy-pereglyad-programi-rozshirenogo-finansuvannya-ta-zatverdila-vidilennya-transhu-obsyagom-690-mln-dol-ssha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Рада МВФ: перегляд програми</a:t>
            </a:r>
            <a:endParaRPr lang="en-US" sz="900" dirty="0"/>
          </a:p>
        </p:txBody>
      </p:sp>
      <p:pic>
        <p:nvPicPr>
          <p:cNvPr id="5" name="chart" descr="C:\Users\Lenovo\Documents\GitHub\nbu-challenge-2026\results\figures\ov_fiscal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23042" y="1325880"/>
            <a:ext cx="10945611" cy="3703320"/>
          </a:xfrm>
          <a:prstGeom prst="rect">
            <a:avLst/>
          </a:prstGeom>
        </p:spPr>
      </p:pic>
      <p:sp>
        <p:nvSpPr>
          <p:cNvPr id="6" name="num1"/>
          <p:cNvSpPr/>
          <p:nvPr/>
        </p:nvSpPr>
        <p:spPr>
          <a:xfrm>
            <a:off x="457200" y="5276088"/>
            <a:ext cx="310896" cy="310896"/>
          </a:xfrm>
          <a:prstGeom prst="ellipse">
            <a:avLst/>
          </a:prstGeom>
          <a:solidFill>
            <a:srgbClr val="C98A00"/>
          </a:solidFill>
          <a:ln/>
        </p:spPr>
      </p:sp>
      <p:sp>
        <p:nvSpPr>
          <p:cNvPr id="7" name="Text 3"/>
          <p:cNvSpPr txBox="1"/>
          <p:nvPr/>
        </p:nvSpPr>
        <p:spPr>
          <a:xfrm>
            <a:off x="457200" y="5276088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bg1"/>
                </a:solidFill>
              </a:rPr>
              <a:t>1</a:t>
            </a:r>
            <a:endParaRPr lang="en-US" sz="1200" dirty="0"/>
          </a:p>
        </p:txBody>
      </p:sp>
      <p:sp>
        <p:nvSpPr>
          <p:cNvPr id="8" name="point1"/>
          <p:cNvSpPr txBox="1"/>
          <p:nvPr/>
        </p:nvSpPr>
        <p:spPr>
          <a:xfrm>
            <a:off x="868680" y="5257800"/>
            <a:ext cx="3164738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Дефіцит без грантів ≈35% ВВП у 2026; оборонна складова USL — $33,2 млрд (2026) і $16,7 млрд (2027)</a:t>
            </a:r>
            <a:endParaRPr lang="en-US" sz="1300" dirty="0"/>
          </a:p>
        </p:txBody>
      </p:sp>
      <p:sp>
        <p:nvSpPr>
          <p:cNvPr id="9" name="num2"/>
          <p:cNvSpPr/>
          <p:nvPr/>
        </p:nvSpPr>
        <p:spPr>
          <a:xfrm>
            <a:off x="4307738" y="5276088"/>
            <a:ext cx="310896" cy="310896"/>
          </a:xfrm>
          <a:prstGeom prst="ellipse">
            <a:avLst/>
          </a:prstGeom>
          <a:solidFill>
            <a:srgbClr val="C98A00"/>
          </a:solidFill>
          <a:ln/>
        </p:spPr>
      </p:sp>
      <p:sp>
        <p:nvSpPr>
          <p:cNvPr id="10" name="Text 6"/>
          <p:cNvSpPr txBox="1"/>
          <p:nvPr/>
        </p:nvSpPr>
        <p:spPr>
          <a:xfrm>
            <a:off x="4307738" y="5276088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bg1"/>
                </a:solidFill>
              </a:rPr>
              <a:t>2</a:t>
            </a:r>
            <a:endParaRPr lang="en-US" sz="1200" dirty="0"/>
          </a:p>
        </p:txBody>
      </p:sp>
      <p:sp>
        <p:nvSpPr>
          <p:cNvPr id="11" name="point2"/>
          <p:cNvSpPr txBox="1"/>
          <p:nvPr/>
        </p:nvSpPr>
        <p:spPr>
          <a:xfrm>
            <a:off x="4719218" y="5257800"/>
            <a:ext cx="3164738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Бюджетна декларація 2027–2029: дефіцит держбюджету 17,7% ВВП у 2027 і 11,1% у 2028; уряд закладає інфляцію 8,9% на грудень 2027 (НБУ — 6,9%, ми — 6,9% у IV кв.)</a:t>
            </a:r>
            <a:endParaRPr lang="en-US" sz="1300" dirty="0"/>
          </a:p>
        </p:txBody>
      </p:sp>
      <p:sp>
        <p:nvSpPr>
          <p:cNvPr id="12" name="num3"/>
          <p:cNvSpPr/>
          <p:nvPr/>
        </p:nvSpPr>
        <p:spPr>
          <a:xfrm>
            <a:off x="8158277" y="5276088"/>
            <a:ext cx="310896" cy="310896"/>
          </a:xfrm>
          <a:prstGeom prst="ellipse">
            <a:avLst/>
          </a:prstGeom>
          <a:solidFill>
            <a:srgbClr val="C98A00"/>
          </a:solidFill>
          <a:ln/>
        </p:spPr>
      </p:sp>
      <p:sp>
        <p:nvSpPr>
          <p:cNvPr id="13" name="Text 9"/>
          <p:cNvSpPr txBox="1"/>
          <p:nvPr/>
        </p:nvSpPr>
        <p:spPr>
          <a:xfrm>
            <a:off x="8158277" y="5276088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bg1"/>
                </a:solidFill>
              </a:rPr>
              <a:t>3</a:t>
            </a:r>
            <a:endParaRPr lang="en-US" sz="1200" dirty="0"/>
          </a:p>
        </p:txBody>
      </p:sp>
      <p:sp>
        <p:nvSpPr>
          <p:cNvPr id="14" name="point3"/>
          <p:cNvSpPr txBox="1"/>
          <p:nvPr/>
        </p:nvSpPr>
        <p:spPr>
          <a:xfrm>
            <a:off x="8569757" y="5257800"/>
            <a:ext cx="3164738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Частина допомоги прив'язана до ухвалення законів — ризик подальших затримок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5855" y="6473952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6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24</a:t>
            </a:fld>
            <a:endParaRPr lang="en-US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11277295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600" b="1" dirty="0">
                <a:solidFill>
                  <a:schemeClr val="accent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Додаток 3. Наше розширення QPM: нафта змінює небазові ціни, а ставка на нафтовий шок реагує слабко</a:t>
            </a:r>
            <a:endParaRPr lang="en-US" sz="2600" dirty="0"/>
          </a:p>
        </p:txBody>
      </p:sp>
      <p:sp>
        <p:nvSpPr>
          <p:cNvPr id="4" name="sources"/>
          <p:cNvSpPr txBox="1"/>
          <p:nvPr/>
        </p:nvSpPr>
        <p:spPr>
          <a:xfrm>
            <a:off x="4937760" y="6455664"/>
            <a:ext cx="611093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F6B6D"/>
                </a:solidFill>
              </a:rPr>
              <a:t>Джерела: </a:t>
            </a:r>
            <a:pPr indent="0" marL="0">
              <a:buNone/>
            </a:pPr>
            <a:r>
              <a:rPr lang="en-US" sz="900" u="sng" dirty="0">
                <a:solidFill>
                  <a:srgbClr val="5F6B6D"/>
                </a:solidFill>
                <a:hlinkClick r:id="rId1" invalidUrl="" action="" tgtFrame="" tooltip="https://bank.gov.ua/files/macro/CCPI_m.xlsx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базовий ІСЦ (НБУ)</a:t>
            </a:r>
            <a:pPr indent="0" marL="0">
              <a:buNone/>
            </a:pPr>
            <a:r>
              <a:rPr lang="en-US" sz="900" dirty="0">
                <a:solidFill>
                  <a:srgbClr val="5F6B6D"/>
                </a:solidFill>
              </a:rPr>
              <a:t> · </a:t>
            </a:r>
            <a:pPr indent="0" marL="0">
              <a:buNone/>
            </a:pPr>
            <a:r>
              <a:rPr lang="en-US" sz="900" u="sng" dirty="0">
                <a:solidFill>
                  <a:srgbClr val="5F6B6D"/>
                </a:solidFill>
                <a:hlinkClick r:id="rId2" invalidUrl="" action="" tgtFrame="" tooltip="https://db.nomics.world/EIA/PET/RBRTE.M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EIA Brent</a:t>
            </a:r>
            <a:pPr indent="0" marL="0">
              <a:buNone/>
            </a:pPr>
            <a:r>
              <a:rPr lang="en-US" sz="900" dirty="0">
                <a:solidFill>
                  <a:srgbClr val="5F6B6D"/>
                </a:solidFill>
              </a:rPr>
              <a:t> · </a:t>
            </a:r>
            <a:pPr indent="0" marL="0">
              <a:buNone/>
            </a:pPr>
            <a:r>
              <a:rPr lang="en-US" sz="900" u="sng" dirty="0">
                <a:solidFill>
                  <a:srgbClr val="5F6B6D"/>
                </a:solidFill>
                <a:hlinkClick r:id="rId3" invalidUrl="" action="" tgtFrame="" tooltip="https://finance.yahoo.com/quote/BZ%3DF/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ф'ючерси Brent</a:t>
            </a:r>
            <a:endParaRPr lang="en-US" sz="900" dirty="0"/>
          </a:p>
        </p:txBody>
      </p:sp>
      <p:pic>
        <p:nvPicPr>
          <p:cNvPr id="5" name="chart" descr="C:\Users\Lenovo\Documents\GitHub\nbu-challenge-2026\results\figures\ml_irf_oil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57200" y="1325880"/>
            <a:ext cx="11277295" cy="3158013"/>
          </a:xfrm>
          <a:prstGeom prst="rect">
            <a:avLst/>
          </a:prstGeom>
        </p:spPr>
      </p:pic>
      <p:sp>
        <p:nvSpPr>
          <p:cNvPr id="6" name="num1"/>
          <p:cNvSpPr/>
          <p:nvPr/>
        </p:nvSpPr>
        <p:spPr>
          <a:xfrm>
            <a:off x="457200" y="5276088"/>
            <a:ext cx="310896" cy="310896"/>
          </a:xfrm>
          <a:prstGeom prst="ellipse">
            <a:avLst/>
          </a:prstGeom>
          <a:solidFill>
            <a:srgbClr val="C98A00"/>
          </a:solidFill>
          <a:ln/>
        </p:spPr>
      </p:sp>
      <p:sp>
        <p:nvSpPr>
          <p:cNvPr id="7" name="Text 3"/>
          <p:cNvSpPr txBox="1"/>
          <p:nvPr/>
        </p:nvSpPr>
        <p:spPr>
          <a:xfrm>
            <a:off x="457200" y="5276088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bg1"/>
                </a:solidFill>
              </a:rPr>
              <a:t>1</a:t>
            </a:r>
            <a:endParaRPr lang="en-US" sz="1200" dirty="0"/>
          </a:p>
        </p:txBody>
      </p:sp>
      <p:sp>
        <p:nvSpPr>
          <p:cNvPr id="8" name="point1"/>
          <p:cNvSpPr txBox="1"/>
          <p:nvPr/>
        </p:nvSpPr>
        <p:spPr>
          <a:xfrm>
            <a:off x="868680" y="5257800"/>
            <a:ext cx="3164738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ІСЦ = базова інфляція + зміна відносних цін небазових товарів; крива Філіпса НБУ описує базову</a:t>
            </a:r>
            <a:endParaRPr lang="en-US" sz="1300" dirty="0"/>
          </a:p>
        </p:txBody>
      </p:sp>
      <p:sp>
        <p:nvSpPr>
          <p:cNvPr id="9" name="num2"/>
          <p:cNvSpPr/>
          <p:nvPr/>
        </p:nvSpPr>
        <p:spPr>
          <a:xfrm>
            <a:off x="4307738" y="5276088"/>
            <a:ext cx="310896" cy="310896"/>
          </a:xfrm>
          <a:prstGeom prst="ellipse">
            <a:avLst/>
          </a:prstGeom>
          <a:solidFill>
            <a:srgbClr val="C98A00"/>
          </a:solidFill>
          <a:ln/>
        </p:spPr>
      </p:sp>
      <p:sp>
        <p:nvSpPr>
          <p:cNvPr id="10" name="Text 6"/>
          <p:cNvSpPr txBox="1"/>
          <p:nvPr/>
        </p:nvSpPr>
        <p:spPr>
          <a:xfrm>
            <a:off x="4307738" y="5276088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bg1"/>
                </a:solidFill>
              </a:rPr>
              <a:t>2</a:t>
            </a:r>
            <a:endParaRPr lang="en-US" sz="1200" dirty="0"/>
          </a:p>
        </p:txBody>
      </p:sp>
      <p:sp>
        <p:nvSpPr>
          <p:cNvPr id="11" name="point2"/>
          <p:cNvSpPr txBox="1"/>
          <p:nvPr/>
        </p:nvSpPr>
        <p:spPr>
          <a:xfrm>
            <a:off x="4719218" y="5257800"/>
            <a:ext cx="3164738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Brent +20% → ІСЦ +0,3 в. п. упродовж року; правило реагує на загальний ІСЦ, але ставка — лише +0,2 в. п.</a:t>
            </a:r>
            <a:endParaRPr lang="en-US" sz="1300" dirty="0"/>
          </a:p>
        </p:txBody>
      </p:sp>
      <p:sp>
        <p:nvSpPr>
          <p:cNvPr id="12" name="num3"/>
          <p:cNvSpPr/>
          <p:nvPr/>
        </p:nvSpPr>
        <p:spPr>
          <a:xfrm>
            <a:off x="8158277" y="5276088"/>
            <a:ext cx="310896" cy="310896"/>
          </a:xfrm>
          <a:prstGeom prst="ellipse">
            <a:avLst/>
          </a:prstGeom>
          <a:solidFill>
            <a:srgbClr val="C98A00"/>
          </a:solidFill>
          <a:ln/>
        </p:spPr>
      </p:sp>
      <p:sp>
        <p:nvSpPr>
          <p:cNvPr id="13" name="Text 9"/>
          <p:cNvSpPr txBox="1"/>
          <p:nvPr/>
        </p:nvSpPr>
        <p:spPr>
          <a:xfrm>
            <a:off x="8158277" y="5276088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bg1"/>
                </a:solidFill>
              </a:rPr>
              <a:t>3</a:t>
            </a:r>
            <a:endParaRPr lang="en-US" sz="1200" dirty="0"/>
          </a:p>
        </p:txBody>
      </p:sp>
      <p:sp>
        <p:nvSpPr>
          <p:cNvPr id="14" name="point3"/>
          <p:cNvSpPr txBox="1"/>
          <p:nvPr/>
        </p:nvSpPr>
        <p:spPr>
          <a:xfrm>
            <a:off x="8569757" y="5257800"/>
            <a:ext cx="3164738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З вагою нафти 0 модель точно збігається з шаблоном НБУ — перевірено тестами і в MATLAB/IRIS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5855" y="6473952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6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25</a:t>
            </a:fld>
            <a:endParaRPr lang="en-US"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11277295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600" b="1" dirty="0">
                <a:solidFill>
                  <a:schemeClr val="accent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Додаток 4. Припущення та судження базового сценарію — кожне з джерелом</a:t>
            </a:r>
            <a:endParaRPr lang="en-US" sz="2600" dirty="0"/>
          </a:p>
        </p:txBody>
      </p:sp>
      <p:sp>
        <p:nvSpPr>
          <p:cNvPr id="4" name="sources"/>
          <p:cNvSpPr txBox="1"/>
          <p:nvPr/>
        </p:nvSpPr>
        <p:spPr>
          <a:xfrm>
            <a:off x="4937760" y="6455664"/>
            <a:ext cx="611093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F6B6D"/>
                </a:solidFill>
              </a:rPr>
              <a:t>Джерела: </a:t>
            </a:r>
            <a:pPr indent="0" marL="0">
              <a:buNone/>
            </a:pPr>
            <a:r>
              <a:rPr lang="en-US" sz="900" u="sng" dirty="0">
                <a:solidFill>
                  <a:srgbClr val="5F6B6D"/>
                </a:solidFill>
                <a:hlinkClick r:id="rId1" invalidUrl="" action="" tgtFrame="" tooltip="https://bank.gov.ua/ua/news/all/inflyatsiya-prishvidshitsya-u-drugomu-pivrichchi-ale-povernetsya-do-znijennya-nastupnogo-roku--inflyatsiyniy-zvit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НБУ, Інфляційний звіт (липень 2026)</a:t>
            </a:r>
            <a:pPr indent="0" marL="0">
              <a:buNone/>
            </a:pPr>
            <a:r>
              <a:rPr lang="en-US" sz="900" dirty="0">
                <a:solidFill>
                  <a:srgbClr val="5F6B6D"/>
                </a:solidFill>
              </a:rPr>
              <a:t> · </a:t>
            </a:r>
            <a:pPr indent="0" marL="0">
              <a:buNone/>
            </a:pPr>
            <a:r>
              <a:rPr lang="en-US" sz="900" u="sng" dirty="0">
                <a:solidFill>
                  <a:srgbClr val="5F6B6D"/>
                </a:solidFill>
                <a:hlinkClick r:id="rId2" invalidUrl="" action="" tgtFrame="" tooltip="https://bank.gov.ua/admin_uploads/article/Macroeconomic_Forecast_table_2026_07.xlsx?v=19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макропрогноз НБУ</a:t>
            </a:r>
            <a:pPr indent="0" marL="0">
              <a:buNone/>
            </a:pPr>
            <a:r>
              <a:rPr lang="en-US" sz="900" dirty="0">
                <a:solidFill>
                  <a:srgbClr val="5F6B6D"/>
                </a:solidFill>
              </a:rPr>
              <a:t> · </a:t>
            </a:r>
            <a:pPr indent="0" marL="0">
              <a:buNone/>
            </a:pPr>
            <a:r>
              <a:rPr lang="en-US" sz="900" u="sng" dirty="0">
                <a:solidFill>
                  <a:srgbClr val="5F6B6D"/>
                </a:solidFill>
                <a:hlinkClick r:id="rId3" invalidUrl="" action="" tgtFrame="" tooltip="https://bank.gov.ua/ua/news/all/pidsumki-diskusiyi-chleniv-komitetu-z-monetarnoyi-politiki-natsionalnogo-banku-schodo-rivnya-oblikovoyi-stavki-16-veresnya-2026-roku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підсумки дискусії КМП</a:t>
            </a:r>
            <a:endParaRPr lang="en-US" sz="900" dirty="0"/>
          </a:p>
        </p:txBody>
      </p:sp>
      <p:graphicFrame>
        <p:nvGraphicFramePr>
          <p:cNvPr id="27" name="table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325880"/>
          <a:ext cx="11277295" cy="914400"/>
        </p:xfrm>
        <a:graphic>
          <a:graphicData uri="http://schemas.openxmlformats.org/drawingml/2006/table">
            <a:tbl>
              <a:tblPr/>
              <a:tblGrid>
                <a:gridCol w="2194560"/>
                <a:gridCol w="6858000"/>
                <a:gridCol w="2221992"/>
              </a:tblGrid>
              <a:tr h="40233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chemeClr val="bg1"/>
                          </a:solidFill>
                        </a:rPr>
                        <a:t>Чинник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3B43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chemeClr val="bg1"/>
                          </a:solidFill>
                        </a:rPr>
                        <a:t>Що закладено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3B43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chemeClr val="bg1"/>
                          </a:solidFill>
                        </a:rPr>
                        <a:t>Джерело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3B43"/>
                    </a:solidFill>
                  </a:tcPr>
                </a:tc>
              </a:tr>
              <a:tr h="40233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chemeClr val="tx1"/>
                          </a:solidFill>
                        </a:rPr>
                        <a:t>Інфляція IV кв. 2026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Наукаст ІСЦ і базового ІСЦ (тренд + сезонність − 0,1 в. п.): грудень — 12,1% і 9,2% р/р; в IV кв. фіксуємо обидва ряди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u="sng" dirty="0">
                          <a:hlinkClick r:id="rId4" invalidUrl="" action="" tgtFrame="" tooltip="https://bank.gov.ua/ua/open-data/api-dev" history="1" highlightClick="0" endSnd="0"/>
                        </a:rPr>
                        <a:t>Держстат, API НБУ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0233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chemeClr val="tx1"/>
                          </a:solidFill>
                        </a:rPr>
                        <a:t>ВВП III кв. 2026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1E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+1,1% кв/кв SA (≈+1% р/р): ІЕД — липень +4%, серпень +1,2%; КМП — «суттєво гірше» за прогноз НБУ (+2,1%)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1E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u="sng" dirty="0">
                          <a:hlinkClick r:id="rId5" invalidUrl="" action="" tgtFrame="" tooltip="https://bank.gov.ua/ua/news/all/pidsumki-diskusiyi-chleniv-komitetu-z-monetarnoyi-politiki-natsionalnogo-banku-schodo-rivnya-oblikovoyi-stavki-16-veresnya-2026-roku" history="1" highlightClick="0" endSnd="0"/>
                        </a:rPr>
                        <a:t>ІЕД, підсумки КМП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1EF"/>
                    </a:solidFill>
                  </a:tcPr>
                </a:tc>
              </a:tr>
              <a:tr h="40233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chemeClr val="tx1"/>
                          </a:solidFill>
                        </a:rPr>
                        <a:t>Шок витрат 2027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Вторинні ефекти атак на енергетику, логістику й виробництво в опалювальний сезон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u="sng" dirty="0">
                          <a:hlinkClick r:id="rId6" invalidUrl="" action="" tgtFrame="" tooltip="https://bank.gov.ua/ua/news/all/pidsumki-diskusiyi-chleniv-komitetu-z-monetarnoyi-politiki-natsionalnogo-banku-schodo-rivnya-oblikovoyi-stavki-16-veresnya-2026-roku" history="1" highlightClick="0" endSnd="0"/>
                        </a:rPr>
                        <a:t>Підсумки дискусії КМП, 28.09.2026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0233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chemeClr val="tx1"/>
                          </a:solidFill>
                        </a:rPr>
                        <a:t>Адмінціни та акцизи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1E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Тарифи після мораторію, наближення акцизів до мінімумів ЄС — загальна інфляція вища за базову на ≈1,7 в. п. на рік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1E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u="sng" dirty="0">
                          <a:hlinkClick r:id="rId7" invalidUrl="" action="" tgtFrame="" tooltip="https://bank.gov.ua/admin_uploads/article/Macroeconomic_Forecast_table_2026_07.xlsx?v=19" history="1" highlightClick="0" endSnd="0"/>
                        </a:rPr>
                        <a:t>НБУ, макропрогноз липень 2026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1EF"/>
                    </a:solidFill>
                  </a:tcPr>
                </a:tc>
              </a:tr>
              <a:tr h="40233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chemeClr val="tx1"/>
                          </a:solidFill>
                        </a:rPr>
                        <a:t>Премія за ризик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Затримки офіційного фінансування в липні–вересні; резерви знизилися до $47,1 млрд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u="sng" dirty="0">
                          <a:hlinkClick r:id="rId8" invalidUrl="" action="" tgtFrame="" tooltip="https://bank.gov.ua/ua/news/all/natsionalniy-bank-ukrayini-pidvischiv-oblikovu-stavku-do-16" history="1" highlightClick="0" endSnd="0"/>
                        </a:rPr>
                        <a:t>Рішення НБУ 17.09.2026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0233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chemeClr val="tx1"/>
                          </a:solidFill>
                        </a:rPr>
                        <a:t>Потенційний ВВП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1E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Вищий потенціал: інвестиції в потужності ОПК і, за припущенням НБУ, чисте повернення мігрантів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1E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u="sng" dirty="0">
                          <a:hlinkClick r:id="rId9" invalidUrl="" action="" tgtFrame="" tooltip="https://bank.gov.ua/admin_uploads/article/Macroeconomic_Forecast_table_2026_07.xlsx?v=19" history="1" highlightClick="0" endSnd="0"/>
                        </a:rPr>
                        <a:t>НБУ, припущення макропрогнозу, липень 2026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1EF"/>
                    </a:solidFill>
                  </a:tcPr>
                </a:tc>
              </a:tr>
              <a:tr h="40233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chemeClr val="tx1"/>
                          </a:solidFill>
                        </a:rPr>
                        <a:t>Бюджет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Без окремого імпульсу: дефіцит без грантів 35 → 26% ВВП, оборонна частина USL $33,2 → $16,7 млрд; локалізація ОПК коштом USL частково компенсує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u="sng" dirty="0">
                          <a:hlinkClick r:id="rId10" invalidUrl="" action="" tgtFrame="" tooltip="https://bank.gov.ua/admin_uploads/article/Macroeconomic_Forecast_table_2026_07.xlsx?v=19" history="1" highlightClick="0" endSnd="0"/>
                        </a:rPr>
                        <a:t>НБУ, макропрогноз липень 2026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0233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chemeClr val="tx1"/>
                          </a:solidFill>
                        </a:rPr>
                        <a:t>Курс гривні до €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1E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Допустиме послаблення (цільовий темп): 4% у 2027, 3% у 2028; фактичний курс — з моделі (≈1% на рік)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1E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u="sng" dirty="0">
                          <a:hlinkClick r:id="rId11" invalidUrl="" action="" tgtFrame="" tooltip="https://bank.gov.ua/admin_uploads/article/Macroeconomic_Forecast_table_2026_07.xlsx?v=19" history="1" highlightClick="0" endSnd="0"/>
                        </a:rPr>
                        <a:t>Макропрогноз НБУ (EUR/USD)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1EF"/>
                    </a:solidFill>
                  </a:tcPr>
                </a:tc>
              </a:tr>
              <a:tr h="40233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chemeClr val="tx1"/>
                          </a:solidFill>
                        </a:rPr>
                        <a:t>Нафта Brent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Ф'ючерсна крива (20.10): $109 (IV кв. 2026) → $87 (кінець 2027) → $79 (кінець 2028)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u="sng" dirty="0">
                          <a:hlinkClick r:id="rId12" invalidUrl="" action="" tgtFrame="" tooltip="https://db.nomics.world/EIA/PET/RBRTE.M" history="1" highlightClick="0" endSnd="0"/>
                        </a:rPr>
                        <a:t>EIA Brent</a:t>
                      </a:r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, </a:t>
                      </a:r>
                      <a:pPr algn="l" indent="0" marL="0">
                        <a:buNone/>
                      </a:pPr>
                      <a:r>
                        <a:rPr lang="en-US" sz="1200" u="sng" dirty="0">
                          <a:hlinkClick r:id="rId13" invalidUrl="" action="" tgtFrame="" tooltip="https://finance.yahoo.com/quote/BZ%3DF/" history="1" highlightClick="0" endSnd="0"/>
                        </a:rPr>
                        <a:t>NYMEX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0233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chemeClr val="tx1"/>
                          </a:solidFill>
                        </a:rPr>
                        <a:t>Єврозона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1E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HICP 3,0 / 2,5 / 2,1%, ВВП 0,9 / 1,4 / 1,5%, ставка ЄЦБ до 3%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1E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u="sng" dirty="0">
                          <a:hlinkClick r:id="rId14" invalidUrl="" action="" tgtFrame="" tooltip="https://www.ecb.europa.eu/press/projections/html/index.en.html" history="1" highlightClick="0" endSnd="0"/>
                        </a:rPr>
                        <a:t>ЄЦБ, вер. 2026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1EF"/>
                    </a:solidFill>
                  </a:tcPr>
                </a:tc>
              </a:tr>
            </a:tbl>
          </a:graphicData>
        </a:graphic>
      </p:graphicFrame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5855" y="6473952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6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26</a:t>
            </a:fld>
            <a:endParaRPr lang="en-US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11277295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600" b="1" dirty="0">
                <a:solidFill>
                  <a:schemeClr val="accent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Додаток 5. Базова інфляція в 2027 стійкіша, ніж у НБУ: 5,7% наприкінці року проти 5,1%</a:t>
            </a:r>
            <a:endParaRPr lang="en-US" sz="2600" dirty="0"/>
          </a:p>
        </p:txBody>
      </p:sp>
      <p:sp>
        <p:nvSpPr>
          <p:cNvPr id="4" name="sources"/>
          <p:cNvSpPr txBox="1"/>
          <p:nvPr/>
        </p:nvSpPr>
        <p:spPr>
          <a:xfrm>
            <a:off x="4937760" y="6455664"/>
            <a:ext cx="611093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F6B6D"/>
                </a:solidFill>
              </a:rPr>
              <a:t>Джерела: </a:t>
            </a:r>
            <a:pPr indent="0" marL="0">
              <a:buNone/>
            </a:pPr>
            <a:r>
              <a:rPr lang="en-US" sz="900" u="sng" dirty="0">
                <a:solidFill>
                  <a:srgbClr val="5F6B6D"/>
                </a:solidFill>
                <a:hlinkClick r:id="rId1" invalidUrl="" action="" tgtFrame="" tooltip="https://bank.gov.ua/files/macro/CCPI_m.xlsx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базовий ІСЦ (НБУ)</a:t>
            </a:r>
            <a:pPr indent="0" marL="0">
              <a:buNone/>
            </a:pPr>
            <a:r>
              <a:rPr lang="en-US" sz="900" dirty="0">
                <a:solidFill>
                  <a:srgbClr val="5F6B6D"/>
                </a:solidFill>
              </a:rPr>
              <a:t> · </a:t>
            </a:r>
            <a:pPr indent="0" marL="0">
              <a:buNone/>
            </a:pPr>
            <a:r>
              <a:rPr lang="en-US" sz="900" u="sng" dirty="0">
                <a:solidFill>
                  <a:srgbClr val="5F6B6D"/>
                </a:solidFill>
                <a:hlinkClick r:id="rId2" invalidUrl="" action="" tgtFrame="" tooltip="https://bank.gov.ua/admin_uploads/article/Macroeconomic_Forecast_table_2026_07.xlsx?v=19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макропрогноз НБУ</a:t>
            </a:r>
            <a:endParaRPr lang="en-US" sz="900" dirty="0"/>
          </a:p>
        </p:txBody>
      </p:sp>
      <p:pic>
        <p:nvPicPr>
          <p:cNvPr id="5" name="chart" descr="C:\Users\Lenovo\Documents\GitHub\nbu-challenge-2026\results\figures\fc_core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200" y="1325880"/>
            <a:ext cx="7040880" cy="3881792"/>
          </a:xfrm>
          <a:prstGeom prst="rect">
            <a:avLst/>
          </a:prstGeom>
        </p:spPr>
      </p:pic>
      <p:sp>
        <p:nvSpPr>
          <p:cNvPr id="6" name="bullets"/>
          <p:cNvSpPr txBox="1"/>
          <p:nvPr/>
        </p:nvSpPr>
        <p:spPr>
          <a:xfrm>
            <a:off x="7818120" y="1417320"/>
            <a:ext cx="3916375" cy="4892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chemeClr val="tx1"/>
                </a:solidFill>
              </a:rPr>
              <a:t>Зарплати +21–25%, дорожчі послуги, наслідки атак — базова інфляція знижується повільніше, ніж очікує НБУ</a:t>
            </a:r>
            <a:endParaRPr lang="en-US" sz="140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chemeClr val="tx1"/>
                </a:solidFill>
              </a:rPr>
              <a:t>Загальна: 6,9% у IV кв. 2027 (НБУ 6,9% у грудні) — тарифи й акцизи додають ≈1,7 в. п. на рік, дешевша нафта (ф'ючерси) — віднімає</a:t>
            </a:r>
            <a:endParaRPr lang="en-US" sz="140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chemeClr val="tx1"/>
                </a:solidFill>
              </a:rPr>
              <a:t>2028: базова 3,5% (НБУ 3,3%) — слабкий попит → простір для зниження ставки з II пів. 2027</a:t>
            </a:r>
            <a:endParaRPr lang="en-US" sz="140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chemeClr val="tx1"/>
                </a:solidFill>
              </a:rPr>
              <a:t>Висновок: рішуче підвищення зараз, швидше пом'якшення пізніше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5855" y="6473952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6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27</a:t>
            </a:fld>
            <a:endParaRPr lang="en-US"/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11277295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600" b="1" dirty="0">
                <a:solidFill>
                  <a:schemeClr val="accent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Додаток 6. Матриця ризиків: баланс зміщений у бік вищої інфляції</a:t>
            </a:r>
            <a:endParaRPr lang="en-US" sz="2600" dirty="0"/>
          </a:p>
        </p:txBody>
      </p:sp>
      <p:sp>
        <p:nvSpPr>
          <p:cNvPr id="4" name="sources"/>
          <p:cNvSpPr txBox="1"/>
          <p:nvPr/>
        </p:nvSpPr>
        <p:spPr>
          <a:xfrm>
            <a:off x="4937760" y="6455664"/>
            <a:ext cx="611093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F6B6D"/>
                </a:solidFill>
              </a:rPr>
              <a:t>Джерела: </a:t>
            </a:r>
            <a:pPr indent="0" marL="0">
              <a:buNone/>
            </a:pPr>
            <a:r>
              <a:rPr lang="en-US" sz="900" u="sng" dirty="0">
                <a:solidFill>
                  <a:srgbClr val="5F6B6D"/>
                </a:solidFill>
                <a:hlinkClick r:id="rId1" invalidUrl="" action="" tgtFrame="" tooltip="https://bank.gov.ua/ua/news/all/pidsumki-diskusiyi-chleniv-komitetu-z-monetarnoyi-politiki-natsionalnogo-banku-schodo-rivnya-oblikovoyi-stavki-16-veresnya-2026-roku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підсумки дискусії КМП</a:t>
            </a:r>
            <a:pPr indent="0" marL="0">
              <a:buNone/>
            </a:pPr>
            <a:r>
              <a:rPr lang="en-US" sz="900" dirty="0">
                <a:solidFill>
                  <a:srgbClr val="5F6B6D"/>
                </a:solidFill>
              </a:rPr>
              <a:t> · </a:t>
            </a:r>
            <a:pPr indent="0" marL="0">
              <a:buNone/>
            </a:pPr>
            <a:r>
              <a:rPr lang="en-US" sz="900" u="sng" dirty="0">
                <a:solidFill>
                  <a:srgbClr val="5F6B6D"/>
                </a:solidFill>
                <a:hlinkClick r:id="rId2" invalidUrl="" action="" tgtFrame="" tooltip="https://bank.gov.ua/ua/news/all/inflyatsiya-prishvidshitsya-u-drugomu-pivrichchi-ale-povernetsya-do-znijennya-nastupnogo-roku--inflyatsiyniy-zvit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НБУ, Інфляційний звіт (липень 2026)</a:t>
            </a:r>
            <a:endParaRPr lang="en-US" sz="900" dirty="0"/>
          </a:p>
        </p:txBody>
      </p:sp>
      <p:sp>
        <p:nvSpPr>
          <p:cNvPr id="5" name="Text 2"/>
          <p:cNvSpPr txBox="1"/>
          <p:nvPr/>
        </p:nvSpPr>
        <p:spPr>
          <a:xfrm>
            <a:off x="457200" y="1371600"/>
            <a:ext cx="777240" cy="1478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accent6"/>
                </a:solidFill>
              </a:rPr>
              <a:t>Високий</a:t>
            </a:r>
            <a:endParaRPr lang="en-US" sz="1200" dirty="0"/>
          </a:p>
        </p:txBody>
      </p:sp>
      <p:sp>
        <p:nvSpPr>
          <p:cNvPr id="6" name="cell Високий/Слабкий"/>
          <p:cNvSpPr/>
          <p:nvPr/>
        </p:nvSpPr>
        <p:spPr>
          <a:xfrm>
            <a:off x="1316736" y="1408176"/>
            <a:ext cx="3411626" cy="1405128"/>
          </a:xfrm>
          <a:prstGeom prst="rect">
            <a:avLst/>
          </a:prstGeom>
          <a:solidFill>
            <a:srgbClr val="CFE2DD"/>
          </a:solidFill>
          <a:ln/>
        </p:spPr>
      </p:sp>
      <p:sp>
        <p:nvSpPr>
          <p:cNvPr id="7" name="cell Високий/Помірний"/>
          <p:cNvSpPr/>
          <p:nvPr/>
        </p:nvSpPr>
        <p:spPr>
          <a:xfrm>
            <a:off x="4801514" y="1408176"/>
            <a:ext cx="3411626" cy="1405128"/>
          </a:xfrm>
          <a:prstGeom prst="rect">
            <a:avLst/>
          </a:prstGeom>
          <a:solidFill>
            <a:srgbClr val="B9D5CE"/>
          </a:solidFill>
          <a:ln/>
        </p:spPr>
      </p:sp>
      <p:sp>
        <p:nvSpPr>
          <p:cNvPr id="8" name="Text 5"/>
          <p:cNvSpPr txBox="1"/>
          <p:nvPr/>
        </p:nvSpPr>
        <p:spPr>
          <a:xfrm>
            <a:off x="4929530" y="1481328"/>
            <a:ext cx="3155594" cy="12588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400"/>
              </a:spcAft>
              <a:buNone/>
            </a:pPr>
            <a:r>
              <a:rPr lang="en-US" sz="1300" b="1" dirty="0">
                <a:solidFill>
                  <a:srgbClr val="C0392B"/>
                </a:solidFill>
              </a:rPr>
              <a:t>▲ Тривала нафта ≈$100</a:t>
            </a:r>
            <a:endParaRPr lang="en-US" sz="13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300" b="1" dirty="0">
                <a:solidFill>
                  <a:srgbClr val="1E8449"/>
                </a:solidFill>
              </a:rPr>
              <a:t>▼ Блокада портів: дешевше продовольство</a:t>
            </a:r>
            <a:endParaRPr lang="en-US" sz="1300" dirty="0"/>
          </a:p>
        </p:txBody>
      </p:sp>
      <p:sp>
        <p:nvSpPr>
          <p:cNvPr id="9" name="cell Високий/Сильний"/>
          <p:cNvSpPr/>
          <p:nvPr/>
        </p:nvSpPr>
        <p:spPr>
          <a:xfrm>
            <a:off x="8286293" y="1408176"/>
            <a:ext cx="3411626" cy="1405128"/>
          </a:xfrm>
          <a:prstGeom prst="rect">
            <a:avLst/>
          </a:prstGeom>
          <a:solidFill>
            <a:srgbClr val="A3C8BF"/>
          </a:solidFill>
          <a:ln/>
        </p:spPr>
      </p:sp>
      <p:sp>
        <p:nvSpPr>
          <p:cNvPr id="10" name="Text 7"/>
          <p:cNvSpPr txBox="1"/>
          <p:nvPr/>
        </p:nvSpPr>
        <p:spPr>
          <a:xfrm>
            <a:off x="8414309" y="1481328"/>
            <a:ext cx="3155594" cy="12588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400"/>
              </a:spcAft>
              <a:buNone/>
            </a:pPr>
            <a:r>
              <a:rPr lang="en-US" sz="1300" b="1" dirty="0">
                <a:solidFill>
                  <a:srgbClr val="C0392B"/>
                </a:solidFill>
              </a:rPr>
              <a:t>▲ Атаки на енергетику взимку</a:t>
            </a:r>
            <a:endParaRPr lang="en-US" sz="13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300" b="1" dirty="0">
                <a:solidFill>
                  <a:srgbClr val="C0392B"/>
                </a:solidFill>
              </a:rPr>
              <a:t>▲ Затримки допомоги, резерви &lt; $45 млрд</a:t>
            </a:r>
            <a:endParaRPr lang="en-US" sz="1300" dirty="0"/>
          </a:p>
        </p:txBody>
      </p:sp>
      <p:sp>
        <p:nvSpPr>
          <p:cNvPr id="11" name="Text 8"/>
          <p:cNvSpPr txBox="1"/>
          <p:nvPr/>
        </p:nvSpPr>
        <p:spPr>
          <a:xfrm>
            <a:off x="457200" y="2849880"/>
            <a:ext cx="777240" cy="1478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accent6"/>
                </a:solidFill>
              </a:rPr>
              <a:t>Середній</a:t>
            </a:r>
            <a:endParaRPr lang="en-US" sz="1200" dirty="0"/>
          </a:p>
        </p:txBody>
      </p:sp>
      <p:sp>
        <p:nvSpPr>
          <p:cNvPr id="12" name="cell Середній/Слабкий"/>
          <p:cNvSpPr/>
          <p:nvPr/>
        </p:nvSpPr>
        <p:spPr>
          <a:xfrm>
            <a:off x="1316736" y="2886456"/>
            <a:ext cx="3411626" cy="1405128"/>
          </a:xfrm>
          <a:prstGeom prst="rect">
            <a:avLst/>
          </a:prstGeom>
          <a:solidFill>
            <a:srgbClr val="E3EEEB"/>
          </a:solidFill>
          <a:ln/>
        </p:spPr>
      </p:sp>
      <p:sp>
        <p:nvSpPr>
          <p:cNvPr id="13" name="Text 10"/>
          <p:cNvSpPr txBox="1"/>
          <p:nvPr/>
        </p:nvSpPr>
        <p:spPr>
          <a:xfrm>
            <a:off x="1444752" y="2959608"/>
            <a:ext cx="3155594" cy="12588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400"/>
              </a:spcAft>
              <a:buNone/>
            </a:pPr>
            <a:r>
              <a:rPr lang="en-US" sz="1300" b="1" dirty="0">
                <a:solidFill>
                  <a:srgbClr val="1E8449"/>
                </a:solidFill>
              </a:rPr>
              <a:t>▼ Зміцнення євро — дешевший імпорт з ЄС</a:t>
            </a:r>
            <a:endParaRPr lang="en-US" sz="1300" dirty="0"/>
          </a:p>
        </p:txBody>
      </p:sp>
      <p:sp>
        <p:nvSpPr>
          <p:cNvPr id="14" name="cell Середній/Помірний"/>
          <p:cNvSpPr/>
          <p:nvPr/>
        </p:nvSpPr>
        <p:spPr>
          <a:xfrm>
            <a:off x="4801514" y="2886456"/>
            <a:ext cx="3411626" cy="1405128"/>
          </a:xfrm>
          <a:prstGeom prst="rect">
            <a:avLst/>
          </a:prstGeom>
          <a:solidFill>
            <a:srgbClr val="CFE2DD"/>
          </a:solidFill>
          <a:ln/>
        </p:spPr>
      </p:sp>
      <p:sp>
        <p:nvSpPr>
          <p:cNvPr id="15" name="Text 12"/>
          <p:cNvSpPr txBox="1"/>
          <p:nvPr/>
        </p:nvSpPr>
        <p:spPr>
          <a:xfrm>
            <a:off x="4929530" y="2959608"/>
            <a:ext cx="3155594" cy="12588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400"/>
              </a:spcAft>
              <a:buNone/>
            </a:pPr>
            <a:r>
              <a:rPr lang="en-US" sz="1300" b="1" dirty="0">
                <a:solidFill>
                  <a:srgbClr val="C0392B"/>
                </a:solidFill>
              </a:rPr>
              <a:t>▲ Підвищення ПДВ / акцизів</a:t>
            </a:r>
            <a:endParaRPr lang="en-US" sz="13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300" b="1" dirty="0">
                <a:solidFill>
                  <a:srgbClr val="1E8449"/>
                </a:solidFill>
              </a:rPr>
              <a:t>▼ Охолодження попиту від обстрілів</a:t>
            </a:r>
            <a:endParaRPr lang="en-US" sz="1300" dirty="0"/>
          </a:p>
        </p:txBody>
      </p:sp>
      <p:sp>
        <p:nvSpPr>
          <p:cNvPr id="16" name="cell Середній/Сильний"/>
          <p:cNvSpPr/>
          <p:nvPr/>
        </p:nvSpPr>
        <p:spPr>
          <a:xfrm>
            <a:off x="8286293" y="2886456"/>
            <a:ext cx="3411626" cy="1405128"/>
          </a:xfrm>
          <a:prstGeom prst="rect">
            <a:avLst/>
          </a:prstGeom>
          <a:solidFill>
            <a:srgbClr val="B9D5CE"/>
          </a:solidFill>
          <a:ln/>
        </p:spPr>
      </p:sp>
      <p:sp>
        <p:nvSpPr>
          <p:cNvPr id="17" name="Text 14"/>
          <p:cNvSpPr txBox="1"/>
          <p:nvPr/>
        </p:nvSpPr>
        <p:spPr>
          <a:xfrm>
            <a:off x="8414309" y="2959608"/>
            <a:ext cx="3155594" cy="12588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400"/>
              </a:spcAft>
              <a:buNone/>
            </a:pPr>
            <a:r>
              <a:rPr lang="en-US" sz="1300" b="1" dirty="0">
                <a:solidFill>
                  <a:srgbClr val="C0392B"/>
                </a:solidFill>
              </a:rPr>
              <a:t>▲ Розбалансування очікувань домогосподарств</a:t>
            </a:r>
            <a:endParaRPr lang="en-US" sz="13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300" b="1" dirty="0">
                <a:solidFill>
                  <a:srgbClr val="C0392B"/>
                </a:solidFill>
              </a:rPr>
              <a:t>▲ Зарплатна спіраль (дефіцит кадрів)</a:t>
            </a:r>
            <a:endParaRPr lang="en-US" sz="1300" dirty="0"/>
          </a:p>
        </p:txBody>
      </p:sp>
      <p:sp>
        <p:nvSpPr>
          <p:cNvPr id="18" name="Text 15"/>
          <p:cNvSpPr txBox="1"/>
          <p:nvPr/>
        </p:nvSpPr>
        <p:spPr>
          <a:xfrm>
            <a:off x="457200" y="4328160"/>
            <a:ext cx="777240" cy="1478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accent6"/>
                </a:solidFill>
              </a:rPr>
              <a:t>Низький</a:t>
            </a:r>
            <a:endParaRPr lang="en-US" sz="1200" dirty="0"/>
          </a:p>
        </p:txBody>
      </p:sp>
      <p:sp>
        <p:nvSpPr>
          <p:cNvPr id="19" name="cell Низький/Слабкий"/>
          <p:cNvSpPr/>
          <p:nvPr/>
        </p:nvSpPr>
        <p:spPr>
          <a:xfrm>
            <a:off x="1316736" y="4364736"/>
            <a:ext cx="3411626" cy="1405128"/>
          </a:xfrm>
          <a:prstGeom prst="rect">
            <a:avLst/>
          </a:prstGeom>
          <a:solidFill>
            <a:srgbClr val="F4F8F7"/>
          </a:solidFill>
          <a:ln/>
        </p:spPr>
      </p:sp>
      <p:sp>
        <p:nvSpPr>
          <p:cNvPr id="20" name="cell Низький/Помірний"/>
          <p:cNvSpPr/>
          <p:nvPr/>
        </p:nvSpPr>
        <p:spPr>
          <a:xfrm>
            <a:off x="4801514" y="4364736"/>
            <a:ext cx="3411626" cy="1405128"/>
          </a:xfrm>
          <a:prstGeom prst="rect">
            <a:avLst/>
          </a:prstGeom>
          <a:solidFill>
            <a:srgbClr val="E3EEEB"/>
          </a:solidFill>
          <a:ln/>
        </p:spPr>
      </p:sp>
      <p:sp>
        <p:nvSpPr>
          <p:cNvPr id="21" name="Text 18"/>
          <p:cNvSpPr txBox="1"/>
          <p:nvPr/>
        </p:nvSpPr>
        <p:spPr>
          <a:xfrm>
            <a:off x="4929530" y="4437888"/>
            <a:ext cx="3155594" cy="12588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400"/>
              </a:spcAft>
              <a:buNone/>
            </a:pPr>
            <a:r>
              <a:rPr lang="en-US" sz="1300" b="1" dirty="0">
                <a:solidFill>
                  <a:srgbClr val="C0392B"/>
                </a:solidFill>
              </a:rPr>
              <a:t>▲ Швидше підвищення ставок ЄЦБ</a:t>
            </a:r>
            <a:endParaRPr lang="en-US" sz="1300" dirty="0"/>
          </a:p>
        </p:txBody>
      </p:sp>
      <p:sp>
        <p:nvSpPr>
          <p:cNvPr id="22" name="cell Низький/Сильний"/>
          <p:cNvSpPr/>
          <p:nvPr/>
        </p:nvSpPr>
        <p:spPr>
          <a:xfrm>
            <a:off x="8286293" y="4364736"/>
            <a:ext cx="3411626" cy="1405128"/>
          </a:xfrm>
          <a:prstGeom prst="rect">
            <a:avLst/>
          </a:prstGeom>
          <a:solidFill>
            <a:srgbClr val="CFE2DD"/>
          </a:solidFill>
          <a:ln/>
        </p:spPr>
      </p:sp>
      <p:sp>
        <p:nvSpPr>
          <p:cNvPr id="23" name="Text 20"/>
          <p:cNvSpPr txBox="1"/>
          <p:nvPr/>
        </p:nvSpPr>
        <p:spPr>
          <a:xfrm>
            <a:off x="8414309" y="4437888"/>
            <a:ext cx="3155594" cy="12588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400"/>
              </a:spcAft>
              <a:buNone/>
            </a:pPr>
            <a:r>
              <a:rPr lang="en-US" sz="1300" b="1" dirty="0">
                <a:solidFill>
                  <a:srgbClr val="1E8449"/>
                </a:solidFill>
              </a:rPr>
              <a:t>▼ Перемир'я, повернення мігрантів</a:t>
            </a:r>
            <a:endParaRPr lang="en-US" sz="13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300" b="1" dirty="0">
                <a:solidFill>
                  <a:srgbClr val="C0392B"/>
                </a:solidFill>
              </a:rPr>
              <a:t>▲ Ескалація, прорив фронту</a:t>
            </a:r>
            <a:endParaRPr lang="en-US" sz="1300" dirty="0"/>
          </a:p>
        </p:txBody>
      </p:sp>
      <p:sp>
        <p:nvSpPr>
          <p:cNvPr id="24" name="Text 21"/>
          <p:cNvSpPr txBox="1"/>
          <p:nvPr/>
        </p:nvSpPr>
        <p:spPr>
          <a:xfrm>
            <a:off x="1280160" y="5824728"/>
            <a:ext cx="348477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accent6"/>
                </a:solidFill>
              </a:rPr>
              <a:t>Слабкий</a:t>
            </a:r>
            <a:endParaRPr lang="en-US" sz="1200" dirty="0"/>
          </a:p>
        </p:txBody>
      </p:sp>
      <p:sp>
        <p:nvSpPr>
          <p:cNvPr id="25" name="Text 22"/>
          <p:cNvSpPr txBox="1"/>
          <p:nvPr/>
        </p:nvSpPr>
        <p:spPr>
          <a:xfrm>
            <a:off x="4764938" y="5824728"/>
            <a:ext cx="348477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accent6"/>
                </a:solidFill>
              </a:rPr>
              <a:t>Помірний</a:t>
            </a:r>
            <a:endParaRPr lang="en-US" sz="1200" dirty="0"/>
          </a:p>
        </p:txBody>
      </p:sp>
      <p:sp>
        <p:nvSpPr>
          <p:cNvPr id="26" name="Text 23"/>
          <p:cNvSpPr txBox="1"/>
          <p:nvPr/>
        </p:nvSpPr>
        <p:spPr>
          <a:xfrm>
            <a:off x="8249717" y="5824728"/>
            <a:ext cx="348477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accent6"/>
                </a:solidFill>
              </a:rPr>
              <a:t>Сильний</a:t>
            </a:r>
            <a:endParaRPr lang="en-US" sz="1200" dirty="0"/>
          </a:p>
        </p:txBody>
      </p:sp>
      <p:sp>
        <p:nvSpPr>
          <p:cNvPr id="27" name="Text 24"/>
          <p:cNvSpPr txBox="1"/>
          <p:nvPr/>
        </p:nvSpPr>
        <p:spPr>
          <a:xfrm>
            <a:off x="1280160" y="6099048"/>
            <a:ext cx="10454335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chemeClr val="accent6"/>
                </a:solidFill>
              </a:rPr>
              <a:t>Імовірність ↑   ·   Вплив на базовий сценарій →   ·   ▲ вища інфляція   ▼ нижча інфляція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5855" y="6473952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6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28</a:t>
            </a:fld>
            <a:endParaRPr lang="en-US"/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11277295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600" b="1" dirty="0">
                <a:solidFill>
                  <a:schemeClr val="accent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Додаток 7. Комунікація: «ставка — якір, курс — амортизатор»</a:t>
            </a:r>
            <a:endParaRPr lang="en-US" sz="2600" dirty="0"/>
          </a:p>
        </p:txBody>
      </p:sp>
      <p:sp>
        <p:nvSpPr>
          <p:cNvPr id="4" name="sources"/>
          <p:cNvSpPr txBox="1"/>
          <p:nvPr/>
        </p:nvSpPr>
        <p:spPr>
          <a:xfrm>
            <a:off x="4937760" y="6455664"/>
            <a:ext cx="611093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F6B6D"/>
                </a:solidFill>
              </a:rPr>
              <a:t>Джерела: </a:t>
            </a:r>
            <a:pPr indent="0" marL="0">
              <a:buNone/>
            </a:pPr>
            <a:r>
              <a:rPr lang="en-US" sz="900" u="sng" dirty="0">
                <a:solidFill>
                  <a:srgbClr val="5F6B6D"/>
                </a:solidFill>
                <a:hlinkClick r:id="rId1" invalidUrl="" action="" tgtFrame="" tooltip="https://bank.gov.ua/ua/news/all/natsionalniy-bank-ukrayini-pidvischiv-oblikovu-stavku-do-16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рішення НБУ 17.09.2026</a:t>
            </a:r>
            <a:endParaRPr lang="en-US" sz="900" dirty="0"/>
          </a:p>
        </p:txBody>
      </p:sp>
      <p:sp>
        <p:nvSpPr>
          <p:cNvPr id="5" name="press release"/>
          <p:cNvSpPr txBox="1"/>
          <p:nvPr/>
        </p:nvSpPr>
        <p:spPr>
          <a:xfrm>
            <a:off x="457200" y="4846320"/>
            <a:ext cx="11277295" cy="1463040"/>
          </a:xfrm>
          <a:prstGeom prst="rect">
            <a:avLst/>
          </a:prstGeom>
          <a:solidFill>
            <a:srgbClr val="FFFFFF"/>
          </a:solidFill>
          <a:ln w="15875">
            <a:solidFill>
              <a:srgbClr val="C98A00"/>
            </a:solidFill>
          </a:ln>
        </p:spPr>
        <p:txBody>
          <a:bodyPr wrap="square" lIns="76200" tIns="152400" rIns="152400" bIns="76200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chemeClr val="accent1"/>
                </a:solidFill>
              </a:rPr>
              <a:t>Проєкт пресрелізу: «Правління НБУ ухвалило рішення підвищити облікову ставку до 17% з огляду на прискорення інфляції, зміщення ризиків угору та зниження міжнародних резервів. НБУ утримуватиме ставку щонайменше до середини 2027 року та допускатиме більшу гнучкість курсу, згладжуючи надмірні коливання».</a:t>
            </a:r>
            <a:endParaRPr lang="en-US" sz="1400" dirty="0"/>
          </a:p>
        </p:txBody>
      </p:sp>
      <p:sp>
        <p:nvSpPr>
          <p:cNvPr id="6" name="card1"/>
          <p:cNvSpPr/>
          <p:nvPr/>
        </p:nvSpPr>
        <p:spPr>
          <a:xfrm>
            <a:off x="457200" y="1325880"/>
            <a:ext cx="3576218" cy="3246120"/>
          </a:xfrm>
          <a:prstGeom prst="roundRect">
            <a:avLst>
              <a:gd name="adj" fmla="val 2254"/>
            </a:avLst>
          </a:prstGeom>
          <a:solidFill>
            <a:srgbClr val="EAF1EF"/>
          </a:solidFill>
          <a:ln/>
        </p:spPr>
      </p:sp>
      <p:sp>
        <p:nvSpPr>
          <p:cNvPr id="7" name="badge1"/>
          <p:cNvSpPr/>
          <p:nvPr/>
        </p:nvSpPr>
        <p:spPr>
          <a:xfrm>
            <a:off x="685800" y="1554480"/>
            <a:ext cx="457200" cy="457200"/>
          </a:xfrm>
          <a:prstGeom prst="ellipse">
            <a:avLst/>
          </a:prstGeom>
          <a:solidFill>
            <a:srgbClr val="C98A00"/>
          </a:solidFill>
          <a:ln/>
        </p:spPr>
      </p:sp>
      <p:sp>
        <p:nvSpPr>
          <p:cNvPr id="8" name="Text 5"/>
          <p:cNvSpPr txBox="1"/>
          <p:nvPr/>
        </p:nvSpPr>
        <p:spPr>
          <a:xfrm>
            <a:off x="685800" y="155448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chemeClr val="bg1"/>
                </a:solidFill>
              </a:rPr>
              <a:t>1</a:t>
            </a:r>
            <a:endParaRPr lang="en-US" sz="1800" dirty="0"/>
          </a:p>
        </p:txBody>
      </p:sp>
      <p:sp>
        <p:nvSpPr>
          <p:cNvPr id="9" name="Text 6"/>
          <p:cNvSpPr txBox="1"/>
          <p:nvPr/>
        </p:nvSpPr>
        <p:spPr>
          <a:xfrm>
            <a:off x="1280160" y="1554480"/>
            <a:ext cx="257037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chemeClr val="accent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Ключові меседжі</a:t>
            </a:r>
            <a:endParaRPr lang="en-US" sz="1700" dirty="0"/>
          </a:p>
        </p:txBody>
      </p:sp>
      <p:sp>
        <p:nvSpPr>
          <p:cNvPr id="10" name="bullets"/>
          <p:cNvSpPr txBox="1"/>
          <p:nvPr/>
        </p:nvSpPr>
        <p:spPr>
          <a:xfrm>
            <a:off x="731520" y="2240280"/>
            <a:ext cx="3073298" cy="2148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chemeClr val="tx1"/>
                </a:solidFill>
              </a:rPr>
              <a:t>НБУ підвищує ставку на 1 в. п., щоб інфляція повернулася до ≈5% у 2028 році</a:t>
            </a:r>
            <a:endParaRPr lang="en-US" sz="140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chemeClr val="tx1"/>
                </a:solidFill>
              </a:rPr>
              <a:t>Курс не заморожений: НБУ згладжує коливання, але не фіксує рівень</a:t>
            </a:r>
            <a:endParaRPr lang="en-US" sz="140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chemeClr val="tx1"/>
                </a:solidFill>
              </a:rPr>
              <a:t>Обмежені обсяги депсертифікатів — щоб підвищення дійшло до ставок за депозитами</a:t>
            </a:r>
            <a:endParaRPr lang="en-US" sz="1400" dirty="0"/>
          </a:p>
        </p:txBody>
      </p:sp>
      <p:sp>
        <p:nvSpPr>
          <p:cNvPr id="11" name="card2"/>
          <p:cNvSpPr/>
          <p:nvPr/>
        </p:nvSpPr>
        <p:spPr>
          <a:xfrm>
            <a:off x="4307738" y="1325880"/>
            <a:ext cx="3576218" cy="3246120"/>
          </a:xfrm>
          <a:prstGeom prst="roundRect">
            <a:avLst>
              <a:gd name="adj" fmla="val 2254"/>
            </a:avLst>
          </a:prstGeom>
          <a:solidFill>
            <a:srgbClr val="EAF1EF"/>
          </a:solidFill>
          <a:ln/>
        </p:spPr>
      </p:sp>
      <p:sp>
        <p:nvSpPr>
          <p:cNvPr id="12" name="badge2"/>
          <p:cNvSpPr/>
          <p:nvPr/>
        </p:nvSpPr>
        <p:spPr>
          <a:xfrm>
            <a:off x="4536338" y="1554480"/>
            <a:ext cx="457200" cy="457200"/>
          </a:xfrm>
          <a:prstGeom prst="ellipse">
            <a:avLst/>
          </a:prstGeom>
          <a:solidFill>
            <a:srgbClr val="C98A00"/>
          </a:solidFill>
          <a:ln/>
        </p:spPr>
      </p:sp>
      <p:sp>
        <p:nvSpPr>
          <p:cNvPr id="13" name="Text 10"/>
          <p:cNvSpPr txBox="1"/>
          <p:nvPr/>
        </p:nvSpPr>
        <p:spPr>
          <a:xfrm>
            <a:off x="4536338" y="155448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chemeClr val="bg1"/>
                </a:solidFill>
              </a:rPr>
              <a:t>2</a:t>
            </a:r>
            <a:endParaRPr lang="en-US" sz="1800" dirty="0"/>
          </a:p>
        </p:txBody>
      </p:sp>
      <p:sp>
        <p:nvSpPr>
          <p:cNvPr id="14" name="Text 11"/>
          <p:cNvSpPr txBox="1"/>
          <p:nvPr/>
        </p:nvSpPr>
        <p:spPr>
          <a:xfrm>
            <a:off x="5130698" y="1554480"/>
            <a:ext cx="257037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chemeClr val="accent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Орієнтир для ринку</a:t>
            </a:r>
            <a:endParaRPr lang="en-US" sz="1700" dirty="0"/>
          </a:p>
        </p:txBody>
      </p:sp>
      <p:sp>
        <p:nvSpPr>
          <p:cNvPr id="15" name="bullets"/>
          <p:cNvSpPr txBox="1"/>
          <p:nvPr/>
        </p:nvSpPr>
        <p:spPr>
          <a:xfrm>
            <a:off x="4582058" y="2240280"/>
            <a:ext cx="3073298" cy="2148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chemeClr val="tx1"/>
                </a:solidFill>
              </a:rPr>
              <a:t>Утримання 17% щонайменше до середини 2027</a:t>
            </a:r>
            <a:endParaRPr lang="en-US" sz="140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chemeClr val="tx1"/>
                </a:solidFill>
              </a:rPr>
              <a:t>Пом'якшення — з другого півріччя 2027, якщо інфляція й очікування знижуватимуться</a:t>
            </a:r>
            <a:endParaRPr lang="en-US" sz="140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chemeClr val="tx1"/>
                </a:solidFill>
              </a:rPr>
              <a:t>Готовність до додаткових заходів, якщо резерви й курс опиняться під тиском</a:t>
            </a:r>
            <a:endParaRPr lang="en-US" sz="1400" dirty="0"/>
          </a:p>
        </p:txBody>
      </p:sp>
      <p:sp>
        <p:nvSpPr>
          <p:cNvPr id="16" name="card3"/>
          <p:cNvSpPr/>
          <p:nvPr/>
        </p:nvSpPr>
        <p:spPr>
          <a:xfrm>
            <a:off x="8158277" y="1325880"/>
            <a:ext cx="3576218" cy="3246120"/>
          </a:xfrm>
          <a:prstGeom prst="roundRect">
            <a:avLst>
              <a:gd name="adj" fmla="val 2254"/>
            </a:avLst>
          </a:prstGeom>
          <a:solidFill>
            <a:srgbClr val="EAF1EF"/>
          </a:solidFill>
          <a:ln/>
        </p:spPr>
      </p:sp>
      <p:sp>
        <p:nvSpPr>
          <p:cNvPr id="17" name="badge3"/>
          <p:cNvSpPr/>
          <p:nvPr/>
        </p:nvSpPr>
        <p:spPr>
          <a:xfrm>
            <a:off x="8386877" y="1554480"/>
            <a:ext cx="457200" cy="457200"/>
          </a:xfrm>
          <a:prstGeom prst="ellipse">
            <a:avLst/>
          </a:prstGeom>
          <a:solidFill>
            <a:srgbClr val="C98A00"/>
          </a:solidFill>
          <a:ln/>
        </p:spPr>
      </p:sp>
      <p:sp>
        <p:nvSpPr>
          <p:cNvPr id="18" name="Text 15"/>
          <p:cNvSpPr txBox="1"/>
          <p:nvPr/>
        </p:nvSpPr>
        <p:spPr>
          <a:xfrm>
            <a:off x="8386877" y="155448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chemeClr val="bg1"/>
                </a:solidFill>
              </a:rPr>
              <a:t>3</a:t>
            </a:r>
            <a:endParaRPr lang="en-US" sz="1800" dirty="0"/>
          </a:p>
        </p:txBody>
      </p:sp>
      <p:sp>
        <p:nvSpPr>
          <p:cNvPr id="19" name="Text 16"/>
          <p:cNvSpPr txBox="1"/>
          <p:nvPr/>
        </p:nvSpPr>
        <p:spPr>
          <a:xfrm>
            <a:off x="8981237" y="1554480"/>
            <a:ext cx="257037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chemeClr val="accent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Чого уникати</a:t>
            </a:r>
            <a:endParaRPr lang="en-US" sz="1700" dirty="0"/>
          </a:p>
        </p:txBody>
      </p:sp>
      <p:sp>
        <p:nvSpPr>
          <p:cNvPr id="20" name="bullets"/>
          <p:cNvSpPr txBox="1"/>
          <p:nvPr/>
        </p:nvSpPr>
        <p:spPr>
          <a:xfrm>
            <a:off x="8432597" y="2240280"/>
            <a:ext cx="3073298" cy="2148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chemeClr val="tx1"/>
                </a:solidFill>
              </a:rPr>
              <a:t>Обіцянок конкретного курсу</a:t>
            </a:r>
            <a:endParaRPr lang="en-US" sz="140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chemeClr val="tx1"/>
                </a:solidFill>
              </a:rPr>
              <a:t>Сигналів про швидке зниження ставки до стабілізації допомоги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5855" y="6473952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6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29</a:t>
            </a:fld>
            <a:endParaRPr lang="en-US"/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11277295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600" b="1" dirty="0">
                <a:solidFill>
                  <a:schemeClr val="accent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Додаток 8. Додаткові ризики: курс, очікування, ПДВ — ставка реагує за правилом</a:t>
            </a:r>
            <a:endParaRPr lang="en-US" sz="2600" dirty="0"/>
          </a:p>
        </p:txBody>
      </p:sp>
      <p:sp>
        <p:nvSpPr>
          <p:cNvPr id="4" name="sources"/>
          <p:cNvSpPr txBox="1"/>
          <p:nvPr/>
        </p:nvSpPr>
        <p:spPr>
          <a:xfrm>
            <a:off x="4937760" y="6455664"/>
            <a:ext cx="611093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F6B6D"/>
                </a:solidFill>
              </a:rPr>
              <a:t>Джерела: </a:t>
            </a:r>
            <a:pPr indent="0" marL="0">
              <a:buNone/>
            </a:pPr>
            <a:r>
              <a:rPr lang="en-US" sz="900" u="sng" dirty="0">
                <a:solidFill>
                  <a:srgbClr val="5F6B6D"/>
                </a:solidFill>
                <a:hlinkClick r:id="rId1" invalidUrl="" action="" tgtFrame="" tooltip="https://interfax.com.ua/news/economic/1205936.html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НБУ про ПДВ 21% (Interfax)</a:t>
            </a:r>
            <a:pPr indent="0" marL="0">
              <a:buNone/>
            </a:pPr>
            <a:r>
              <a:rPr lang="en-US" sz="900" dirty="0">
                <a:solidFill>
                  <a:srgbClr val="5F6B6D"/>
                </a:solidFill>
              </a:rPr>
              <a:t> · </a:t>
            </a:r>
            <a:pPr indent="0" marL="0">
              <a:buNone/>
            </a:pPr>
            <a:r>
              <a:rPr lang="en-US" sz="900" u="sng" dirty="0">
                <a:solidFill>
                  <a:srgbClr val="5F6B6D"/>
                </a:solidFill>
                <a:hlinkClick r:id="rId2" invalidUrl="" action="" tgtFrame="" tooltip="https://finance.yahoo.com/quote/BZ%3DF/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ф'ючерси Brent</a:t>
            </a:r>
            <a:pPr indent="0" marL="0">
              <a:buNone/>
            </a:pPr>
            <a:r>
              <a:rPr lang="en-US" sz="900" dirty="0">
                <a:solidFill>
                  <a:srgbClr val="5F6B6D"/>
                </a:solidFill>
              </a:rPr>
              <a:t> · </a:t>
            </a:r>
            <a:pPr indent="0" marL="0">
              <a:buNone/>
            </a:pPr>
            <a:r>
              <a:rPr lang="en-US" sz="900" u="sng" dirty="0">
                <a:solidFill>
                  <a:srgbClr val="5F6B6D"/>
                </a:solidFill>
                <a:hlinkClick r:id="rId3" invalidUrl="" action="" tgtFrame="" tooltip="https://bank.gov.ua/ua/news/all/pidsumki-diskusiyi-chleniv-komitetu-z-monetarnoyi-politiki-natsionalnogo-banku-schodo-rivnya-oblikovoyi-stavki-16-veresnya-2026-roku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підсумки дискусії КМП</a:t>
            </a:r>
            <a:endParaRPr lang="en-US" sz="900" dirty="0"/>
          </a:p>
        </p:txBody>
      </p:sp>
      <p:graphicFrame>
        <p:nvGraphicFramePr>
          <p:cNvPr id="31" name="table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325880"/>
          <a:ext cx="11277295" cy="914400"/>
        </p:xfrm>
        <a:graphic>
          <a:graphicData uri="http://schemas.openxmlformats.org/drawingml/2006/table">
            <a:tbl>
              <a:tblPr/>
              <a:tblGrid>
                <a:gridCol w="2286000"/>
                <a:gridCol w="4480560"/>
                <a:gridCol w="1143000"/>
                <a:gridCol w="1051560"/>
                <a:gridCol w="1097280"/>
                <a:gridCol w="1216152"/>
              </a:tblGrid>
              <a:tr h="5029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chemeClr val="bg1"/>
                          </a:solidFill>
                        </a:rPr>
                        <a:t>Ризик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3B43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chemeClr val="bg1"/>
                          </a:solidFill>
                        </a:rPr>
                        <a:t>Що закладено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3B43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chemeClr val="bg1"/>
                          </a:solidFill>
                        </a:rPr>
                        <a:t>ІСЦ IV кв. 27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3B43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chemeClr val="bg1"/>
                          </a:solidFill>
                        </a:rPr>
                        <a:t>ІСЦ пік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3B43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chemeClr val="bg1"/>
                          </a:solidFill>
                        </a:rPr>
                        <a:t>Ставка пік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3B43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chemeClr val="bg1"/>
                          </a:solidFill>
                        </a:rPr>
                        <a:t>грн/$ IV кв. 27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3B43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chemeClr val="tx1"/>
                          </a:solidFill>
                        </a:rPr>
                        <a:t>Базовий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Рішення 17% і траєкторія повернення до цілі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6,9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11,3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17,0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44,0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chemeClr val="tx1"/>
                          </a:solidFill>
                        </a:rPr>
                        <a:t>Курс як чекає ринок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1E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Гривня слабшає на 5,4% на рік до долара — як чекають аналітики (НБУ)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1E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12,6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1E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14,4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1E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20,6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1E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47,7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1EF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chemeClr val="tx1"/>
                          </a:solidFill>
                        </a:rPr>
                        <a:t>Розбалансування очікувань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Базова інфляція вища на 1 в. п. (кв/кв, у річному вимірі) щокварталу 2027 р.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8,9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12,7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18,2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43,8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chemeClr val="tx1"/>
                          </a:solidFill>
                        </a:rPr>
                        <a:t>ПДВ 21% з 2027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1E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Разове підвищення цін на ≈0,5% (оцінка НБУ: +0,4–0,7 в. п. до інфляції)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1E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7,1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1E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11,8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1E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17,1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1E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44,0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1EF"/>
                    </a:solidFill>
                  </a:tcPr>
                </a:tc>
              </a:tr>
            </a:tbl>
          </a:graphicData>
        </a:graphic>
      </p:graphicFrame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5855" y="6473952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6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30</a:t>
            </a:fld>
            <a:endParaRPr lang="en-US"/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11277295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600" b="1" dirty="0">
                <a:solidFill>
                  <a:schemeClr val="accent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Додаток 9. Модель: QPM НБУ + розширення команди</a:t>
            </a:r>
            <a:endParaRPr lang="en-US" sz="2600" dirty="0"/>
          </a:p>
        </p:txBody>
      </p:sp>
      <p:sp>
        <p:nvSpPr>
          <p:cNvPr id="4" name="sources"/>
          <p:cNvSpPr txBox="1"/>
          <p:nvPr/>
        </p:nvSpPr>
        <p:spPr>
          <a:xfrm>
            <a:off x="4937760" y="6455664"/>
            <a:ext cx="611093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F6B6D"/>
                </a:solidFill>
              </a:rPr>
              <a:t>Джерела: </a:t>
            </a:r>
            <a:pPr indent="0" marL="0">
              <a:buNone/>
            </a:pPr>
            <a:r>
              <a:rPr lang="en-US" sz="900" u="sng" dirty="0">
                <a:solidFill>
                  <a:srgbClr val="5F6B6D"/>
                </a:solidFill>
                <a:hlinkClick r:id="rId1" invalidUrl="" action="" tgtFrame="" tooltip="https://events.bank.gov.ua/uchallenge2026/files/nbu_challenge_model_2026.zip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модель-шаблон НБУ</a:t>
            </a:r>
            <a:pPr indent="0" marL="0">
              <a:buNone/>
            </a:pPr>
            <a:r>
              <a:rPr lang="en-US" sz="900" dirty="0">
                <a:solidFill>
                  <a:srgbClr val="5F6B6D"/>
                </a:solidFill>
              </a:rPr>
              <a:t> · </a:t>
            </a:r>
            <a:pPr indent="0" marL="0">
              <a:buNone/>
            </a:pPr>
            <a:r>
              <a:rPr lang="en-US" sz="900" u="sng" dirty="0">
                <a:solidFill>
                  <a:srgbClr val="5F6B6D"/>
                </a:solidFill>
                <a:hlinkClick r:id="rId2" invalidUrl="" action="" tgtFrame="" tooltip="https://bank.gov.ua/ua/open-data/api-dev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API НБУ</a:t>
            </a:r>
            <a:pPr indent="0" marL="0">
              <a:buNone/>
            </a:pPr>
            <a:r>
              <a:rPr lang="en-US" sz="900" dirty="0">
                <a:solidFill>
                  <a:srgbClr val="5F6B6D"/>
                </a:solidFill>
              </a:rPr>
              <a:t> · </a:t>
            </a:r>
            <a:pPr indent="0" marL="0">
              <a:buNone/>
            </a:pPr>
            <a:r>
              <a:rPr lang="en-US" sz="900" u="sng" dirty="0">
                <a:solidFill>
                  <a:srgbClr val="5F6B6D"/>
                </a:solidFill>
                <a:hlinkClick r:id="rId3" invalidUrl="" action="" tgtFrame="" tooltip="https://data.ecb.europa.eu/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ЄЦБ Data Portal</a:t>
            </a:r>
            <a:pPr indent="0" marL="0">
              <a:buNone/>
            </a:pPr>
            <a:r>
              <a:rPr lang="en-US" sz="900" dirty="0">
                <a:solidFill>
                  <a:srgbClr val="5F6B6D"/>
                </a:solidFill>
              </a:rPr>
              <a:t> · </a:t>
            </a:r>
            <a:pPr indent="0" marL="0">
              <a:buNone/>
            </a:pPr>
            <a:r>
              <a:rPr lang="en-US" sz="900" u="sng" dirty="0">
                <a:solidFill>
                  <a:srgbClr val="5F6B6D"/>
                </a:solidFill>
                <a:hlinkClick r:id="rId4" invalidUrl="" action="" tgtFrame="" tooltip="https://ec.europa.eu/eurostat/databrowser/view/prc_hicp_minr/default/table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Eurostat HICP</a:t>
            </a:r>
            <a:endParaRPr lang="en-US" sz="900" dirty="0"/>
          </a:p>
        </p:txBody>
      </p:sp>
      <p:sp>
        <p:nvSpPr>
          <p:cNvPr id="5" name="eq1"/>
          <p:cNvSpPr/>
          <p:nvPr/>
        </p:nvSpPr>
        <p:spPr>
          <a:xfrm>
            <a:off x="457200" y="1325880"/>
            <a:ext cx="11277295" cy="749808"/>
          </a:xfrm>
          <a:prstGeom prst="roundRect">
            <a:avLst>
              <a:gd name="adj" fmla="val 7317"/>
            </a:avLst>
          </a:prstGeom>
          <a:solidFill>
            <a:srgbClr val="EAF1EF"/>
          </a:solidFill>
          <a:ln w="6350">
            <a:solidFill>
              <a:srgbClr val="C9D6D3"/>
            </a:solidFill>
            <a:prstDash val="solid"/>
          </a:ln>
        </p:spPr>
      </p:sp>
      <p:sp>
        <p:nvSpPr>
          <p:cNvPr id="6" name="Text 3"/>
          <p:cNvSpPr txBox="1"/>
          <p:nvPr/>
        </p:nvSpPr>
        <p:spPr>
          <a:xfrm>
            <a:off x="685800" y="1325880"/>
            <a:ext cx="301752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chemeClr val="accent1"/>
                </a:solidFill>
              </a:rPr>
              <a:t>Попит (розрив ВВП)</a:t>
            </a:r>
            <a:endParaRPr lang="en-US" sz="1400" dirty="0"/>
          </a:p>
        </p:txBody>
      </p:sp>
      <p:sp>
        <p:nvSpPr>
          <p:cNvPr id="7" name="Text 4"/>
          <p:cNvSpPr txBox="1"/>
          <p:nvPr/>
        </p:nvSpPr>
        <p:spPr>
          <a:xfrm>
            <a:off x="3749040" y="1325880"/>
            <a:ext cx="7802575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chemeClr val="tx1"/>
                </a:solidFill>
                <a:latin typeface="Cambria Math" pitchFamily="34" charset="0"/>
                <a:ea typeface="Cambria Math" pitchFamily="34" charset="-122"/>
                <a:cs typeface="Cambria Math" pitchFamily="34" charset="-120"/>
              </a:rPr>
              <a:t>ŷₜ = 0,7·ŷₜ₋₁ − 0,4·MCIₜ + 0,3·ŷ*ₜ + εʸ;   MCI = −0,5·z̃ + 0,3·r̃ + 0,2·prem̃</a:t>
            </a:r>
            <a:endParaRPr lang="en-US" sz="1600" dirty="0"/>
          </a:p>
        </p:txBody>
      </p:sp>
      <p:sp>
        <p:nvSpPr>
          <p:cNvPr id="8" name="eq2"/>
          <p:cNvSpPr/>
          <p:nvPr/>
        </p:nvSpPr>
        <p:spPr>
          <a:xfrm>
            <a:off x="457200" y="2194560"/>
            <a:ext cx="11277295" cy="749808"/>
          </a:xfrm>
          <a:prstGeom prst="roundRect">
            <a:avLst>
              <a:gd name="adj" fmla="val 7317"/>
            </a:avLst>
          </a:prstGeom>
          <a:solidFill>
            <a:srgbClr val="FFFFFF"/>
          </a:solidFill>
          <a:ln w="6350">
            <a:solidFill>
              <a:srgbClr val="C9D6D3"/>
            </a:solidFill>
            <a:prstDash val="solid"/>
          </a:ln>
        </p:spPr>
      </p:sp>
      <p:sp>
        <p:nvSpPr>
          <p:cNvPr id="9" name="Text 6"/>
          <p:cNvSpPr txBox="1"/>
          <p:nvPr/>
        </p:nvSpPr>
        <p:spPr>
          <a:xfrm>
            <a:off x="685800" y="2194560"/>
            <a:ext cx="301752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chemeClr val="accent1"/>
                </a:solidFill>
              </a:rPr>
              <a:t>Базова інфляція (Філіпс)</a:t>
            </a:r>
            <a:endParaRPr lang="en-US" sz="1400" dirty="0"/>
          </a:p>
        </p:txBody>
      </p:sp>
      <p:sp>
        <p:nvSpPr>
          <p:cNvPr id="10" name="Text 7"/>
          <p:cNvSpPr txBox="1"/>
          <p:nvPr/>
        </p:nvSpPr>
        <p:spPr>
          <a:xfrm>
            <a:off x="3749040" y="2194560"/>
            <a:ext cx="7802575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chemeClr val="tx1"/>
                </a:solidFill>
                <a:latin typeface="Cambria Math" pitchFamily="34" charset="0"/>
                <a:ea typeface="Cambria Math" pitchFamily="34" charset="-122"/>
                <a:cs typeface="Cambria Math" pitchFamily="34" charset="-120"/>
              </a:rPr>
              <a:t>πᶜₜ = 0,4·πᶜₜ₋₁ + 0,6·Eₜπᶜₜ₊₁ + 0,3·rmcₜ + εᶜ;   rmc = 0,6·ŷ + 0,4·z̃,  z = s − pᶜ + p*</a:t>
            </a:r>
            <a:endParaRPr lang="en-US" sz="1600" dirty="0"/>
          </a:p>
        </p:txBody>
      </p:sp>
      <p:sp>
        <p:nvSpPr>
          <p:cNvPr id="11" name="eq3"/>
          <p:cNvSpPr/>
          <p:nvPr/>
        </p:nvSpPr>
        <p:spPr>
          <a:xfrm>
            <a:off x="457200" y="3063240"/>
            <a:ext cx="11277295" cy="749808"/>
          </a:xfrm>
          <a:prstGeom prst="roundRect">
            <a:avLst>
              <a:gd name="adj" fmla="val 7317"/>
            </a:avLst>
          </a:prstGeom>
          <a:solidFill>
            <a:srgbClr val="EAF1EF"/>
          </a:solidFill>
          <a:ln w="6350">
            <a:solidFill>
              <a:srgbClr val="C9D6D3"/>
            </a:solidFill>
            <a:prstDash val="solid"/>
          </a:ln>
        </p:spPr>
      </p:sp>
      <p:sp>
        <p:nvSpPr>
          <p:cNvPr id="12" name="Text 9"/>
          <p:cNvSpPr txBox="1"/>
          <p:nvPr/>
        </p:nvSpPr>
        <p:spPr>
          <a:xfrm>
            <a:off x="685800" y="3063240"/>
            <a:ext cx="301752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chemeClr val="accent1"/>
                </a:solidFill>
              </a:rPr>
              <a:t>Небазові ціни (наше)</a:t>
            </a:r>
            <a:endParaRPr lang="en-US" sz="1400" dirty="0"/>
          </a:p>
        </p:txBody>
      </p:sp>
      <p:sp>
        <p:nvSpPr>
          <p:cNvPr id="13" name="Text 10"/>
          <p:cNvSpPr txBox="1"/>
          <p:nvPr/>
        </p:nvSpPr>
        <p:spPr>
          <a:xfrm>
            <a:off x="3749040" y="3063240"/>
            <a:ext cx="7802575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chemeClr val="tx1"/>
                </a:solidFill>
                <a:latin typeface="Cambria Math" pitchFamily="34" charset="0"/>
                <a:ea typeface="Cambria Math" pitchFamily="34" charset="-122"/>
                <a:cs typeface="Cambria Math" pitchFamily="34" charset="-120"/>
              </a:rPr>
              <a:t>Δrncₜ = 0,3·Δrncₜ₋₁ + 0,016·(Δoilₜ + 4·Δzₜ) + εⁿᶜ;   πₜ = πᶜₜ + Δrncₜ</a:t>
            </a:r>
            <a:endParaRPr lang="en-US" sz="1600" dirty="0"/>
          </a:p>
        </p:txBody>
      </p:sp>
      <p:sp>
        <p:nvSpPr>
          <p:cNvPr id="14" name="eq4"/>
          <p:cNvSpPr/>
          <p:nvPr/>
        </p:nvSpPr>
        <p:spPr>
          <a:xfrm>
            <a:off x="457200" y="3931920"/>
            <a:ext cx="11277295" cy="749808"/>
          </a:xfrm>
          <a:prstGeom prst="roundRect">
            <a:avLst>
              <a:gd name="adj" fmla="val 7317"/>
            </a:avLst>
          </a:prstGeom>
          <a:solidFill>
            <a:srgbClr val="FFFFFF"/>
          </a:solidFill>
          <a:ln w="6350">
            <a:solidFill>
              <a:srgbClr val="C9D6D3"/>
            </a:solidFill>
            <a:prstDash val="solid"/>
          </a:ln>
        </p:spPr>
      </p:sp>
      <p:sp>
        <p:nvSpPr>
          <p:cNvPr id="15" name="Text 12"/>
          <p:cNvSpPr txBox="1"/>
          <p:nvPr/>
        </p:nvSpPr>
        <p:spPr>
          <a:xfrm>
            <a:off x="685800" y="3931920"/>
            <a:ext cx="301752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chemeClr val="accent1"/>
                </a:solidFill>
              </a:rPr>
              <a:t>Курс (керована гнучкість)</a:t>
            </a:r>
            <a:endParaRPr lang="en-US" sz="1400" dirty="0"/>
          </a:p>
        </p:txBody>
      </p:sp>
      <p:sp>
        <p:nvSpPr>
          <p:cNvPr id="16" name="Text 13"/>
          <p:cNvSpPr txBox="1"/>
          <p:nvPr/>
        </p:nvSpPr>
        <p:spPr>
          <a:xfrm>
            <a:off x="3749040" y="3931920"/>
            <a:ext cx="7802575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chemeClr val="tx1"/>
                </a:solidFill>
                <a:latin typeface="Cambria Math" pitchFamily="34" charset="0"/>
                <a:ea typeface="Cambria Math" pitchFamily="34" charset="-122"/>
                <a:cs typeface="Cambria Math" pitchFamily="34" charset="-120"/>
              </a:rPr>
              <a:t>sₜ = β·s̄ₜ + (1−β)·sᵘⁱᵖₜ,  β = 0,7;   sᵘⁱᵖ = Eₜsₜ₊₁ + (i* + prem − i)/4</a:t>
            </a:r>
            <a:endParaRPr lang="en-US" sz="1600" dirty="0"/>
          </a:p>
        </p:txBody>
      </p:sp>
      <p:sp>
        <p:nvSpPr>
          <p:cNvPr id="17" name="eq5"/>
          <p:cNvSpPr/>
          <p:nvPr/>
        </p:nvSpPr>
        <p:spPr>
          <a:xfrm>
            <a:off x="457200" y="4800600"/>
            <a:ext cx="11277295" cy="749808"/>
          </a:xfrm>
          <a:prstGeom prst="roundRect">
            <a:avLst>
              <a:gd name="adj" fmla="val 7317"/>
            </a:avLst>
          </a:prstGeom>
          <a:solidFill>
            <a:srgbClr val="EAF1EF"/>
          </a:solidFill>
          <a:ln w="6350">
            <a:solidFill>
              <a:srgbClr val="C9D6D3"/>
            </a:solidFill>
            <a:prstDash val="solid"/>
          </a:ln>
        </p:spPr>
      </p:sp>
      <p:sp>
        <p:nvSpPr>
          <p:cNvPr id="18" name="Text 15"/>
          <p:cNvSpPr txBox="1"/>
          <p:nvPr/>
        </p:nvSpPr>
        <p:spPr>
          <a:xfrm>
            <a:off x="685800" y="4800600"/>
            <a:ext cx="301752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chemeClr val="accent1"/>
                </a:solidFill>
              </a:rPr>
              <a:t>Ставка (правило Тейлора)</a:t>
            </a:r>
            <a:endParaRPr lang="en-US" sz="1400" dirty="0"/>
          </a:p>
        </p:txBody>
      </p:sp>
      <p:sp>
        <p:nvSpPr>
          <p:cNvPr id="19" name="Text 16"/>
          <p:cNvSpPr txBox="1"/>
          <p:nvPr/>
        </p:nvSpPr>
        <p:spPr>
          <a:xfrm>
            <a:off x="3749040" y="4800600"/>
            <a:ext cx="7802575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chemeClr val="tx1"/>
                </a:solidFill>
                <a:latin typeface="Cambria Math" pitchFamily="34" charset="0"/>
                <a:ea typeface="Cambria Math" pitchFamily="34" charset="-122"/>
                <a:cs typeface="Cambria Math" pitchFamily="34" charset="-120"/>
              </a:rPr>
              <a:t>iₜ = 0,8·iₜ₋₁ + 0,2·(r̄ₜ + Eπₜ₊₁ + (Eπₜ₊₃ − π*) + 0,5·ŷₜ) + εⁱ</a:t>
            </a:r>
            <a:endParaRPr lang="en-US" sz="1600" dirty="0"/>
          </a:p>
        </p:txBody>
      </p:sp>
      <p:sp>
        <p:nvSpPr>
          <p:cNvPr id="20" name="num1"/>
          <p:cNvSpPr/>
          <p:nvPr/>
        </p:nvSpPr>
        <p:spPr>
          <a:xfrm>
            <a:off x="457200" y="5916168"/>
            <a:ext cx="310896" cy="310896"/>
          </a:xfrm>
          <a:prstGeom prst="ellipse">
            <a:avLst/>
          </a:prstGeom>
          <a:solidFill>
            <a:srgbClr val="C98A00"/>
          </a:solidFill>
          <a:ln/>
        </p:spPr>
      </p:sp>
      <p:sp>
        <p:nvSpPr>
          <p:cNvPr id="21" name="Text 18"/>
          <p:cNvSpPr txBox="1"/>
          <p:nvPr/>
        </p:nvSpPr>
        <p:spPr>
          <a:xfrm>
            <a:off x="457200" y="5916168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bg1"/>
                </a:solidFill>
              </a:rPr>
              <a:t>1</a:t>
            </a:r>
            <a:endParaRPr lang="en-US" sz="1200" dirty="0"/>
          </a:p>
        </p:txBody>
      </p:sp>
      <p:sp>
        <p:nvSpPr>
          <p:cNvPr id="22" name="point1"/>
          <p:cNvSpPr txBox="1"/>
          <p:nvPr/>
        </p:nvSpPr>
        <p:spPr>
          <a:xfrm>
            <a:off x="868680" y="5897880"/>
            <a:ext cx="316473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Калібрування — шаблон НБУ (Grui, Vdovychenko, 2019); вага нафти — наша</a:t>
            </a:r>
            <a:endParaRPr lang="en-US" sz="1300" dirty="0"/>
          </a:p>
        </p:txBody>
      </p:sp>
      <p:sp>
        <p:nvSpPr>
          <p:cNvPr id="23" name="num2"/>
          <p:cNvSpPr/>
          <p:nvPr/>
        </p:nvSpPr>
        <p:spPr>
          <a:xfrm>
            <a:off x="4307738" y="5916168"/>
            <a:ext cx="310896" cy="310896"/>
          </a:xfrm>
          <a:prstGeom prst="ellipse">
            <a:avLst/>
          </a:prstGeom>
          <a:solidFill>
            <a:srgbClr val="C98A00"/>
          </a:solidFill>
          <a:ln/>
        </p:spPr>
      </p:sp>
      <p:sp>
        <p:nvSpPr>
          <p:cNvPr id="24" name="Text 21"/>
          <p:cNvSpPr txBox="1"/>
          <p:nvPr/>
        </p:nvSpPr>
        <p:spPr>
          <a:xfrm>
            <a:off x="4307738" y="5916168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bg1"/>
                </a:solidFill>
              </a:rPr>
              <a:t>2</a:t>
            </a:r>
            <a:endParaRPr lang="en-US" sz="1200" dirty="0"/>
          </a:p>
        </p:txBody>
      </p:sp>
      <p:sp>
        <p:nvSpPr>
          <p:cNvPr id="25" name="point2"/>
          <p:cNvSpPr txBox="1"/>
          <p:nvPr/>
        </p:nvSpPr>
        <p:spPr>
          <a:xfrm>
            <a:off x="4719218" y="5897880"/>
            <a:ext cx="316473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Темпи в моделі — 100·ln-різниці, на слайдах — % р/р: π* = 4,88 = 5% р/р</a:t>
            </a:r>
            <a:endParaRPr lang="en-US" sz="1300" dirty="0"/>
          </a:p>
        </p:txBody>
      </p:sp>
      <p:sp>
        <p:nvSpPr>
          <p:cNvPr id="26" name="num3"/>
          <p:cNvSpPr/>
          <p:nvPr/>
        </p:nvSpPr>
        <p:spPr>
          <a:xfrm>
            <a:off x="8158277" y="5916168"/>
            <a:ext cx="310896" cy="310896"/>
          </a:xfrm>
          <a:prstGeom prst="ellipse">
            <a:avLst/>
          </a:prstGeom>
          <a:solidFill>
            <a:srgbClr val="C98A00"/>
          </a:solidFill>
          <a:ln/>
        </p:spPr>
      </p:sp>
      <p:sp>
        <p:nvSpPr>
          <p:cNvPr id="27" name="Text 24"/>
          <p:cNvSpPr txBox="1"/>
          <p:nvPr/>
        </p:nvSpPr>
        <p:spPr>
          <a:xfrm>
            <a:off x="8158277" y="5916168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bg1"/>
                </a:solidFill>
              </a:rPr>
              <a:t>3</a:t>
            </a:r>
            <a:endParaRPr lang="en-US" sz="1200" dirty="0"/>
          </a:p>
        </p:txBody>
      </p:sp>
      <p:sp>
        <p:nvSpPr>
          <p:cNvPr id="28" name="point3"/>
          <p:cNvSpPr txBox="1"/>
          <p:nvPr/>
        </p:nvSpPr>
        <p:spPr>
          <a:xfrm>
            <a:off x="8569757" y="5897880"/>
            <a:ext cx="316473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Тренди й розриви — фільтр Калмана, 2016–2026; злам 2022: шок потенційного ВВП, розрив −18% у II кв.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5855" y="6473952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6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31</a:t>
            </a:fld>
            <a:endParaRPr lang="en-US"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11277295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600" b="1" dirty="0">
                <a:solidFill>
                  <a:schemeClr val="accent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Додаток 10. Реакція на шок ставки залежить від контролю над курсом (β)</a:t>
            </a:r>
            <a:endParaRPr lang="en-US" sz="2600" dirty="0"/>
          </a:p>
        </p:txBody>
      </p:sp>
      <p:sp>
        <p:nvSpPr>
          <p:cNvPr id="4" name="sources"/>
          <p:cNvSpPr txBox="1"/>
          <p:nvPr/>
        </p:nvSpPr>
        <p:spPr>
          <a:xfrm>
            <a:off x="4937760" y="6455664"/>
            <a:ext cx="611093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F6B6D"/>
                </a:solidFill>
              </a:rPr>
              <a:t>Джерела: </a:t>
            </a:r>
            <a:pPr indent="0" marL="0">
              <a:buNone/>
            </a:pPr>
            <a:r>
              <a:rPr lang="en-US" sz="900" u="sng" dirty="0">
                <a:solidFill>
                  <a:srgbClr val="5F6B6D"/>
                </a:solidFill>
                <a:hlinkClick r:id="rId1" invalidUrl="" action="" tgtFrame="" tooltip="https://events.bank.gov.ua/uchallenge2026/files/nbu_challenge_model_2026.zip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модель-шаблон НБУ</a:t>
            </a:r>
            <a:endParaRPr lang="en-US" sz="900" dirty="0"/>
          </a:p>
        </p:txBody>
      </p:sp>
      <p:pic>
        <p:nvPicPr>
          <p:cNvPr id="5" name="chart" descr="C:\Users\Lenovo\Documents\GitHub\nbu-challenge-2026\results\figures\ml_irf_rate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236266" y="1325880"/>
            <a:ext cx="9719163" cy="4983480"/>
          </a:xfrm>
          <a:prstGeom prst="rect">
            <a:avLst/>
          </a:prstGeom>
        </p:spPr>
      </p:pic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5855" y="6473952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6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32</a:t>
            </a:fld>
            <a:endParaRPr lang="en-US"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11277295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600" b="1" dirty="0">
                <a:solidFill>
                  <a:schemeClr val="accent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Додаток 11. Ставка має лишатися високою, доки прогноз інфляції вищий за ціль на 3–4 в. п.</a:t>
            </a:r>
            <a:endParaRPr lang="en-US" sz="2600" dirty="0"/>
          </a:p>
        </p:txBody>
      </p:sp>
      <p:sp>
        <p:nvSpPr>
          <p:cNvPr id="4" name="sources"/>
          <p:cNvSpPr txBox="1"/>
          <p:nvPr/>
        </p:nvSpPr>
        <p:spPr>
          <a:xfrm>
            <a:off x="4937760" y="6455664"/>
            <a:ext cx="611093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F6B6D"/>
                </a:solidFill>
              </a:rPr>
              <a:t>Джерела: </a:t>
            </a:r>
            <a:pPr indent="0" marL="0">
              <a:buNone/>
            </a:pPr>
            <a:r>
              <a:rPr lang="en-US" sz="900" u="sng" dirty="0">
                <a:solidFill>
                  <a:srgbClr val="5F6B6D"/>
                </a:solidFill>
                <a:hlinkClick r:id="rId1" invalidUrl="" action="" tgtFrame="" tooltip="https://events.bank.gov.ua/uchallenge2026/files/nbu_challenge_model_2026.zip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модель-шаблон НБУ</a:t>
            </a:r>
            <a:endParaRPr lang="en-US" sz="900" dirty="0"/>
          </a:p>
        </p:txBody>
      </p:sp>
      <p:pic>
        <p:nvPicPr>
          <p:cNvPr id="5" name="chart" descr="C:\Users\Lenovo\Documents\GitHub\nbu-challenge-2026\results\figures\fc_rate_drivers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1325880"/>
            <a:ext cx="7040880" cy="2947885"/>
          </a:xfrm>
          <a:prstGeom prst="rect">
            <a:avLst/>
          </a:prstGeom>
        </p:spPr>
      </p:pic>
      <p:sp>
        <p:nvSpPr>
          <p:cNvPr id="6" name="bullets"/>
          <p:cNvSpPr txBox="1"/>
          <p:nvPr/>
        </p:nvSpPr>
        <p:spPr>
          <a:xfrm>
            <a:off x="7818120" y="1417320"/>
            <a:ext cx="3916375" cy="4892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chemeClr val="tx1"/>
                </a:solidFill>
              </a:rPr>
              <a:t>Головний чинник — прогноз інфляції на 3 квартали вперед вище цілі</a:t>
            </a:r>
            <a:endParaRPr lang="en-US" sz="140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chemeClr val="tx1"/>
                </a:solidFill>
              </a:rPr>
              <a:t>Внесок розриву ВВП у правило невеликий (вага 0,5) — головне прогноз інфляції; але додатний розрив підтримує ціни послуг</a:t>
            </a:r>
            <a:endParaRPr lang="en-US" sz="140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chemeClr val="tx1"/>
                </a:solidFill>
              </a:rPr>
              <a:t>З другого півріччя 2027 внесок інфляції зменшується → простір для зниження ставки</a:t>
            </a:r>
            <a:endParaRPr lang="en-US" sz="140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chemeClr val="tx1"/>
                </a:solidFill>
              </a:rPr>
              <a:t>Лінія — наша траєкторія ставки (повернення до цілі), стовпці — чинники правила Тейлора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5855" y="6473952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6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33</a:t>
            </a:fld>
            <a:endParaRPr lang="en-US"/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11277295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600" b="1" dirty="0">
                <a:solidFill>
                  <a:schemeClr val="accent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Додаток 12. Python і MATLAB/IRIS дають той самий прогноз (розбіжність ~1e−5)</a:t>
            </a:r>
            <a:endParaRPr lang="en-US" sz="2600" dirty="0"/>
          </a:p>
        </p:txBody>
      </p:sp>
      <p:pic>
        <p:nvPicPr>
          <p:cNvPr id="4" name="chart" descr="C:\Users\Lenovo\Documents\GitHub\nbu-challenge-2026\results\figures\fc_matlab_check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240708" y="1325880"/>
            <a:ext cx="9710280" cy="3703320"/>
          </a:xfrm>
          <a:prstGeom prst="rect">
            <a:avLst/>
          </a:prstGeom>
        </p:spPr>
      </p:pic>
      <p:sp>
        <p:nvSpPr>
          <p:cNvPr id="5" name="num1"/>
          <p:cNvSpPr/>
          <p:nvPr/>
        </p:nvSpPr>
        <p:spPr>
          <a:xfrm>
            <a:off x="457200" y="5276088"/>
            <a:ext cx="310896" cy="310896"/>
          </a:xfrm>
          <a:prstGeom prst="ellipse">
            <a:avLst/>
          </a:prstGeom>
          <a:solidFill>
            <a:srgbClr val="C98A00"/>
          </a:solidFill>
          <a:ln/>
        </p:spPr>
      </p:sp>
      <p:sp>
        <p:nvSpPr>
          <p:cNvPr id="6" name="Text 2"/>
          <p:cNvSpPr txBox="1"/>
          <p:nvPr/>
        </p:nvSpPr>
        <p:spPr>
          <a:xfrm>
            <a:off x="457200" y="5276088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bg1"/>
                </a:solidFill>
              </a:rPr>
              <a:t>1</a:t>
            </a:r>
            <a:endParaRPr lang="en-US" sz="1200" dirty="0"/>
          </a:p>
        </p:txBody>
      </p:sp>
      <p:sp>
        <p:nvSpPr>
          <p:cNvPr id="7" name="point1"/>
          <p:cNvSpPr txBox="1"/>
          <p:nvPr/>
        </p:nvSpPr>
        <p:spPr>
          <a:xfrm>
            <a:off x="868680" y="5257800"/>
            <a:ext cx="3164738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Один файл моделі model/model.model, ті самі дані, параметри й плани всіх 5 сценаріїв</a:t>
            </a:r>
            <a:endParaRPr lang="en-US" sz="1300" dirty="0"/>
          </a:p>
        </p:txBody>
      </p:sp>
      <p:sp>
        <p:nvSpPr>
          <p:cNvPr id="8" name="num2"/>
          <p:cNvSpPr/>
          <p:nvPr/>
        </p:nvSpPr>
        <p:spPr>
          <a:xfrm>
            <a:off x="4307738" y="5276088"/>
            <a:ext cx="310896" cy="310896"/>
          </a:xfrm>
          <a:prstGeom prst="ellipse">
            <a:avLst/>
          </a:prstGeom>
          <a:solidFill>
            <a:srgbClr val="C98A00"/>
          </a:solidFill>
          <a:ln/>
        </p:spPr>
      </p:sp>
      <p:sp>
        <p:nvSpPr>
          <p:cNvPr id="9" name="Text 5"/>
          <p:cNvSpPr txBox="1"/>
          <p:nvPr/>
        </p:nvSpPr>
        <p:spPr>
          <a:xfrm>
            <a:off x="4307738" y="5276088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bg1"/>
                </a:solidFill>
              </a:rPr>
              <a:t>2</a:t>
            </a:r>
            <a:endParaRPr lang="en-US" sz="1200" dirty="0"/>
          </a:p>
        </p:txBody>
      </p:sp>
      <p:sp>
        <p:nvSpPr>
          <p:cNvPr id="10" name="point2"/>
          <p:cNvSpPr txBox="1"/>
          <p:nvPr/>
        </p:nvSpPr>
        <p:spPr>
          <a:xfrm>
            <a:off x="4719218" y="5257800"/>
            <a:ext cx="3164738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Фільтр Калмана 2016–2026 і прогнози до 2029 збігаються з точністю до округлення</a:t>
            </a:r>
            <a:endParaRPr lang="en-US" sz="1300" dirty="0"/>
          </a:p>
        </p:txBody>
      </p:sp>
      <p:sp>
        <p:nvSpPr>
          <p:cNvPr id="11" name="num3"/>
          <p:cNvSpPr/>
          <p:nvPr/>
        </p:nvSpPr>
        <p:spPr>
          <a:xfrm>
            <a:off x="8158277" y="5276088"/>
            <a:ext cx="310896" cy="310896"/>
          </a:xfrm>
          <a:prstGeom prst="ellipse">
            <a:avLst/>
          </a:prstGeom>
          <a:solidFill>
            <a:srgbClr val="C98A00"/>
          </a:solidFill>
          <a:ln/>
        </p:spPr>
      </p:sp>
      <p:sp>
        <p:nvSpPr>
          <p:cNvPr id="12" name="Text 8"/>
          <p:cNvSpPr txBox="1"/>
          <p:nvPr/>
        </p:nvSpPr>
        <p:spPr>
          <a:xfrm>
            <a:off x="8158277" y="5276088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bg1"/>
                </a:solidFill>
              </a:rPr>
              <a:t>3</a:t>
            </a:r>
            <a:endParaRPr lang="en-US" sz="1200" dirty="0"/>
          </a:p>
        </p:txBody>
      </p:sp>
      <p:sp>
        <p:nvSpPr>
          <p:cNvPr id="13" name="point3"/>
          <p:cNvSpPr txBox="1"/>
          <p:nvPr/>
        </p:nvSpPr>
        <p:spPr>
          <a:xfrm>
            <a:off x="8569757" y="5257800"/>
            <a:ext cx="3164738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Збірка однією командою: python build.py → MATLAB → звірка → графіки → презентація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5855" y="6473952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6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34</a:t>
            </a:fld>
            <a:endParaRPr lang="en-US"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11277295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600" b="1" dirty="0">
                <a:solidFill>
                  <a:schemeClr val="accent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Додаток 13. Бектест: прогноз з даними до III кв. 2025</a:t>
            </a:r>
            <a:endParaRPr lang="en-US" sz="2600" dirty="0"/>
          </a:p>
        </p:txBody>
      </p:sp>
      <p:sp>
        <p:nvSpPr>
          <p:cNvPr id="4" name="sources"/>
          <p:cNvSpPr txBox="1"/>
          <p:nvPr/>
        </p:nvSpPr>
        <p:spPr>
          <a:xfrm>
            <a:off x="4937760" y="6455664"/>
            <a:ext cx="611093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F6B6D"/>
                </a:solidFill>
              </a:rPr>
              <a:t>Джерела: </a:t>
            </a:r>
            <a:pPr indent="0" marL="0">
              <a:buNone/>
            </a:pPr>
            <a:r>
              <a:rPr lang="en-US" sz="900" u="sng" dirty="0">
                <a:solidFill>
                  <a:srgbClr val="5F6B6D"/>
                </a:solidFill>
                <a:hlinkClick r:id="rId1" invalidUrl="" action="" tgtFrame="" tooltip="https://bank.gov.ua/ua/open-data/api-dev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API НБУ</a:t>
            </a:r>
            <a:endParaRPr lang="en-US" sz="900" dirty="0"/>
          </a:p>
        </p:txBody>
      </p:sp>
      <p:pic>
        <p:nvPicPr>
          <p:cNvPr id="5" name="chart" descr="C:\Users\Lenovo\Documents\GitHub\nbu-challenge-2026\results\figures\fc_backtest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77770" y="1325880"/>
            <a:ext cx="10436154" cy="3703320"/>
          </a:xfrm>
          <a:prstGeom prst="rect">
            <a:avLst/>
          </a:prstGeom>
        </p:spPr>
      </p:pic>
      <p:sp>
        <p:nvSpPr>
          <p:cNvPr id="6" name="num1"/>
          <p:cNvSpPr/>
          <p:nvPr/>
        </p:nvSpPr>
        <p:spPr>
          <a:xfrm>
            <a:off x="457200" y="5276088"/>
            <a:ext cx="310896" cy="310896"/>
          </a:xfrm>
          <a:prstGeom prst="ellipse">
            <a:avLst/>
          </a:prstGeom>
          <a:solidFill>
            <a:srgbClr val="C98A00"/>
          </a:solidFill>
          <a:ln/>
        </p:spPr>
      </p:sp>
      <p:sp>
        <p:nvSpPr>
          <p:cNvPr id="7" name="Text 3"/>
          <p:cNvSpPr txBox="1"/>
          <p:nvPr/>
        </p:nvSpPr>
        <p:spPr>
          <a:xfrm>
            <a:off x="457200" y="5276088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bg1"/>
                </a:solidFill>
              </a:rPr>
              <a:t>1</a:t>
            </a:r>
            <a:endParaRPr lang="en-US" sz="1200" dirty="0"/>
          </a:p>
        </p:txBody>
      </p:sp>
      <p:sp>
        <p:nvSpPr>
          <p:cNvPr id="8" name="point1"/>
          <p:cNvSpPr txBox="1"/>
          <p:nvPr/>
        </p:nvSpPr>
        <p:spPr>
          <a:xfrm>
            <a:off x="868680" y="5257800"/>
            <a:ext cx="3164738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Помилка прогнозу ІСЦ на 4 квартали: 0,8–1,0 в. п. («без змін»: 1,3–6,1); лише 3 прогони, зовнішні умови — фактичні, тож це перевірка, а не доказ переваги над НБУ</a:t>
            </a:r>
            <a:endParaRPr lang="en-US" sz="1300" dirty="0"/>
          </a:p>
        </p:txBody>
      </p:sp>
      <p:sp>
        <p:nvSpPr>
          <p:cNvPr id="9" name="num2"/>
          <p:cNvSpPr/>
          <p:nvPr/>
        </p:nvSpPr>
        <p:spPr>
          <a:xfrm>
            <a:off x="4307738" y="5276088"/>
            <a:ext cx="310896" cy="310896"/>
          </a:xfrm>
          <a:prstGeom prst="ellipse">
            <a:avLst/>
          </a:prstGeom>
          <a:solidFill>
            <a:srgbClr val="C98A00"/>
          </a:solidFill>
          <a:ln/>
        </p:spPr>
      </p:sp>
      <p:sp>
        <p:nvSpPr>
          <p:cNvPr id="10" name="Text 6"/>
          <p:cNvSpPr txBox="1"/>
          <p:nvPr/>
        </p:nvSpPr>
        <p:spPr>
          <a:xfrm>
            <a:off x="4307738" y="5276088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bg1"/>
                </a:solidFill>
              </a:rPr>
              <a:t>2</a:t>
            </a:r>
            <a:endParaRPr lang="en-US" sz="1200" dirty="0"/>
          </a:p>
        </p:txBody>
      </p:sp>
      <p:sp>
        <p:nvSpPr>
          <p:cNvPr id="11" name="point2"/>
          <p:cNvSpPr txBox="1"/>
          <p:nvPr/>
        </p:nvSpPr>
        <p:spPr>
          <a:xfrm>
            <a:off x="4719218" y="5257800"/>
            <a:ext cx="3164738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Ставку краще прогнозує «без змін»: НБУ змінює її рідко</a:t>
            </a:r>
            <a:endParaRPr lang="en-US" sz="1300" dirty="0"/>
          </a:p>
        </p:txBody>
      </p:sp>
      <p:sp>
        <p:nvSpPr>
          <p:cNvPr id="12" name="num3"/>
          <p:cNvSpPr/>
          <p:nvPr/>
        </p:nvSpPr>
        <p:spPr>
          <a:xfrm>
            <a:off x="8158277" y="5276088"/>
            <a:ext cx="310896" cy="310896"/>
          </a:xfrm>
          <a:prstGeom prst="ellipse">
            <a:avLst/>
          </a:prstGeom>
          <a:solidFill>
            <a:srgbClr val="C98A00"/>
          </a:solidFill>
          <a:ln/>
        </p:spPr>
      </p:sp>
      <p:sp>
        <p:nvSpPr>
          <p:cNvPr id="13" name="Text 9"/>
          <p:cNvSpPr txBox="1"/>
          <p:nvPr/>
        </p:nvSpPr>
        <p:spPr>
          <a:xfrm>
            <a:off x="8158277" y="5276088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bg1"/>
                </a:solidFill>
              </a:rPr>
              <a:t>3</a:t>
            </a:r>
            <a:endParaRPr lang="en-US" sz="1200" dirty="0"/>
          </a:p>
        </p:txBody>
      </p:sp>
      <p:sp>
        <p:nvSpPr>
          <p:cNvPr id="14" name="point3"/>
          <p:cNvSpPr txBox="1"/>
          <p:nvPr/>
        </p:nvSpPr>
        <p:spPr>
          <a:xfrm>
            <a:off x="8569757" y="5257800"/>
            <a:ext cx="3164738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Курс грн/€ модель не прогнозує краще за наївний — залежить від EUR/USD (обмеження моделі)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5855" y="6473952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6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35</a:t>
            </a:fld>
            <a:endParaRPr lang="en-US"/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11277295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600" b="1" dirty="0">
                <a:solidFill>
                  <a:schemeClr val="accent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Додаток 14. Базовий прогноз по півріччях</a:t>
            </a:r>
            <a:endParaRPr lang="en-US" sz="2600" dirty="0"/>
          </a:p>
        </p:txBody>
      </p:sp>
      <p:graphicFrame>
        <p:nvGraphicFramePr>
          <p:cNvPr id="37" name="table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325880"/>
          <a:ext cx="11277295" cy="914400"/>
        </p:xfrm>
        <a:graphic>
          <a:graphicData uri="http://schemas.openxmlformats.org/drawingml/2006/table">
            <a:tbl>
              <a:tblPr/>
              <a:tblGrid>
                <a:gridCol w="2926080"/>
                <a:gridCol w="1193031"/>
                <a:gridCol w="1193031"/>
                <a:gridCol w="1193031"/>
                <a:gridCol w="1193031"/>
                <a:gridCol w="1193031"/>
                <a:gridCol w="1193031"/>
                <a:gridCol w="1193031"/>
              </a:tblGrid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chemeClr val="bg1"/>
                          </a:solidFill>
                        </a:rPr>
                        <a:t>Показник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3B43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chemeClr val="bg1"/>
                          </a:solidFill>
                        </a:rPr>
                        <a:t>IV кв. 2026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3B43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chemeClr val="bg1"/>
                          </a:solidFill>
                        </a:rPr>
                        <a:t>II кв. 2027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3B43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chemeClr val="bg1"/>
                          </a:solidFill>
                        </a:rPr>
                        <a:t>IV кв. 2027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3B43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chemeClr val="bg1"/>
                          </a:solidFill>
                        </a:rPr>
                        <a:t>II кв. 2028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3B43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chemeClr val="bg1"/>
                          </a:solidFill>
                        </a:rPr>
                        <a:t>IV кв. 2028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3B43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chemeClr val="bg1"/>
                          </a:solidFill>
                        </a:rPr>
                        <a:t>II кв. 2029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3B43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chemeClr val="bg1"/>
                          </a:solidFill>
                        </a:rPr>
                        <a:t>IV кв. 2029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3B43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chemeClr val="tx1"/>
                          </a:solidFill>
                        </a:rPr>
                        <a:t>ІСЦ, % р/р (сер. за кв.)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11,0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9,9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6,9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4,7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4,8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5,1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4,9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chemeClr val="tx1"/>
                          </a:solidFill>
                        </a:rPr>
                        <a:t>Базова інфляція, % р/р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1E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9,2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1E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8,5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1E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5,7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1E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3,4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1E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3,5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1E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4,3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1E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4,8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1E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chemeClr val="tx1"/>
                          </a:solidFill>
                        </a:rPr>
                        <a:t>ВВП, % р/р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0,8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0,8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−0,3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1,3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2,8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3,3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2,8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chemeClr val="tx1"/>
                          </a:solidFill>
                        </a:rPr>
                        <a:t>Облікова ставка, % (сер. за кв.)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1E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17,0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1E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17,0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1E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14,4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1E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11,9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1E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10,5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1E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9,8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1E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9,5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1E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chemeClr val="tx1"/>
                          </a:solidFill>
                        </a:rPr>
                        <a:t>Курс, грн/€ (сер. за кв.)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51,5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51,6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51,9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52,2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52,8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53,1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53,4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chemeClr val="tx1"/>
                          </a:solidFill>
                        </a:rPr>
                        <a:t>Курс, грн/$ (сер. за кв.)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1E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44,4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1E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43,7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1E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44,0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1E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43,9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1E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44,3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1E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44,7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1E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44,9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1E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chemeClr val="tx1"/>
                          </a:solidFill>
                        </a:rPr>
                        <a:t>Розрив ВВП, %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1,2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0,0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−0,9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−1,0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−0,5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−0,1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0,1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5855" y="6473952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6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36</a:t>
            </a:fld>
            <a:endParaRPr lang="en-US"/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11277295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600" b="1" dirty="0">
                <a:solidFill>
                  <a:schemeClr val="accent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Додаток 15. Джерела даних</a:t>
            </a:r>
            <a:endParaRPr lang="en-US" sz="2600" dirty="0"/>
          </a:p>
        </p:txBody>
      </p:sp>
      <p:graphicFrame>
        <p:nvGraphicFramePr>
          <p:cNvPr id="38" name="table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325880"/>
          <a:ext cx="11277295" cy="914400"/>
        </p:xfrm>
        <a:graphic>
          <a:graphicData uri="http://schemas.openxmlformats.org/drawingml/2006/table">
            <a:tbl>
              <a:tblPr/>
              <a:tblGrid>
                <a:gridCol w="3291840"/>
                <a:gridCol w="7955280"/>
              </a:tblGrid>
              <a:tr h="43891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chemeClr val="bg1"/>
                          </a:solidFill>
                        </a:rPr>
                        <a:t>Дані</a:t>
                      </a:r>
                      <a:endParaRPr lang="en-US" sz="13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3B43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chemeClr val="bg1"/>
                          </a:solidFill>
                        </a:rPr>
                        <a:t>Джерело</a:t>
                      </a:r>
                      <a:endParaRPr lang="en-US" sz="13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3B43"/>
                    </a:solidFill>
                  </a:tcPr>
                </a:tc>
              </a:tr>
              <a:tr h="43891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b="1" dirty="0">
                          <a:solidFill>
                            <a:schemeClr val="tx1"/>
                          </a:solidFill>
                        </a:rPr>
                        <a:t>ІСЦ, базова інфляція, складові</a:t>
                      </a:r>
                      <a:endParaRPr lang="en-US" sz="13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u="sng" dirty="0">
                          <a:hlinkClick r:id="rId1" invalidUrl="" action="" tgtFrame="" tooltip="https://bank.gov.ua/ua/open-data/api-dev" history="1" highlightClick="0" endSnd="0"/>
                        </a:rPr>
                        <a:t>API НБУ</a:t>
                      </a:r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 (Держстат); </a:t>
                      </a:r>
                      <a:pPr algn="l" indent="0" marL="0">
                        <a:buNone/>
                      </a:pPr>
                      <a:r>
                        <a:rPr lang="en-US" sz="1300" u="sng" dirty="0">
                          <a:hlinkClick r:id="rId2" invalidUrl="" action="" tgtFrame="" tooltip="https://bank.gov.ua/files/macro/CCPI_m.xlsx" history="1" highlightClick="0" endSnd="0"/>
                        </a:rPr>
                        <a:t>базовий ІСЦ (НБУ)</a:t>
                      </a:r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; </a:t>
                      </a:r>
                      <a:pPr algn="l" indent="0" marL="0">
                        <a:buNone/>
                      </a:pPr>
                      <a:r>
                        <a:rPr lang="en-US" sz="1300" u="sng" dirty="0">
                          <a:hlinkClick r:id="rId3" invalidUrl="" action="" tgtFrame="" tooltip="https://bank.gov.ua/admin_uploads/article/Tables_Charts_2026-Q3.xlsx?v=19" history="1" highlightClick="0" endSnd="0"/>
                        </a:rPr>
                        <a:t>дані графіків ІЗ</a:t>
                      </a:r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; </a:t>
                      </a:r>
                      <a:pPr algn="l" indent="0" marL="0">
                        <a:buNone/>
                      </a:pPr>
                      <a:r>
                        <a:rPr lang="en-US" sz="1300" u="sng" dirty="0">
                          <a:hlinkClick r:id="rId4" invalidUrl="" action="" tgtFrame="" tooltip="https://bank.gov.ua/ua/news/all/komentar-natsionalnogo-banku-schodo-rivnya-inflyatsiyi-u-veresni-2026-roku" history="1" highlightClick="0" endSnd="0"/>
                        </a:rPr>
                        <a:t>коментар НБУ: інфляція у вересні</a:t>
                      </a:r>
                      <a:endParaRPr lang="en-US" sz="13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3891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b="1" dirty="0">
                          <a:solidFill>
                            <a:schemeClr val="tx1"/>
                          </a:solidFill>
                        </a:rPr>
                        <a:t>Облікова ставка, курси, інтервенції, резерви</a:t>
                      </a:r>
                      <a:endParaRPr lang="en-US" sz="13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1E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u="sng" dirty="0">
                          <a:hlinkClick r:id="rId5" invalidUrl="" action="" tgtFrame="" tooltip="https://bank.gov.ua/ua/open-data/api-dev" history="1" highlightClick="0" endSnd="0"/>
                        </a:rPr>
                        <a:t>API НБУ</a:t>
                      </a:r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 (statdirectory/key, exchange, kursf, res)</a:t>
                      </a:r>
                      <a:endParaRPr lang="en-US" sz="13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1EF"/>
                    </a:solidFill>
                  </a:tcPr>
                </a:tc>
              </a:tr>
              <a:tr h="43891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b="1" dirty="0">
                          <a:solidFill>
                            <a:schemeClr val="tx1"/>
                          </a:solidFill>
                        </a:rPr>
                        <a:t>Реальний ВВП, зарплати, бюджет</a:t>
                      </a:r>
                      <a:endParaRPr lang="en-US" sz="13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u="sng" dirty="0">
                          <a:hlinkClick r:id="rId6" invalidUrl="" action="" tgtFrame="" tooltip="https://stat.gov.ua/" history="1" highlightClick="0" endSnd="0"/>
                        </a:rPr>
                        <a:t>Держстат</a:t>
                      </a:r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; </a:t>
                      </a:r>
                      <a:pPr algn="l" indent="0" marL="0">
                        <a:buNone/>
                      </a:pPr>
                      <a:r>
                        <a:rPr lang="en-US" sz="1300" u="sng" dirty="0">
                          <a:hlinkClick r:id="rId7" invalidUrl="" action="" tgtFrame="" tooltip="https://bank.gov.ua/ua/news/all/komentar-natsionalnogo-banku-schodo-zmini-realnogo-vvp-u-ii-kvartali-2026-roku" history="1" highlightClick="0" endSnd="0"/>
                        </a:rPr>
                        <a:t>коментар НБУ: ВВП II кв.</a:t>
                      </a:r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; </a:t>
                      </a:r>
                      <a:pPr algn="l" indent="0" marL="0">
                        <a:buNone/>
                      </a:pPr>
                      <a:r>
                        <a:rPr lang="en-US" sz="1300" u="sng" dirty="0">
                          <a:hlinkClick r:id="rId8" invalidUrl="" action="" tgtFrame="" tooltip="https://bank.gov.ua/files/macro/Wages_m.xlsx" history="1" highlightClick="0" endSnd="0"/>
                        </a:rPr>
                        <a:t>зарплати (НБУ)</a:t>
                      </a:r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; </a:t>
                      </a:r>
                      <a:pPr algn="l" indent="0" marL="0">
                        <a:buNone/>
                      </a:pPr>
                      <a:r>
                        <a:rPr lang="en-US" sz="1300" u="sng" dirty="0">
                          <a:hlinkClick r:id="rId9" invalidUrl="" action="" tgtFrame="" tooltip="https://bank.gov.ua/files/macro/S_budget_m.xlsx" history="1" highlightClick="0" endSnd="0"/>
                        </a:rPr>
                        <a:t>бюджет (НБУ)</a:t>
                      </a:r>
                      <a:endParaRPr lang="en-US" sz="13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3891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b="1" dirty="0">
                          <a:solidFill>
                            <a:schemeClr val="tx1"/>
                          </a:solidFill>
                        </a:rPr>
                        <a:t>Прогноз і припущення НБУ</a:t>
                      </a:r>
                      <a:endParaRPr lang="en-US" sz="13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1E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u="sng" dirty="0">
                          <a:hlinkClick r:id="rId10" invalidUrl="" action="" tgtFrame="" tooltip="https://bank.gov.ua/ua/news/all/inflyatsiya-prishvidshitsya-u-drugomu-pivrichchi-ale-povernetsya-do-znijennya-nastupnogo-roku--inflyatsiyniy-zvit" history="1" highlightClick="0" endSnd="0"/>
                        </a:rPr>
                        <a:t>НБУ, Інфляційний звіт (липень 2026)</a:t>
                      </a:r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; </a:t>
                      </a:r>
                      <a:pPr algn="l" indent="0" marL="0">
                        <a:buNone/>
                      </a:pPr>
                      <a:r>
                        <a:rPr lang="en-US" sz="1300" u="sng" dirty="0">
                          <a:hlinkClick r:id="rId11" invalidUrl="" action="" tgtFrame="" tooltip="https://bank.gov.ua/admin_uploads/article/Macroeconomic_Forecast_table_2026_07.xlsx?v=19" history="1" highlightClick="0" endSnd="0"/>
                        </a:rPr>
                        <a:t>макропрогноз НБУ</a:t>
                      </a:r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; </a:t>
                      </a:r>
                      <a:pPr algn="l" indent="0" marL="0">
                        <a:buNone/>
                      </a:pPr>
                      <a:r>
                        <a:rPr lang="en-US" sz="1300" u="sng" dirty="0">
                          <a:hlinkClick r:id="rId12" invalidUrl="" action="" tgtFrame="" tooltip="https://bank.gov.ua/admin_uploads/article/Tables_Charts_2026-Q3.xlsx?v=19" history="1" highlightClick="0" endSnd="0"/>
                        </a:rPr>
                        <a:t>дані графіків ІЗ</a:t>
                      </a:r>
                      <a:endParaRPr lang="en-US" sz="13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1EF"/>
                    </a:solidFill>
                  </a:tcPr>
                </a:tc>
              </a:tr>
              <a:tr h="43891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b="1" dirty="0">
                          <a:solidFill>
                            <a:schemeClr val="tx1"/>
                          </a:solidFill>
                        </a:rPr>
                        <a:t>Ціль і горизонт політики</a:t>
                      </a:r>
                      <a:endParaRPr lang="en-US" sz="13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u="sng" dirty="0">
                          <a:hlinkClick r:id="rId13" invalidUrl="" action="" tgtFrame="" tooltip="https://p4.bank.gov.ua/admin_uploads/article/MPG_2024-mt_eng.pdf" history="1" highlightClick="0" endSnd="0"/>
                        </a:rPr>
                        <a:t>Основні засади ГКП (2024)</a:t>
                      </a:r>
                      <a:endParaRPr lang="en-US" sz="13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3891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b="1" dirty="0">
                          <a:solidFill>
                            <a:schemeClr val="tx1"/>
                          </a:solidFill>
                        </a:rPr>
                        <a:t>Єврозона</a:t>
                      </a:r>
                      <a:endParaRPr lang="en-US" sz="13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1E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u="sng" dirty="0">
                          <a:hlinkClick r:id="rId14" invalidUrl="" action="" tgtFrame="" tooltip="https://ec.europa.eu/eurostat/databrowser/view/prc_hicp_minr/default/table" history="1" highlightClick="0" endSnd="0"/>
                        </a:rPr>
                        <a:t>Eurostat HICP</a:t>
                      </a:r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; </a:t>
                      </a:r>
                      <a:pPr algn="l" indent="0" marL="0">
                        <a:buNone/>
                      </a:pPr>
                      <a:r>
                        <a:rPr lang="en-US" sz="1300" u="sng" dirty="0">
                          <a:hlinkClick r:id="rId15" invalidUrl="" action="" tgtFrame="" tooltip="https://data.ecb.europa.eu/" history="1" highlightClick="0" endSnd="0"/>
                        </a:rPr>
                        <a:t>ЄЦБ Data Portal</a:t>
                      </a:r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; </a:t>
                      </a:r>
                      <a:pPr algn="l" indent="0" marL="0">
                        <a:buNone/>
                      </a:pPr>
                      <a:r>
                        <a:rPr lang="en-US" sz="1300" u="sng" dirty="0">
                          <a:hlinkClick r:id="rId16" invalidUrl="" action="" tgtFrame="" tooltip="https://www.ecb.europa.eu/press/projections/html/index.en.html" history="1" highlightClick="0" endSnd="0"/>
                        </a:rPr>
                        <a:t>прогноз ЄЦБ (вересень 2026)</a:t>
                      </a:r>
                      <a:endParaRPr lang="en-US" sz="13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1EF"/>
                    </a:solidFill>
                  </a:tcPr>
                </a:tc>
              </a:tr>
              <a:tr h="43891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b="1" dirty="0">
                          <a:solidFill>
                            <a:schemeClr val="tx1"/>
                          </a:solidFill>
                        </a:rPr>
                        <a:t>Нафта Brent</a:t>
                      </a:r>
                      <a:endParaRPr lang="en-US" sz="13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u="sng" dirty="0">
                          <a:hlinkClick r:id="rId17" invalidUrl="" action="" tgtFrame="" tooltip="https://db.nomics.world/EIA/PET/RBRTE.M" history="1" highlightClick="0" endSnd="0"/>
                        </a:rPr>
                        <a:t>EIA Brent</a:t>
                      </a:r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 (DBnomics); </a:t>
                      </a:r>
                      <a:pPr algn="l" indent="0" marL="0">
                        <a:buNone/>
                      </a:pPr>
                      <a:r>
                        <a:rPr lang="en-US" sz="1300" u="sng" dirty="0">
                          <a:hlinkClick r:id="rId18" invalidUrl="" action="" tgtFrame="" tooltip="https://finance.yahoo.com/quote/BZ%3DF/" history="1" highlightClick="0" endSnd="0"/>
                        </a:rPr>
                        <a:t>ф'ючерси Brent</a:t>
                      </a:r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 (NYMEX BZ)</a:t>
                      </a:r>
                      <a:endParaRPr lang="en-US" sz="13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3891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b="1" dirty="0">
                          <a:solidFill>
                            <a:schemeClr val="tx1"/>
                          </a:solidFill>
                        </a:rPr>
                        <a:t>Рішення та дискусія КМП</a:t>
                      </a:r>
                      <a:endParaRPr lang="en-US" sz="13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1E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u="sng" dirty="0">
                          <a:hlinkClick r:id="rId19" invalidUrl="" action="" tgtFrame="" tooltip="https://bank.gov.ua/ua/news/all/natsionalniy-bank-ukrayini-pidvischiv-oblikovu-stavku-do-16" history="1" highlightClick="0" endSnd="0"/>
                        </a:rPr>
                        <a:t>рішення НБУ 17.09.2026</a:t>
                      </a:r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; </a:t>
                      </a:r>
                      <a:pPr algn="l" indent="0" marL="0">
                        <a:buNone/>
                      </a:pPr>
                      <a:r>
                        <a:rPr lang="en-US" sz="1300" u="sng" dirty="0">
                          <a:hlinkClick r:id="rId20" invalidUrl="" action="" tgtFrame="" tooltip="https://bank.gov.ua/ua/news/all/pidsumki-diskusiyi-chleniv-komitetu-z-monetarnoyi-politiki-natsionalnogo-banku-schodo-rivnya-oblikovoyi-stavki-16-veresnya-2026-roku" history="1" highlightClick="0" endSnd="0"/>
                        </a:rPr>
                        <a:t>підсумки дискусії КМП</a:t>
                      </a:r>
                      <a:endParaRPr lang="en-US" sz="13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1EF"/>
                    </a:solidFill>
                  </a:tcPr>
                </a:tc>
              </a:tr>
              <a:tr h="43891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b="1" dirty="0">
                          <a:solidFill>
                            <a:schemeClr val="tx1"/>
                          </a:solidFill>
                        </a:rPr>
                        <a:t>Валютні обмеження, МВФ</a:t>
                      </a:r>
                      <a:endParaRPr lang="en-US" sz="13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u="sng" dirty="0">
                          <a:hlinkClick r:id="rId21" invalidUrl="" action="" tgtFrame="" tooltip="https://bank.gov.ua/admin_uploads/article/Strategy_for_easing_FX_restrictions_07-07-2023.pdf?v=19" history="1" highlightClick="0" endSnd="0"/>
                        </a:rPr>
                        <a:t>Стратегія пом'якшення валютних обмежень</a:t>
                      </a:r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; </a:t>
                      </a:r>
                      <a:pPr algn="l" indent="0" marL="0">
                        <a:buNone/>
                      </a:pPr>
                      <a:r>
                        <a:rPr lang="en-US" sz="1300" u="sng" dirty="0">
                          <a:hlinkClick r:id="rId22" invalidUrl="" action="" tgtFrame="" tooltip="https://bank.gov.ua/ua/news/all/nbu-vprovadjuye-paket-pomyakshennya-valyutnih-obmejen-z-osnovnim-fokusom-na-pidtrimtsi-naselennya" history="1" highlightClick="0" endSnd="0"/>
                        </a:rPr>
                        <a:t>пакет пом'якшення валютних обмежень</a:t>
                      </a:r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; </a:t>
                      </a:r>
                      <a:pPr algn="l" indent="0" marL="0">
                        <a:buNone/>
                      </a:pPr>
                      <a:r>
                        <a:rPr lang="en-US" sz="1300" u="sng" dirty="0">
                          <a:hlinkClick r:id="rId23" invalidUrl="" action="" tgtFrame="" tooltip="https://bank.gov.ua/ua/news/all/rada-mvf-shvalila-pershiy-pereglyad-programi-rozshirenogo-finansuvannya-ta-zatverdila-vidilennya-transhu-obsyagom-690-mln-dol-ssha" history="1" highlightClick="0" endSnd="0"/>
                        </a:rPr>
                        <a:t>Рада МВФ: перегляд програми</a:t>
                      </a:r>
                      <a:endParaRPr lang="en-US" sz="13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3891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b="1" dirty="0">
                          <a:solidFill>
                            <a:schemeClr val="tx1"/>
                          </a:solidFill>
                        </a:rPr>
                        <a:t>Модель</a:t>
                      </a:r>
                      <a:endParaRPr lang="en-US" sz="13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1E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u="sng" dirty="0">
                          <a:hlinkClick r:id="rId24" invalidUrl="" action="" tgtFrame="" tooltip="https://events.bank.gov.ua/uchallenge2026/files/nbu_challenge_model_2026.zip" history="1" highlightClick="0" endSnd="0"/>
                        </a:rPr>
                        <a:t>модель-шаблон НБУ</a:t>
                      </a:r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 + розширення команди; Python і MATLAB R2026b + IRIS</a:t>
                      </a:r>
                      <a:endParaRPr lang="en-US" sz="13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1EF"/>
                    </a:solidFill>
                  </a:tcPr>
                </a:tc>
              </a:tr>
            </a:tbl>
          </a:graphicData>
        </a:graphic>
      </p:graphicFrame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5855" y="6473952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6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37</a:t>
            </a:fld>
            <a:endParaRPr lang="en-US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NBU Challenge 2026">
  <a:themeElements>
    <a:clrScheme name="NBU Challenge 2026">
      <a:dk1>
        <a:srgbClr val="1B2326"/>
      </a:dk1>
      <a:lt1>
        <a:srgbClr val="FFFFFF"/>
      </a:lt1>
      <a:dk2>
        <a:srgbClr val="0E3B43"/>
      </a:dk2>
      <a:lt2>
        <a:srgbClr val="EAF1EF"/>
      </a:lt2>
      <a:accent1>
        <a:srgbClr val="0E3B43"/>
      </a:accent1>
      <a:accent2>
        <a:srgbClr val="C98A00"/>
      </a:accent2>
      <a:accent3>
        <a:srgbClr val="2A78D6"/>
      </a:accent3>
      <a:accent4>
        <a:srgbClr val="EB6834"/>
      </a:accent4>
      <a:accent5>
        <a:srgbClr val="1BAF7A"/>
      </a:accent5>
      <a:accent6>
        <a:srgbClr val="5F6B6D"/>
      </a:accent6>
      <a:hlink>
        <a:srgbClr val="2A78D6"/>
      </a:hlink>
      <a:folHlink>
        <a:srgbClr val="4A3AA7"/>
      </a:folHlink>
    </a:clrScheme>
    <a:fontScheme name="NBU Challenge 2026">
      <a:majorFont>
        <a:latin typeface="Cambria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37</Slides>
  <Notes>37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37</vt:i4>
      </vt:variant>
    </vt:vector>
  </HeadingPairs>
  <TitlesOfParts>
    <vt:vector size="40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  <vt:lpstr>Slide 28</vt:lpstr>
      <vt:lpstr>Slide 29</vt:lpstr>
      <vt:lpstr>Slide 30</vt:lpstr>
      <vt:lpstr>Slide 31</vt:lpstr>
      <vt:lpstr>Slide 32</vt:lpstr>
      <vt:lpstr>Slide 33</vt:lpstr>
      <vt:lpstr>Slide 34</vt:lpstr>
      <vt:lpstr>Slide 35</vt:lpstr>
      <vt:lpstr>Slide 36</vt:lpstr>
      <vt:lpstr>Slide 37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Рекомендації щодо монетарної політики — NBU University Challenge 2026</dc:title>
  <dc:subject>PptxGenJS Presentation</dc:subject>
  <dc:creator>Команда [назва]</dc:creator>
  <cp:lastModifiedBy>Команда [назва]</cp:lastModifiedBy>
  <cp:revision>1</cp:revision>
  <dcterms:created xsi:type="dcterms:W3CDTF">2026-10-21T08:36:16Z</dcterms:created>
  <dcterms:modified xsi:type="dcterms:W3CDTF">2026-10-21T08:36:16Z</dcterms:modified>
</cp:coreProperties>
</file>