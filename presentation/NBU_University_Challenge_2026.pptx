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a1006d6e-3952-7adb-ca90-c791dd7f6471}">
          <p14:sldIdLst>
            <p14:sldId id="256"/>
            <p14:sldId id="257"/>
          </p14:sldIdLst>
        </p14:section>
        <p14:section name="Огляд" id="{68da3b16-8ffe-0de5-0a30-0d27e82ce2d3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огноз" id="{44eee43b-04b2-90b7-ceea-3900f7b9b737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комендації" id="{6be68f3e-152e-f990-e623-623289603899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Додатки" id="{e3a3b465-782e-da45-beea-0e6329f9942b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20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1 пункт, до 17%, і утримувати її щонайменше до середини 2027 року: у вересні інфляція сягнула 10%, у грудні буде близько 11%. Друге — не заморожувати курс: з червня гривня стоїть біля 45 за долар, а курс має поглинати шоки. І обмежити обсяги тендерів депсертифікатів, щоб підвищення дійшло до депозитів. Третє — поставити на паузу наступні кроки валютної лібералізації, доки не відновляться резерви. За такої політики інфляція знизиться до 6,6% у четвертому кварталі 2027 року і повернеться до близько 5% у 2028 році — у межах трирічного горизонту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коштувала в середньому 117 доларів за барель, а у вересні–жовтні знову перевищила 100 — тоді як НБУ в липні закладав 80–85. Ринок очікує здешевлення: ф'ючерси вказують на 87 доларів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вересні інфляція стрибнула до 10% — ціни за місяць зросли на 2,1%. Пальне подорожчало на 46% за рік, атаки на склади й логістику здорожчили доставку. Але більше нас турбує базова інфляція: вона прискорилася до 8,8%, послуги дорожчають на 14%. І навіть продовольство, яке досі стримувало ціни, почало дорожчати.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ставка, якщо рахувати як НБУ — від очікувань, — близько 8%, тож гривневі активи поки привабливі. Але великі банки майже не підняли депозитні ставки — трансмісія слабка,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у третьому — близько 1%, і то завдяки врожаю: це суттєво гірше прогнозу НБУ. Але атаки й дефіцит кадрів б'ють по потенціалу ще сильніше, ніж по попиту. Тому ринок праці перегрітий: номінальні зарплати цього року зростають на 21–25%.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Але важливо: продаж валюти здебільшого «доносить» допомогу на ринок — у вересні уряд конвертував 3,81 мільярда оборонного траншу. Тож резерви падають через ритм допомоги. А курс із червня майже нерухомий — близько 44,7 гривні за долар.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завантажуються автоматично, фільтр Калмана оцінює розриви й тренди, далі — прогноз із судженнями й аналіз політики. Наше розширення — окремо базова й небазова інфляція і канал світових цін на нафту: нафта на 20% дорожча додає 0,3 пункта до інфляції, а ставка реагує слабко. Той самий файл моделі ми проганяємо в MATLAB з IRIS: розбіжність — у п'ятому знаку, а графіки сценаріїв у презентації побудовані в MATLAB.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разовість вересневого стрибка. Тренд — 0,97% на місяць. До того ж діє ефект бази: у жовтні–грудні 2025 ціни зросли лише на 1,5%. Тому річна інфляція підніметься до 11,3% у грудні — помітно вище, ніж НБУ прогнозував у липні. Базову інфляцію рахуємо тим самим методом: у грудні — 9,5%.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У середньому за квартал інфляція досягне піку — близько 11,1% — на початку 2027 року; у місячному вимірі це близько 11% у грудні. Далі вона знизиться до 6,6% у четвертому кварталі 2027-го, повернеться до близько 5% у 2028 році і далі триматиметься в межах 4,4–5,2%. Базова інфляція в нас стійкіша, ніж у НБУ: 5,4% наприкінці 2027 року проти 5,1% — через перегрітий ринок праці й дорожчі послуги. Ставка — 17% до середини 2027 року, далі поступово знижується до 10,5% наприкінці 2028-го. Невизначеність велика — це показує віяло.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попит. ВВП ми бачимо слабшим, ніж НБУ в липні: 0,6% цього року, 0,3% у 2027-му і 1,6% у 2028-му. Мінекономіки теж погіршує прогноз — до 0,8–1% на 2027 рік. Але потенціал економіки постраждав ще більше: атаки й дефіцит кадрів. Тому розрив ВВП зараз додатний, і ціни послуг ростуть. Бюджетного стимулу ми не закладаємо: дефіцит скорочується з 35 до 26% ВВП. У 2027 році висока реальна ставка охолоджує попит, і розрив закривається — це ціна повернення інфляції до цілі.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сценарії, розраховані в MATLAB. Найнебезпечніший — дефіцит фінансування: якщо допомога затримається, гривня буде приблизно на 6% слабшою, інфляція зросте до 13,1%, а ставку доведеться підняти до 19,3%. Важка зима з ударами по енергетиці підніме інфляцію до 12,5% і майже зупинить зростання ВВП. Натомість нафта по 120 доларів додає лише 0,4 пункта до піку інфляції, і ставка майже не реагує — це шок першого раунду. Головний ризик — курс: якщо гривня слабшатиме так, як чекає ринок, інфляція наприкінці 2027 року сягне близько 12%. Розбалансування очікувань дало б близько 9%, а ПДВ 21% — плюс пів пункта.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Спершу — рамка. Головна мета НБУ — цінова стабільність: ціль 5%, і повернути до неї інфляцію треба на горизонті до трьох років. Інструменти — облікова ставка, депозитні сертифікати, які з серпня розміщуються на тендерах, валютні інтервенції та обмеження. У вересні КМП підвищив ставку до 16%, але думки розділилися: семеро вважають, що цього достатньо, двоє чекають ще одного підвищення, один — зниження. Ми — за підвищення, і ось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порівняли чотири варіанти рішення — від утримання 16% до підвищення до 17,5%. У кожному ставка утримується до середини 2027 року, а далі знижується так, щоб інфляція повернулася саме до 5%. Критерій — втрати: відхилення інфляції від цілі, розрив ВВП і різкі зміни ставки. Адмінціни ми враховуємо наполовину: вони ростуть щороку, але це перший раунд. Мінімум втрат — від 17 до 18,5% залежно від ваги згладжування, за центральної — 17,5%; оптимальна траєкторія починається з 17,6% і в першому кварталі 2027-го підіймається до 18,1%. Ми перевірили рішення на десяти сценаріях: найменші очікувані втрати — 17 і 17,5%. Тому — пункт зараз і готовність до ще пів пункта, а не півтора пункта одразу.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17%. Чому підвищити: інфляція в грудні сягне близько 11%, базова інфляція прискорюється, курсові ризики високі, а гнучкіший курс потребує сильного якоря для очікувань. Ринок чекає 16,5%, але ризики зміщені вгору, і НБУ вже робив крок у пункт — у січні й березні 2025 року. Чому не більше: економіка слабка, а півтора пункта одразу — надмірний сигнал. Щоб підвищення дійшло до депозитів, обсяги тендерів депсертифікатів варто обмежити. Орієнтир: не знижувати ставку щонайменше до третього кварталу 2027 року, а наступний крок — радше вгору: ще пів пункта в грудні, якщо базова інфляція не сповільниться або посиляться курсові очікування.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Якщо так і залишиться, на кінець року резерви становитимуть 43 мільярди. Структурно попит на валюту високий: імпорт у 2,6 раза більший за експорт, а офіційне фінансування скоротиться з 87 до 33 мільярдів у 2028 році. Водночас продаж валюти здебільшого «доносить» допомогу до ринку, тож резерви визначає її ритм, а не курс. Наша рекомендація щодо курсу інша: не заморожувати його. З червня гривня стоїть біля 44,7 за долар, хоча за рік до того послабилася на 8%. Курс має поглинати шоки, а НБУ — лише згладжувати коливання.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купівля валюти населенням зросла з 0,39 до 0,58 мільярда доларів на місяць — помітно, але керовано. За Стратегією НБУ кроки робляться за передумовами, а не за календарем. Тому третій етап — операції населення й капітальні операції — пропонуємо відкласти, доки резерви не повернуться до 50 мільярдів, а допомога — до ритмічності.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17% і утримувати щонайменше до середини 2027 року. Друге — не заморожувати курс і обмежити обсяги депсертифікатів. Третє — пауза в лібералізації валютних обмежень. Формула комунікації — «ставка — якір, курс — амортизатор». За такої політики інфляція повернеться до близько 5% у 2028 році.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Звідки тиск на резерви — видно з платіжного балансу. Імпорт цього року в 2,6 раза більший за експорт, дефіцит — близько 89 мільярдів доларів. Поточний рахунок фінансують позики партнерів. Але офіційне фінансування скорочується з 87 мільярдів у 2026 році до 33 у 2028-му, і, за прогнозом НБУ, поточний рахунок тоді погіршиться до мінус 45 мільярдів. Тому резерви потрібні як буфер, а лібералізацію варто проводити поступово.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— водночас бюджетний імпульс для попиту і додатковий попит на валюту. Уряд у Бюджетній декларації закладає інфляцію 8,9% наприкінці 2027 року — вище, ніж НБУ і 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моделі. У шаблоні одна крива Філіпса для всієї інфляції, тож нафтовий шок дає хибні коливання через курс. Ми розділили інфляцію на базову і небазову: небазові ціни реагують на нафту та курс. Нафта на 20% дорожча — це плюс 0,3 пункта до інфляції впродовж року, ставка зростає лише на 0,2 пункта, а базова інфляція не прискорюється. Без цього каналу модель точно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Важлива відмінність від НБУ — базова інфляція. Ми вважаємо, що вона буде стійкішою: 5,4% наприкінці 2027 року проти 5,1% у НБУ. Причина — перегрітий ринок праці, дорожчі послуги й наслідки атак. Загальна інфляція при цьому близька до НБУ: тарифи й акцизи додають близько 1,7 пункта на рік, а дешевша нафта частково це компенсує.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рішуче, курс не заморожений, а обмежені обсяги депсертифікатів доносять підвищення до депозитних ставок.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Розраховано поверх базового сценарію, як і основні сценарії: правило Тейлора реагує на нові шоки. Найсильніший — курс: модель передає послаблення гривні в ціни швидко (перенос у шаблоні — верхня межа: ICU з курсом ≈49 грн/$ чекає 8,2% інфляції наприкінці 2027), тому реальний ефект, імовірно, менший.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Кожен варіант: рішення в жовтні й утримання, далі траєкторія повернення до цілі; у ризикових сценаріях правило реагує навколо траєкторії варіанта. Втрати — функція оптимізації (λ = 1). P1 — ризики зміщені вгору, P2 — збалансовані; «Слабкий попит» і «Базова сповільнюється» — дезінфляційні противаги. Максимальний жаль — найбільше відставання від найкращого варіанта в будь-якому сценарії. ● — найкращий варіант у рядку.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розраховано в MATLAB/IRIS.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Лінії — розрахунок у Python, кружки — у MATLAB R2026b з IRIS. Це підтверджує, що наш Python-порт і розширення моделі коректні, а графіки MATLAB у презентації відповідають тим самим цифрам.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зовнішні змінні — фактичні, судження не використовувалися.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17%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20.10.2026.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u-veres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minfin.com.ua/ua/2026/10/07/18307690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minfin.com.ua/ua/2026/09/23/18219864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7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mijnarodni-rezervi-stanovili-471-mlrd-dol-ssha-za-pidsumkami-veresnya" TargetMode="External"/><Relationship Id="rId3" Type="http://schemas.openxmlformats.org/officeDocument/2006/relationships/hyperlink" Target="https://epravda.com.ua/finances/valyutniy-rinok-ukrajini-rezultati-troh-rokiv-rezhimu-kerovanoji-gnuchkosti-826509/" TargetMode="External"/><Relationship Id="rId4" Type="http://schemas.openxmlformats.org/officeDocument/2006/relationships/image" Target="../media/image-8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u-veresni-2026-roku" TargetMode="External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interfax.com.ua/news/economic/1211092.html" TargetMode="External"/><Relationship Id="rId4" Type="http://schemas.openxmlformats.org/officeDocument/2006/relationships/image" Target="../media/image-13-1.png"/><Relationship Id="rId5" Type="http://schemas.openxmlformats.org/officeDocument/2006/relationships/image" Target="../media/image-13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zakon.rada.gov.ua/laws/show/679-14" TargetMode="External"/><Relationship Id="rId2" Type="http://schemas.openxmlformats.org/officeDocument/2006/relationships/hyperlink" Target="https://p4.bank.gov.ua/admin_uploads/article/MPG_2024-mt_eng.pdf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news/all/nbu-informuye-pro-golovniy-printsip-viznachennya-obsyagiv-rozmischennya-trimisyachnih-depozitnih-sertifikativ" TargetMode="External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mijnarodni-rezervi-stanovili-471-mlrd-dol-ssha-za-pidsumkami-veresnya" TargetMode="External"/><Relationship Id="rId2" Type="http://schemas.openxmlformats.org/officeDocument/2006/relationships/hyperlink" Target="https://epravda.com.ua/finances/valyutniy-rinok-ukrajini-rezultati-troh-rokiv-rezhimu-kerovanoji-gnuchkosti-826509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0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4" Type="http://schemas.openxmlformats.org/officeDocument/2006/relationships/image" Target="../media/image-24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natsionalniy-bank-ukrayini-pidvischiv-oblikovu-stavku-do-16" TargetMode="External"/><Relationship Id="rId9" Type="http://schemas.openxmlformats.org/officeDocument/2006/relationships/hyperlink" Target="https://bank.gov.ua/admin_uploads/article/Macroeconomic_Forecast_table_2026_07.xlsx?v=19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6.xml"/><Relationship Id="rId1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27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interfax.com.ua/news/economic/1205936.html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6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u-veres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ставка 17%, гнучкіший курс, пауза в лібералізації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+1,0 в. п.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зниження; інфляція ≈5% з I кв. 2028</a:t>
            </a:r>
            <a:endParaRPr lang="en-US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Гнучкий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червня ≈44,7 грн/$ без змін; допускати двосторонні коливання, інтервенції лише згладжують; рівень не фіксувати</a:t>
            </a:r>
            <a:endParaRPr lang="en-US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грн/$ (модель)**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44,4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43,9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44,2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11,3% (наукаст). ** Модельний курс оптимістичний: ринок чекає ≈47–49 грн/$ — наш головний ризик. ≈5% — з I кв. 2028. Дані на 20.10.2026.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≈$105, ЄЦБ підвищує ставку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49" y="1325880"/>
            <a:ext cx="10406798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— в середньому $117 у квітні, $102 у вересні, ≈$105 у жовтні (НБУ закладав $80–85); ф'ючерси — $87 наприкінці 2027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ринок закладає ще ≈+0,5 в. п. до кінця 2027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пік ≈3,7% наприкінці 2026 (прогноз ЄЦБ: 3,0% / 2,5% / 2,1% у 2026–2028)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у вересні — 10,0%: пальне, руйнування логістики, прискорення базової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+2,1% за місяць: пальне +46,2% р/р, адмінціни +13,6% (проїзд, вода, алкоголь), атаки на склади й логістику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8,8% (з 8,1%): оброблені продукти +10,7%, послуги +13,7% (зарплати, оренда)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Сирі продукти прискорилися до 6,7%: менші врожаї овочів, витрати на транспорт і зберігання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підвищені; реальна ставка від очікувань ≈8% — гривневі активи поки привабливі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10/07/18307690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аукціон ОВДП 06.10.2026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5284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 (липень)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ставка (як рахує НБУ — від липневих очікувань аналітиків): ≈8,1%; але депозитні ставки великих банків після липня й вересня майже не зросли — трансмісія слабка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ОВДП (06.10): 1 рік — 15,1%, 2,5 року — 16,5%; консенсус ICU — 16,5% до середини 2027: ринок чекає високих ставок, але не різкого посилення; кредити бізнесу +30% р/р (КМП)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Активність: врожай підтримав III кв., але промисловість і логістика слабкі, а зарплати +21–25%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09/23/18219864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ІЕД: ВВП у липні–серпні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362322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+0,4% р/р; III кв. — ≈+1% р/р (ІЕД: липень +4%, серпень +1,2% — врожай), «суттєво гірше» за прогноз НБУ (+2,1%)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б'ють і по попиту, і по потенціалу (енергетика, логістика, порти; −0,9 в. п. до ВВП-2026 за НБУ)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Потенціал постраждав сильніше: дефіцит кадрів, зарплати +21–25% р/р у I пів., +23% у серпні — розрив ВВП додатний, послуги дорожчають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32703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майже нерухомий: ≈44,7 грн/$ з червня (за рік до того — +8%); продаж валюти здебільшого «доносить» допомогу: у вересні уряд конвертував $3,81 млрд оборонного траншу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~1e−5</a:t>
            </a:r>
            <a:endParaRPr lang="en-US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MATLAB/IRIS: фільтр і всі 5 сценаріїв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0,8–1,0 в. п.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ІСЦ на рік уперед, 3 прогони 2025 р. із фактичними зовнішніми умовами («без змін»: 1,3–6,1)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</a:t>
            </a:r>
            <a:endParaRPr lang="en-US" sz="1200" dirty="0"/>
          </a:p>
        </p:txBody>
      </p:sp>
      <p:sp>
        <p:nvSpPr>
          <p:cNvPr id="33" name="chip4"/>
          <p:cNvSpPr/>
          <p:nvPr/>
        </p:nvSpPr>
        <p:spPr>
          <a:xfrm>
            <a:off x="6163056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163056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5" name="chip5"/>
          <p:cNvSpPr/>
          <p:nvPr/>
        </p:nvSpPr>
        <p:spPr>
          <a:xfrm>
            <a:off x="8220456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20456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7" name="chip6"/>
          <p:cNvSpPr/>
          <p:nvPr/>
        </p:nvSpPr>
        <p:spPr>
          <a:xfrm>
            <a:off x="9889236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889236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9" name="chip7"/>
          <p:cNvSpPr/>
          <p:nvPr/>
        </p:nvSpPr>
        <p:spPr>
          <a:xfrm>
            <a:off x="457200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7200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1" name="chip8"/>
          <p:cNvSpPr/>
          <p:nvPr/>
        </p:nvSpPr>
        <p:spPr>
          <a:xfrm>
            <a:off x="150418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50418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3" name="chip9"/>
          <p:cNvSpPr/>
          <p:nvPr/>
        </p:nvSpPr>
        <p:spPr>
          <a:xfrm>
            <a:off x="2551176" y="58064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551176" y="58064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≈11,3% у грудні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406958"/>
          </a:xfrm>
          <a:prstGeom prst="rect">
            <a:avLst/>
          </a:prstGeom>
        </p:spPr>
      </p:pic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3054096"/>
            <a:ext cx="4647895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жовтні–грудні 2025 ціни зросли лише на 1,5%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0,97% на місяць (без сезонності) — це ≈12% у річному вимірі; вересневий стрибок частково разовий (−0,1 в. п./міс.)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Грудень 11,3% — вище липневого прогнозу НБУ (10%); базова тим самим методом — 9,5% (НБУ: 9,2%)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 початку 2027 і повернеться до ≈5% у 2028 — у межах горизонту політики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245" y="1325880"/>
            <a:ext cx="9945206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— I кв. 2027: ≈11,1% у середньому за квартал (у грудні — ≈11,3% за місяць); 6,6% у IV кв. 2027 (НБУ: 6,9% у грудні); ≈5% — з I кв. 2028, далі 4,4–5,2%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17% до середини 2027 → 14,8% наприкінці 2027 → 10,5% — 2028 → 9,5% — 2029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3,1 до 10,2%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слабка, але потенціал постраждав ще більше: розрив ≈1,2% зараз, ≈−0,3% у 2027 (НБУ: 1,4%)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interfax.com.ua/news/economic/1211092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Мінекономіки: прогноз ВВП</a:t>
            </a:r>
            <a:endParaRPr lang="en-US" sz="900" dirty="0"/>
          </a:p>
        </p:txBody>
      </p:sp>
      <p:pic>
        <p:nvPicPr>
          <p:cNvPr id="5" name="chart main" descr="C:\Users\Lenovo\Documents\GitHub\nbu-challenge-2026\results\figures\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71531" cy="2740914"/>
          </a:xfrm>
          <a:prstGeom prst="rect">
            <a:avLst/>
          </a:prstGeom>
        </p:spPr>
      </p:pic>
      <p:pic>
        <p:nvPicPr>
          <p:cNvPr id="6" name="chart side" descr="C:\Users\Lenovo\Documents\GitHub\nbu-challenge-2026\results\figures\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241248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0,6% / 0,3% / 1,6%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Мінекономіки теж погіршує прогноз: ≈0,5% у 2026, 0,8–1% у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додатний → послуги дорожчають; у 2027 висока реальна ставка охолоджує попит; бюджетного стимулу не закладаємо: дефіцит скорочується з 35 до 26% ВВП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головні ризики — курс і дефіцит фінансування, а не зима чи нафта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038" y="1280160"/>
            <a:ext cx="8719619" cy="2606040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(≈47 грн/$) → інфляція до 13,1%, ставка до 19,3%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12,5%, ставка до 17,8%, ВВП 2027 — −0,6%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+0,4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Ще три ризики (додаток): курс, як чекає ринок → ІСЦ IV кв. 2027 ≈12%; розбалансування очікувань → ≈9%; ПДВ 21% → +0,5 в. п.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Рамка рішення: ціль 5% на горизонті до 3 років; у вересні КМП розділився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zakon.rada.gov.ua/laws/show/679-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Закон «Про НБУ», ст. 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ua/news/all/nbu-informuye-pro-golovniy-printsip-viznachennya-obsyagiv-rozmischennya-trimisyachnih-depozitnih-sertifikati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принцип обсягів 3-міс. ДС (НБУ)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Наша відповідь на питання конкурсу: облікова ставка — 17% з утриманням до середини 2027 р.; депсертифікати — обмежити обсяги тендерів, щоб підвищення дійшло до депозитних ставок; офіційний курс — не заморожувати, лише згладжувати коливання; валютні обмеження — серпневий пакет зберегти, III етап — після відновлення резервів.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і режим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Мета — цінова стабільність; також сприяння фінстабільності й зростанню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Ціль — 5% «на належному горизонті політики (до 3-х років)»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Гнучке ІТ з керованою гнучкістю курсу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Інструменти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Облікова ставка; 3-міс. депсертифікати — з 07.08 через тендери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Обсяги ДС залежать від ліміту банків, прив'язаного до строкових депозитів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Інтервенції згладжують курс; обмеження — за Стратегією 2023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КМП у вересні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Рішення +0,5 в. п. до 16%; троє — за 15,5%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Далі: 7 — тримати 16%, 2 — ще одне підвищення, 1 — знижувати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Вересневий ІСЦ 10,0% — вище прогнозу НБУ: ми — за +1 в. п.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рішення: мінімум втрат — 17–18,5% залежно від ваг; обираємо 17% і готові йти далі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601" y="1280160"/>
            <a:ext cx="8652494" cy="2606040"/>
          </a:xfrm>
          <a:prstGeom prst="rect">
            <a:avLst/>
          </a:prstGeom>
        </p:spPr>
      </p:pic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Втрати: відхилення інфляції від 5%, розрив ВВП, різкі зміни ставки; адмінціни — з вагою 50% (вони ростуть щороку, але це перший раунд) — той самий принцип для рішення й усієї траєкторії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траєкторія: 17,6% зараз (17,0–18,5% залежно від згладжування), ≈18,1% у I кв. 2027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Під ризиками (10 сценаріїв, два набори ймовірностей) найменші очікувані втрати — 17–17,5%; +1 в. п. зараз і готовність до ще +0,5 — найменш ризикований шлях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17% і утримувати до середини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+1,0 в. п. з 30.10.2026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709928"/>
            <a:ext cx="7802575" cy="1314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Вересень — 10,0%, значно вище прогнозу НБУ; у грудні — ≈11%; ризики зміщені вгору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наприкінці 2027 — 5,4% (НБУ: 5,1%): ринок праці перегрітий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Курс: якщо гривня слабшатиме, як чекає ринок, ІСЦ IV кв. 2027 — ≈12%; кожні +0,5 в. п. зараз знижують його на ≈0,3 в. п.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До депозитів: знизити коефіцієнт використання ліміту 3-міс. ДС (прив'язаного до строкових вкладів)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3069771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17, а не 16,5 чи 17,5</a:t>
            </a:r>
            <a:endParaRPr lang="en-US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453819"/>
            <a:ext cx="7802575" cy="1065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Модель: оптимум ≈17,6%, під ризиками — 17–17,5%; консенсус (ICU) — 16,5%: ризики зміщені вгору, тож ми рішучіші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+1 в. п. — як у січні й березні 2025; +1,5 одразу — надмірний сигнал за слабкого ВВП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16,5% — якби жовтневі дані показали сповільнення базової інфляції і стабільні очікування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565469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4949517"/>
            <a:ext cx="7802575" cy="1314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 знижувати щонайменше до III кв. 2027; за базовим прогнозом далі — ≈15,0% наприкінці 2027 і ≈10,5% — 2028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Наступний крок радше вгору: ще +0,5 у грудні, якщо базова без сезонності ≥ 0,6% м/м або посиляться курсові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без допомоги резерви наблизяться до 3 місяців імпорту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reser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808281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млрд/міс. НБУ (липень) чекав $69,7 млрд на кінець 2026 — для цього треба ≈$13 млрд/міс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Наші сценарії на кінець 2026: $56 / 43 / 38 млрд = 5,0 / 3,8 / 3,4 міс. імпорту 2027 р.; центральний — $43 млрд, надолуження — якщо Рада ухвалить закони під допомогу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Ринок чекає ≈47 грн/$ через рік (≈5% послаблення), модель — ≈1% на рік; якщо правий ринок, ІСЦ IV кв. 2027 — ≈12%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не заморожувати курс (≈44,7 грн/$ з червня); інтервенції — лише згладжувати. Резерви залежать від ритму допомоги (продаж валюти її «доносить»), тому захищає їх пауза в лібералізації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6732760" cy="498348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(≈4,5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17%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Не заморожувати курс; обмежити обсяги тендерів депсертифікатів, щоб підвищення дійшло до депозитів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≈11,3% у грудні 2026, 6,6% у IV кв. 2027, ≈5% — з I кв. 2028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Платіжний баланс: імпорт у 2,6 раза більший за експорт — розрив покривають позики партнерів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b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84581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2026: експорт $56 млрд, імпорт $145 млрд — дефіцит $89 млрд; приватні перекази — лише $7,6 млрд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Поточний рахунок −$16 млрд фінансують партнери: ERA ($25,9 млрд у 2025), Ukraine Facility; у 2026 НБУ чекає ще $9,8 млрд позик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2028: офіційне фінансування $87 → $33 млрд, поточний рахунок −$45 млрд, широкий баланс −$24 млрд → резерви — буфер, лібералізація — поступово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Бюджет залежить від допомоги: $87 млрд у 2026, але надходження затримуються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is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042" y="1325880"/>
            <a:ext cx="10945611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Бюджетна декларація 2027–2029: дефіцит держбюджету 17,7% ВВП у 2027 і 11,1% у 2028; уряд закладає інфляцію 8,9% на грудень 2027 (НБУ — 6,9%, ми — 6,6% у IV кв.)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Наше розширення QPM: нафта змінює небазові ціни, а ставка на нафтовий шок реагує слабко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irf_oi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58013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року; правило реагує на загальний ІСЦ, але ставка — лише +0,2 в. п.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модель точно збігається з шаблоном НБУ — перевірено тестами і в MATLAB/IRIS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Припущення та судження базового сценарію — кожне з джерелом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 ІСЦ і базового ІСЦ (тренд + сезонність − 0,1 в. п.): грудень — 11,3% і 9,5% р/р; в IV кв. фіксуємо обидва ряди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+1,1% кв/кв SA (≈+1% р/р): ІЕД — липень +4%, серпень +1,2%; КМП — «суттєво гірше» за прогноз НБУ (+2,1%)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ІЕД, підсумки КМП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8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9" invalidUrl="" action="" tgtFrame="" tooltip="https://bank.gov.ua/admin_uploads/article/Macroeconomic_Forecast_table_2026_07.xlsx?v=19" history="1" highlightClick="0" endSnd="0"/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Без окремого імпульсу: дефіцит без грантів 35 → 26% ВВП, оборонна частина USL $33,2 → $16,7 млрд; локалізація ОПК коштом USL частково компенсує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Допустиме послаблення (цільовий темп): 4% у 2027, 3% у 2028; фактичний курс — з моделі (≈1% на рік)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 (EUR/USD)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Ф'ючерсна крива (20.10): $109 (IV кв. 2026) → $87 (кінець 2027) → $79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до 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Базова інфляція в 2027 стійкіша, ніж у НБУ: 5,4% наприкінці року проти 5,1%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881792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Зарплати +21–25%, дорожчі послуги, наслідки атак — базова інфляція знижується повільніше, ніж очікує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6,6% у IV кв. 2027 (НБУ 6,9% у грудні)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3,3% (НБУ 3,3%) — слабкий попит → простір для зниження ставки з II пів.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Висновок: рішуче підвищення зараз, швидше пом'якшення пізніше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7. 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17% з огляду на прискорення базової інфляції, зміщення ризиків угору й ризики для курсових очікувань. НБУ не знижуватиме ставку щонайменше до III кварталу 2027 року, готовий за потреби до подальших кроків і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на 1 в. п., щоб інфляція повернулася до ≈5% у 2028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заморожений: НБУ згладжує коливання, але не фіксує рівень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Обмежені обсяги депсертифікатів — щоб підвищення дійшло до ставок за депозитами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8. Додаткові ризики: курс, очікування, ПДВ — ставка реагує за правилом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interfax.com.ua/news/economic/1205936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 про ПДВ 21% (Interfax)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1143000"/>
                <a:gridCol w="1051560"/>
                <a:gridCol w="109728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Рішення 17% і траєкторія повернення до цілі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Гривня слабшає на 5,4% на рік до долара — як чекають аналітики (НБУ)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Базова інфляція вища на 1 в. п. (кв/кв, у річному вимірі) щокварталу 2027 р.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Разове підвищення цін на ≈0,5% (оцінка НБУ: +0,4–0,7 в. п. до інфляції)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9. Стійкість рішення: під ризиками найменші очікувані втрати — 17–17,5%</a:t>
            </a:r>
            <a:endParaRPr lang="en-US" sz="26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7672"/>
                <a:gridCol w="1207008"/>
                <a:gridCol w="1207008"/>
                <a:gridCol w="1207008"/>
                <a:gridCol w="1207008"/>
                <a:gridCol w="1207008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Сценарій (втрати, λ = 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Ймовірн., % P1 / P2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18%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33 / 40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340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295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Слабкий попит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Базова сповільнюється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138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(P2)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123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Максимальний жаль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10. Модель: QPM НБУ + розширення команди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+ 4·Δzₜ) + εⁿᶜ;   πₜ = πᶜₜ + Δrncₜ</a:t>
            </a:r>
            <a:endParaRPr lang="en-US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π*) + 0,5·ŷₜ) + εⁱ</a:t>
            </a:r>
            <a:endParaRPr lang="en-US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 (Grui, Vdovychenko, 2019); вага нафти — наша</a:t>
            </a:r>
            <a:endParaRPr lang="en-US" sz="1300" dirty="0"/>
          </a:p>
        </p:txBody>
      </p:sp>
      <p:sp>
        <p:nvSpPr>
          <p:cNvPr id="23" name="num2"/>
          <p:cNvSpPr/>
          <p:nvPr/>
        </p:nvSpPr>
        <p:spPr>
          <a:xfrm>
            <a:off x="430773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0773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4719218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Темпи в моделі — 100·ln-різниці, на слайдах — % р/р: π* = 4,88 = 5% р/р</a:t>
            </a:r>
            <a:endParaRPr lang="en-US" sz="1300" dirty="0"/>
          </a:p>
        </p:txBody>
      </p:sp>
      <p:sp>
        <p:nvSpPr>
          <p:cNvPr id="26" name="num3"/>
          <p:cNvSpPr/>
          <p:nvPr/>
        </p:nvSpPr>
        <p:spPr>
          <a:xfrm>
            <a:off x="8158277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58277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point3"/>
          <p:cNvSpPr txBox="1"/>
          <p:nvPr/>
        </p:nvSpPr>
        <p:spPr>
          <a:xfrm>
            <a:off x="8569757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11. Реакція на шок ставки залежить від контролю над курсом (β)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irf_r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266" y="1325880"/>
            <a:ext cx="9719163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12. 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47885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Внесок розриву ВВП у правило невеликий (вага 0,5) — головне прогноз інфляції; але додатний розрив підтримує ціни послуг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Лінія — наша траєкторія ставки (повернення до цілі), стовпці — чинники правила Тейлора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13. Python і MATLAB/IRIS дають той самий прогноз (розбіжність ~1e−5)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matlab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708" y="1325880"/>
            <a:ext cx="9710280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Один файл моделі model/model.model, ті самі дані, параметри й плани всіх 5 сценаріїв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Фільтр Калмана 2016–2026 і прогнози до 2029 збігаються з точністю до округлення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Збірка однією командою: python build.py → MATLAB → звірка → графіки → презентація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14. Бектест: прогноз з даними до III кв. 2025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4 квартали: 0,8–1,0 в. п. («без змін»: 1,3–6,1); лише 3 прогони, зовнішні умови — фактичні, тож це перевірка, а не доказ переваги над НБУ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15. Базовий прогноз по півріччях</a:t>
            </a:r>
            <a:endParaRPr lang="en-US" sz="2600" dirty="0"/>
          </a:p>
        </p:txBody>
      </p:sp>
      <p:graphicFrame>
        <p:nvGraphicFramePr>
          <p:cNvPr id="3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грн/$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16. Джерела даних</a:t>
            </a:r>
            <a:endParaRPr lang="en-US" sz="2600" dirty="0"/>
          </a:p>
        </p:txBody>
      </p:sp>
      <p:graphicFrame>
        <p:nvGraphicFramePr>
          <p:cNvPr id="3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4" invalidUrl="" action="" tgtFrame="" tooltip="https://bank.gov.ua/ua/news/all/komentar-natsionalnogo-banku-schodo-rivnya-inflyatsiyi-u-veresni-2026-roku" history="1" highlightClick="0" endSnd="0"/>
                        </a:rPr>
                        <a:t>коментар НБУ: інфляція у вересні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2026-10-21T16:42:52Z</dcterms:created>
  <dcterms:modified xsi:type="dcterms:W3CDTF">2026-10-21T16:42:52Z</dcterms:modified>
</cp:coreProperties>
</file>