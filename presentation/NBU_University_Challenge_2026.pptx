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dbf9fb21-67d0-edb0-a457-627dd607d7d8}">
          <p14:sldIdLst>
            <p14:sldId id="256"/>
            <p14:sldId id="257"/>
          </p14:sldIdLst>
        </p14:section>
        <p14:section name="Огляд" id="{007d126a-5526-4af1-cdff-ea87c99cbbf7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Прогноз" id="{2b3f64af-904b-7ad4-d173-9a4aec54842d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Рекомендації" id="{e6c80b16-6fe9-1bdc-a769-510eb1362c67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Додатки" id="{79b50ac0-ed20-4d5c-218c-352fb930701c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— Команда [назва]. Наша рекомендація — для засідання Правління НБУ 29 жовтня 2026 року, на якому НБУ оновить макропрогноз. Дані — станом на 7 жовтня 2026 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рішення. Перше — підвищити облікову ставку на 0,5 в. п. до 16,5%: інфляція прискорюється, ризики зміщені вгору, а оптимальна ставка за моделлю — 16,5%, якщо не реагувати на перший раунд підвищення адмінцін, і 16,9% — якщо реагувати. Друге — дозволити гривні поступово слабшати, щоб не витрачати ~5 млрд дол. резервів щомісяця. Третє — поставити на паузу наступні кроки валютної лібералізації, доки не відновляться резерви й ритм міжнародної допомоги.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Зовнішній фон гірший, ніж у липневому прогнозі НБУ: дорожча нафта підживлює ціни на пальне в Україні, а підвищення ставок у світі зменшує простір для пом'якшення. У прогнозі ми беремо ф'ючерсну криву Brent: ринок очікує поступового здешевлення нафти (до $76 наприкінці 2028), і це дезінфляційний чинник.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Інфляція в серпні — 8,1% р/р, трохи вище траєкторії НБУ. Шоки пропозиції (пальне, тарифи) поширюються на послуги через витрати бізнесу. Продовольство — дезінфляційний чинник.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Ризик — розбалансування очікувань: домогосподарства очікують інфляцію вище фактичної, а члени КМП звертають увагу на зростання очікувань фінансових аналітиків.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Ринок праці перегрітий через дефіцит працівників, тому навіть за слабкого ВВП фундаментальний ціновий тиск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Стабільність курсу зараз забезпечується інтервенціями, а надходження допомоги в липні–вересні були меншими за очікувані. Це ключовий аргумент для нашої курсової рекомендації.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Локалізація оборонного виробництва коштом USL — це водночас бюджетний імпульс (інфляційний) і додатковий попит на валюту для імпорту компонентів.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взяли шаблон QPM від НБУ, переписали його на Python і розширили: окремо базова й небазова інфляція та канал світових цін на нафту. Python дав автоматизацію даних, віяла, оптимальну політику й бектест. Той самий файл моделі ми проганяємо в MATLAB/IRIS: фільтр і всі сценарії збігаються до п'ятого знака, а графіки сценаріїв і функцій відгуку в презентації побудовані саме в MATLAB.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розділили інфляцію на базову і небазову: крива Філіпса з шаблону НБУ тепер описує базову інфляцію (дані Держстату про базовий ІСЦ), а небазові ціни реагують на реальну ціну нафти в євро і на курс. Вагу 0,016 відкалібровано так, щоб +20% ціни нафти давали ≈+0,3 в. п. до ІСЦ: пальне ≈4% кошика, частка нафти в його ціні ≈40%, плюс непрямі ефекти. Графік побудовано в MATLAB/IRIS.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має лише кілька основних рівнянь, тому все, чого в ній немає — енергетика, бюджет, допомога, тарифи, — входить через явні судження. Кожне судження має кількісне обґрунтування та джерело. Адмінціни: у середньому за 2016–2026 роки загальна інфляція перевищувала базову на 1,7 в. п.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поточного кварталу модель не потрібна: беремо трендовий темп і сезонність, поправка −0,1 в. п. — наше судження щодо продовольства. Після публікації вересневого ІСЦ (9–10 жовтня) прогноз оновиться автоматично.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Віяло побудоване стохастичними симуляціями з волатильністю шоків, оціненою на 2023–2026 роках. Широке віяло — чесне відображення воєнної невизначеності.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базова інфляція наприкінці 2027 вища, ніж у НБУ, бо ринок праці перегрітий, а атаки на енергетику підвищують витрати. Загальна інфляція близька до НБУ, бо дешевша за ф'ючерсами нафта частково компенсує тарифи й акцизи. У 2028 базова інфляція опускається нижче цілі — як і в прогнозі НБУ, — тому орієнтир на зниження ставки з II кварталу 2027 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оцінка розриву ВВП близька до НБУ в історії, але на 2027 рік ми консервативніші: бюджетний імпульс частково нівелюється атаками і нестачею працівників.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Сценарії побудовано поверх базового: однакове рішення в жовтні, далі ставка за правилом. Графік розраховано в MATLAB/IRIS за тими самими планами, що й у Python. Висновок: головний ризик для інфляції — курс і резерви; нафтовий шок — це перший раунд для цін пального, він майже не потребує реакції ставки.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↑ — ризик вищої інфляції, ↓ — нижчої. Більшість сильних і ймовірних ризиків — проінфляційні; це аргумент на користь превентивного підвищення ставки.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Втрати = сума квадратів відхилень інфляції від цілі плюс половина квадрата розриву ВВП за 2027–2028. Оптимальна траєкторія — розв'язок задачі найменших квадратів у лінійній моделі. Частина інфляції 2027–2028 — заплановане підвищення адмінцін; центробанки зазвичай не реагують на перший раунд таких змін, тому орієнтуємося на оптимум без них.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Рекомендація — помірне превентивне підвищення з чіткими умовами подальших дій.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Простий балансовий розрахунок: резерви = попередні + офіційні надходження − продаж валюти НБУ. Регресія інтервенцій на модельну змінну не дала значущого зв'язку, тому ми не використовували підхід «1% курсу = X млрд».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Рекомендація спирається на Стратегію пом'якшення валютних обмежень (2023): пріоритет поточних операцій над капітальними і можливість призупинення кроків за несприятливих умов.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Комунікація має пояснити логіку пакета: вища ставка дозволяє не витрачати резерви на утримання курсу.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Дякуємо! Готові до запитань.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розраховано в MATLAB/IRIS.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Лінії — розрахунок у Python, кружки — у MATLAB R2026b з IRIS. Це підтверджує, що наш Python-порт і розширення моделі коректні, а графіки MATLAB у презентації відповідають тим самим цифрам.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зовнішні змінні — фактичні, судження не використовувалися.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Квартальні значення базового сценарію (рішення 16,5% у жовтні, далі — правило).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07.10.2026.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помірне посилення ставки, гнучкіший курс, пауза в лібералізації</a:t>
            </a:r>
            <a:endParaRPr lang="en-US" sz="2600" dirty="0"/>
          </a:p>
        </p:txBody>
      </p:sp>
      <p:sp>
        <p:nvSpPr>
          <p:cNvPr id="4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+0,5 в. п.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кінця I кв. 2027; зниження — з II кв. 2027 за базового сценарію</a:t>
            </a:r>
            <a:endParaRPr lang="en-US" sz="1300" dirty="0"/>
          </a:p>
        </p:txBody>
      </p:sp>
      <p:sp>
        <p:nvSpPr>
          <p:cNvPr id="8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 ДО ЄВРО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≈4%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у 2027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поступове послаблення, керована гнучкість: курс амортизує шоки, інтервенції лише згладжують коливання</a:t>
            </a:r>
            <a:endParaRPr lang="en-US" sz="1300" dirty="0"/>
          </a:p>
        </p:txBody>
      </p:sp>
      <p:sp>
        <p:nvSpPr>
          <p:cNvPr id="12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61818"/>
                <a:gridCol w="2661818"/>
                <a:gridCol w="266181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грн/€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квартал, з урахуванням сезонності; на кінець грудня 2026 — 9,9% (наш короткостроковий прогноз). Повернення до цілі 5% — II кв. 2028. Дані станом на 07.10.2026.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≈$100, ЄЦБ підвищує ставку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exter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49" y="1325880"/>
            <a:ext cx="10406798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— пік $117 у квітні, $102 у вересні (НБУ закладав $80–85); ф'ючерси — $83 наприкінці 2027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ринок закладає ще ≈+0,5 в. п. до кінця 2027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пік ≈3,7% наприкінці 2026 (прогноз ЄЦБ: 3,0% / 2,5% / 2,1% у 2026–2028)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прискорилася до 8,1%: пальне й тарифи, базова — стабільно висока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inf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Пальне +38,7% р/р, адмінрегульовані ціни +13,0% (вода, проїзд) — головні рушії серпня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8,1% три місяці поспіль: послуги +13,4% (зарплати, оренда, логістика)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Стримує: сирі продукти +1,0% — блокада Чорного моря тримає зерно й овочі на внутрішньому ринку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підвищені, реальна ставка ≈7% — гривневі активи поки привабливі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r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15284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облікова ставка ≈7 в. п. (ex post); депозитні ставки реагують із лагом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Липневе й вересневе підвищення підтримали попит на гривневі депозити та ОВДП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сповільнюється: ВВП III кв. гірший за прогноз, зарплати +25%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a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362322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+0,3% кв/кв, +0,4% р/р; у III кв. — «суттєво гірше прогнозу НБУ» (КМП)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на енергетику, логістику та порти; внесок обстрілів у ВВП-2026 — −0,9 в. п. (НБУ)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кадрів: номінальні зарплати +25% р/р у червні, реальні +17% — тиск на ціни послуг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327036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стабільний (≈51,5 грн/€, ≈44,7 грн/$) — ціною резервів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залежить від допомоги: $87 млрд у 2026, але надходження затримуються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is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042" y="1325880"/>
            <a:ext cx="10945611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Липень–серпень: менше офіційного фінансування → стриманіші видатки, падіння резервів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7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8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1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2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5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6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~1e−5</a:t>
            </a:r>
            <a:endParaRPr lang="en-US" sz="3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MATLAB/IRIS: фільтр і всі 5 сценаріїв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0,3–1,3 в. п.</a:t>
            </a:r>
            <a:endParaRPr lang="en-US" sz="3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прогнозу ІСЦ на рік уперед (наївний: 1,3–5,3)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6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8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0" name="chip3"/>
          <p:cNvSpPr/>
          <p:nvPr/>
        </p:nvSpPr>
        <p:spPr>
          <a:xfrm>
            <a:off x="4805172" y="53492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805172" y="53492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</a:t>
            </a:r>
            <a:endParaRPr lang="en-US" sz="1200" dirty="0"/>
          </a:p>
        </p:txBody>
      </p:sp>
      <p:sp>
        <p:nvSpPr>
          <p:cNvPr id="32" name="chip4"/>
          <p:cNvSpPr/>
          <p:nvPr/>
        </p:nvSpPr>
        <p:spPr>
          <a:xfrm>
            <a:off x="6163056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163056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4" name="chip5"/>
          <p:cNvSpPr/>
          <p:nvPr/>
        </p:nvSpPr>
        <p:spPr>
          <a:xfrm>
            <a:off x="8220456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0456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6" name="chip6"/>
          <p:cNvSpPr/>
          <p:nvPr/>
        </p:nvSpPr>
        <p:spPr>
          <a:xfrm>
            <a:off x="9889236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889236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8" name="chip7"/>
          <p:cNvSpPr/>
          <p:nvPr/>
        </p:nvSpPr>
        <p:spPr>
          <a:xfrm>
            <a:off x="457200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7200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0" name="chip8"/>
          <p:cNvSpPr/>
          <p:nvPr/>
        </p:nvSpPr>
        <p:spPr>
          <a:xfrm>
            <a:off x="150418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50418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2" name="chip9"/>
          <p:cNvSpPr/>
          <p:nvPr/>
        </p:nvSpPr>
        <p:spPr>
          <a:xfrm>
            <a:off x="2551176" y="58064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551176" y="58064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Наше розширення QPM: нафта змінює небазові ціни, ставка реагує лише на вторинні ефекти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ml_irf_o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158013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року, ставка +0,2 в. п.; базова інфляція не прискорюється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модель точно збігається з шаблоном НБУ — перевірено тестами і в MATLAB/IRIS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Припущення та судження базового сценарію — кожне з джерелом</a:t>
            </a:r>
            <a:endParaRPr lang="en-US" sz="26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Наукаст: тренд 0,65%/міс + сезонність − 0,1 в. п. (продовольство) → грудень 9,9%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Держстат,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−0,3% кв/кв SA (КМП: «суттєво гірше прогнозу»)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Підсумки КМП 28.09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НБУ, макропрогноз липень 2026 (адмінціни +14,0% / +11,3%)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Бюджетний імпульс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Локалізація оборонного виробництва коштом Ukraine Support Loan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НБУ, Інфляційний звіт і макропрогноз,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Поступове послаблення ≈4% (2027) і 3% (2028): EUR/USD за НБУ + керована гнучкість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Припущення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Ф'ючерсна крива: $101 (IV кв. 2026) → $83 (кінець 2027) → $76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EIA, 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до 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≈9,9% у грудні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nowc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309360" cy="3406958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−0,01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086600" y="3383280"/>
            <a:ext cx="46478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вересні–грудні 2025 ціни зросли лише на 1,8%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0,65% на місяць (з урахуванням сезонності) — це ≈8% у річному вимірі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Наш прогноз грудня близький до НБУ (10%): тиск пального компенсує дешевше продовольство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 початку 2027 і повернеться до цілі у II кв. 2028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f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245" y="1325880"/>
            <a:ext cx="9945206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≈8,9% у I кв. 2027; 6,9% наприкінці 2027 (НБУ, липень: 6,9% на грудень)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16,5% → 14,7% наприкінці 2027 → 11,2% наприкінці 2028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імовірність потрапити в 5±1% — 17% наприкінці 2027 і 18% — 2028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Базова інфляція в 2027 стійкіша, ніж у НБУ: 5,9% наприкінці року проти 5,1%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3881792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Зарплати +25%, дорожчі послуги, наслідки атак — базова інфляція знижується повільніше, ніж очікує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6,9% наприкінці 2027 (НБУ 6,9%)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2,9% (НБУ 3,3%) — слабкий попит → простір для зниження ставки з II кв.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Висновок: превентивне підвищення зараз, швидше пом'якшення пізніше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 бачимо слабший попит, ніж НБУ: розрив ВВП у 2027 ≈0,4% проти 1,4%</a:t>
            </a:r>
            <a:endParaRPr lang="en-US" sz="2600" dirty="0"/>
          </a:p>
        </p:txBody>
      </p:sp>
      <p:pic>
        <p:nvPicPr>
          <p:cNvPr id="4" name="chart main" descr="C:\Users\Lenovo\Documents\GitHub\nbu-challenge-2026\results\figures\fc_gap_vs_nb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971531" cy="2740914"/>
          </a:xfrm>
          <a:prstGeom prst="rect">
            <a:avLst/>
          </a:prstGeom>
        </p:spPr>
      </p:pic>
      <p:pic>
        <p:nvPicPr>
          <p:cNvPr id="5" name="chart side" descr="C:\Users\Lenovo\Documents\GitHub\nbu-challenge-2026\results\figures\fc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203954"/>
            <a:ext cx="6241248" cy="2105406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0,0% / 1,1% / 0,9%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Причини: слабкий III кв., атаки на логістику, блокада портів, дефіцит кадрів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Реальна ставка (≈7–8%) вища за нейтральну (≈6%) — політика вже стримувальна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правилом ставка має лишатися ≈16,5% до весни: інфляція вище цілі на 3–4 в. п.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rate_driv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2947885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ВВП майже не тисне на ставку — це не «перегрів попиту», а шоки витрат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2027 внесок інфляції зменшується → простір для зниження ставки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найнебезпечніший — дефіцит фінансування, а не зима чи нафта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ml_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6038" y="1280160"/>
            <a:ext cx="8719619" cy="2606040"/>
          </a:xfrm>
          <a:prstGeom prst="rect">
            <a:avLst/>
          </a:prstGeom>
        </p:spPr>
      </p:pic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грн/€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(≈55 грн/€) → інфляція до 12%, ставка до ≈19%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10,5%, ставка ≈17,0%, ВВП 2027 — 0,2%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+0,5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Сприятливий: нижча премія за ризик → швидше пом'якшення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5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6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8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1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3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5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8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19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1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 29 жовтня: кожні +0,5 в. п. знижують втрати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9601" y="1280160"/>
            <a:ext cx="8652494" cy="2606040"/>
          </a:xfrm>
          <a:prstGeom prst="rect">
            <a:avLst/>
          </a:prstGeom>
        </p:spPr>
      </p:pic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Варіант (далі — правило)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Знизити до 15,5%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ставка: 16,5%, якщо не реагувати на перший раунд підвищення адмінцін (практика ІТ); 16,9% — якщо реагувати на весь ІСЦ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Чутливість до згладжування ставки: 16,3–17,6%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Обираємо 16,5%: поступовість за невизначеності; 17% — якщо з'являться вторинні ефекти тарифів і пального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16,5% і утримувати до весни</a:t>
            </a:r>
            <a:endParaRPr lang="en-US" sz="2600" dirty="0"/>
          </a:p>
        </p:txBody>
      </p:sp>
      <p:sp>
        <p:nvSpPr>
          <p:cNvPr id="4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+0,5 в. п. з 30.10.2026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9" name="bullets"/>
          <p:cNvSpPr txBox="1"/>
          <p:nvPr/>
        </p:nvSpPr>
        <p:spPr>
          <a:xfrm>
            <a:off x="3931920" y="1709928"/>
            <a:ext cx="7802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Інфляція зросте до ≈10% у грудні; ризики зміщені вгору (нафта, тарифи, зарплати, очікування)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наприкінці 2027 — 5,9% (НБУ: 5,1%): ринок праці перегрітий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Резерви знижуються: потрібна вища привабливість гривні, щоб зменшити попит на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 рекомендуємо гнучкіший курс — ставка має утримати очікування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3218688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не більше</a:t>
            </a:r>
            <a:endParaRPr lang="en-US" sz="1600" dirty="0"/>
          </a:p>
        </p:txBody>
      </p:sp>
      <p:sp>
        <p:nvSpPr>
          <p:cNvPr id="11" name="bullets"/>
          <p:cNvSpPr txBox="1"/>
          <p:nvPr/>
        </p:nvSpPr>
        <p:spPr>
          <a:xfrm>
            <a:off x="3931920" y="3602736"/>
            <a:ext cx="780257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 III кв. скоротився; реальна ставка вже ≈7% — вище нейтральної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Шоки здебільшого пропозиції: реагуємо на вторинні ефекти, а не на перший раунд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Без реакції на перший раунд адмінцін оптимум моделі — 16,5%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4764024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3" name="bullets"/>
          <p:cNvSpPr txBox="1"/>
          <p:nvPr/>
        </p:nvSpPr>
        <p:spPr>
          <a:xfrm>
            <a:off x="3931920" y="5148072"/>
            <a:ext cx="780257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кінця I кв. 2027; зниження з II кв. 2027 до ≈14,5% наприкінці року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Підвищення до 17–19% — якщо резерви &lt; $43 млрд і тиск на курс (сценарій дефіциту фінансування)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без допомоги резерви наблизяться до 3 місяців імпорту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rese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4808281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 (липень–вересень)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Кінець 2026: $56 / 43 / 38 млрд = 4,6 / 3,6 / 3,1 міс. імпорту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керована гнучкість — поступове послаблення гривні до € ≈4% у 2027, інтервенції лише для згладжування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фіксувати й не захищати рівень: це прямий шлях до втрати резервів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x_househol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732760" cy="4983480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16,5% з огляду на прискорення інфляції, зміщення ризиків угору та зниження міжнародних резервів. НБУ утримуватиме ставку щонайменше до кінця I кварталу 2027 року та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6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9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превентивно, щоб інфляція повернулася до 5% у 2028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Гнучкий курс захищає резерви; НБУ згладжує, але не фіксує курс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Гривневі депозити й ОВДП залишаються вигіднішими за валюту з урахуванням інфляції</a:t>
            </a:r>
            <a:endParaRPr lang="en-US" sz="1400" dirty="0"/>
          </a:p>
        </p:txBody>
      </p:sp>
      <p:sp>
        <p:nvSpPr>
          <p:cNvPr id="10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1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4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кінця I кв.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II кв.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5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6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19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16,5% та утримувати щонайменше до кінця I кв.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Керована гнучкість курсу: поступове послаблення гривні замість витрачання резервів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≈9,9% у грудні 2026, 6,9% наприкінці 2027, ціль — II кв. 2028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Модель: QPM НБУ + розширення команди</a:t>
            </a:r>
            <a:endParaRPr lang="en-US" sz="2600" dirty="0"/>
          </a:p>
        </p:txBody>
      </p:sp>
      <p:sp>
        <p:nvSpPr>
          <p:cNvPr id="4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7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0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Δzₜ) + εⁿᶜ;   πₜ = πᶜₜ + Δrncₜ</a:t>
            </a:r>
            <a:endParaRPr lang="en-US" sz="1600" dirty="0"/>
          </a:p>
        </p:txBody>
      </p:sp>
      <p:sp>
        <p:nvSpPr>
          <p:cNvPr id="13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6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− 5) + 0,5·ŷₜ) + εⁱ</a:t>
            </a:r>
            <a:endParaRPr lang="en-US" sz="1600" dirty="0"/>
          </a:p>
        </p:txBody>
      </p:sp>
      <p:sp>
        <p:nvSpPr>
          <p:cNvPr id="19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point1"/>
          <p:cNvSpPr txBox="1"/>
          <p:nvPr/>
        </p:nvSpPr>
        <p:spPr>
          <a:xfrm>
            <a:off x="868680" y="5897880"/>
            <a:ext cx="509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НБУ, Grui &amp; Vdovychenko (2019); вага нафти — наше калібрування</a:t>
            </a:r>
            <a:endParaRPr lang="en-US" sz="1300" dirty="0"/>
          </a:p>
        </p:txBody>
      </p:sp>
      <p:sp>
        <p:nvSpPr>
          <p:cNvPr id="22" name="num2"/>
          <p:cNvSpPr/>
          <p:nvPr/>
        </p:nvSpPr>
        <p:spPr>
          <a:xfrm>
            <a:off x="623300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23300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4" name="point2"/>
          <p:cNvSpPr txBox="1"/>
          <p:nvPr/>
        </p:nvSpPr>
        <p:spPr>
          <a:xfrm>
            <a:off x="6644488" y="5897880"/>
            <a:ext cx="509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Реакція на шок ставки залежить від контролю над курсом (β)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ml_irf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266" y="1325880"/>
            <a:ext cx="9719163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Python і MATLAB/IRIS дають той самий прогноз (розбіжність ~1e−5)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matlab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708" y="1325880"/>
            <a:ext cx="9710280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Один файл моделі model/model.model, ті самі дані, параметри й плани всіх 5 сценаріїв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Фільтр Калмана 2016–2026 і прогнози до 2028 збігаються з точністю до округлення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Збірка однією командою: python build.py → MATLAB → звірка → графіки → презентація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Бектест: прогноз з даними до III кв. 2025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back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4 квартали: 0,3–1,3 в. п. (наївний прогноз: 1,3–5,3)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Базовий прогноз по кварталах</a:t>
            </a:r>
            <a:endParaRPr lang="en-US" sz="26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2026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Джерела даних</a:t>
            </a:r>
            <a:endParaRPr lang="en-US" sz="2600" dirty="0"/>
          </a:p>
        </p:txBody>
      </p:sp>
      <p:graphicFrame>
        <p:nvGraphicFramePr>
          <p:cNvPr id="3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 через API НБУ; Інфляційний звіт НБУ (липень 2026); коментарі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API НБУ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 (сезонно скоригований), коментар НБУ 17.09.2026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Інфляційний звіт і таблиця макропрогнозу, липень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Eurostat (HICP, prc_hicp_minr), ЄЦБ (ВВП EA21, депозитна ставка), прогноз ЄЦБ вересень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EIA (через DBnomics), ф'ючерси NYMEX BZ (Yahoo Finance); курс USD/EUR — ЄЦБ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Пресреліз 17.09.2026, підсумки дискусії КМП 28.09.2026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Стратегія НБУ (2023), пакет пом'якшення 10.08.2026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Шаблон QPM NBU University Challenge 2026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2026-10-07T20:09:13Z</dcterms:created>
  <dcterms:modified xsi:type="dcterms:W3CDTF">2026-10-07T20:09:13Z</dcterms:modified>
</cp:coreProperties>
</file>