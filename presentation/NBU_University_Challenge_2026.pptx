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" id="{3717dd92-6d15-21fb-9129-e393464eb74c}">
          <p14:sldIdLst>
            <p14:sldId id="256"/>
            <p14:sldId id="257"/>
          </p14:sldIdLst>
        </p14:section>
        <p14:section name="Огляд" id="{5bcc0684-9182-6c4f-fe01-b01958bbf023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Прогноз" id="{631b49a7-f6e7-0b13-6459-621924db645e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Рекомендації" id="{de210542-b2a5-a0fe-0ac6-7b42b70e1c87}">
          <p14:sldIdLst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Додатки" id="{24fdfb6a-82de-7d92-b4cd-07abf3fa7578}">
          <p14:sldIdLst>
            <p14:sldId id="281"/>
            <p14:sldId id="282"/>
            <p14:sldId id="283"/>
            <p14:sldId id="284"/>
            <p14:sldId id="285"/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— Команда [назва]. Наша рекомендація — для засідання Правління НБУ 29 жовтня 2026 року, на якому НБУ оновить макропрогноз. Дані — станом на 7 жовтня 2026 року.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рішення. Перше — підвищити облікову ставку на 0,5 в. п. до 16,5%: інфляція прискорюється, ризики зміщені вгору, а оптимальна траєкторія за моделлю — близько 16,7%. Друге — дозволити гривні поступово слабшати, щоб не витрачати ~5 млрд дол. резервів щомісяця. Третє — поставити на паузу наступні кроки валютної лібералізації, доки не відновляться резерви й ритм міжнародної допомоги.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Зовнішній фон гірший, ніж у липневому прогнозі НБУ: дорожча нафта підживлює ціни на пальне в Україні, а підвищення ставок у світі зменшує простір для пом'якшення.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Інфляція в серпні — 8,1% р/р, трохи вище траєкторії НБУ. Шоки пропозиції (пальне, тарифи) поширюються на послуги через витрати бізнесу. Продовольство — дезінфляційний чинник.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Ризик — розбалансування очікувань: домогосподарства очікують інфляцію вище фактичної, а члени КМП звертають увагу на зростання очікувань фінансових аналітиків.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Ринок праці перегрітий через дефіцит працівників, тому навіть за слабкого ВВП фундаментальний ціновий тиск зберігається.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Стабільність курсу зараз забезпечується інтервенціями, а надходження допомоги в липні–вересні були меншими за очікувані. Це ключовий аргумент для нашої курсової рекомендації.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Локалізація оборонного виробництва коштом USL — це водночас бюджетний імпульс (інфляційний) і додатковий попит на валюту для імпорту компонентів.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використали шаблон QPM від НБУ, але переписали його на Python: це дало змогу автоматизувати дані, додати віялові графіки, оптимальну політику та бектест. Коректність перевірена: функції відгуку збігаються з MATLAB-версією.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Модель має лише чотири основні рівняння, тому все, чого в ній немає — енергетика, бюджет, допомога, — входить через явні судження. Кожне судження має кількісне обґрунтування та джерело.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поточного кварталу модель не потрібна: беремо трендовий темп і сезонність, поправка −0,1 в. п. — наше судження щодо продовольства. Після публікації вересневого ІСЦ (9–10 жовтня) прогноз оновиться автоматично.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Віяло побудоване стохастичними симуляціями з волатильністю шоків, оціненою на 2023–2026 роках. Широке віяло — чесне відображення воєнної невизначеності.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Наша оцінка розриву ВВП близька до НБУ в історії, але на 2027 рік ми консервативніші: бюджетний імпульс частково нівелюється атаками і нестачею працівників.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Графік показує, на скільки ставка має бути вищою за нейтральну за правилом Тейлора і чому.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Сценарії побудовано поверх базового: однакове рішення в жовтні, далі ставка за правилом. Висновок: головний ризик для інфляції — курс і резерви, а не пряма дія обстрілів.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↑ — ризик вищої інфляції, ↓ — нижчої. Більшість сильних і ймовірних ризиків — проінфляційні; це аргумент на користь превентивного підвищення ставки.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Втрати = сума квадратів відхилень інфляції від цілі плюс половина квадрата розриву ВВП за 2027–2028. Оптимальна траєкторія — розв'язок задачі найменших квадратів у лінійній моделі.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Рекомендація — помірне превентивне підвищення з чіткими умовами подальших дій.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Простий балансовий розрахунок: резерви = попередні + офіційні надходження − продаж валюти НБУ. Регресія інтервенцій на модельну змінну не дала значущого зв'язку, тому ми не використовували підхід «1% курсу = X млрд».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Рекомендація спирається на Стратегію пом'якшення валютних обмежень (2023): пріоритет поточних операцій над капітальними і можливість призупинення кроків за несприятливих умов.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Комунікація має пояснити логіку пакета: вища ставка дозволяє не витрачати резерви на утримання курсу.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Дякуємо! Готові до запитань.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ŷ — розрив ВВП, z̃ — розрив реального курсу, r̃ — розрив реальної ставки, prem — премія за ризик.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Чим сильніше НБУ контролює курс (β → 1), тим слабше ставка впливає на курс і інфляцію — валютний канал головний.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Бектест квазіреальний: зовнішні змінні — фактичні, судження не використовувалися.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Квартальні значення базового сценарію (рішення 16,5% у жовтні, далі — правило).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Усі дані завантажуються скриптами; дата відсічення — 07.10.2026.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int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NBU University Challenge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Огля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Прогноз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Рекомендації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Додатк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щодо монетарної політики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7033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Рішення Правління НБУ 29 жовтня 2026 року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463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Команда [назва]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[Університет, факультет]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NBU University Challenge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Головне: помірне посилення ставки, гнучкіший курс, пауза в лібералізації</a:t>
            </a:r>
            <a:endParaRPr lang="en-US" sz="2600" dirty="0"/>
          </a:p>
        </p:txBody>
      </p:sp>
      <p:sp>
        <p:nvSpPr>
          <p:cNvPr id="4" name="card1"/>
          <p:cNvSpPr/>
          <p:nvPr/>
        </p:nvSpPr>
        <p:spPr>
          <a:xfrm>
            <a:off x="457200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85800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ОБЛІКОВА СТАВКА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16,5%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+0,5 в. п.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утримувати щонайменше до кінця I кв. 2027; зниження — з II кв. 2027 за базового сценарію</a:t>
            </a:r>
            <a:endParaRPr lang="en-US" sz="1300" dirty="0"/>
          </a:p>
        </p:txBody>
      </p:sp>
      <p:sp>
        <p:nvSpPr>
          <p:cNvPr id="8" name="card2"/>
          <p:cNvSpPr/>
          <p:nvPr/>
        </p:nvSpPr>
        <p:spPr>
          <a:xfrm>
            <a:off x="4307738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536338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КУРС ГРИВНІ ДО ЄВРО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536338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≈4%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у 2027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4536338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поступове послаблення, керована гнучкість: курс амортизує шоки, інтервенції лише згладжують коливання</a:t>
            </a:r>
            <a:endParaRPr lang="en-US" sz="1300" dirty="0"/>
          </a:p>
        </p:txBody>
      </p:sp>
      <p:sp>
        <p:nvSpPr>
          <p:cNvPr id="12" name="card3"/>
          <p:cNvSpPr/>
          <p:nvPr/>
        </p:nvSpPr>
        <p:spPr>
          <a:xfrm>
            <a:off x="8158277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386877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ВАЛЮТНІ ОБМЕЖЕННЯ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386877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Пауза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етап III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8386877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серпневий пакет зберегти; нові кроки — після відновлення резервів і допомоги</a:t>
            </a:r>
            <a:endParaRPr lang="en-US" sz="13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9476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661818"/>
                <a:gridCol w="2661818"/>
                <a:gridCol w="266181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ІСЦ,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8,7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Реальний ВВП, % (рік)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1,1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Облікова ставка, %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13,9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Курс, грн/€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51,6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52,3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53,3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457200" y="5897880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* Середнє за квартал, з урахуванням сезонності; на кінець грудня 2026 — 9,9% (наш короткостроковий прогноз). Повернення до цілі 5% — II кв. 2028. Дані станом на 07.10.2026.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Огляд економіки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Інфляція прискорюється, резерви тануть, економіка сповільнюється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Зовнішнє середовище стало проінфляційним: нафта ≈$100, ЄЦБ підвищує ставку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exter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449" y="1325880"/>
            <a:ext cx="10406798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Війна на Близькому Сході (з 28.02.2026): Brent ≈$100 у вересні проти $80–85 у припущеннях НБУ на II пів. 2026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ЄЦБ підвищив ставку до 2,5% (червень, вересень); ринок закладає ще ≈+0,5 в. п. до кінця 2027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Інфляція в єврозоні — пік ≈3,7% наприкінці 2026 (прогноз ЄЦБ: 3,0% / 2,5% / 2,1% у 2026–2028)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прискорилася до 8,1%: пальне й тарифи, базова — стабільно висока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inf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770" y="1325880"/>
            <a:ext cx="10436154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Пальне +38,7% р/р, адмінрегульовані ціни +13,0% (вода, проїзд) — головні рушії серпня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Базова інфляція 8,1% три місяці поспіль: послуги +13,4% (зарплати, оренда, логістика)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Стримує: сирі продукти +1,0% — блокада Чорного моря тримає зерно й овочі на внутрішньому ринку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Очікування підвищені, реальна ставка ≈7% — гривневі активи поки привабливі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ra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11277295" cy="315284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Очікування домогосподарств 10–14% — вище фактичної інфляції; аналітики підвищили до 7,9%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Реальна облікова ставка ≈7 в. п. (ex post); депозитні ставки реагують із лагом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Липневе й вересневе підвищення підтримали попит на гривневі депозити та ОВДП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Економіка сповільнюється: ВВП III кв. гірший за прогноз, зарплати +25%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ac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11277295" cy="3362322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ВВП II кв.: +0,3% кв/кв, +0,4% р/р; у III кв. — «суттєво гірше прогнозу НБУ» (КМП)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Атаки на енергетику, логістику та порти; внесок обстрілів у ВВП-2026 — −0,9 в. п. (НБУ)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Дефіцит кадрів: номінальні зарплати +25% р/р у червні, реальні +17% — тиск на ціни послуг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НБУ продає ≈$5,0 млрд на місяць — резерви впали до $47,1 млрд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f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11277295" cy="3327036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Чистий продаж валюти НБУ: $4,8 млрд у серпні, $5,5 млрд у вересні — рекорд року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Резерви: $51,2 млрд (липень) → $47,1 млрд (вересень) проти $53,8 млрд у прогнозі НБУ на кінець III кв.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 стабільний (≈51,5 грн/€, ≈44,7 грн/$) — ціною резервів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Бюджет залежить від допомоги: $87 млрд у 2026, але надходження затримуються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fis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042" y="1325880"/>
            <a:ext cx="10945611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Дефіцит без грантів ≈35% ВВП у 2026; оборонна складова USL — $33,2 млрд (2026) і $16,7 млрд (2027)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Липень–серпень: менше офіційного фінансування → стриманіші видатки, падіння резервів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Частина допомоги прив'язана до ухвалення законів — ризик подальших затримок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Макроекономічний прогноз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QPM НБУ на Python + короткостроковий прогноз + судження + сценарії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Модель: QPM НБУ, перенесена на Python і перевірена на історії</a:t>
            </a:r>
            <a:endParaRPr lang="en-US" sz="2600" dirty="0"/>
          </a:p>
        </p:txBody>
      </p:sp>
      <p:sp>
        <p:nvSpPr>
          <p:cNvPr id="4" name="step1"/>
          <p:cNvSpPr/>
          <p:nvPr/>
        </p:nvSpPr>
        <p:spPr>
          <a:xfrm>
            <a:off x="457200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40080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Дані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API НБУ, Держстат, ЄЦБ, Eurostat; оновлення одним скриптом</a:t>
            </a:r>
            <a:endParaRPr lang="en-US" sz="1300" dirty="0"/>
          </a:p>
        </p:txBody>
      </p:sp>
      <p:sp>
        <p:nvSpPr>
          <p:cNvPr id="7" name="arrow1"/>
          <p:cNvSpPr/>
          <p:nvPr/>
        </p:nvSpPr>
        <p:spPr>
          <a:xfrm>
            <a:off x="3041066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8" name="step2"/>
          <p:cNvSpPr/>
          <p:nvPr/>
        </p:nvSpPr>
        <p:spPr>
          <a:xfrm>
            <a:off x="3379394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562274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Фільтр Калмана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562274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розриви й тренди: ВВП, реальний курс, нейтральна ставка</a:t>
            </a:r>
            <a:endParaRPr lang="en-US" sz="1300" dirty="0"/>
          </a:p>
        </p:txBody>
      </p:sp>
      <p:sp>
        <p:nvSpPr>
          <p:cNvPr id="11" name="arrow2"/>
          <p:cNvSpPr/>
          <p:nvPr/>
        </p:nvSpPr>
        <p:spPr>
          <a:xfrm>
            <a:off x="5963260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2" name="step3"/>
          <p:cNvSpPr/>
          <p:nvPr/>
        </p:nvSpPr>
        <p:spPr>
          <a:xfrm>
            <a:off x="6301588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4468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Прогноз із планом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484468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наукаст ІСЦ, судження, зовнішні припущення ЄЦБ</a:t>
            </a:r>
            <a:endParaRPr lang="en-US" sz="1300" dirty="0"/>
          </a:p>
        </p:txBody>
      </p:sp>
      <p:sp>
        <p:nvSpPr>
          <p:cNvPr id="15" name="arrow3"/>
          <p:cNvSpPr/>
          <p:nvPr/>
        </p:nvSpPr>
        <p:spPr>
          <a:xfrm>
            <a:off x="8885453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6" name="step4"/>
          <p:cNvSpPr/>
          <p:nvPr/>
        </p:nvSpPr>
        <p:spPr>
          <a:xfrm>
            <a:off x="9223781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406661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Політика й ризики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9406661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сценарії, віяло, оптимальна траєкторія ставки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1e−13</a:t>
            </a:r>
            <a:endParaRPr lang="en-US" sz="34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похибка розв'язку рівнянь моделі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307738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MATLAB</a:t>
            </a:r>
            <a:endParaRPr lang="en-US" sz="3400" dirty="0"/>
          </a:p>
        </p:txBody>
      </p:sp>
      <p:sp>
        <p:nvSpPr>
          <p:cNvPr id="22" name="Text 19"/>
          <p:cNvSpPr txBox="1"/>
          <p:nvPr/>
        </p:nvSpPr>
        <p:spPr>
          <a:xfrm>
            <a:off x="4307738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функції відгуку збігаються з шаблоном НБУ (IRIS)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158277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0,6–0,9 в. п.</a:t>
            </a:r>
            <a:endParaRPr lang="en-US" sz="3400" dirty="0"/>
          </a:p>
        </p:txBody>
      </p:sp>
      <p:sp>
        <p:nvSpPr>
          <p:cNvPr id="24" name="Text 21"/>
          <p:cNvSpPr txBox="1"/>
          <p:nvPr/>
        </p:nvSpPr>
        <p:spPr>
          <a:xfrm>
            <a:off x="8158277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помилка прогнозу ІСЦ на рік уперед (наївний: 1,2–5,3)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4983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Що ми додали до шаблону НБУ</a:t>
            </a:r>
            <a:endParaRPr lang="en-US" sz="1300" dirty="0"/>
          </a:p>
        </p:txBody>
      </p:sp>
      <p:sp>
        <p:nvSpPr>
          <p:cNvPr id="26" name="chip1"/>
          <p:cNvSpPr/>
          <p:nvPr/>
        </p:nvSpPr>
        <p:spPr>
          <a:xfrm>
            <a:off x="457200" y="5349240"/>
            <a:ext cx="207568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" y="534924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Автоматичні дані з API</a:t>
            </a:r>
            <a:endParaRPr lang="en-US" sz="1200" dirty="0"/>
          </a:p>
        </p:txBody>
      </p:sp>
      <p:sp>
        <p:nvSpPr>
          <p:cNvPr id="28" name="chip2"/>
          <p:cNvSpPr/>
          <p:nvPr/>
        </p:nvSpPr>
        <p:spPr>
          <a:xfrm>
            <a:off x="2670048" y="5349240"/>
            <a:ext cx="122072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670048" y="5349240"/>
            <a:ext cx="122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Наукаст ІСЦ</a:t>
            </a:r>
            <a:endParaRPr lang="en-US" sz="1200" dirty="0"/>
          </a:p>
        </p:txBody>
      </p:sp>
      <p:sp>
        <p:nvSpPr>
          <p:cNvPr id="30" name="chip3"/>
          <p:cNvSpPr/>
          <p:nvPr/>
        </p:nvSpPr>
        <p:spPr>
          <a:xfrm>
            <a:off x="4027932" y="534924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027932" y="5349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Судження з джерелами</a:t>
            </a:r>
            <a:endParaRPr lang="en-US" sz="1200" dirty="0"/>
          </a:p>
        </p:txBody>
      </p:sp>
      <p:sp>
        <p:nvSpPr>
          <p:cNvPr id="32" name="chip4"/>
          <p:cNvSpPr/>
          <p:nvPr/>
        </p:nvSpPr>
        <p:spPr>
          <a:xfrm>
            <a:off x="6085332" y="5349240"/>
            <a:ext cx="153162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085332" y="5349240"/>
            <a:ext cx="15316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Віялові графіки</a:t>
            </a:r>
            <a:endParaRPr lang="en-US" sz="1200" dirty="0"/>
          </a:p>
        </p:txBody>
      </p:sp>
      <p:sp>
        <p:nvSpPr>
          <p:cNvPr id="34" name="chip5"/>
          <p:cNvSpPr/>
          <p:nvPr/>
        </p:nvSpPr>
        <p:spPr>
          <a:xfrm>
            <a:off x="7754112" y="5349240"/>
            <a:ext cx="2542032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754112" y="534924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Оптимальна траєкторія ставки</a:t>
            </a:r>
            <a:endParaRPr lang="en-US" sz="1200" dirty="0"/>
          </a:p>
        </p:txBody>
      </p:sp>
      <p:sp>
        <p:nvSpPr>
          <p:cNvPr id="36" name="chip6"/>
          <p:cNvSpPr/>
          <p:nvPr/>
        </p:nvSpPr>
        <p:spPr>
          <a:xfrm>
            <a:off x="10433304" y="53492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433304" y="53492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Бектест</a:t>
            </a:r>
            <a:endParaRPr lang="en-US" sz="1200" dirty="0"/>
          </a:p>
        </p:txBody>
      </p:sp>
      <p:sp>
        <p:nvSpPr>
          <p:cNvPr id="38" name="chip7"/>
          <p:cNvSpPr/>
          <p:nvPr/>
        </p:nvSpPr>
        <p:spPr>
          <a:xfrm>
            <a:off x="457200" y="5806440"/>
            <a:ext cx="1842516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57200" y="5806440"/>
            <a:ext cx="1842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Розрахунок резервів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Припущення та судження базового сценарію — кожне з джерелом</a:t>
            </a:r>
            <a:endParaRPr lang="en-US" sz="2600" dirty="0"/>
          </a:p>
        </p:txBody>
      </p:sp>
      <p:graphicFrame>
        <p:nvGraphicFramePr>
          <p:cNvPr id="1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858000"/>
                <a:gridCol w="22219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Чинник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Що закладено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Інфляція IV кв. 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Наукаст: тренд 0,65%/міс + сезонність − 0,1 в. п. (продовольство) → грудень 9,9% р/р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Держстат, НБУ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ВВП III кв. 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−0,3% кв/кв SA (КМП: «суттєво гірше прогнозу»)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Підсумки КМП 28.09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Шок витрат 2027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Вторинні ефекти атак на енергетику й логістику та дорожчого пального в опалювальний сезон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Підсумки дискусії КМП, 28.09.2026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Бюджетний імпульс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Бюджетний імпульс: локалізація оборонного виробництва коштом Ukraine Support Loan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НБУ, Інфляційний звіт і макропрогноз, липень 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Премія за ризик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Затримки офіційного фінансування в липні–вересні; резерви знизилися до $47,1 млрд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Рішення НБУ 17.09.2026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Потенційний ВВП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Вищий потенціал: інвестиції в потужності ОПК і, за припущенням НБУ, чисте повернення мігрантів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НБУ, припущення макропрогнозу, липень 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Курс гривні до €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Поступове послаблення ≈4% (2027) і 3% (2028): EUR/USD за НБУ + керована гнучкість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Припущення НБУ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HICP 3,0 / 2,5 / 2,1%, ВВП 0,9 / 1,4 / 1,5%, ставка ЄЦБ до 3%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ЄЦБ, вер. 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Короткостроковий прогноз: інфляція зросте до ≈9,9% у грудні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nowc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6309360" cy="3406958"/>
          </a:xfrm>
          <a:prstGeom prst="rect">
            <a:avLst/>
          </a:prstGeom>
        </p:spPr>
      </p:pic>
      <p:graphicFrame>
        <p:nvGraphicFramePr>
          <p:cNvPr id="1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325880"/>
          <a:ext cx="4647895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685800"/>
                <a:gridCol w="731520"/>
                <a:gridCol w="960120"/>
                <a:gridCol w="640080"/>
                <a:gridCol w="60350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Місяць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Тренд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Поправка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м/м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2026-09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−0,01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0,55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6" name="bullets"/>
          <p:cNvSpPr txBox="1"/>
          <p:nvPr/>
        </p:nvSpPr>
        <p:spPr>
          <a:xfrm>
            <a:off x="7086600" y="3383280"/>
            <a:ext cx="46478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Ефект бази: у вересні–грудні 2025 ціни зросли лише на 1,8% → річна інфляція механічно зростає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Тренд 0,65% на місяць (з урахуванням сезонності) — це ≈8% у річному вимірі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Наш прогноз грудня близький до НБУ (10%): тиск пального компенсує дешевше продовольство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досягне піку на початку 2027 і повернеться до цілі у II кв. 2028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f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3245" y="1325880"/>
            <a:ext cx="9945206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Пік ≈8,9% у I кв. 2027; 6,6% наприкінці 2027 (НБУ, липень: 6,9% на грудень)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Ставка: 16,5% → 13,9% наприкінці 2027 → 10,2% наприкінці 2028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Невизначеність велика: імовірність потрапити в 5±1% наприкінці 2027 — лише 21%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Ми бачимо слабший попит, ніж НБУ: розрив ВВП у 2027 близький до нуля</a:t>
            </a:r>
            <a:endParaRPr lang="en-US" sz="2600" dirty="0"/>
          </a:p>
        </p:txBody>
      </p:sp>
      <p:pic>
        <p:nvPicPr>
          <p:cNvPr id="4" name="chart main" descr="C:\Users\Lenovo\Documents\GitHub\nbu-challenge-2026\results\figures\fc_gap_vs_nb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4971531" cy="2740914"/>
          </a:xfrm>
          <a:prstGeom prst="rect">
            <a:avLst/>
          </a:prstGeom>
        </p:spPr>
      </p:pic>
      <p:pic>
        <p:nvPicPr>
          <p:cNvPr id="5" name="chart side" descr="C:\Users\Lenovo\Documents\GitHub\nbu-challenge-2026\results\figures\fc_tren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203954"/>
            <a:ext cx="6241248" cy="2105406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ВВП: 0,0% / 1,0% / 1,1% у 2026–2028 (НБУ: 1,8 / 2,8 / 3,0%)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Причини: слабкий III кв., атаки на логістику, блокада портів, дефіцит кадрів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Реальна ставка (≈7–8%) вища за нейтральну (≈6%) — політика вже стримувальна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 правилом ставка має лишатися ≈16,5% до весни: інфляція вище цілі на 3–4 в. п.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rate_driv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7040880" cy="2947885"/>
          </a:xfrm>
          <a:prstGeom prst="rect">
            <a:avLst/>
          </a:prstGeom>
        </p:spPr>
      </p:pic>
      <p:sp>
        <p:nvSpPr>
          <p:cNvPr id="5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Головний чинник — прогноз інфляції на 3 квартали вперед вище цілі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Розрив ВВП майже не тисне на ставку — це не «перегрів попиту», а шоки витрат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 2027 внесок інфляції зменшується → простір для зниження ставки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Сценарії: найнебезпечніший — дефіцит фінансування, а не важка зима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scenar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980" y="1280160"/>
            <a:ext cx="10205735" cy="2606040"/>
          </a:xfrm>
          <a:prstGeom prst="rect">
            <a:avLst/>
          </a:prstGeom>
        </p:spPr>
      </p:pic>
      <p:graphicFrame>
        <p:nvGraphicFramePr>
          <p:cNvPr id="1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Сценарій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грн/€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Важка зима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Дефіцит фінансування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Сприятливий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6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Важка зима: шок витрат + падіння попиту → ставку змінювати не треба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Дефіцит фінансування: послаблення гривні ≈9% → ставка до ≈18%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Сприятливий: зниження премії за ризик → пом'якшення вже з I кв. 2027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Матриця ризиків: баланс зміщений у бік вищої інфляції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7160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Високий</a:t>
            </a:r>
            <a:endParaRPr lang="en-US" sz="1200" dirty="0"/>
          </a:p>
        </p:txBody>
      </p:sp>
      <p:sp>
        <p:nvSpPr>
          <p:cNvPr id="5" name="cell Високий/Слабкий"/>
          <p:cNvSpPr/>
          <p:nvPr/>
        </p:nvSpPr>
        <p:spPr>
          <a:xfrm>
            <a:off x="1316736" y="140817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6" name="cell Високий/Помірний"/>
          <p:cNvSpPr/>
          <p:nvPr/>
        </p:nvSpPr>
        <p:spPr>
          <a:xfrm>
            <a:off x="4801514" y="140817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929530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Тривала нафта ≈$100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Блокада портів: дешевше продовольство</a:t>
            </a:r>
            <a:endParaRPr lang="en-US" sz="1300" dirty="0"/>
          </a:p>
        </p:txBody>
      </p:sp>
      <p:sp>
        <p:nvSpPr>
          <p:cNvPr id="8" name="cell Високий/Сильний"/>
          <p:cNvSpPr/>
          <p:nvPr/>
        </p:nvSpPr>
        <p:spPr>
          <a:xfrm>
            <a:off x="8286293" y="1408176"/>
            <a:ext cx="3411626" cy="1405128"/>
          </a:xfrm>
          <a:prstGeom prst="rect">
            <a:avLst/>
          </a:prstGeom>
          <a:solidFill>
            <a:srgbClr val="A3C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414309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Атаки на енергетику взимку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Затримки допомоги, резерви &lt; $45 млрд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84988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Середній</a:t>
            </a:r>
            <a:endParaRPr lang="en-US" sz="1200" dirty="0"/>
          </a:p>
        </p:txBody>
      </p:sp>
      <p:sp>
        <p:nvSpPr>
          <p:cNvPr id="11" name="cell Середній/Слабкий"/>
          <p:cNvSpPr/>
          <p:nvPr/>
        </p:nvSpPr>
        <p:spPr>
          <a:xfrm>
            <a:off x="1316736" y="288645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444752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Зміцнення євро — дешевший імпорт з ЄС</a:t>
            </a:r>
            <a:endParaRPr lang="en-US" sz="1300" dirty="0"/>
          </a:p>
        </p:txBody>
      </p:sp>
      <p:sp>
        <p:nvSpPr>
          <p:cNvPr id="13" name="cell Середній/Помірний"/>
          <p:cNvSpPr/>
          <p:nvPr/>
        </p:nvSpPr>
        <p:spPr>
          <a:xfrm>
            <a:off x="4801514" y="288645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929530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Підвищення ПДВ / акцизів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Охолодження попиту від обстрілів</a:t>
            </a:r>
            <a:endParaRPr lang="en-US" sz="1300" dirty="0"/>
          </a:p>
        </p:txBody>
      </p:sp>
      <p:sp>
        <p:nvSpPr>
          <p:cNvPr id="15" name="cell Середній/Сильний"/>
          <p:cNvSpPr/>
          <p:nvPr/>
        </p:nvSpPr>
        <p:spPr>
          <a:xfrm>
            <a:off x="8286293" y="288645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414309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Розбалансування очікувань домогосподарств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Зарплатна спіраль (дефіцит кадрів)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32816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Низький</a:t>
            </a:r>
            <a:endParaRPr lang="en-US" sz="1200" dirty="0"/>
          </a:p>
        </p:txBody>
      </p:sp>
      <p:sp>
        <p:nvSpPr>
          <p:cNvPr id="18" name="cell Низький/Слабкий"/>
          <p:cNvSpPr/>
          <p:nvPr/>
        </p:nvSpPr>
        <p:spPr>
          <a:xfrm>
            <a:off x="1316736" y="4364736"/>
            <a:ext cx="3411626" cy="1405128"/>
          </a:xfrm>
          <a:prstGeom prst="rect">
            <a:avLst/>
          </a:prstGeom>
          <a:solidFill>
            <a:srgbClr val="F4F8F7"/>
          </a:solidFill>
          <a:ln/>
        </p:spPr>
      </p:sp>
      <p:sp>
        <p:nvSpPr>
          <p:cNvPr id="19" name="cell Низький/Помірний"/>
          <p:cNvSpPr/>
          <p:nvPr/>
        </p:nvSpPr>
        <p:spPr>
          <a:xfrm>
            <a:off x="4801514" y="436473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929530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Швидше підвищення ставок ЄЦБ</a:t>
            </a:r>
            <a:endParaRPr lang="en-US" sz="1300" dirty="0"/>
          </a:p>
        </p:txBody>
      </p:sp>
      <p:sp>
        <p:nvSpPr>
          <p:cNvPr id="21" name="cell Низький/Сильний"/>
          <p:cNvSpPr/>
          <p:nvPr/>
        </p:nvSpPr>
        <p:spPr>
          <a:xfrm>
            <a:off x="8286293" y="436473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414309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Перемир'я, повернення мігрантів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Ескалація, прорив фронту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280160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Слабкий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764938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Помірний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249717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Сильний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280160" y="609904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Імовірність ↑   ·   Вплив на базовий сценарій →   ·   ▲ вища інфляція   ▼ нижча інфляція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для Правління НБУ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Процентна політика, курс і валютні обмеження — як єдиний пакет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Варіанти рішення 29 жовтня: кожні +0,5 в. п. знижують втрати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poli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9601" y="1280160"/>
            <a:ext cx="8652494" cy="2606040"/>
          </a:xfrm>
          <a:prstGeom prst="rect">
            <a:avLst/>
          </a:prstGeom>
        </p:spPr>
      </p:pic>
      <p:graphicFrame>
        <p:nvGraphicFramePr>
          <p:cNvPr id="2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Варіант (далі — правило)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Втрати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Знизити до 15,5%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49,6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Утримати 16%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47,2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16,5% ★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43,2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Оптимальна (мін. втрат)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42,1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Оптимальна траєкторія (мін. втрат) — 16,7% зараз, 17,0% у I кв. 2027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Чутливість: за сильнішого згладжування — 16,1%, за слабшого — 17,4%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Обираємо 16,5%: більша частина виграшу за меншої ціни для ВВП; крок у 0,5 в. п. — поступовість за невизначеності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Облікова ставка: підвищити до 16,5% і утримувати до весни</a:t>
            </a:r>
            <a:endParaRPr lang="en-US" sz="2600" dirty="0"/>
          </a:p>
        </p:txBody>
      </p:sp>
      <p:sp>
        <p:nvSpPr>
          <p:cNvPr id="4" name="decision"/>
          <p:cNvSpPr/>
          <p:nvPr/>
        </p:nvSpPr>
        <p:spPr>
          <a:xfrm>
            <a:off x="457200" y="1325880"/>
            <a:ext cx="3108960" cy="4983480"/>
          </a:xfrm>
          <a:prstGeom prst="roundRect">
            <a:avLst>
              <a:gd name="adj" fmla="val 2941"/>
            </a:avLst>
          </a:prstGeom>
          <a:solidFill>
            <a:srgbClr val="0E3B43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16916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FE3DE"/>
                </a:solidFill>
              </a:rPr>
              <a:t>ОБЛІКОВА СТАВКА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14884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16,5%</a:t>
            </a:r>
            <a:endParaRPr lang="en-US" sz="6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4747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+0,5 в. п. з 30.10.2026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132588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підвищити</a:t>
            </a:r>
            <a:endParaRPr lang="en-US" sz="1600" dirty="0"/>
          </a:p>
        </p:txBody>
      </p:sp>
      <p:sp>
        <p:nvSpPr>
          <p:cNvPr id="9" name="bullets"/>
          <p:cNvSpPr txBox="1"/>
          <p:nvPr/>
        </p:nvSpPr>
        <p:spPr>
          <a:xfrm>
            <a:off x="3931920" y="1709928"/>
            <a:ext cx="7802575" cy="1376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Інфляція зросте до ≈10% у грудні; ризики зміщені вгору (нафта, тарифи, зарплати, очікування)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Резерви знижуються: потрібна вища привабливість гривні, щоб зменшити попит на валюту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Ми рекомендуємо гнучкіший курс — ставка має утримати очікування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313182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не більше</a:t>
            </a:r>
            <a:endParaRPr lang="en-US" sz="1600" dirty="0"/>
          </a:p>
        </p:txBody>
      </p:sp>
      <p:sp>
        <p:nvSpPr>
          <p:cNvPr id="11" name="bullets"/>
          <p:cNvSpPr txBox="1"/>
          <p:nvPr/>
        </p:nvSpPr>
        <p:spPr>
          <a:xfrm>
            <a:off x="3931920" y="3515868"/>
            <a:ext cx="7802575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ВВП III кв. скоротився; реальна ставка вже ≈7% — вище нейтральної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Шоки здебільшого пропозиції: реагуємо на вторинні ефекти, а не на перший раунд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931920" y="450342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Орієнтири (forward guidance)</a:t>
            </a:r>
            <a:endParaRPr lang="en-US" sz="1600" dirty="0"/>
          </a:p>
        </p:txBody>
      </p:sp>
      <p:sp>
        <p:nvSpPr>
          <p:cNvPr id="13" name="bullets"/>
          <p:cNvSpPr txBox="1"/>
          <p:nvPr/>
        </p:nvSpPr>
        <p:spPr>
          <a:xfrm>
            <a:off x="3931920" y="4887468"/>
            <a:ext cx="7802575" cy="1376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Утримання 16,5% щонайменше до кінця I кв. 2027; зниження з II кв. 2027 до ≈14% наприкінці року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Підвищення до 17–18% — якщо резерви &lt; $43 млрд і тиск на курс (сценарій дефіциту фінансування)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Швидше пом'якшення — якщо базова інфляція &lt; 7% і очікування знижуються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Курс і резерви: без допомоги резерви наблизяться до 3 місяців імпорту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rese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7040880" cy="4808281"/>
          </a:xfrm>
          <a:prstGeom prst="rect">
            <a:avLst/>
          </a:prstGeom>
        </p:spPr>
      </p:pic>
      <p:sp>
        <p:nvSpPr>
          <p:cNvPr id="5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Продаж НБУ ≈$5,0 млрд/міс, надходження ≈$3,6 млрд/міс (липень–вересень)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Кінець 2026: $56 / 43 / 38 млрд = 4,6 / 3,6 / 3,1 міс. імпорту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Рекомендація: керована гнучкість — поступове послаблення гривні до € ≈4% у 2027, інтервенції лише для згладжування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Курс не фіксувати й не захищати рівень: це прямий шлях до втрати резервів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Валютні обмеження: серпневий пакет зберегти, наступні кроки — на паузу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fx_househol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6732760" cy="4983480"/>
          </a:xfrm>
          <a:prstGeom prst="rect">
            <a:avLst/>
          </a:prstGeom>
        </p:spPr>
      </p:pic>
      <p:sp>
        <p:nvSpPr>
          <p:cNvPr id="5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Після підвищення ліміту (50 → 200 тис. грн/міс) купівля валюти населенням зросла з $0,39 до $0,58 млрд/міс (+49%) — керовано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Стратегія НБУ: кроки — за передумовами (резерви, очікування, реальна ставка), а не за календарем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Пауза для III етапу (капітальні операції, операції населення) до: резерви ≥ $50 млрд (≈4 міс. імпорту), ритмічна допомога, стабільні очікування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Продовжити стимулюючу лібералізацію (нові інвестиції, «додатковий» ліміт) — вона залучає валюту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Нові обмеження не запроваджувати: вони не замінюють макрокоригування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Комунікація: «ставка — якір, курс — амортизатор»</a:t>
            </a:r>
            <a:endParaRPr lang="en-US" sz="2600" dirty="0"/>
          </a:p>
        </p:txBody>
      </p:sp>
      <p:sp>
        <p:nvSpPr>
          <p:cNvPr id="4" name="press release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98A00"/>
            </a:solidFill>
          </a:ln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Проєкт пресрелізу: «Правління НБУ ухвалило рішення підвищити облікову ставку до 16,5% з огляду на прискорення інфляції, зміщення ризиків угору та зниження міжнародних резервів. НБУ утримуватиме ставку щонайменше до кінця I кварталу 2027 року та допускатиме більшу гнучкість курсу, згладжуючи надмірні коливання».</a:t>
            </a:r>
            <a:endParaRPr lang="en-US" sz="1400" dirty="0"/>
          </a:p>
        </p:txBody>
      </p:sp>
      <p:sp>
        <p:nvSpPr>
          <p:cNvPr id="5" name="card1"/>
          <p:cNvSpPr/>
          <p:nvPr/>
        </p:nvSpPr>
        <p:spPr>
          <a:xfrm>
            <a:off x="457200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6" name="badge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меседжі</a:t>
            </a:r>
            <a:endParaRPr lang="en-US" sz="1700" dirty="0"/>
          </a:p>
        </p:txBody>
      </p:sp>
      <p:sp>
        <p:nvSpPr>
          <p:cNvPr id="9" name="bullets"/>
          <p:cNvSpPr txBox="1"/>
          <p:nvPr/>
        </p:nvSpPr>
        <p:spPr>
          <a:xfrm>
            <a:off x="731520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НБУ підвищує ставку превентивно, щоб інфляція повернулася до 5% на початку 2028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Гнучкий курс захищає резерви; НБУ згладжує, але не фіксує курс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Гривневі депозити й ОВДП залишаються вигіднішими за валюту з урахуванням інфляції</a:t>
            </a:r>
            <a:endParaRPr lang="en-US" sz="1400" dirty="0"/>
          </a:p>
        </p:txBody>
      </p:sp>
      <p:sp>
        <p:nvSpPr>
          <p:cNvPr id="10" name="card2"/>
          <p:cNvSpPr/>
          <p:nvPr/>
        </p:nvSpPr>
        <p:spPr>
          <a:xfrm>
            <a:off x="4307738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1" name="badge2"/>
          <p:cNvSpPr/>
          <p:nvPr/>
        </p:nvSpPr>
        <p:spPr>
          <a:xfrm>
            <a:off x="4536338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3633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130698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 для ринку</a:t>
            </a:r>
            <a:endParaRPr lang="en-US" sz="1700" dirty="0"/>
          </a:p>
        </p:txBody>
      </p:sp>
      <p:sp>
        <p:nvSpPr>
          <p:cNvPr id="14" name="bullets"/>
          <p:cNvSpPr txBox="1"/>
          <p:nvPr/>
        </p:nvSpPr>
        <p:spPr>
          <a:xfrm>
            <a:off x="4582058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Утримання 16,5% щонайменше до кінця I кв.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Пом'якшення — з II кв. 2027, якщо інфляція й очікування знижуватимуться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Готовність до додаткових заходів, якщо резерви й курс опиняться під тиском</a:t>
            </a:r>
            <a:endParaRPr lang="en-US" sz="1400" dirty="0"/>
          </a:p>
        </p:txBody>
      </p:sp>
      <p:sp>
        <p:nvSpPr>
          <p:cNvPr id="15" name="card3"/>
          <p:cNvSpPr/>
          <p:nvPr/>
        </p:nvSpPr>
        <p:spPr>
          <a:xfrm>
            <a:off x="8158277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6" name="badge3"/>
          <p:cNvSpPr/>
          <p:nvPr/>
        </p:nvSpPr>
        <p:spPr>
          <a:xfrm>
            <a:off x="8386877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86877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981237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Чого уникати</a:t>
            </a:r>
            <a:endParaRPr lang="en-US" sz="1700" dirty="0"/>
          </a:p>
        </p:txBody>
      </p:sp>
      <p:sp>
        <p:nvSpPr>
          <p:cNvPr id="19" name="bullets"/>
          <p:cNvSpPr txBox="1"/>
          <p:nvPr/>
        </p:nvSpPr>
        <p:spPr>
          <a:xfrm>
            <a:off x="8432597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Обіцянок конкретного курсу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Сигналів про швидке зниження ставки до стабілізації допомоги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Підсумок</a:t>
            </a:r>
            <a:endParaRPr lang="en-US" sz="3600" dirty="0"/>
          </a:p>
        </p:txBody>
      </p:sp>
      <p:sp>
        <p:nvSpPr>
          <p:cNvPr id="3" name="n1"/>
          <p:cNvSpPr/>
          <p:nvPr/>
        </p:nvSpPr>
        <p:spPr>
          <a:xfrm>
            <a:off x="731520" y="178308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7099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Підвищити облікову ставку до 16,5% та утримувати щонайменше до кінця I кв. 2027</a:t>
            </a:r>
            <a:endParaRPr lang="en-US" sz="2000" dirty="0"/>
          </a:p>
        </p:txBody>
      </p:sp>
      <p:sp>
        <p:nvSpPr>
          <p:cNvPr id="6" name="n2"/>
          <p:cNvSpPr/>
          <p:nvPr/>
        </p:nvSpPr>
        <p:spPr>
          <a:xfrm>
            <a:off x="731520" y="283464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834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76148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Керована гнучкість курсу: поступове послаблення гривні замість витрачання резервів</a:t>
            </a:r>
            <a:endParaRPr lang="en-US" sz="2000" dirty="0"/>
          </a:p>
        </p:txBody>
      </p:sp>
      <p:sp>
        <p:nvSpPr>
          <p:cNvPr id="9" name="n3"/>
          <p:cNvSpPr/>
          <p:nvPr/>
        </p:nvSpPr>
        <p:spPr>
          <a:xfrm>
            <a:off x="731520" y="388620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886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81304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Пауза в лібералізації валютних обмежень до відновлення резервів і допомоги</a:t>
            </a:r>
            <a:endParaRPr lang="en-US" sz="2000" dirty="0"/>
          </a:p>
        </p:txBody>
      </p:sp>
      <p:sp>
        <p:nvSpPr>
          <p:cNvPr id="12" name="n4"/>
          <p:cNvSpPr/>
          <p:nvPr/>
        </p:nvSpPr>
        <p:spPr>
          <a:xfrm>
            <a:off x="731520" y="493776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864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Базовий прогноз: інфляція ≈9,9% у грудні 2026, 6,6% наприкінці 2027, ціль — II кв. 2028</a:t>
            </a:r>
            <a:endParaRPr lang="en-US" sz="20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Додатки</a:t>
            </a:r>
            <a:endParaRPr lang="en-US" sz="4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1. Квартальна прогнозна модель (QPM НБУ)</a:t>
            </a:r>
            <a:endParaRPr lang="en-US" sz="2600" dirty="0"/>
          </a:p>
        </p:txBody>
      </p:sp>
      <p:sp>
        <p:nvSpPr>
          <p:cNvPr id="4" name="eq1"/>
          <p:cNvSpPr/>
          <p:nvPr/>
        </p:nvSpPr>
        <p:spPr>
          <a:xfrm>
            <a:off x="457200" y="132588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32588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Попит (розрив ВВП)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749040" y="132588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ŷₜ = 0,7·ŷₜ₋₁ − 0,4·MCIₜ + 0,3·ŷ*ₜ + εʸ;   MCI = −0,5·z̃ + 0,3·r̃ + 0,2·prem̃</a:t>
            </a:r>
            <a:endParaRPr lang="en-US" sz="1600" dirty="0"/>
          </a:p>
        </p:txBody>
      </p:sp>
      <p:sp>
        <p:nvSpPr>
          <p:cNvPr id="7" name="eq2"/>
          <p:cNvSpPr/>
          <p:nvPr/>
        </p:nvSpPr>
        <p:spPr>
          <a:xfrm>
            <a:off x="457200" y="219456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19456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Інфляція (крива Філіпса)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219456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πₜ = 0,4·πₜ₋₁ + 0,6·Eₜπₜ₊₁ + 0,3·rmcₜ + εᵖ;   rmc = 0,6·ŷ + 0,4·z̃</a:t>
            </a:r>
            <a:endParaRPr lang="en-US" sz="1600" dirty="0"/>
          </a:p>
        </p:txBody>
      </p:sp>
      <p:sp>
        <p:nvSpPr>
          <p:cNvPr id="10" name="eq3"/>
          <p:cNvSpPr/>
          <p:nvPr/>
        </p:nvSpPr>
        <p:spPr>
          <a:xfrm>
            <a:off x="457200" y="306324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06324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Курс (керована гнучкість)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749040" y="306324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sₜ = β·s̄ₜ + (1−β)·sᵘⁱᵖₜ,  β = 0,7;   sᵘⁱᵖ = Eₜsₜ₊₁ + (i* + prem − i)/4</a:t>
            </a:r>
            <a:endParaRPr lang="en-US" sz="1600" dirty="0"/>
          </a:p>
        </p:txBody>
      </p:sp>
      <p:sp>
        <p:nvSpPr>
          <p:cNvPr id="13" name="eq4"/>
          <p:cNvSpPr/>
          <p:nvPr/>
        </p:nvSpPr>
        <p:spPr>
          <a:xfrm>
            <a:off x="457200" y="393192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393192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Ставка (правило Тейлора)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749040" y="393192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iₜ = 0,8·iₜ₋₁ + 0,2·(r̄ₜ + Eπₜ₊₁ + (Eπₜ₊₃ − 5) + 0,5·ŷₜ) + εⁱ</a:t>
            </a:r>
            <a:endParaRPr lang="en-US" sz="1600" dirty="0"/>
          </a:p>
        </p:txBody>
      </p:sp>
      <p:sp>
        <p:nvSpPr>
          <p:cNvPr id="16" name="num1"/>
          <p:cNvSpPr/>
          <p:nvPr/>
        </p:nvSpPr>
        <p:spPr>
          <a:xfrm>
            <a:off x="457200" y="50474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57200" y="5047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8" name="point1"/>
          <p:cNvSpPr txBox="1"/>
          <p:nvPr/>
        </p:nvSpPr>
        <p:spPr>
          <a:xfrm>
            <a:off x="868680" y="5029200"/>
            <a:ext cx="316473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Калібрування — шаблон НБУ (NBU University Challenge 2026), Grui &amp; Vdovychenko (2019)</a:t>
            </a:r>
            <a:endParaRPr lang="en-US" sz="1300" dirty="0"/>
          </a:p>
        </p:txBody>
      </p:sp>
      <p:sp>
        <p:nvSpPr>
          <p:cNvPr id="19" name="num2"/>
          <p:cNvSpPr/>
          <p:nvPr/>
        </p:nvSpPr>
        <p:spPr>
          <a:xfrm>
            <a:off x="4307738" y="50474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307738" y="5047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1" name="point2"/>
          <p:cNvSpPr txBox="1"/>
          <p:nvPr/>
        </p:nvSpPr>
        <p:spPr>
          <a:xfrm>
            <a:off x="4719218" y="5029200"/>
            <a:ext cx="316473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Зовнішній сектор — єврозона; тренди та розриви — фільтр Калмана, 2016–2026</a:t>
            </a:r>
            <a:endParaRPr lang="en-US" sz="1300" dirty="0"/>
          </a:p>
        </p:txBody>
      </p:sp>
      <p:sp>
        <p:nvSpPr>
          <p:cNvPr id="22" name="num3"/>
          <p:cNvSpPr/>
          <p:nvPr/>
        </p:nvSpPr>
        <p:spPr>
          <a:xfrm>
            <a:off x="8158277" y="50474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158277" y="5047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point3"/>
          <p:cNvSpPr txBox="1"/>
          <p:nvPr/>
        </p:nvSpPr>
        <p:spPr>
          <a:xfrm>
            <a:off x="8569757" y="5029200"/>
            <a:ext cx="316473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Злам 2022 року: шок рівня потенційного ВВП + коригування розриву −18% у II кв. 2022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2. Реакція на шок ставки залежить від контролю над курсом (β)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irf_res_ir_tlr_be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8196" y="1325880"/>
            <a:ext cx="8075304" cy="4983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3. Бектест: прогноз з даними до III кв. 2025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back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770" y="1325880"/>
            <a:ext cx="10436154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Помилка прогнозу ІСЦ на 4 квартали: 0,6–0,9 в. п. (наївний прогноз: 1,2–5,3)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Ставку краще прогнозує «без змін»: НБУ змінює її рідко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 грн/€ модель не прогнозує краще за наївний — залежить від EUR/USD (обмеження моделі)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4. Базовий прогноз по кварталах</a:t>
            </a:r>
            <a:endParaRPr lang="en-US" sz="2600" dirty="0"/>
          </a:p>
        </p:txBody>
      </p:sp>
      <p:graphicFrame>
        <p:nvGraphicFramePr>
          <p:cNvPr id="3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927913"/>
                <a:gridCol w="927913"/>
                <a:gridCol w="927913"/>
                <a:gridCol w="927913"/>
                <a:gridCol w="927913"/>
                <a:gridCol w="927913"/>
                <a:gridCol w="927913"/>
                <a:gridCol w="927913"/>
                <a:gridCol w="927913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Показник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2026 Q4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2027 Q1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2027 Q2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2027 Q3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2027 Q4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2028 Q1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2028 Q2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2028 Q3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2028 Q4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ІСЦ, % р/р (сер. за кв.)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8,7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7,8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4,0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3,5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ВВП, % р/р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0,8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0,7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Облікова ставка, % (сер. за кв.)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16,0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15,1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12,7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10,8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10,2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Курс, грн/€ (сер. за кв.)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51,6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51,7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51,9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52,0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52,3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52,5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52,7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53,0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53,3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Розрив ВВП, %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0,5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0,7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0,5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−0,8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−0,8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5. Джерела даних</a:t>
            </a:r>
            <a:endParaRPr lang="en-US" sz="2600" dirty="0"/>
          </a:p>
        </p:txBody>
      </p:sp>
      <p:graphicFrame>
        <p:nvGraphicFramePr>
          <p:cNvPr id="3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955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Дані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ІСЦ, базова інфляція, складові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Держстат через API НБУ; Інфляційний звіт НБУ (липень 2026); коментарі НБУ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Облікова ставка, курси, інтервенції, резерви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API НБУ (statdirectory/key, exchange, kursf, res)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Реальний ВВП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Держстат (сезонно скоригований), коментар НБУ 17.09.2026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Прогноз і припущення НБУ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Інфляційний звіт і таблиця макропрогнозу, липень 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Eurostat (HICP, prc_hicp_minr), ЄЦБ (ВВП EA21, депозитна ставка), прогноз ЄЦБ вересень 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Рішення та дискусія КМП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Пресреліз 17.09.2026, підсумки дискусії КМП 28.09.2026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Валютні обмеження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Стратегія НБУ (2023), пакет пом'якшення 10.08.2026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Модель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Шаблон QPM NBU University Challenge 2026; код: github-репозиторій команди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U Challenge 2026">
  <a:themeElements>
    <a:clrScheme name="NBU Challenge 2026">
      <a:dk1>
        <a:srgbClr val="1B2326"/>
      </a:dk1>
      <a:lt1>
        <a:srgbClr val="FFFFFF"/>
      </a:lt1>
      <a:dk2>
        <a:srgbClr val="0E3B43"/>
      </a:dk2>
      <a:lt2>
        <a:srgbClr val="EAF1EF"/>
      </a:lt2>
      <a:accent1>
        <a:srgbClr val="0E3B43"/>
      </a:accent1>
      <a:accent2>
        <a:srgbClr val="C98A00"/>
      </a:accent2>
      <a:accent3>
        <a:srgbClr val="2A78D6"/>
      </a:accent3>
      <a:accent4>
        <a:srgbClr val="EB6834"/>
      </a:accent4>
      <a:accent5>
        <a:srgbClr val="1BAF7A"/>
      </a:accent5>
      <a:accent6>
        <a:srgbClr val="5F6B6D"/>
      </a:accent6>
      <a:hlink>
        <a:srgbClr val="2A78D6"/>
      </a:hlink>
      <a:folHlink>
        <a:srgbClr val="4A3AA7"/>
      </a:folHlink>
    </a:clrScheme>
    <a:fontScheme name="NBU Challenge 2026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Рекомендації щодо монетарної політики — NBU University Challenge 2026</dc:title>
  <dc:subject>PptxGenJS Presentation</dc:subject>
  <dc:creator>Команда [назва]</dc:creator>
  <cp:lastModifiedBy>Команда [назва]</cp:lastModifiedBy>
  <cp:revision>1</cp:revision>
  <dcterms:created xsi:type="dcterms:W3CDTF">2026-10-07T18:01:05Z</dcterms:created>
  <dcterms:modified xsi:type="dcterms:W3CDTF">2026-10-07T18:01:05Z</dcterms:modified>
</cp:coreProperties>
</file>