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ступ" id="{27858272-49fe-311f-7b52-e1297f1d4337}">
          <p14:sldIdLst>
            <p14:sldId id="256"/>
            <p14:sldId id="257"/>
          </p14:sldIdLst>
        </p14:section>
        <p14:section name="Огляд" id="{4afa9a03-6b9f-39b0-a034-c10dcbeef3aa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Прогноз" id="{4669b9f3-67e1-4770-ac30-b2be63cf071c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Рекомендації" id="{6edb2c27-02d2-fa46-08c4-ae517b8f0443}">
          <p14:sldIdLst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Додатки" id="{432add66-7ecc-7cd9-5c05-701441fbff57}">
          <p14:sldIdLst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Добрий день, шановні члени журі. Ми — Команда [назва]. Сьогодні представимо наші рекомендації для засідання Правління НБУ 29 жовтня 2026 року. Усі дані — станом на 7 жовтня.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Почнемо з головного. Ми пропонуємо три рішення, які працюють як єдиний пакет. Перше — підвищити облікову ставку на 0,5 пункта, до 16,5%, і утримувати її щонайменше до середини 2027 року. Інфляція знову прискорюється: у грудні вона сягне майже 10%, а ризики зміщені вгору. Друге — керована гнучкість курсу: дозволити гривні поступово послаблюватися до євро, приблизно на 4% у 2027 році, замість того щоб витрачати близько 5 мільярдів доларів резервів щомісяця. Третє — поставити на паузу наступні кроки валютної лібералізації, доки не відновляться резерви і ритм допомоги. За такої політики інфляція знизиться до 6,7% наприкінці 2027 року і повернеться до цілі 5% у третьому кварталі 2029 року — у межах трирічного горизонту політики НБУ. Далі — як ми дійшли до цих висновків.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Зовнішнє середовище стало помітно проінфляційним. Через війну на Близькому Сході нафта Brent у квітні сягала 117 доларів за барель і у вересні знову перевищила 100 — тоді як НБУ в липні закладав 80–85. Ринок очікує здешевлення: ф'ючерси вказують на 83 долари наприкінці 2027 року, і саме цю криву ми беремо в прогноз. Водночас ЄЦБ підвищує ставку, тож простору для пом'якшення в Україні менше.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Інфляція в серпні прискорилася до 8,1%. Головні рушії — пальне, яке подорожчало майже на 39% за рік, і адмінрегульовані ціни. Але більше нас турбує базова інфляція: вона тримається на рівні 8,1% три місяці поспіль, а послуги дорожчають на 13% через зарплати, оренду й логістику. Стримує лише продовольство: через блокаду Чорного моря зерно й овочі залишаються на внутрішньому ринку.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Інфляційні очікування підвищені: домогосподарства чекають 10–14% — більше, ніж фактична інфляція, а фінансові аналітики підвищили свої очікування до 7,9%. Реальна облікова ставка — близько 7%, тому гривневі депозити й ОВДП поки привабливі. Але депозитні ставки реагують із запізненням, і ризик розбалансування очікувань реальний.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Економіка тим часом сповільнюється. ВВП у другому кварталі зріс лише на 0,4% за рік, а у третьому, за оцінкою КМП, — суттєво гірше прогнозу НБУ. Атаки на енергетику, логістику й порти забирають близько 0,9 пункта зростання. Водночас ринок праці перегрітий: через дефіцит кадрів номінальні зарплати зростають на 25%, реальні — на 17%. Тож навіть за слабкого ВВП тиск на ціни послуг зберігається.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Найгостріша проблема — валютний ринок. НБУ продає в середньому близько 5,0 мільярда доларів на місяць, у вересні — рекордні 5,5 мільярда. Резерви за два місяці скоротилися з 51,2 до 47,1 мільярда, тоді як НБУ очікував 53,8. Курс стабільний — близько 51,5 гривні за євро, — але ця стабільність купується резервами.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Причина — залежність бюджету від допомоги. Дефіцит без грантів — близько 35% ВВП, потреба у зовнішньому фінансуванні — 87 мільярдів доларів, а влітку надходження затрималися. Оборонний кредит USL — водночас бюджетний імпульс для попиту і додатковий попит на валюту для імпорту компонентів.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 — прогноз. Ми взяли квартальну прогнозну модель НБУ, переписали її на Python і розширили. Дані автоматично завантажуються з API НБУ, Держстату, ЄЦБ і Eurostat; фільтр Калмана оцінює розриви й тренди; далі — прогноз із судженнями й аналіз політики. Щоб бути впевненими в результатах, той самий файл моделі ми проганяємо в MATLAB з IRIS, як у НБУ: розбіжність — у п'ятому знаку після коми, а графіки сценаріїв у презентації побудовані в MATLAB. На історії модель прогнозує інфляцію на рік уперед значно точніше за наївний прогноз.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Що ми змінили в моделі НБУ. У шаблоні одна крива Філіпса для всієї інфляції, тож нафтовий шок або не впливає на ціни, або дає хибні коливання через курс. Ми розділили інфляцію на базову і небазову: крива Філіпса описує базову, а небазові ціни реагують на світову ціну нафти та курс. На графіку видно: нафта на 20% дорожча — це плюс 0,3 пункта до інфляції впродовж року, ставка зростає лише на 0,2 пункта, а базова інфляція не прискорюється. Якщо вимкнути цей канал, модель точно збігається з шаблоном НБУ.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Модель не описує все — енергетику, бюджет, допомогу, тарифи. Тому ці чинники входять через явні судження, і кожне має кількісне обґрунтування та джерело. Наприклад, вторинні ефекти атак в опалювальний сезон ми калібруємо за оцінкою НБУ. Окремо закладаємо адмінціни й акцизи: у 2016–2026 роках загальна інфляція в середньому перевищувала базову на 1,7 пункта на рік, і НБУ закладає таку саму різницю на 2027–2028 роки.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Для найближчих місяців ми будуємо короткостроковий прогноз: трендовий темп цін, сезонність і поправка на дешевше продовольство. Тренд — 0,65% на місяць, тобто близько 8% у річному вимірі. До того ж діє ефект бази: у вересні–грудні 2025 року ціни зросли лише на 1,8%. Тому річна інфляція механічно підніметься до 9,9% у грудні — близько до прогнозу НБУ.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Базовий прогноз. Нагадаю: ціль НБУ — 5% без діапазону відхилень, і повернути інфляцію до неї треба на горизонті до трьох років. Інфляція досягне піку — близько 8,9% — на початку 2027 року, знизиться до 6,7% наприкінці 2027-го, у 2028-му тимчасово опуститься до 4,3% через дешевшу нафту і з третьому кварталі 2029 року стабілізується на 5%. Ставка — 16,5% до середини 2027 року, далі поступово знижується до 10,4% наприкінці 2028-го. Віяло показує, наскільки велика невизначеність: з імовірністю 70% інфляція наприкінці 2027 року буде між 2 і 11%.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Важлива відмінність від НБУ — базова інфляція. Ми вважаємо, що вона буде стійкішою: 5,7% наприкінці 2027 року проти 5,1% у НБУ. Причина — перегрітий ринок праці, дорожчі послуги й наслідки атак. Загальна інфляція при цьому близька до НБУ: тарифи й акцизи додають близько 1,7 пункта на рік, а дешевша нафта частково це компенсує. У 2028 році базова інфляція опускається нижче цілі — як і в НБУ. Висновок: підвищити ставку зараз, щоб швидше пом'якшити її пізніше.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Попит ми бачимо слабшим, ніж НБУ: фактично нульове зростання цього року, 1,0% у 2027-му і 0,9% у 2028-му проти 1,8, 2,8 і 3,0% у НБУ. Причини — слабкий третій квартал, атаки, блокада портів і дефіцит кадрів. Реальна ставка вже вища за нейтральну, тобто політика стримувальна, — тому ми не пропонуємо різкого посилення.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Що каже правило Тейлора. Головна причина тримати ставку високою — прогноз інфляції на три квартали вперед, на 3–4 пункти вищий за ціль. Розрив ВВП майже не тисне на ставку: це не перегрів попиту, а шоки витрат. З другого півріччя 2027 року внесок інфляції зменшується — з'являється простір для зниження ставки.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Ми розглянули чотири ризикові сценарії, розраховані в MATLAB. Найнебезпечніший — дефіцит фінансування: якщо допомога затримається, гривня буде приблизно на 6% слабшою, інфляція зросте до 11,5%, а ставку доведеться підняти до 19,3%. Важка зима з ударами по енергетиці підніме інфляцію до 10,4% і майже зупинить зростання ВВП. Натомість нафта по 120 доларів додає лише 0,5 пункта до піку інфляції, і ставка майже не реагує — це шок першого раунду. Висновок: головний ризик для інфляції — курс і резерви.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Матриця ризиків підсумовує: більшість імовірних і сильних ризиків — проінфляційні. Це атаки на енергетику, затримки допомоги, розбалансування очікувань і зарплатна спіраль. Дезінфляційних менше — блокада портів, охолодження попиту, можливе перемир'я. Баланс зміщений угору.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Переходимо до рекомендацій. Ми порівняли чотири варіанти рішення 29 жовтня — від зниження до 15,5% до підвищення до 17%. У кожному ставка утримується до середини 2027 року, а далі знижується так, щоб інфляція повернулася до 5% на горизонті політики. Механічне правило Тейлора для цього не годиться: з ним інфляція наприкінці 2029 року була б лише 4,3%. Критерій вибору — втрати: відхилення інфляції від цілі та розрив ВВП у 2027–2029 роках. Кожні 0,5 пункта підвищення зменшують втрати. Оптимальна ставка за моделлю — 16,6%, якщо не реагувати на перший раунд підвищення адмінцін, як і належить за інфляційного таргетування.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Тому перша рекомендація — підвищити облікову ставку до 16,5%. Чому підвищити: інфляція в грудні сягне майже 10%, базова інфляція стійкіша, ніж очікує НБУ, резерви знижуються, а гнучкіший курс потребує сильного якоря для очікувань. Чому не більше: економіка слабка, реальна ставка вже вища за нейтральну, а шоки здебільшого з боку пропозиції. Орієнтир для ринку: утримувати 16,5% щонайменше до середини 2027 року, далі — поступове зниження: близько 15,5% наприкінці 2027-го і 10,5% наприкінці 2028-го. Якщо резерви впадуть нижче 43 мільярдів — готові підвищувати далі; якщо базова інфляція опуститься нижче 7% — знижувати швидше.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Друга рекомендація — щодо курсу. НБУ продає близько 5,0 мільярда доларів на місяць, а надходить близько 3,7. Якщо так триватиме, наприкінці року резерви становитимуть 43 мільярди — 3,6 місяця імпорту, а за затримки допомоги — 38 мільярдів. Тому ми пропонуємо керовану гнучкість: дозволити гривні поступово послаблюватися — приблизно на 4% до євро у 2027 році, — а інтервенції використовувати лише для згладжування коливань. Захищати певний рівень курсу — прямий шлях до втрати резервів.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Третя рекомендація — валютні обмеження. Серпневий пакет варто зберегти: після підвищення ліміту купівля валюти населенням зросла з 0,39 до 0,58 мільярда доларів на місяць — помітно, але керовано. Стратегія НБУ передбачає, що кроки лібералізації робляться за передумовами, а не за календарем. Тому наступний етап — капітальні операції та операції населення — пропонуємо поставити на паузу, доки резерви не повернуться до 50 мільярдів доларів, а допомога не надходитиме ритмічно. Лібералізацію, яка залучає валюту, — продовжувати, а нових обмежень не запроваджувати.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Усе це має пояснити комунікація. Ключова формула — «ставка — якір, курс — амортизатор»: НБУ підвищує ставку превентивно, гнучкий курс захищає резерви, а гривневі заощадження залишаються вигіднішими за валютні. Чого уникати — обіцянок конкретного курсу і сигналів про швидке зниження ставки. На слайді — наш проєкт пресрелізу.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Підсумуємо. Перше — підвищити облікову ставку до 16,5% і утримувати щонайменше до середини 2027 року. Друге — керована гнучкість курсу замість витрачання резервів. Третє — пауза в лібералізації валютних обмежень. За такої політики інфляція повернеться до цілі 5% у третьому кварталі 2029 року. Дякуємо за увагу! Будемо раді відповісти на ваші запитання.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ŷ — розрив ВВП, z̃ — розрив реального курсу (за базовими цінами), r̃ — розрив реальної ставки, prem — премія за ризик, oil — реальна ціна Brent у євро, rnc — відносна ціна небазових товарів. З вагою нафти 0 модель збігається з шаблоном НБУ.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Чим сильніше НБУ контролює курс (β → 1), тим слабше ставка впливає на курс і інфляцію — валютний канал головний. Функції відгуку розраховано в MATLAB/IRIS.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Лінії — розрахунок у Python, кружки — у MATLAB R2026b з IRIS. Це підтверджує, що наш Python-порт і розширення моделі коректні, а графіки MATLAB у презентації відповідають тим самим цифрам.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Бектест квазіреальний: зовнішні змінні — фактичні, судження не використовувалися.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Значення базового сценарію в II і IV кварталах (рішення 16,5% у жовтні з утриманням до середини 2027, далі — траєкторія повернення до цілі). Усі квартали — results/tables/baseline_quarterly.csv.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Усі дані завантажуються скриптами; дата відсічення — 07.10.2026.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intr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NBU University Challenge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Огляд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Прогноз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Рекомендації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Додатки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Огляд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1380744" y="6473952"/>
            <a:ext cx="886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Прогноз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2450592" y="6473952"/>
            <a:ext cx="1252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Рекомендації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3886200" y="6473952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E3B4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Додатки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E3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Рекомендації щодо монетарної політики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3703320"/>
            <a:ext cx="10698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Рішення Правління НБУ 29 жовтня 2026 року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484632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Команда [назва]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[Університет, факультет]</a:t>
            </a:r>
            <a:endParaRPr lang="en-US" sz="16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bg1"/>
                </a:solidFill>
              </a:rPr>
              <a:t>NBU University Challenge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Головне: помірне посилення ставки, гнучкіший курс, пауза в лібералізації</a:t>
            </a:r>
            <a:endParaRPr lang="en-US" sz="2600" dirty="0"/>
          </a:p>
        </p:txBody>
      </p:sp>
      <p:sp>
        <p:nvSpPr>
          <p:cNvPr id="4" name="card1"/>
          <p:cNvSpPr/>
          <p:nvPr/>
        </p:nvSpPr>
        <p:spPr>
          <a:xfrm>
            <a:off x="457200" y="1325880"/>
            <a:ext cx="3576218" cy="2148840"/>
          </a:xfrm>
          <a:prstGeom prst="roundRect">
            <a:avLst>
              <a:gd name="adj" fmla="val 3404"/>
            </a:avLst>
          </a:prstGeom>
          <a:solidFill>
            <a:srgbClr val="EAF1EF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85800" y="1490472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</a:rPr>
              <a:t>ОБЛІКОВА СТАВКА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7830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16,5%</a:t>
            </a:r>
            <a:pPr indent="0" marL="0">
              <a:buNone/>
            </a:pPr>
            <a:r>
              <a:rPr lang="en-US" sz="1500" b="1" dirty="0">
                <a:solidFill>
                  <a:srgbClr val="C98A00"/>
                </a:solidFill>
              </a:rPr>
              <a:t>  +0,5 в. п.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2560320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утримувати щонайменше до середини 2027; далі — зниження, що повертає інфляцію до 5% у 2029</a:t>
            </a:r>
            <a:endParaRPr lang="en-US" sz="1300" dirty="0"/>
          </a:p>
        </p:txBody>
      </p:sp>
      <p:sp>
        <p:nvSpPr>
          <p:cNvPr id="8" name="card2"/>
          <p:cNvSpPr/>
          <p:nvPr/>
        </p:nvSpPr>
        <p:spPr>
          <a:xfrm>
            <a:off x="4307738" y="1325880"/>
            <a:ext cx="3576218" cy="2148840"/>
          </a:xfrm>
          <a:prstGeom prst="roundRect">
            <a:avLst>
              <a:gd name="adj" fmla="val 3404"/>
            </a:avLst>
          </a:prstGeom>
          <a:solidFill>
            <a:srgbClr val="EAF1E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536338" y="1490472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</a:rPr>
              <a:t>КУРС ГРИВНІ ДО ЄВРО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4536338" y="17830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≈4%</a:t>
            </a:r>
            <a:pPr indent="0" marL="0">
              <a:buNone/>
            </a:pPr>
            <a:r>
              <a:rPr lang="en-US" sz="1500" b="1" dirty="0">
                <a:solidFill>
                  <a:srgbClr val="C98A00"/>
                </a:solidFill>
              </a:rPr>
              <a:t>  у 2027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4536338" y="2560320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поступове послаблення, керована гнучкість: курс амортизує шоки, інтервенції лише згладжують коливання</a:t>
            </a:r>
            <a:endParaRPr lang="en-US" sz="1300" dirty="0"/>
          </a:p>
        </p:txBody>
      </p:sp>
      <p:sp>
        <p:nvSpPr>
          <p:cNvPr id="12" name="card3"/>
          <p:cNvSpPr/>
          <p:nvPr/>
        </p:nvSpPr>
        <p:spPr>
          <a:xfrm>
            <a:off x="8158277" y="1325880"/>
            <a:ext cx="3576218" cy="2148840"/>
          </a:xfrm>
          <a:prstGeom prst="roundRect">
            <a:avLst>
              <a:gd name="adj" fmla="val 3404"/>
            </a:avLst>
          </a:prstGeom>
          <a:solidFill>
            <a:srgbClr val="EAF1E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386877" y="1490472"/>
            <a:ext cx="311901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chemeClr val="accent6"/>
                </a:solidFill>
              </a:rPr>
              <a:t>ВАЛЮТНІ ОБМЕЖЕННЯ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8386877" y="1783080"/>
            <a:ext cx="31190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Пауза</a:t>
            </a:r>
            <a:pPr indent="0" marL="0">
              <a:buNone/>
            </a:pPr>
            <a:r>
              <a:rPr lang="en-US" sz="1500" b="1" dirty="0">
                <a:solidFill>
                  <a:srgbClr val="C98A00"/>
                </a:solidFill>
              </a:rPr>
              <a:t>  етап III</a:t>
            </a:r>
            <a:endParaRPr lang="en-US" sz="4000" dirty="0"/>
          </a:p>
        </p:txBody>
      </p:sp>
      <p:sp>
        <p:nvSpPr>
          <p:cNvPr id="15" name="Text 12"/>
          <p:cNvSpPr txBox="1"/>
          <p:nvPr/>
        </p:nvSpPr>
        <p:spPr>
          <a:xfrm>
            <a:off x="8386877" y="2560320"/>
            <a:ext cx="311901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серпневий пакет зберегти; нові кроки — після відновлення резервів і допомоги</a:t>
            </a:r>
            <a:endParaRPr lang="en-US" sz="1300" dirty="0"/>
          </a:p>
        </p:txBody>
      </p:sp>
      <p:graphicFrame>
        <p:nvGraphicFramePr>
          <p:cNvPr id="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794760"/>
          <a:ext cx="1127729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996364"/>
                <a:gridCol w="1996364"/>
                <a:gridCol w="1996364"/>
                <a:gridCol w="199636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2026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2027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2028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</a:rPr>
                        <a:t>IV кв. 2029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ІСЦ, % р/р*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8,7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6,7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4,4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5,0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Базова інфляція, % р/р*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7,9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5,7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3,1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4,9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Реальний ВВП, % (рік)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0,0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1,0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0,9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3,1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Облікова ставка, %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16,5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15,5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10,4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8,9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</a:rPr>
                        <a:t>Курс, грн/€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51,6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51,9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52,6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</a:rPr>
                        <a:t>53,6</a:t>
                      </a:r>
                      <a:endParaRPr lang="en-US" sz="15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" name="Text 13"/>
          <p:cNvSpPr txBox="1"/>
          <p:nvPr/>
        </p:nvSpPr>
        <p:spPr>
          <a:xfrm>
            <a:off x="457200" y="6281928"/>
            <a:ext cx="112772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chemeClr val="accent6"/>
                </a:solidFill>
              </a:rPr>
              <a:t>* Середнє за квартал (SA); грудень 2026 — 9,9% (наукаст). Ціль НБУ — 5% на горизонті до 3 років; повернення до цілі — III кв. 2029. Дані на 07.10.2026.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Огляд економіки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E"/>
                </a:solidFill>
              </a:rPr>
              <a:t>Інфляція прискорюється, резерви тануть, економіка сповільнюється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Зовнішнє середовище стало проінфляційним: нафта ≈$100, ЄЦБ підвищує ставку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ov_exter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2449" y="1325880"/>
            <a:ext cx="10406798" cy="3703320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Війна на Близькому Сході (з 28.02.2026): Brent — пік $117 у квітні, $102 у вересні (НБУ закладав $80–85); ф'ючерси — $83 наприкінці 2027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ЄЦБ підвищив ставку до 2,5% (червень, вересень); ринок закладає ще ≈+0,5 в. п. до кінця 2027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Інфляція в єврозоні — пік ≈3,7% наприкінці 2026 (прогноз ЄЦБ: 3,0% / 2,5% / 2,1% у 2026–2028)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Інфляція прискорилася до 8,1%: пальне й тарифи, базова — стабільно висока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ov_inf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770" y="1325880"/>
            <a:ext cx="10436154" cy="3703320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Пальне +38,7% р/р, адмінрегульовані ціни +13,0% (вода, проїзд) — головні рушії серпня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Базова інфляція 8,1% три місяці поспіль: послуги +13,4% (зарплати, оренда, логістика)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Стримує: сирі продукти +1,0% — блокада Чорного моря тримає зерно й овочі на внутрішньому ринку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Очікування підвищені, реальна ставка ≈7% — гривневі активи поки привабливі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ov_rat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11277295" cy="3152840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Очікування домогосподарств 10–14% — вище фактичної інфляції; аналітики підвищили до 7,9%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Реальна облікова ставка ≈7 в. п. (ex post); депозитні ставки реагують із лагом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Липневе й вересневе підвищення підтримали попит на гривневі депозити та ОВДП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Економіка сповільнюється: ВВП III кв. гірший за прогноз, зарплати +25%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ov_ac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11277295" cy="3362322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ВВП II кв.: +0,3% кв/кв, +0,4% р/р; у III кв. — «суттєво гірше прогнозу НБУ» (КМП)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Атаки на енергетику, логістику та порти; внесок обстрілів у ВВП-2026 — −0,9 в. п. (НБУ)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Дефіцит кадрів: номінальні зарплати +25% р/р у червні, реальні +17% — тиск на ціни послуг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НБУ продає ≈$5,0 млрд на місяць — резерви впали до $47,1 млрд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ov_f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11277295" cy="3327036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Чистий продаж валюти НБУ: $4,8 млрд у серпні, $5,5 млрд у вересні — рекорд року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Резерви: $51,2 млрд (липень) → $47,1 млрд (вересень) проти $53,8 млрд у прогнозі НБУ на кінець III кв.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Курс стабільний (≈51,5 грн/€, ≈44,7 грн/$) — ціною резервів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Бюджет залежить від допомоги: $87 млрд у 2026, але надходження затримуються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ov_fis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3042" y="1325880"/>
            <a:ext cx="10945611" cy="3703320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Дефіцит без грантів ≈35% ВВП у 2026; оборонна складова USL — $33,2 млрд (2026) і $16,7 млрд (2027)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Липень–серпень: менше офіційного фінансування → стриманіші видатки, падіння резервів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Частина допомоги прив'язана до ухвалення законів — ризик подальших затримок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Макроекономічний прогноз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E"/>
                </a:solidFill>
              </a:rPr>
              <a:t>QPM НБУ на Python + короткостроковий прогноз + судження + сценарії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Модель: QPM НБУ з нашим розширенням — у Python і MATLAB/IRIS</a:t>
            </a:r>
            <a:endParaRPr lang="en-US" sz="2600" dirty="0"/>
          </a:p>
        </p:txBody>
      </p:sp>
      <p:sp>
        <p:nvSpPr>
          <p:cNvPr id="4" name="step1"/>
          <p:cNvSpPr/>
          <p:nvPr/>
        </p:nvSpPr>
        <p:spPr>
          <a:xfrm>
            <a:off x="457200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40080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Дані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API НБУ, Держстат, ЄЦБ, Eurostat, Brent; оновлення одним скриптом</a:t>
            </a:r>
            <a:endParaRPr lang="en-US" sz="1300" dirty="0"/>
          </a:p>
        </p:txBody>
      </p:sp>
      <p:sp>
        <p:nvSpPr>
          <p:cNvPr id="7" name="arrow1"/>
          <p:cNvSpPr/>
          <p:nvPr/>
        </p:nvSpPr>
        <p:spPr>
          <a:xfrm>
            <a:off x="3041066" y="2080260"/>
            <a:ext cx="265176" cy="274320"/>
          </a:xfrm>
          <a:prstGeom prst="rightArrow">
            <a:avLst/>
          </a:prstGeom>
          <a:solidFill>
            <a:srgbClr val="C98A00"/>
          </a:solidFill>
          <a:ln/>
        </p:spPr>
      </p:sp>
      <p:sp>
        <p:nvSpPr>
          <p:cNvPr id="8" name="step2"/>
          <p:cNvSpPr/>
          <p:nvPr/>
        </p:nvSpPr>
        <p:spPr>
          <a:xfrm>
            <a:off x="3379394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562274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Фільтр Калмана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3562274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розриви й тренди: ВВП, реальний курс, нейтральна ставка</a:t>
            </a:r>
            <a:endParaRPr lang="en-US" sz="1300" dirty="0"/>
          </a:p>
        </p:txBody>
      </p:sp>
      <p:sp>
        <p:nvSpPr>
          <p:cNvPr id="11" name="arrow2"/>
          <p:cNvSpPr/>
          <p:nvPr/>
        </p:nvSpPr>
        <p:spPr>
          <a:xfrm>
            <a:off x="5963260" y="2080260"/>
            <a:ext cx="265176" cy="274320"/>
          </a:xfrm>
          <a:prstGeom prst="rightArrow">
            <a:avLst/>
          </a:prstGeom>
          <a:solidFill>
            <a:srgbClr val="C98A00"/>
          </a:solidFill>
          <a:ln/>
        </p:spPr>
      </p:sp>
      <p:sp>
        <p:nvSpPr>
          <p:cNvPr id="12" name="step3"/>
          <p:cNvSpPr/>
          <p:nvPr/>
        </p:nvSpPr>
        <p:spPr>
          <a:xfrm>
            <a:off x="6301588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84468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Прогноз із планом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6484468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наукаст ІСЦ, судження з джерелами, ф'ючерси на нафту, прогноз ЄЦБ</a:t>
            </a:r>
            <a:endParaRPr lang="en-US" sz="1300" dirty="0"/>
          </a:p>
        </p:txBody>
      </p:sp>
      <p:sp>
        <p:nvSpPr>
          <p:cNvPr id="15" name="arrow3"/>
          <p:cNvSpPr/>
          <p:nvPr/>
        </p:nvSpPr>
        <p:spPr>
          <a:xfrm>
            <a:off x="8885453" y="2080260"/>
            <a:ext cx="265176" cy="274320"/>
          </a:xfrm>
          <a:prstGeom prst="rightArrow">
            <a:avLst/>
          </a:prstGeom>
          <a:solidFill>
            <a:srgbClr val="C98A00"/>
          </a:solidFill>
          <a:ln/>
        </p:spPr>
      </p:sp>
      <p:sp>
        <p:nvSpPr>
          <p:cNvPr id="16" name="step4"/>
          <p:cNvSpPr/>
          <p:nvPr/>
        </p:nvSpPr>
        <p:spPr>
          <a:xfrm>
            <a:off x="9223781" y="1417320"/>
            <a:ext cx="2510714" cy="1600200"/>
          </a:xfrm>
          <a:prstGeom prst="roundRect">
            <a:avLst>
              <a:gd name="adj" fmla="val 4571"/>
            </a:avLst>
          </a:prstGeom>
          <a:solidFill>
            <a:srgbClr val="EAF1EF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9406661" y="1581912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Політика й ризики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9406661" y="2057400"/>
            <a:ext cx="214495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сценарії, віяло, оптимальна ставка; перевірка в MATLAB/IRIS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3429000"/>
            <a:ext cx="3576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1e−13</a:t>
            </a:r>
            <a:endParaRPr lang="en-US" sz="3400" dirty="0"/>
          </a:p>
        </p:txBody>
      </p:sp>
      <p:sp>
        <p:nvSpPr>
          <p:cNvPr id="20" name="Text 17"/>
          <p:cNvSpPr txBox="1"/>
          <p:nvPr/>
        </p:nvSpPr>
        <p:spPr>
          <a:xfrm>
            <a:off x="457200" y="4251960"/>
            <a:ext cx="35762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похибка розв'язку рівнянь моделі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4307738" y="3429000"/>
            <a:ext cx="3576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~1e−5</a:t>
            </a:r>
            <a:endParaRPr lang="en-US" sz="3400" dirty="0"/>
          </a:p>
        </p:txBody>
      </p:sp>
      <p:sp>
        <p:nvSpPr>
          <p:cNvPr id="22" name="Text 19"/>
          <p:cNvSpPr txBox="1"/>
          <p:nvPr/>
        </p:nvSpPr>
        <p:spPr>
          <a:xfrm>
            <a:off x="4307738" y="4251960"/>
            <a:ext cx="35762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розбіжність Python і MATLAB/IRIS: фільтр і всі 5 сценаріїв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158277" y="3429000"/>
            <a:ext cx="357621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0,3–1,3 в. п.</a:t>
            </a:r>
            <a:endParaRPr lang="en-US" sz="3400" dirty="0"/>
          </a:p>
        </p:txBody>
      </p:sp>
      <p:sp>
        <p:nvSpPr>
          <p:cNvPr id="24" name="Text 21"/>
          <p:cNvSpPr txBox="1"/>
          <p:nvPr/>
        </p:nvSpPr>
        <p:spPr>
          <a:xfrm>
            <a:off x="8158277" y="4251960"/>
            <a:ext cx="35762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помилка прогнозу ІСЦ на рік уперед (наївний: 1,3–5,3)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457200" y="49834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Що ми додали до шаблону НБУ</a:t>
            </a:r>
            <a:endParaRPr lang="en-US" sz="1300" dirty="0"/>
          </a:p>
        </p:txBody>
      </p:sp>
      <p:sp>
        <p:nvSpPr>
          <p:cNvPr id="26" name="chip1"/>
          <p:cNvSpPr/>
          <p:nvPr/>
        </p:nvSpPr>
        <p:spPr>
          <a:xfrm>
            <a:off x="457200" y="5349240"/>
            <a:ext cx="2386584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457200" y="5349240"/>
            <a:ext cx="23865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Базова + небазова інфляція</a:t>
            </a:r>
            <a:endParaRPr lang="en-US" sz="1200" dirty="0"/>
          </a:p>
        </p:txBody>
      </p:sp>
      <p:sp>
        <p:nvSpPr>
          <p:cNvPr id="28" name="chip2"/>
          <p:cNvSpPr/>
          <p:nvPr/>
        </p:nvSpPr>
        <p:spPr>
          <a:xfrm>
            <a:off x="2980944" y="5349240"/>
            <a:ext cx="168706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980944" y="5349240"/>
            <a:ext cx="16870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Канал нафти Brent</a:t>
            </a:r>
            <a:endParaRPr lang="en-US" sz="1200" dirty="0"/>
          </a:p>
        </p:txBody>
      </p:sp>
      <p:sp>
        <p:nvSpPr>
          <p:cNvPr id="30" name="chip3"/>
          <p:cNvSpPr/>
          <p:nvPr/>
        </p:nvSpPr>
        <p:spPr>
          <a:xfrm>
            <a:off x="4805172" y="5349240"/>
            <a:ext cx="1220724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805172" y="5349240"/>
            <a:ext cx="1220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Наукаст ІСЦ</a:t>
            </a:r>
            <a:endParaRPr lang="en-US" sz="1200" dirty="0"/>
          </a:p>
        </p:txBody>
      </p:sp>
      <p:sp>
        <p:nvSpPr>
          <p:cNvPr id="32" name="chip4"/>
          <p:cNvSpPr/>
          <p:nvPr/>
        </p:nvSpPr>
        <p:spPr>
          <a:xfrm>
            <a:off x="6163056" y="5349240"/>
            <a:ext cx="1920240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6163056" y="534924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Судження з джерелами</a:t>
            </a:r>
            <a:endParaRPr lang="en-US" sz="1200" dirty="0"/>
          </a:p>
        </p:txBody>
      </p:sp>
      <p:sp>
        <p:nvSpPr>
          <p:cNvPr id="34" name="chip5"/>
          <p:cNvSpPr/>
          <p:nvPr/>
        </p:nvSpPr>
        <p:spPr>
          <a:xfrm>
            <a:off x="8220456" y="5349240"/>
            <a:ext cx="1531620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8220456" y="5349240"/>
            <a:ext cx="15316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Віялові графіки</a:t>
            </a:r>
            <a:endParaRPr lang="en-US" sz="1200" dirty="0"/>
          </a:p>
        </p:txBody>
      </p:sp>
      <p:sp>
        <p:nvSpPr>
          <p:cNvPr id="36" name="chip6"/>
          <p:cNvSpPr/>
          <p:nvPr/>
        </p:nvSpPr>
        <p:spPr>
          <a:xfrm>
            <a:off x="9889236" y="5349240"/>
            <a:ext cx="168706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889236" y="5349240"/>
            <a:ext cx="16870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Оптимальна ставка</a:t>
            </a:r>
            <a:endParaRPr lang="en-US" sz="1200" dirty="0"/>
          </a:p>
        </p:txBody>
      </p:sp>
      <p:sp>
        <p:nvSpPr>
          <p:cNvPr id="38" name="chip7"/>
          <p:cNvSpPr/>
          <p:nvPr/>
        </p:nvSpPr>
        <p:spPr>
          <a:xfrm>
            <a:off x="457200" y="5806440"/>
            <a:ext cx="90982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457200" y="5806440"/>
            <a:ext cx="9098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Бектест</a:t>
            </a:r>
            <a:endParaRPr lang="en-US" sz="1200" dirty="0"/>
          </a:p>
        </p:txBody>
      </p:sp>
      <p:sp>
        <p:nvSpPr>
          <p:cNvPr id="40" name="chip8"/>
          <p:cNvSpPr/>
          <p:nvPr/>
        </p:nvSpPr>
        <p:spPr>
          <a:xfrm>
            <a:off x="1504188" y="5806440"/>
            <a:ext cx="909828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1504188" y="5806440"/>
            <a:ext cx="9098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Резерви</a:t>
            </a:r>
            <a:endParaRPr lang="en-US" sz="1200" dirty="0"/>
          </a:p>
        </p:txBody>
      </p:sp>
      <p:sp>
        <p:nvSpPr>
          <p:cNvPr id="42" name="chip9"/>
          <p:cNvSpPr/>
          <p:nvPr/>
        </p:nvSpPr>
        <p:spPr>
          <a:xfrm>
            <a:off x="2551176" y="5806440"/>
            <a:ext cx="1220724" cy="365760"/>
          </a:xfrm>
          <a:prstGeom prst="roundRect">
            <a:avLst>
              <a:gd name="adj" fmla="val 50000"/>
            </a:avLst>
          </a:prstGeom>
          <a:solidFill>
            <a:srgbClr val="EAF1EF"/>
          </a:solidFill>
          <a:ln w="9525">
            <a:solidFill>
              <a:srgbClr val="0E3B43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2551176" y="5806440"/>
            <a:ext cx="12207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MATLAB/IRIS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Наше розширення QPM: нафта змінює небазові ціни, ставка реагує лише на вторинні ефекти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ml_irf_o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11277295" cy="3158013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ІСЦ = базова інфляція + зміна відносних цін небазових товарів; крива Філіпса НБУ описує базову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Brent +20% → ІСЦ +0,3 в. п. упродовж року, ставка +0,2 в. п.; базова інфляція не прискорюється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З вагою нафти 0 модель точно збігається з шаблоном НБУ — перевірено тестами і в MATLAB/IRIS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Припущення та судження базового сценарію — кожне з джерелом</a:t>
            </a:r>
            <a:endParaRPr lang="en-US" sz="2600" dirty="0"/>
          </a:p>
        </p:txBody>
      </p:sp>
      <p:graphicFrame>
        <p:nvGraphicFramePr>
          <p:cNvPr id="1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858000"/>
                <a:gridCol w="222199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Чинник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Що закладено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Джерело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Інфляція IV кв.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Наукаст: тренд 0,65%/міс + сезонність − 0,1 в. п. (продовольство) → грудень 9,9% р/р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Держстат, НБУ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ВВП III кв.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−0,3% кв/кв SA (КМП: «суттєво гірше прогнозу»)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Підсумки КМП 28.09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Шок витрат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Вторинні ефекти атак на енергетику, логістику й виробництво в опалювальний сезон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Підсумки дискусії КМП, 28.09.2026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Адмінціни та акцизи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Тарифи після мораторію, наближення акцизів до мінімумів ЄС — загальна інфляція вища за базову на ≈1,7 в. п. на рік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НБУ, макропрогноз липень 2026 (адмінціни +14,0% / +11,3%)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Бюджетний імпульс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Локалізація оборонного виробництва коштом Ukraine Support Loan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НБУ, Інфляційний звіт і макропрогноз, липень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Премія за ризик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Затримки офіційного фінансування в липні–вересні; резерви знизилися до $47,1 млрд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Рішення НБУ 17.09.2026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Потенційний ВВП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Вищий потенціал: інвестиції в потужності ОПК і, за припущенням НБУ, чисте повернення мігрантів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НБУ, припущення макропрогнозу, липень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Курс гривні до €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Поступове послаблення ≈4% (2027) і 3% (2028): EUR/USD за НБУ + керована гнучкість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Припущення НБУ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Нафта Brent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Ф'ючерсна крива: $101 (IV кв. 2026) → $83 (кінець 2027) → $76 (кінець 2028)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EIA, NYMEX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Єврозона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HICP 3,0 / 2,5 / 2,1%, ВВП 0,9 / 1,4 / 1,5%, ставка ЄЦБ до 3%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ЄЦБ, вер.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Короткостроковий прогноз: інфляція зросте до ≈9,9% у грудні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fc_nowca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6309360" cy="3406958"/>
          </a:xfrm>
          <a:prstGeom prst="rect">
            <a:avLst/>
          </a:prstGeom>
        </p:spPr>
      </p:pic>
      <p:graphicFrame>
        <p:nvGraphicFramePr>
          <p:cNvPr id="1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86600" y="1325880"/>
          <a:ext cx="4647895" cy="914400"/>
        </p:xfrm>
        <a:graphic>
          <a:graphicData uri="http://schemas.openxmlformats.org/drawingml/2006/table">
            <a:tbl>
              <a:tblPr/>
              <a:tblGrid>
                <a:gridCol w="1024128"/>
                <a:gridCol w="685800"/>
                <a:gridCol w="731520"/>
                <a:gridCol w="960120"/>
                <a:gridCol w="640080"/>
                <a:gridCol w="603504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Місяць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Тренд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Сезон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Поправка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м/м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р/р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2026-09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−0,01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0,55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2026-10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0,31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0,86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2026-11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0,31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0,86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2026-12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1,20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6" name="bullets"/>
          <p:cNvSpPr txBox="1"/>
          <p:nvPr/>
        </p:nvSpPr>
        <p:spPr>
          <a:xfrm>
            <a:off x="7086600" y="3383280"/>
            <a:ext cx="4647895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Ефект бази: у вересні–грудні 2025 ціни зросли лише на 1,8% → річна інфляція механічно зростає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Тренд 0,65% на місяць (з урахуванням сезонності) — це ≈8% у річному вимірі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Наш прогноз грудня близький до НБУ (10%): тиск пального компенсує дешевше продовольство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Інфляція досягне піку на початку 2027 і повернеться до цілі 5% у 2029 — у межах горизонту політики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fc_fa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3245" y="1325880"/>
            <a:ext cx="9945206" cy="3703320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Пік ≈8,9% у I кв. 2027; 6,7% наприкінці 2027 (НБУ: 6,9%); у 2028 — тимчасово ≈4,3% (дешевша нафта); 5% — з III кв. 2029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Ставка: 16,5% до середини 2027 → 15,5% наприкінці 2027 → 10,4% — 2028 → 8,9% — 2029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Невизначеність велика: з імовірністю 70% інфляція наприкінці 2027 — від 2,4 до 11,0%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Базова інфляція в 2027 стійкіша, ніж у НБУ: 5,7% наприкінці року проти 5,1%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fc_c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7040880" cy="3881792"/>
          </a:xfrm>
          <a:prstGeom prst="rect">
            <a:avLst/>
          </a:prstGeom>
        </p:spPr>
      </p:pic>
      <p:sp>
        <p:nvSpPr>
          <p:cNvPr id="5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Зарплати +25%, дорожчі послуги, наслідки атак — базова інфляція знижується повільніше, ніж очікує НБУ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Загальна: 6,7% наприкінці 2027 (НБУ 6,9%) — тарифи й акцизи додають ≈1,7 в. п. на рік, дешевша нафта (ф'ючерси) — віднімає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2028: базова 3,1% (НБУ 3,3%) — слабкий попит → простір для зниження ставки з II пів. 2027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Висновок: превентивне підвищення зараз, швидше пом'якшення пізніше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Ми бачимо слабший попит, ніж НБУ: розрив ВВП у 2027 ≈0,3% проти 1,4%</a:t>
            </a:r>
            <a:endParaRPr lang="en-US" sz="2600" dirty="0"/>
          </a:p>
        </p:txBody>
      </p:sp>
      <p:pic>
        <p:nvPicPr>
          <p:cNvPr id="4" name="chart main" descr="C:\Users\Lenovo\Documents\GitHub\nbu-challenge-2026\results\figures\fc_gap_vs_nb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4971531" cy="2740914"/>
          </a:xfrm>
          <a:prstGeom prst="rect">
            <a:avLst/>
          </a:prstGeom>
        </p:spPr>
      </p:pic>
      <p:pic>
        <p:nvPicPr>
          <p:cNvPr id="5" name="chart side" descr="C:\Users\Lenovo\Documents\GitHub\nbu-challenge-2026\results\figures\fc_trend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203954"/>
            <a:ext cx="6241248" cy="2105406"/>
          </a:xfrm>
          <a:prstGeom prst="rect">
            <a:avLst/>
          </a:prstGeom>
        </p:spPr>
      </p:pic>
      <p:sp>
        <p:nvSpPr>
          <p:cNvPr id="6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ВВП: 0,0% / 1,0% / 0,9% у 2026–2028 (НБУ: 1,8 / 2,8 / 3,0%)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Причини: слабкий III кв., атаки на логістику, блокада портів, дефіцит кадрів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Реальна ставка (≈7–8%) вища за нейтральну (≈6%) — політика вже стримувальна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Ставка має лишатися високою, доки прогноз інфляції вищий за ціль на 3–4 в. п.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fc_rate_driv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7040880" cy="2947885"/>
          </a:xfrm>
          <a:prstGeom prst="rect">
            <a:avLst/>
          </a:prstGeom>
        </p:spPr>
      </p:pic>
      <p:sp>
        <p:nvSpPr>
          <p:cNvPr id="5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Головний чинник — прогноз інфляції на 3 квартали вперед вище цілі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Розрив ВВП майже не тисне на ставку — це не «перегрів попиту», а шоки витрат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З другого півріччя 2027 внесок інфляції зменшується → простір для зниження ставки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Сценарії: найнебезпечніший — дефіцит фінансування, а не зима чи нафта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ml_scenari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6038" y="1280160"/>
            <a:ext cx="8719619" cy="2606040"/>
          </a:xfrm>
          <a:prstGeom prst="rect">
            <a:avLst/>
          </a:prstGeom>
        </p:spPr>
      </p:pic>
      <p:graphicFrame>
        <p:nvGraphicFramePr>
          <p:cNvPr id="20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69080"/>
          <a:ext cx="70408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77824"/>
                <a:gridCol w="877824"/>
                <a:gridCol w="877824"/>
                <a:gridCol w="877824"/>
                <a:gridCol w="87782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Сценарій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пік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пік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грн/€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ВВП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Базовий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Важка зима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Дефіцит фінансування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11,5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19,3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55,2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Сприятливий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Нафта $120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bullets"/>
          <p:cNvSpPr txBox="1"/>
          <p:nvPr/>
        </p:nvSpPr>
        <p:spPr>
          <a:xfrm>
            <a:off x="7818120" y="4114800"/>
            <a:ext cx="39163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Дефіцит фінансування: гривня на ≈6% слабша (≈55 грн/€) → інфляція до 11%, ставка до ≈19%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Важка зима: інфляція до 10,4%, ставка ≈17,5%, ВВП 2027 — 0,1%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Нафта $120: +0,5 в. п. до піку інфляції, ставка майже не змінюється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Сприятливий: нижча премія за ризик → швидше пом'якшення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Матриця ризиків: баланс зміщений у бік вищої інфляції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371600"/>
            <a:ext cx="777240" cy="147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Високий</a:t>
            </a:r>
            <a:endParaRPr lang="en-US" sz="1200" dirty="0"/>
          </a:p>
        </p:txBody>
      </p:sp>
      <p:sp>
        <p:nvSpPr>
          <p:cNvPr id="5" name="cell Високий/Слабкий"/>
          <p:cNvSpPr/>
          <p:nvPr/>
        </p:nvSpPr>
        <p:spPr>
          <a:xfrm>
            <a:off x="1316736" y="1408176"/>
            <a:ext cx="3411626" cy="1405128"/>
          </a:xfrm>
          <a:prstGeom prst="rect">
            <a:avLst/>
          </a:prstGeom>
          <a:solidFill>
            <a:srgbClr val="CFE2DD"/>
          </a:solidFill>
          <a:ln/>
        </p:spPr>
      </p:sp>
      <p:sp>
        <p:nvSpPr>
          <p:cNvPr id="6" name="cell Високий/Помірний"/>
          <p:cNvSpPr/>
          <p:nvPr/>
        </p:nvSpPr>
        <p:spPr>
          <a:xfrm>
            <a:off x="4801514" y="1408176"/>
            <a:ext cx="3411626" cy="1405128"/>
          </a:xfrm>
          <a:prstGeom prst="rect">
            <a:avLst/>
          </a:prstGeom>
          <a:solidFill>
            <a:srgbClr val="B9D5CE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929530" y="148132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Тривала нафта ≈$100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Блокада портів: дешевше продовольство</a:t>
            </a:r>
            <a:endParaRPr lang="en-US" sz="1300" dirty="0"/>
          </a:p>
        </p:txBody>
      </p:sp>
      <p:sp>
        <p:nvSpPr>
          <p:cNvPr id="8" name="cell Високий/Сильний"/>
          <p:cNvSpPr/>
          <p:nvPr/>
        </p:nvSpPr>
        <p:spPr>
          <a:xfrm>
            <a:off x="8286293" y="1408176"/>
            <a:ext cx="3411626" cy="1405128"/>
          </a:xfrm>
          <a:prstGeom prst="rect">
            <a:avLst/>
          </a:prstGeom>
          <a:solidFill>
            <a:srgbClr val="A3C8B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8414309" y="148132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Атаки на енергетику взимку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Затримки допомоги, резерви &lt; $45 млрд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849880"/>
            <a:ext cx="777240" cy="147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Середній</a:t>
            </a:r>
            <a:endParaRPr lang="en-US" sz="1200" dirty="0"/>
          </a:p>
        </p:txBody>
      </p:sp>
      <p:sp>
        <p:nvSpPr>
          <p:cNvPr id="11" name="cell Середній/Слабкий"/>
          <p:cNvSpPr/>
          <p:nvPr/>
        </p:nvSpPr>
        <p:spPr>
          <a:xfrm>
            <a:off x="1316736" y="2886456"/>
            <a:ext cx="3411626" cy="1405128"/>
          </a:xfrm>
          <a:prstGeom prst="rect">
            <a:avLst/>
          </a:prstGeom>
          <a:solidFill>
            <a:srgbClr val="E3EEEB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1444752" y="295960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Зміцнення євро — дешевший імпорт з ЄС</a:t>
            </a:r>
            <a:endParaRPr lang="en-US" sz="1300" dirty="0"/>
          </a:p>
        </p:txBody>
      </p:sp>
      <p:sp>
        <p:nvSpPr>
          <p:cNvPr id="13" name="cell Середній/Помірний"/>
          <p:cNvSpPr/>
          <p:nvPr/>
        </p:nvSpPr>
        <p:spPr>
          <a:xfrm>
            <a:off x="4801514" y="2886456"/>
            <a:ext cx="3411626" cy="1405128"/>
          </a:xfrm>
          <a:prstGeom prst="rect">
            <a:avLst/>
          </a:prstGeom>
          <a:solidFill>
            <a:srgbClr val="CFE2DD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929530" y="295960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Підвищення ПДВ / акцизів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Охолодження попиту від обстрілів</a:t>
            </a:r>
            <a:endParaRPr lang="en-US" sz="1300" dirty="0"/>
          </a:p>
        </p:txBody>
      </p:sp>
      <p:sp>
        <p:nvSpPr>
          <p:cNvPr id="15" name="cell Середній/Сильний"/>
          <p:cNvSpPr/>
          <p:nvPr/>
        </p:nvSpPr>
        <p:spPr>
          <a:xfrm>
            <a:off x="8286293" y="2886456"/>
            <a:ext cx="3411626" cy="1405128"/>
          </a:xfrm>
          <a:prstGeom prst="rect">
            <a:avLst/>
          </a:prstGeom>
          <a:solidFill>
            <a:srgbClr val="B9D5CE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8414309" y="295960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Розбалансування очікувань домогосподарств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Зарплатна спіраль (дефіцит кадрів)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4328160"/>
            <a:ext cx="777240" cy="1478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Низький</a:t>
            </a:r>
            <a:endParaRPr lang="en-US" sz="1200" dirty="0"/>
          </a:p>
        </p:txBody>
      </p:sp>
      <p:sp>
        <p:nvSpPr>
          <p:cNvPr id="18" name="cell Низький/Слабкий"/>
          <p:cNvSpPr/>
          <p:nvPr/>
        </p:nvSpPr>
        <p:spPr>
          <a:xfrm>
            <a:off x="1316736" y="4364736"/>
            <a:ext cx="3411626" cy="1405128"/>
          </a:xfrm>
          <a:prstGeom prst="rect">
            <a:avLst/>
          </a:prstGeom>
          <a:solidFill>
            <a:srgbClr val="F4F8F7"/>
          </a:solidFill>
          <a:ln/>
        </p:spPr>
      </p:sp>
      <p:sp>
        <p:nvSpPr>
          <p:cNvPr id="19" name="cell Низький/Помірний"/>
          <p:cNvSpPr/>
          <p:nvPr/>
        </p:nvSpPr>
        <p:spPr>
          <a:xfrm>
            <a:off x="4801514" y="4364736"/>
            <a:ext cx="3411626" cy="1405128"/>
          </a:xfrm>
          <a:prstGeom prst="rect">
            <a:avLst/>
          </a:prstGeom>
          <a:solidFill>
            <a:srgbClr val="E3EEEB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929530" y="443788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Швидше підвищення ставок ЄЦБ</a:t>
            </a:r>
            <a:endParaRPr lang="en-US" sz="1300" dirty="0"/>
          </a:p>
        </p:txBody>
      </p:sp>
      <p:sp>
        <p:nvSpPr>
          <p:cNvPr id="21" name="cell Низький/Сильний"/>
          <p:cNvSpPr/>
          <p:nvPr/>
        </p:nvSpPr>
        <p:spPr>
          <a:xfrm>
            <a:off x="8286293" y="4364736"/>
            <a:ext cx="3411626" cy="1405128"/>
          </a:xfrm>
          <a:prstGeom prst="rect">
            <a:avLst/>
          </a:prstGeom>
          <a:solidFill>
            <a:srgbClr val="CFE2DD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8414309" y="4437888"/>
            <a:ext cx="3155594" cy="1258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8449"/>
                </a:solidFill>
              </a:rPr>
              <a:t>▼ Перемир'я, повернення мігрантів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C0392B"/>
                </a:solidFill>
              </a:rPr>
              <a:t>▲ Ескалація, прорив фронту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1280160" y="5824728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Слабкий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4764938" y="5824728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Помірний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8249717" y="5824728"/>
            <a:ext cx="348477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6"/>
                </a:solidFill>
              </a:rPr>
              <a:t>Сильний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1280160" y="6099048"/>
            <a:ext cx="1045433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Імовірність ↑   ·   Вплив на базовий сценарій →   ·   ▲ вища інфляція   ▼ нижча інфляція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Рекомендації для Правління НБУ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74904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E"/>
                </a:solidFill>
              </a:rPr>
              <a:t>Процентна політика, курс і валютні обмеження — як єдиний пакет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Варіанти рішення 29 жовтня: кожні +0,5 в. п. знижують втрати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fc_polic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69601" y="1280160"/>
            <a:ext cx="8652494" cy="2606040"/>
          </a:xfrm>
          <a:prstGeom prst="rect">
            <a:avLst/>
          </a:prstGeom>
        </p:spPr>
      </p:pic>
      <p:graphicFrame>
        <p:nvGraphicFramePr>
          <p:cNvPr id="23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069080"/>
          <a:ext cx="704088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77824"/>
                <a:gridCol w="877824"/>
                <a:gridCol w="877824"/>
                <a:gridCol w="877824"/>
                <a:gridCol w="877824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Рішення (до середини 2027)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IV кв. 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Ставка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ІСЦ IV кв. 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ВВП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Втрати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Знизити до 15,5%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48,7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Утримати 16%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44,9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Підвищити до 16,5% ★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41,5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Підвищити до 17%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38,4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Оптимальна (мін. втрат)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17,1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35,3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bullets"/>
          <p:cNvSpPr txBox="1"/>
          <p:nvPr/>
        </p:nvSpPr>
        <p:spPr>
          <a:xfrm>
            <a:off x="7818120" y="4114800"/>
            <a:ext cx="391637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Після утримання — траєкторія, що повертає інфляцію до 5% на горизонті; за чистим правилом у 2029 було б лише 4,3%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Оптимальна ставка зараз: 16,6% без реакції на перший раунд адмінцін (практика ІТ), 16,6–17,1% — залежно від згладжування</a:t>
            </a:r>
            <a:endParaRPr lang="en-US" sz="13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Обираємо 16,5%: поступовість за невизначеності; 17% — якщо з'являться вторинні ефекти тарифів і пального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Облікова ставка: підвищити до 16,5% і утримувати до середини 2027</a:t>
            </a:r>
            <a:endParaRPr lang="en-US" sz="2600" dirty="0"/>
          </a:p>
        </p:txBody>
      </p:sp>
      <p:sp>
        <p:nvSpPr>
          <p:cNvPr id="4" name="decision"/>
          <p:cNvSpPr/>
          <p:nvPr/>
        </p:nvSpPr>
        <p:spPr>
          <a:xfrm>
            <a:off x="457200" y="1325880"/>
            <a:ext cx="3108960" cy="4983480"/>
          </a:xfrm>
          <a:prstGeom prst="roundRect">
            <a:avLst>
              <a:gd name="adj" fmla="val 2941"/>
            </a:avLst>
          </a:prstGeom>
          <a:solidFill>
            <a:srgbClr val="0E3B43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31520" y="16916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CFE3DE"/>
                </a:solidFill>
              </a:rPr>
              <a:t>ОБЛІКОВА СТАВКА</a:t>
            </a:r>
            <a:endParaRPr lang="en-US" sz="13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148840"/>
            <a:ext cx="2560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C98A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16,5%</a:t>
            </a:r>
            <a:endParaRPr lang="en-US" sz="66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4747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+0,5 в. п. з 30.10.2026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3931920" y="1325880"/>
            <a:ext cx="7802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Чому підвищити</a:t>
            </a:r>
            <a:endParaRPr lang="en-US" sz="1600" dirty="0"/>
          </a:p>
        </p:txBody>
      </p:sp>
      <p:sp>
        <p:nvSpPr>
          <p:cNvPr id="9" name="bullets"/>
          <p:cNvSpPr txBox="1"/>
          <p:nvPr/>
        </p:nvSpPr>
        <p:spPr>
          <a:xfrm>
            <a:off x="3931920" y="1709928"/>
            <a:ext cx="7802575" cy="13366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Інфляція зросте до ≈10% у грудні; ризики зміщені вгору (нафта, тарифи, зарплати, очікування)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Базова інфляція наприкінці 2027 — 5,7% (НБУ: 5,1%): ринок праці перегрітий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Резерви знижуються: потрібна вища привабливість гривні, щоб зменшити попит на валюту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Ми рекомендуємо гнучкіший курс — ставка має утримати очікування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3931920" y="3092335"/>
            <a:ext cx="7802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Чому не більше</a:t>
            </a:r>
            <a:endParaRPr lang="en-US" sz="1600" dirty="0"/>
          </a:p>
        </p:txBody>
      </p:sp>
      <p:sp>
        <p:nvSpPr>
          <p:cNvPr id="11" name="bullets"/>
          <p:cNvSpPr txBox="1"/>
          <p:nvPr/>
        </p:nvSpPr>
        <p:spPr>
          <a:xfrm>
            <a:off x="3931920" y="3476383"/>
            <a:ext cx="7802575" cy="10208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ВВП III кв. скоротився; реальна ставка вже ≈7% — вище нейтральної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Шоки здебільшого пропозиції: реагуємо на вторинні ефекти, а не на перший раунд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Без реакції на перший раунд адмінцін оптимум моделі — 16,6%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931920" y="4542905"/>
            <a:ext cx="780257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Орієнтири (forward guidance)</a:t>
            </a:r>
            <a:endParaRPr lang="en-US" sz="1600" dirty="0"/>
          </a:p>
        </p:txBody>
      </p:sp>
      <p:sp>
        <p:nvSpPr>
          <p:cNvPr id="13" name="bullets"/>
          <p:cNvSpPr txBox="1"/>
          <p:nvPr/>
        </p:nvSpPr>
        <p:spPr>
          <a:xfrm>
            <a:off x="3931920" y="4926953"/>
            <a:ext cx="7802575" cy="13366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Утримання 16,5% щонайменше до середини 2027; далі зниження до ≈15,5% наприкінці 2027 і ≈10,5% — 2028: інфляція 5% у 2029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Підвищення до 17–19% — якщо резерви &lt; $43 млрд і тиск на курс (сценарій дефіциту фінансування)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Швидше пом'якшення — якщо базова інфляція &lt; 7% і очікування знижуються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Курс і резерви: без допомоги резерви наблизяться до 3 місяців імпорту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fc_rese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7040880" cy="4808281"/>
          </a:xfrm>
          <a:prstGeom prst="rect">
            <a:avLst/>
          </a:prstGeom>
        </p:spPr>
      </p:pic>
      <p:sp>
        <p:nvSpPr>
          <p:cNvPr id="5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Продаж НБУ ≈$5,0 млрд/міс, надходження ≈$3,7 млрд/міс (липень–вересень)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Кінець 2026: $56 / 43 / 38 млрд = 4,6 / 3,6 / 3,1 міс. імпорту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Рекомендація: керована гнучкість — поступове послаблення гривні до € ≈4% у 2027, інтервенції лише для згладжування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Курс не фіксувати й не захищати рівень: це прямий шлях до втрати резервів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Валютні обмеження: серпневий пакет зберегти, наступні кроки — на паузу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ov_fx_household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6732760" cy="4983480"/>
          </a:xfrm>
          <a:prstGeom prst="rect">
            <a:avLst/>
          </a:prstGeom>
        </p:spPr>
      </p:pic>
      <p:sp>
        <p:nvSpPr>
          <p:cNvPr id="5" name="bullets"/>
          <p:cNvSpPr txBox="1"/>
          <p:nvPr/>
        </p:nvSpPr>
        <p:spPr>
          <a:xfrm>
            <a:off x="7818120" y="1417320"/>
            <a:ext cx="3916375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Після підвищення ліміту (50 → 200 тис. грн/міс) купівля валюти населенням зросла з $0,39 до $0,58 млрд/міс (+49%) — керовано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Стратегія НБУ: кроки — за передумовами (резерви, очікування, реальна ставка), а не за календарем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Пауза для III етапу (капітальні операції, операції населення) до: резерви ≥ $50 млрд (≈4 міс. імпорту), ритмічна допомога, стабільні очікування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Продовжити стимулюючу лібералізацію (нові інвестиції, «додатковий» ліміт) — вона залучає валюту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Нові обмеження не запроваджувати: вони не замінюють макрокоригування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Комунікація: «ставка — якір, курс — амортизатор»</a:t>
            </a:r>
            <a:endParaRPr lang="en-US" sz="2600" dirty="0"/>
          </a:p>
        </p:txBody>
      </p:sp>
      <p:sp>
        <p:nvSpPr>
          <p:cNvPr id="4" name="press release"/>
          <p:cNvSpPr txBox="1"/>
          <p:nvPr/>
        </p:nvSpPr>
        <p:spPr>
          <a:xfrm>
            <a:off x="457200" y="4846320"/>
            <a:ext cx="11277295" cy="1463040"/>
          </a:xfrm>
          <a:prstGeom prst="rect">
            <a:avLst/>
          </a:prstGeom>
          <a:solidFill>
            <a:srgbClr val="FFFFFF"/>
          </a:solidFill>
          <a:ln w="15875">
            <a:solidFill>
              <a:srgbClr val="C98A00"/>
            </a:solidFill>
          </a:ln>
        </p:spPr>
        <p:txBody>
          <a:bodyPr wrap="square" lIns="76200" tIns="152400" rIns="152400" bIns="7620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1"/>
                </a:solidFill>
              </a:rPr>
              <a:t>Проєкт пресрелізу: «Правління НБУ ухвалило рішення підвищити облікову ставку до 16,5% з огляду на прискорення інфляції, зміщення ризиків угору та зниження міжнародних резервів. НБУ утримуватиме ставку щонайменше до середини 2027 року та допускатиме більшу гнучкість курсу, згладжуючи надмірні коливання».</a:t>
            </a:r>
            <a:endParaRPr lang="en-US" sz="1400" dirty="0"/>
          </a:p>
        </p:txBody>
      </p:sp>
      <p:sp>
        <p:nvSpPr>
          <p:cNvPr id="5" name="card1"/>
          <p:cNvSpPr/>
          <p:nvPr/>
        </p:nvSpPr>
        <p:spPr>
          <a:xfrm>
            <a:off x="457200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6" name="badge1"/>
          <p:cNvSpPr/>
          <p:nvPr/>
        </p:nvSpPr>
        <p:spPr>
          <a:xfrm>
            <a:off x="685800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280160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Ключові меседжі</a:t>
            </a:r>
            <a:endParaRPr lang="en-US" sz="1700" dirty="0"/>
          </a:p>
        </p:txBody>
      </p:sp>
      <p:sp>
        <p:nvSpPr>
          <p:cNvPr id="9" name="bullets"/>
          <p:cNvSpPr txBox="1"/>
          <p:nvPr/>
        </p:nvSpPr>
        <p:spPr>
          <a:xfrm>
            <a:off x="731520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НБУ підвищує ставку превентивно, щоб інфляція повернулася до 5% у 2029 році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Гнучкий курс захищає резерви; НБУ згладжує, але не фіксує курс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Гривневі депозити й ОВДП залишаються вигіднішими за валюту з урахуванням інфляції</a:t>
            </a:r>
            <a:endParaRPr lang="en-US" sz="1400" dirty="0"/>
          </a:p>
        </p:txBody>
      </p:sp>
      <p:sp>
        <p:nvSpPr>
          <p:cNvPr id="10" name="card2"/>
          <p:cNvSpPr/>
          <p:nvPr/>
        </p:nvSpPr>
        <p:spPr>
          <a:xfrm>
            <a:off x="4307738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1" name="badge2"/>
          <p:cNvSpPr/>
          <p:nvPr/>
        </p:nvSpPr>
        <p:spPr>
          <a:xfrm>
            <a:off x="4536338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536338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5130698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Орієнтир для ринку</a:t>
            </a:r>
            <a:endParaRPr lang="en-US" sz="1700" dirty="0"/>
          </a:p>
        </p:txBody>
      </p:sp>
      <p:sp>
        <p:nvSpPr>
          <p:cNvPr id="14" name="bullets"/>
          <p:cNvSpPr txBox="1"/>
          <p:nvPr/>
        </p:nvSpPr>
        <p:spPr>
          <a:xfrm>
            <a:off x="4582058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Утримання 16,5% щонайменше до середини 2027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Пом'якшення — з другого півріччя 2027, якщо інфляція й очікування знижуватимуться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Готовність до додаткових заходів, якщо резерви й курс опиняться під тиском</a:t>
            </a:r>
            <a:endParaRPr lang="en-US" sz="1400" dirty="0"/>
          </a:p>
        </p:txBody>
      </p:sp>
      <p:sp>
        <p:nvSpPr>
          <p:cNvPr id="15" name="card3"/>
          <p:cNvSpPr/>
          <p:nvPr/>
        </p:nvSpPr>
        <p:spPr>
          <a:xfrm>
            <a:off x="8158277" y="1325880"/>
            <a:ext cx="3576218" cy="3246120"/>
          </a:xfrm>
          <a:prstGeom prst="roundRect">
            <a:avLst>
              <a:gd name="adj" fmla="val 2254"/>
            </a:avLst>
          </a:prstGeom>
          <a:solidFill>
            <a:srgbClr val="EAF1EF"/>
          </a:solidFill>
          <a:ln/>
        </p:spPr>
      </p:sp>
      <p:sp>
        <p:nvSpPr>
          <p:cNvPr id="16" name="badge3"/>
          <p:cNvSpPr/>
          <p:nvPr/>
        </p:nvSpPr>
        <p:spPr>
          <a:xfrm>
            <a:off x="8386877" y="1554480"/>
            <a:ext cx="457200" cy="457200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8386877" y="1554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8981237" y="1554480"/>
            <a:ext cx="25703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Чого уникати</a:t>
            </a:r>
            <a:endParaRPr lang="en-US" sz="1700" dirty="0"/>
          </a:p>
        </p:txBody>
      </p:sp>
      <p:sp>
        <p:nvSpPr>
          <p:cNvPr id="19" name="bullets"/>
          <p:cNvSpPr txBox="1"/>
          <p:nvPr/>
        </p:nvSpPr>
        <p:spPr>
          <a:xfrm>
            <a:off x="8432597" y="2240280"/>
            <a:ext cx="307329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Обіцянок конкретного курсу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Сигналів про швидке зниження ставки до стабілізації допомоги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Підсумок</a:t>
            </a:r>
            <a:endParaRPr lang="en-US" sz="3600" dirty="0"/>
          </a:p>
        </p:txBody>
      </p:sp>
      <p:sp>
        <p:nvSpPr>
          <p:cNvPr id="3" name="n1"/>
          <p:cNvSpPr/>
          <p:nvPr/>
        </p:nvSpPr>
        <p:spPr>
          <a:xfrm>
            <a:off x="731520" y="178308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54480" y="170992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Підвищити облікову ставку до 16,5% та утримувати щонайменше до середини 2027</a:t>
            </a:r>
            <a:endParaRPr lang="en-US" sz="2000" dirty="0"/>
          </a:p>
        </p:txBody>
      </p:sp>
      <p:sp>
        <p:nvSpPr>
          <p:cNvPr id="6" name="n2"/>
          <p:cNvSpPr/>
          <p:nvPr/>
        </p:nvSpPr>
        <p:spPr>
          <a:xfrm>
            <a:off x="731520" y="283464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834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554480" y="276148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Керована гнучкість курсу: поступове послаблення гривні замість витрачання резервів</a:t>
            </a:r>
            <a:endParaRPr lang="en-US" sz="2000" dirty="0"/>
          </a:p>
        </p:txBody>
      </p:sp>
      <p:sp>
        <p:nvSpPr>
          <p:cNvPr id="9" name="n3"/>
          <p:cNvSpPr/>
          <p:nvPr/>
        </p:nvSpPr>
        <p:spPr>
          <a:xfrm>
            <a:off x="731520" y="388620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31520" y="3886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3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1554480" y="381304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Пауза в лібералізації валютних обмежень до відновлення резервів і допомоги</a:t>
            </a:r>
            <a:endParaRPr lang="en-US" sz="2000" dirty="0"/>
          </a:p>
        </p:txBody>
      </p:sp>
      <p:sp>
        <p:nvSpPr>
          <p:cNvPr id="12" name="n4"/>
          <p:cNvSpPr/>
          <p:nvPr/>
        </p:nvSpPr>
        <p:spPr>
          <a:xfrm>
            <a:off x="731520" y="4937760"/>
            <a:ext cx="566928" cy="566928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31520" y="4937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E3B43"/>
                </a:solidFill>
              </a:rPr>
              <a:t>4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554480" y="4864608"/>
            <a:ext cx="9875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</a:rPr>
              <a:t>Базовий прогноз: інфляція ≈9,9% у грудні 2026, 6,7% наприкінці 2027, ціль 5% — III кв. 2029</a:t>
            </a:r>
            <a:endParaRPr lang="en-US" sz="2000" dirty="0"/>
          </a:p>
        </p:txBody>
      </p:sp>
      <p:sp>
        <p:nvSpPr>
          <p:cNvPr id="16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377440"/>
            <a:ext cx="10698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Додатки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1. Модель: QPM НБУ + розширення команди</a:t>
            </a:r>
            <a:endParaRPr lang="en-US" sz="2600" dirty="0"/>
          </a:p>
        </p:txBody>
      </p:sp>
      <p:sp>
        <p:nvSpPr>
          <p:cNvPr id="4" name="eq1"/>
          <p:cNvSpPr/>
          <p:nvPr/>
        </p:nvSpPr>
        <p:spPr>
          <a:xfrm>
            <a:off x="457200" y="132588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EAF1E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" y="132588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Попит (розрив ВВП)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3749040" y="132588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ŷₜ = 0,7·ŷₜ₋₁ − 0,4·MCIₜ + 0,3·ŷ*ₜ + εʸ;   MCI = −0,5·z̃ + 0,3·r̃ + 0,2·prem̃</a:t>
            </a:r>
            <a:endParaRPr lang="en-US" sz="1600" dirty="0"/>
          </a:p>
        </p:txBody>
      </p:sp>
      <p:sp>
        <p:nvSpPr>
          <p:cNvPr id="7" name="eq2"/>
          <p:cNvSpPr/>
          <p:nvPr/>
        </p:nvSpPr>
        <p:spPr>
          <a:xfrm>
            <a:off x="457200" y="219456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19456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Базова інфляція (Філіпс)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749040" y="219456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πᶜₜ = 0,4·πᶜₜ₋₁ + 0,6·Eₜπᶜₜ₊₁ + 0,3·rmcₜ + εᶜ;   rmc = 0,6·ŷ + 0,4·z̃,  z = s − pᶜ + p*</a:t>
            </a:r>
            <a:endParaRPr lang="en-US" sz="1600" dirty="0"/>
          </a:p>
        </p:txBody>
      </p:sp>
      <p:sp>
        <p:nvSpPr>
          <p:cNvPr id="10" name="eq3"/>
          <p:cNvSpPr/>
          <p:nvPr/>
        </p:nvSpPr>
        <p:spPr>
          <a:xfrm>
            <a:off x="457200" y="306324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EAF1E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306324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Небазові ціни (наше)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749040" y="306324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Δrncₜ = 0,3·Δrncₜ₋₁ + 0,016·(Δoilₜ + Δzₜ) + εⁿᶜ;   πₜ = πᶜₜ + Δrncₜ</a:t>
            </a:r>
            <a:endParaRPr lang="en-US" sz="1600" dirty="0"/>
          </a:p>
        </p:txBody>
      </p:sp>
      <p:sp>
        <p:nvSpPr>
          <p:cNvPr id="13" name="eq4"/>
          <p:cNvSpPr/>
          <p:nvPr/>
        </p:nvSpPr>
        <p:spPr>
          <a:xfrm>
            <a:off x="457200" y="393192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5800" y="393192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Курс (керована гнучкість)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749040" y="393192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sₜ = β·s̄ₜ + (1−β)·sᵘⁱᵖₜ,  β = 0,7;   sᵘⁱᵖ = Eₜsₜ₊₁ + (i* + prem − i)/4</a:t>
            </a:r>
            <a:endParaRPr lang="en-US" sz="1600" dirty="0"/>
          </a:p>
        </p:txBody>
      </p:sp>
      <p:sp>
        <p:nvSpPr>
          <p:cNvPr id="16" name="eq5"/>
          <p:cNvSpPr/>
          <p:nvPr/>
        </p:nvSpPr>
        <p:spPr>
          <a:xfrm>
            <a:off x="457200" y="4800600"/>
            <a:ext cx="11277295" cy="749808"/>
          </a:xfrm>
          <a:prstGeom prst="roundRect">
            <a:avLst>
              <a:gd name="adj" fmla="val 7317"/>
            </a:avLst>
          </a:prstGeom>
          <a:solidFill>
            <a:srgbClr val="EAF1EF"/>
          </a:solidFill>
          <a:ln w="6350">
            <a:solidFill>
              <a:srgbClr val="C9D6D3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480060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Ставка (правило Тейлора)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749040" y="4800600"/>
            <a:ext cx="780257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mbria Math" pitchFamily="34" charset="0"/>
                <a:ea typeface="Cambria Math" pitchFamily="34" charset="-122"/>
                <a:cs typeface="Cambria Math" pitchFamily="34" charset="-120"/>
              </a:rPr>
              <a:t>iₜ = 0,8·iₜ₋₁ + 0,2·(r̄ₜ + Eπₜ₊₁ + (Eπₜ₊₃ − 5) + 0,5·ŷₜ) + εⁱ</a:t>
            </a:r>
            <a:endParaRPr lang="en-US" sz="1600" dirty="0"/>
          </a:p>
        </p:txBody>
      </p:sp>
      <p:sp>
        <p:nvSpPr>
          <p:cNvPr id="19" name="num1"/>
          <p:cNvSpPr/>
          <p:nvPr/>
        </p:nvSpPr>
        <p:spPr>
          <a:xfrm>
            <a:off x="457200" y="591616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457200" y="5916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21" name="point1"/>
          <p:cNvSpPr txBox="1"/>
          <p:nvPr/>
        </p:nvSpPr>
        <p:spPr>
          <a:xfrm>
            <a:off x="868680" y="5897880"/>
            <a:ext cx="5090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Калібрування — шаблон НБУ, Grui &amp; Vdovychenko (2019); вага нафти — наше калібрування</a:t>
            </a:r>
            <a:endParaRPr lang="en-US" sz="1300" dirty="0"/>
          </a:p>
        </p:txBody>
      </p:sp>
      <p:sp>
        <p:nvSpPr>
          <p:cNvPr id="22" name="num2"/>
          <p:cNvSpPr/>
          <p:nvPr/>
        </p:nvSpPr>
        <p:spPr>
          <a:xfrm>
            <a:off x="6233008" y="591616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6233008" y="5916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24" name="point2"/>
          <p:cNvSpPr txBox="1"/>
          <p:nvPr/>
        </p:nvSpPr>
        <p:spPr>
          <a:xfrm>
            <a:off x="6644488" y="5897880"/>
            <a:ext cx="50900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Тренди й розриви — фільтр Калмана, 2016–2026; злам 2022: шок потенційного ВВП, розрив −18% у II кв.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2. Реакція на шок ставки залежить від контролю над курсом (β)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ml_irf_r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6266" y="1325880"/>
            <a:ext cx="9719163" cy="498348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3. Python і MATLAB/IRIS дають той самий прогноз (розбіжність ~1e−5)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fc_matlab_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0708" y="1325880"/>
            <a:ext cx="9710280" cy="3703320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Один файл моделі model/model.model, ті самі дані, параметри й плани всіх 5 сценаріїв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Фільтр Калмана 2016–2026 і прогнози до 2029 збігаються з точністю до округлення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Збірка однією командою: python build.py → MATLAB → звірка → графіки → презентація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4. Бектест: прогноз з даними до III кв. 2025</a:t>
            </a:r>
            <a:endParaRPr lang="en-US" sz="2600" dirty="0"/>
          </a:p>
        </p:txBody>
      </p:sp>
      <p:pic>
        <p:nvPicPr>
          <p:cNvPr id="4" name="chart" descr="C:\Users\Lenovo\Documents\GitHub\nbu-challenge-2026\results\figures\fc_back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770" y="1325880"/>
            <a:ext cx="10436154" cy="3703320"/>
          </a:xfrm>
          <a:prstGeom prst="rect">
            <a:avLst/>
          </a:prstGeom>
        </p:spPr>
      </p:pic>
      <p:sp>
        <p:nvSpPr>
          <p:cNvPr id="5" name="num1"/>
          <p:cNvSpPr/>
          <p:nvPr/>
        </p:nvSpPr>
        <p:spPr>
          <a:xfrm>
            <a:off x="457200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6" name="Text 2"/>
          <p:cNvSpPr txBox="1"/>
          <p:nvPr/>
        </p:nvSpPr>
        <p:spPr>
          <a:xfrm>
            <a:off x="457200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7" name="point1"/>
          <p:cNvSpPr txBox="1"/>
          <p:nvPr/>
        </p:nvSpPr>
        <p:spPr>
          <a:xfrm>
            <a:off x="868680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Помилка прогнозу ІСЦ на 4 квартали: 0,3–1,3 в. п. (наївний прогноз: 1,3–5,3)</a:t>
            </a:r>
            <a:endParaRPr lang="en-US" sz="1300" dirty="0"/>
          </a:p>
        </p:txBody>
      </p:sp>
      <p:sp>
        <p:nvSpPr>
          <p:cNvPr id="8" name="num2"/>
          <p:cNvSpPr/>
          <p:nvPr/>
        </p:nvSpPr>
        <p:spPr>
          <a:xfrm>
            <a:off x="4307738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9" name="Text 5"/>
          <p:cNvSpPr txBox="1"/>
          <p:nvPr/>
        </p:nvSpPr>
        <p:spPr>
          <a:xfrm>
            <a:off x="4307738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point2"/>
          <p:cNvSpPr txBox="1"/>
          <p:nvPr/>
        </p:nvSpPr>
        <p:spPr>
          <a:xfrm>
            <a:off x="4719218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Ставку краще прогнозує «без змін»: НБУ змінює її рідко</a:t>
            </a:r>
            <a:endParaRPr lang="en-US" sz="1300" dirty="0"/>
          </a:p>
        </p:txBody>
      </p:sp>
      <p:sp>
        <p:nvSpPr>
          <p:cNvPr id="11" name="num3"/>
          <p:cNvSpPr/>
          <p:nvPr/>
        </p:nvSpPr>
        <p:spPr>
          <a:xfrm>
            <a:off x="8158277" y="5276088"/>
            <a:ext cx="310896" cy="310896"/>
          </a:xfrm>
          <a:prstGeom prst="ellipse">
            <a:avLst/>
          </a:prstGeom>
          <a:solidFill>
            <a:srgbClr val="C98A0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8158277" y="5276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3" name="point3"/>
          <p:cNvSpPr txBox="1"/>
          <p:nvPr/>
        </p:nvSpPr>
        <p:spPr>
          <a:xfrm>
            <a:off x="8569757" y="5257800"/>
            <a:ext cx="316473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Курс грн/€ модель не прогнозує краще за наївний — залежить від EUR/USD (обмеження моделі)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5. Базовий прогноз по півріччях</a:t>
            </a:r>
            <a:endParaRPr lang="en-US" sz="2600" dirty="0"/>
          </a:p>
        </p:txBody>
      </p:sp>
      <p:graphicFrame>
        <p:nvGraphicFramePr>
          <p:cNvPr id="34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193031"/>
                <a:gridCol w="1193031"/>
                <a:gridCol w="1193031"/>
                <a:gridCol w="1193031"/>
                <a:gridCol w="1193031"/>
                <a:gridCol w="1193031"/>
                <a:gridCol w="1193031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Показник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IV кв. 2026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II кв.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IV кв. 2027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II кв. 2028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IV кв. 2028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II кв. 2029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</a:rPr>
                        <a:t>IV кв. 2029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ІСЦ, % р/р (сер. за кв.)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6,7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Базова інфляція, % р/р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7,9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4,9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ВВП, % р/р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1,8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Облікова ставка, % (сер. за кв.)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16,5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15,5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12,7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10,4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9,3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8,9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Курс, грн/€ (сер. за кв.)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51,7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51,9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52,6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53,2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53,6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Розрив ВВП, %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−1,0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−0,6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−0,1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0,3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112772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Додаток 6. Джерела даних</a:t>
            </a:r>
            <a:endParaRPr lang="en-US" sz="2600" dirty="0"/>
          </a:p>
        </p:txBody>
      </p:sp>
      <p:graphicFrame>
        <p:nvGraphicFramePr>
          <p:cNvPr id="35" name="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729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9552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Дані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Джерело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B4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ІСЦ, базова інфляція, складові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Держстат через API НБУ; Інфляційний звіт НБУ (липень 2026); коментарі НБУ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Облікова ставка, курси, інтервенції, резерви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API НБУ (statdirectory/key, exchange, kursf, res)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Реальний ВВП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Держстат (сезонно скоригований), коментар НБУ 17.09.2026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Прогноз і припущення НБУ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Інфляційний звіт і таблиця макропрогнозу, липень 2026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Єврозона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Eurostat (HICP, prc_hicp_minr), ЄЦБ (ВВП EA21, депозитна ставка), прогноз ЄЦБ вересень 2026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Нафта Brent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EIA (через DBnomics), ф'ючерси NYMEX BZ (Yahoo Finance); курс USD/EUR — ЄЦБ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Рішення та дискусія КМП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Пресреліз 17.09.2026, підсумки дискусії КМП 28.09.2026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Валютні обмеження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Стратегія НБУ (2023), пакет пом'якшення 10.08.2026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E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</a:rPr>
                        <a:t>Модель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Шаблон QPM NBU University Challenge 2026 + розширення команди; Python і MATLAB R2026b + IRIS</a:t>
                      </a:r>
                      <a:endParaRPr lang="en-US" sz="13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6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5855" y="647395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BU Challenge 2026">
  <a:themeElements>
    <a:clrScheme name="NBU Challenge 2026">
      <a:dk1>
        <a:srgbClr val="1B2326"/>
      </a:dk1>
      <a:lt1>
        <a:srgbClr val="FFFFFF"/>
      </a:lt1>
      <a:dk2>
        <a:srgbClr val="0E3B43"/>
      </a:dk2>
      <a:lt2>
        <a:srgbClr val="EAF1EF"/>
      </a:lt2>
      <a:accent1>
        <a:srgbClr val="0E3B43"/>
      </a:accent1>
      <a:accent2>
        <a:srgbClr val="C98A00"/>
      </a:accent2>
      <a:accent3>
        <a:srgbClr val="2A78D6"/>
      </a:accent3>
      <a:accent4>
        <a:srgbClr val="EB6834"/>
      </a:accent4>
      <a:accent5>
        <a:srgbClr val="1BAF7A"/>
      </a:accent5>
      <a:accent6>
        <a:srgbClr val="5F6B6D"/>
      </a:accent6>
      <a:hlink>
        <a:srgbClr val="2A78D6"/>
      </a:hlink>
      <a:folHlink>
        <a:srgbClr val="4A3AA7"/>
      </a:folHlink>
    </a:clrScheme>
    <a:fontScheme name="NBU Challenge 2026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Рекомендації щодо монетарної політики — NBU University Challenge 2026</dc:title>
  <dc:subject>PptxGenJS Presentation</dc:subject>
  <dc:creator>Команда [назва]</dc:creator>
  <cp:lastModifiedBy>Команда [назва]</cp:lastModifiedBy>
  <cp:revision>1</cp:revision>
  <dcterms:created xsi:type="dcterms:W3CDTF">2026-10-08T09:45:28Z</dcterms:created>
  <dcterms:modified xsi:type="dcterms:W3CDTF">2026-10-08T09:45:28Z</dcterms:modified>
</cp:coreProperties>
</file>